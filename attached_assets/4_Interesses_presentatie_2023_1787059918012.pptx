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layout1.xml" ContentType="application/vnd.openxmlformats-officedocument.drawingml.diagramLayout+xml"/>
  <Override PartName="/ppt/diagrams/quickStyle1.xml" ContentType="application/vnd.openxmlformats-officedocument.drawingml.diagramStyle+xml"/>
  <Override PartName="/ppt/diagrams/drawing1.xml" ContentType="application/vnd.ms-office.drawingml.diagramDrawing+xml"/>
  <Override PartName="/ppt/diagrams/colors1.xml" ContentType="application/vnd.openxmlformats-officedocument.drawingml.diagramColors+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handoutMasterIdLst>
    <p:handoutMasterId r:id="rId50"/>
  </p:handoutMasterIdLst>
  <p:sldIdLst>
    <p:sldId id="651" r:id="rId2"/>
    <p:sldId id="652" r:id="rId3"/>
    <p:sldId id="470" r:id="rId4"/>
    <p:sldId id="626" r:id="rId5"/>
    <p:sldId id="627" r:id="rId6"/>
    <p:sldId id="262" r:id="rId7"/>
    <p:sldId id="263" r:id="rId8"/>
    <p:sldId id="260" r:id="rId9"/>
    <p:sldId id="644" r:id="rId10"/>
    <p:sldId id="630" r:id="rId11"/>
    <p:sldId id="631" r:id="rId12"/>
    <p:sldId id="632" r:id="rId13"/>
    <p:sldId id="633" r:id="rId14"/>
    <p:sldId id="634" r:id="rId15"/>
    <p:sldId id="635" r:id="rId16"/>
    <p:sldId id="636" r:id="rId17"/>
    <p:sldId id="637" r:id="rId18"/>
    <p:sldId id="638" r:id="rId19"/>
    <p:sldId id="639" r:id="rId20"/>
    <p:sldId id="640" r:id="rId21"/>
    <p:sldId id="641" r:id="rId22"/>
    <p:sldId id="280" r:id="rId23"/>
    <p:sldId id="261" r:id="rId24"/>
    <p:sldId id="628" r:id="rId25"/>
    <p:sldId id="629" r:id="rId26"/>
    <p:sldId id="279" r:id="rId27"/>
    <p:sldId id="643" r:id="rId28"/>
    <p:sldId id="653" r:id="rId29"/>
    <p:sldId id="656" r:id="rId30"/>
    <p:sldId id="654" r:id="rId31"/>
    <p:sldId id="655" r:id="rId32"/>
    <p:sldId id="657" r:id="rId33"/>
    <p:sldId id="658" r:id="rId34"/>
    <p:sldId id="649" r:id="rId35"/>
    <p:sldId id="646" r:id="rId36"/>
    <p:sldId id="259" r:id="rId37"/>
    <p:sldId id="278" r:id="rId38"/>
    <p:sldId id="647" r:id="rId39"/>
    <p:sldId id="648" r:id="rId40"/>
    <p:sldId id="281" r:id="rId41"/>
    <p:sldId id="285" r:id="rId42"/>
    <p:sldId id="284" r:id="rId43"/>
    <p:sldId id="283" r:id="rId44"/>
    <p:sldId id="282" r:id="rId45"/>
    <p:sldId id="286" r:id="rId46"/>
    <p:sldId id="272" r:id="rId47"/>
    <p:sldId id="650" r:id="rId48"/>
  </p:sldIdLst>
  <p:sldSz cx="12192000" cy="6858000"/>
  <p:notesSz cx="6797675" cy="9926638"/>
  <p:defaultTextStyle>
    <a:defPPr>
      <a:defRPr lang="nl-NL"/>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DBEEF4"/>
    <a:srgbClr val="000000"/>
    <a:srgbClr val="36383E"/>
    <a:srgbClr val="009900"/>
    <a:srgbClr val="FFFF00"/>
    <a:srgbClr val="0000CC"/>
    <a:srgbClr val="FF0000"/>
    <a:srgbClr val="339933"/>
    <a:srgbClr val="30AC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14" autoAdjust="0"/>
    <p:restoredTop sz="95040" autoAdjust="0"/>
  </p:normalViewPr>
  <p:slideViewPr>
    <p:cSldViewPr snapToGrid="0" snapToObjects="1">
      <p:cViewPr varScale="1">
        <p:scale>
          <a:sx n="104" d="100"/>
          <a:sy n="104" d="100"/>
        </p:scale>
        <p:origin x="438" y="10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4" d="100"/>
          <a:sy n="74" d="100"/>
        </p:scale>
        <p:origin x="2598"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3EF350-0DCD-4997-99C7-5C3994A68625}"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nl-NL"/>
        </a:p>
      </dgm:t>
    </dgm:pt>
    <dgm:pt modelId="{1BE22122-59E7-434A-9B73-39A45C4C8818}">
      <dgm:prSet phldrT="[Tekst]" custT="1"/>
      <dgm:spPr>
        <a:solidFill>
          <a:srgbClr val="C00000"/>
        </a:solidFill>
        <a:ln>
          <a:solidFill>
            <a:schemeClr val="accent2">
              <a:lumMod val="60000"/>
              <a:lumOff val="40000"/>
            </a:schemeClr>
          </a:solidFill>
        </a:ln>
      </dgm:spPr>
      <dgm:t>
        <a:bodyPr/>
        <a:lstStyle/>
        <a:p>
          <a:r>
            <a:rPr lang="nl-NL" sz="3600" dirty="0">
              <a:latin typeface="Frutiger LT Std 45 Light" panose="020B0402020204020204" pitchFamily="34" charset="0"/>
            </a:rPr>
            <a:t>Motivatie</a:t>
          </a:r>
        </a:p>
      </dgm:t>
    </dgm:pt>
    <dgm:pt modelId="{80ABAC11-EF0D-4BF6-A011-17D11B94EB0D}" type="parTrans" cxnId="{796D12C2-5B0D-4D57-9B3D-FD64E263099B}">
      <dgm:prSet/>
      <dgm:spPr/>
      <dgm:t>
        <a:bodyPr/>
        <a:lstStyle/>
        <a:p>
          <a:endParaRPr lang="nl-NL"/>
        </a:p>
      </dgm:t>
    </dgm:pt>
    <dgm:pt modelId="{711BD9F5-A0E0-42C8-8469-749E073E0A74}" type="sibTrans" cxnId="{796D12C2-5B0D-4D57-9B3D-FD64E263099B}">
      <dgm:prSet/>
      <dgm:spPr/>
      <dgm:t>
        <a:bodyPr/>
        <a:lstStyle/>
        <a:p>
          <a:endParaRPr lang="nl-NL"/>
        </a:p>
      </dgm:t>
    </dgm:pt>
    <dgm:pt modelId="{3912D1FA-2638-4BF8-B129-3873436AB16B}">
      <dgm:prSet phldrT="[Tekst]" custT="1"/>
      <dgm:spPr>
        <a:solidFill>
          <a:srgbClr val="00B0F0"/>
        </a:solidFill>
        <a:ln>
          <a:solidFill>
            <a:schemeClr val="accent1">
              <a:lumMod val="60000"/>
              <a:lumOff val="40000"/>
            </a:schemeClr>
          </a:solidFill>
        </a:ln>
      </dgm:spPr>
      <dgm:t>
        <a:bodyPr/>
        <a:lstStyle/>
        <a:p>
          <a:r>
            <a:rPr lang="nl-NL" sz="3200" b="1" dirty="0">
              <a:latin typeface="Frutiger LT Std 45 Light" panose="020B0402020204020204" pitchFamily="34" charset="0"/>
            </a:rPr>
            <a:t>Stijl DISC</a:t>
          </a:r>
        </a:p>
        <a:p>
          <a:r>
            <a:rPr lang="nl-NL" sz="3200" b="0" dirty="0">
              <a:latin typeface="Frutiger LT Std 45 Light" panose="020B0402020204020204" pitchFamily="34" charset="0"/>
            </a:rPr>
            <a:t>Behoeften</a:t>
          </a:r>
        </a:p>
      </dgm:t>
    </dgm:pt>
    <dgm:pt modelId="{FCA88B26-F212-4185-B908-1859B2C9FD6D}" type="parTrans" cxnId="{5884453D-27BC-4BC6-93B1-BCF7F497F108}">
      <dgm:prSet/>
      <dgm:spPr/>
      <dgm:t>
        <a:bodyPr/>
        <a:lstStyle/>
        <a:p>
          <a:endParaRPr lang="nl-NL"/>
        </a:p>
      </dgm:t>
    </dgm:pt>
    <dgm:pt modelId="{0E2C2876-CC3E-4989-86F6-AF2FEC3F1C85}" type="sibTrans" cxnId="{5884453D-27BC-4BC6-93B1-BCF7F497F108}">
      <dgm:prSet/>
      <dgm:spPr/>
      <dgm:t>
        <a:bodyPr/>
        <a:lstStyle/>
        <a:p>
          <a:endParaRPr lang="nl-NL"/>
        </a:p>
      </dgm:t>
    </dgm:pt>
    <dgm:pt modelId="{7C5FF392-50D2-4E54-A0C2-C827ABC6AC04}">
      <dgm:prSet phldrT="[Tekst]" custT="1"/>
      <dgm:spPr>
        <a:solidFill>
          <a:srgbClr val="00B0F0"/>
        </a:solidFill>
        <a:ln>
          <a:solidFill>
            <a:schemeClr val="accent1">
              <a:lumMod val="60000"/>
              <a:lumOff val="40000"/>
            </a:schemeClr>
          </a:solidFill>
        </a:ln>
      </dgm:spPr>
      <dgm:t>
        <a:bodyPr/>
        <a:lstStyle/>
        <a:p>
          <a:r>
            <a:rPr lang="nl-NL" sz="3200" b="1" dirty="0">
              <a:latin typeface="Frutiger LT Std 45 Light" panose="020B0402020204020204" pitchFamily="34" charset="0"/>
            </a:rPr>
            <a:t>Waarden</a:t>
          </a:r>
        </a:p>
        <a:p>
          <a:r>
            <a:rPr lang="nl-NL" sz="3200" dirty="0">
              <a:latin typeface="Frutiger LT Std 45 Light" panose="020B0402020204020204" pitchFamily="34" charset="0"/>
            </a:rPr>
            <a:t>Waarom?</a:t>
          </a:r>
        </a:p>
      </dgm:t>
    </dgm:pt>
    <dgm:pt modelId="{22479DC3-A8DD-4804-873B-69BE9CE9C7CC}" type="parTrans" cxnId="{185020C7-0FA1-423D-9075-4DAED936691D}">
      <dgm:prSet/>
      <dgm:spPr/>
      <dgm:t>
        <a:bodyPr/>
        <a:lstStyle/>
        <a:p>
          <a:endParaRPr lang="nl-NL"/>
        </a:p>
      </dgm:t>
    </dgm:pt>
    <dgm:pt modelId="{2288671D-9CDC-45A6-880E-8B24ABF14E45}" type="sibTrans" cxnId="{185020C7-0FA1-423D-9075-4DAED936691D}">
      <dgm:prSet/>
      <dgm:spPr/>
      <dgm:t>
        <a:bodyPr/>
        <a:lstStyle/>
        <a:p>
          <a:endParaRPr lang="nl-NL"/>
        </a:p>
      </dgm:t>
    </dgm:pt>
    <dgm:pt modelId="{EAA22093-0303-4996-BA52-B660C0F09E7B}">
      <dgm:prSet phldrT="[Tekst]" custT="1"/>
      <dgm:spPr>
        <a:solidFill>
          <a:srgbClr val="00B0F0"/>
        </a:solidFill>
        <a:ln>
          <a:solidFill>
            <a:schemeClr val="accent1">
              <a:lumMod val="60000"/>
              <a:lumOff val="40000"/>
            </a:schemeClr>
          </a:solidFill>
        </a:ln>
      </dgm:spPr>
      <dgm:t>
        <a:bodyPr/>
        <a:lstStyle/>
        <a:p>
          <a:r>
            <a:rPr lang="nl-NL" sz="3200" b="1" dirty="0">
              <a:latin typeface="Frutiger LT Std 45 Light" panose="020B0402020204020204" pitchFamily="34" charset="0"/>
            </a:rPr>
            <a:t>Interesses</a:t>
          </a:r>
        </a:p>
        <a:p>
          <a:r>
            <a:rPr lang="nl-NL" sz="3200" dirty="0">
              <a:latin typeface="Frutiger LT Std 45 Light" panose="020B0402020204020204" pitchFamily="34" charset="0"/>
            </a:rPr>
            <a:t>Wat?</a:t>
          </a:r>
        </a:p>
      </dgm:t>
    </dgm:pt>
    <dgm:pt modelId="{25D68C21-80A7-4C64-86EB-E344302C78E1}" type="parTrans" cxnId="{697AD4E3-9010-4377-A905-DEB8F3B91349}">
      <dgm:prSet/>
      <dgm:spPr/>
      <dgm:t>
        <a:bodyPr/>
        <a:lstStyle/>
        <a:p>
          <a:endParaRPr lang="nl-NL"/>
        </a:p>
      </dgm:t>
    </dgm:pt>
    <dgm:pt modelId="{8298CC74-3FE3-4708-A18F-A1E9B0EC3741}" type="sibTrans" cxnId="{697AD4E3-9010-4377-A905-DEB8F3B91349}">
      <dgm:prSet/>
      <dgm:spPr/>
      <dgm:t>
        <a:bodyPr/>
        <a:lstStyle/>
        <a:p>
          <a:endParaRPr lang="nl-NL"/>
        </a:p>
      </dgm:t>
    </dgm:pt>
    <dgm:pt modelId="{A25ED3FF-2D01-4A99-8083-DE3BD64046EA}" type="pres">
      <dgm:prSet presAssocID="{3E3EF350-0DCD-4997-99C7-5C3994A68625}" presName="cycle" presStyleCnt="0">
        <dgm:presLayoutVars>
          <dgm:chMax val="1"/>
          <dgm:dir/>
          <dgm:animLvl val="ctr"/>
          <dgm:resizeHandles val="exact"/>
        </dgm:presLayoutVars>
      </dgm:prSet>
      <dgm:spPr/>
    </dgm:pt>
    <dgm:pt modelId="{2E299F56-0AFD-47CE-905A-A8EB2DF86B7D}" type="pres">
      <dgm:prSet presAssocID="{1BE22122-59E7-434A-9B73-39A45C4C8818}" presName="centerShape" presStyleLbl="node0" presStyleIdx="0" presStyleCnt="1" custScaleX="121811" custScaleY="76482" custLinFactNeighborY="-1851"/>
      <dgm:spPr/>
    </dgm:pt>
    <dgm:pt modelId="{66C92E21-DFA0-43F9-8170-0F4DA1796266}" type="pres">
      <dgm:prSet presAssocID="{FCA88B26-F212-4185-B908-1859B2C9FD6D}" presName="parTrans" presStyleLbl="bgSibTrans2D1" presStyleIdx="0" presStyleCnt="3"/>
      <dgm:spPr/>
    </dgm:pt>
    <dgm:pt modelId="{99ADD45A-C601-44FE-AA71-6BEB29B0A4D0}" type="pres">
      <dgm:prSet presAssocID="{3912D1FA-2638-4BF8-B129-3873436AB16B}" presName="node" presStyleLbl="node1" presStyleIdx="0" presStyleCnt="3" custScaleX="103971" custScaleY="89349" custRadScaleRad="133729" custRadScaleInc="-33738">
        <dgm:presLayoutVars>
          <dgm:bulletEnabled val="1"/>
        </dgm:presLayoutVars>
      </dgm:prSet>
      <dgm:spPr/>
    </dgm:pt>
    <dgm:pt modelId="{F5013324-63D6-4AFB-A4E4-58EC5BDDD2E5}" type="pres">
      <dgm:prSet presAssocID="{22479DC3-A8DD-4804-873B-69BE9CE9C7CC}" presName="parTrans" presStyleLbl="bgSibTrans2D1" presStyleIdx="1" presStyleCnt="3" custScaleX="72479" custLinFactNeighborX="4158" custLinFactNeighborY="33456"/>
      <dgm:spPr/>
    </dgm:pt>
    <dgm:pt modelId="{988E6FAF-6FE0-413F-A67E-E3C6D416D1A8}" type="pres">
      <dgm:prSet presAssocID="{7C5FF392-50D2-4E54-A0C2-C827ABC6AC04}" presName="node" presStyleLbl="node1" presStyleIdx="1" presStyleCnt="3" custScaleX="110713" custScaleY="92178" custRadScaleRad="97569" custRadScaleInc="0">
        <dgm:presLayoutVars>
          <dgm:bulletEnabled val="1"/>
        </dgm:presLayoutVars>
      </dgm:prSet>
      <dgm:spPr/>
    </dgm:pt>
    <dgm:pt modelId="{8D35068E-9070-46BC-836E-E2D82FD78BA1}" type="pres">
      <dgm:prSet presAssocID="{25D68C21-80A7-4C64-86EB-E344302C78E1}" presName="parTrans" presStyleLbl="bgSibTrans2D1" presStyleIdx="2" presStyleCnt="3"/>
      <dgm:spPr/>
    </dgm:pt>
    <dgm:pt modelId="{4C6F943C-3DF1-47CE-95FC-7EBFDB264F67}" type="pres">
      <dgm:prSet presAssocID="{EAA22093-0303-4996-BA52-B660C0F09E7B}" presName="node" presStyleLbl="node1" presStyleIdx="2" presStyleCnt="3" custScaleX="109218" custScaleY="90511" custRadScaleRad="130787" custRadScaleInc="33426">
        <dgm:presLayoutVars>
          <dgm:bulletEnabled val="1"/>
        </dgm:presLayoutVars>
      </dgm:prSet>
      <dgm:spPr/>
    </dgm:pt>
  </dgm:ptLst>
  <dgm:cxnLst>
    <dgm:cxn modelId="{35BBF01F-1251-4CB4-8333-300729A82C71}" type="presOf" srcId="{FCA88B26-F212-4185-B908-1859B2C9FD6D}" destId="{66C92E21-DFA0-43F9-8170-0F4DA1796266}" srcOrd="0" destOrd="0" presId="urn:microsoft.com/office/officeart/2005/8/layout/radial4"/>
    <dgm:cxn modelId="{95236838-0682-466A-B5EE-1129296E9AFA}" type="presOf" srcId="{EAA22093-0303-4996-BA52-B660C0F09E7B}" destId="{4C6F943C-3DF1-47CE-95FC-7EBFDB264F67}" srcOrd="0" destOrd="0" presId="urn:microsoft.com/office/officeart/2005/8/layout/radial4"/>
    <dgm:cxn modelId="{D5899239-9FBC-45AA-A531-1881608748F8}" type="presOf" srcId="{3912D1FA-2638-4BF8-B129-3873436AB16B}" destId="{99ADD45A-C601-44FE-AA71-6BEB29B0A4D0}" srcOrd="0" destOrd="0" presId="urn:microsoft.com/office/officeart/2005/8/layout/radial4"/>
    <dgm:cxn modelId="{5884453D-27BC-4BC6-93B1-BCF7F497F108}" srcId="{1BE22122-59E7-434A-9B73-39A45C4C8818}" destId="{3912D1FA-2638-4BF8-B129-3873436AB16B}" srcOrd="0" destOrd="0" parTransId="{FCA88B26-F212-4185-B908-1859B2C9FD6D}" sibTransId="{0E2C2876-CC3E-4989-86F6-AF2FEC3F1C85}"/>
    <dgm:cxn modelId="{67B4085B-A53F-43BB-9E61-60E7E39B7E8E}" type="presOf" srcId="{25D68C21-80A7-4C64-86EB-E344302C78E1}" destId="{8D35068E-9070-46BC-836E-E2D82FD78BA1}" srcOrd="0" destOrd="0" presId="urn:microsoft.com/office/officeart/2005/8/layout/radial4"/>
    <dgm:cxn modelId="{758D5343-D8E3-4457-B5FE-32FF23B53529}" type="presOf" srcId="{1BE22122-59E7-434A-9B73-39A45C4C8818}" destId="{2E299F56-0AFD-47CE-905A-A8EB2DF86B7D}" srcOrd="0" destOrd="0" presId="urn:microsoft.com/office/officeart/2005/8/layout/radial4"/>
    <dgm:cxn modelId="{785832A3-015D-4171-86ED-95479AAC27C1}" type="presOf" srcId="{3E3EF350-0DCD-4997-99C7-5C3994A68625}" destId="{A25ED3FF-2D01-4A99-8083-DE3BD64046EA}" srcOrd="0" destOrd="0" presId="urn:microsoft.com/office/officeart/2005/8/layout/radial4"/>
    <dgm:cxn modelId="{013ADAB9-E525-4E15-A7F2-838CD3761E0D}" type="presOf" srcId="{7C5FF392-50D2-4E54-A0C2-C827ABC6AC04}" destId="{988E6FAF-6FE0-413F-A67E-E3C6D416D1A8}" srcOrd="0" destOrd="0" presId="urn:microsoft.com/office/officeart/2005/8/layout/radial4"/>
    <dgm:cxn modelId="{479B0CBC-49B0-4878-97EE-84F4465DCF4D}" type="presOf" srcId="{22479DC3-A8DD-4804-873B-69BE9CE9C7CC}" destId="{F5013324-63D6-4AFB-A4E4-58EC5BDDD2E5}" srcOrd="0" destOrd="0" presId="urn:microsoft.com/office/officeart/2005/8/layout/radial4"/>
    <dgm:cxn modelId="{796D12C2-5B0D-4D57-9B3D-FD64E263099B}" srcId="{3E3EF350-0DCD-4997-99C7-5C3994A68625}" destId="{1BE22122-59E7-434A-9B73-39A45C4C8818}" srcOrd="0" destOrd="0" parTransId="{80ABAC11-EF0D-4BF6-A011-17D11B94EB0D}" sibTransId="{711BD9F5-A0E0-42C8-8469-749E073E0A74}"/>
    <dgm:cxn modelId="{185020C7-0FA1-423D-9075-4DAED936691D}" srcId="{1BE22122-59E7-434A-9B73-39A45C4C8818}" destId="{7C5FF392-50D2-4E54-A0C2-C827ABC6AC04}" srcOrd="1" destOrd="0" parTransId="{22479DC3-A8DD-4804-873B-69BE9CE9C7CC}" sibTransId="{2288671D-9CDC-45A6-880E-8B24ABF14E45}"/>
    <dgm:cxn modelId="{697AD4E3-9010-4377-A905-DEB8F3B91349}" srcId="{1BE22122-59E7-434A-9B73-39A45C4C8818}" destId="{EAA22093-0303-4996-BA52-B660C0F09E7B}" srcOrd="2" destOrd="0" parTransId="{25D68C21-80A7-4C64-86EB-E344302C78E1}" sibTransId="{8298CC74-3FE3-4708-A18F-A1E9B0EC3741}"/>
    <dgm:cxn modelId="{F0821837-F5E6-4350-B448-CF9DB20BA4D4}" type="presParOf" srcId="{A25ED3FF-2D01-4A99-8083-DE3BD64046EA}" destId="{2E299F56-0AFD-47CE-905A-A8EB2DF86B7D}" srcOrd="0" destOrd="0" presId="urn:microsoft.com/office/officeart/2005/8/layout/radial4"/>
    <dgm:cxn modelId="{8706C6AB-0BAB-4401-8866-1D6BC6C0188B}" type="presParOf" srcId="{A25ED3FF-2D01-4A99-8083-DE3BD64046EA}" destId="{66C92E21-DFA0-43F9-8170-0F4DA1796266}" srcOrd="1" destOrd="0" presId="urn:microsoft.com/office/officeart/2005/8/layout/radial4"/>
    <dgm:cxn modelId="{28369811-4149-40C2-AB08-7C5A1E4084A3}" type="presParOf" srcId="{A25ED3FF-2D01-4A99-8083-DE3BD64046EA}" destId="{99ADD45A-C601-44FE-AA71-6BEB29B0A4D0}" srcOrd="2" destOrd="0" presId="urn:microsoft.com/office/officeart/2005/8/layout/radial4"/>
    <dgm:cxn modelId="{9BC9B1AF-91CE-4F7A-8F89-FDEAEDB7FC92}" type="presParOf" srcId="{A25ED3FF-2D01-4A99-8083-DE3BD64046EA}" destId="{F5013324-63D6-4AFB-A4E4-58EC5BDDD2E5}" srcOrd="3" destOrd="0" presId="urn:microsoft.com/office/officeart/2005/8/layout/radial4"/>
    <dgm:cxn modelId="{4B5AD171-43BF-4531-9C19-7642988E3965}" type="presParOf" srcId="{A25ED3FF-2D01-4A99-8083-DE3BD64046EA}" destId="{988E6FAF-6FE0-413F-A67E-E3C6D416D1A8}" srcOrd="4" destOrd="0" presId="urn:microsoft.com/office/officeart/2005/8/layout/radial4"/>
    <dgm:cxn modelId="{96B63124-F6F9-4F05-8273-9D47BC7D4B62}" type="presParOf" srcId="{A25ED3FF-2D01-4A99-8083-DE3BD64046EA}" destId="{8D35068E-9070-46BC-836E-E2D82FD78BA1}" srcOrd="5" destOrd="0" presId="urn:microsoft.com/office/officeart/2005/8/layout/radial4"/>
    <dgm:cxn modelId="{21581117-2B86-4695-AADF-286791B5B80A}" type="presParOf" srcId="{A25ED3FF-2D01-4A99-8083-DE3BD64046EA}" destId="{4C6F943C-3DF1-47CE-95FC-7EBFDB264F6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99F56-0AFD-47CE-905A-A8EB2DF86B7D}">
      <dsp:nvSpPr>
        <dsp:cNvPr id="0" name=""/>
        <dsp:cNvSpPr/>
      </dsp:nvSpPr>
      <dsp:spPr>
        <a:xfrm>
          <a:off x="4103596" y="2905312"/>
          <a:ext cx="2710154" cy="1701636"/>
        </a:xfrm>
        <a:prstGeom prst="ellipse">
          <a:avLst/>
        </a:prstGeom>
        <a:solidFill>
          <a:srgbClr val="C00000"/>
        </a:solidFill>
        <a:ln w="25400" cap="flat" cmpd="sng" algn="ctr">
          <a:solidFill>
            <a:schemeClr val="accent2">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nl-NL" sz="3600" kern="1200" dirty="0">
              <a:latin typeface="Frutiger LT Std 45 Light" panose="020B0402020204020204" pitchFamily="34" charset="0"/>
            </a:rPr>
            <a:t>Motivatie</a:t>
          </a:r>
        </a:p>
      </dsp:txBody>
      <dsp:txXfrm>
        <a:off x="4500489" y="3154511"/>
        <a:ext cx="1916368" cy="1203238"/>
      </dsp:txXfrm>
    </dsp:sp>
    <dsp:sp modelId="{66C92E21-DFA0-43F9-8170-0F4DA1796266}">
      <dsp:nvSpPr>
        <dsp:cNvPr id="0" name=""/>
        <dsp:cNvSpPr/>
      </dsp:nvSpPr>
      <dsp:spPr>
        <a:xfrm rot="11592773">
          <a:off x="1649403" y="2830495"/>
          <a:ext cx="2434320" cy="63409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9ADD45A-C601-44FE-AA71-6BEB29B0A4D0}">
      <dsp:nvSpPr>
        <dsp:cNvPr id="0" name=""/>
        <dsp:cNvSpPr/>
      </dsp:nvSpPr>
      <dsp:spPr>
        <a:xfrm>
          <a:off x="582838" y="2113928"/>
          <a:ext cx="2197573" cy="1510813"/>
        </a:xfrm>
        <a:prstGeom prst="roundRect">
          <a:avLst>
            <a:gd name="adj" fmla="val 10000"/>
          </a:avLst>
        </a:prstGeom>
        <a:solidFill>
          <a:srgbClr val="00B0F0"/>
        </a:solidFill>
        <a:ln w="25400" cap="flat" cmpd="sng" algn="ctr">
          <a:solidFill>
            <a:schemeClr val="accent1">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nl-NL" sz="3200" b="1" kern="1200" dirty="0">
              <a:latin typeface="Frutiger LT Std 45 Light" panose="020B0402020204020204" pitchFamily="34" charset="0"/>
            </a:rPr>
            <a:t>Stijl DISC</a:t>
          </a:r>
        </a:p>
        <a:p>
          <a:pPr marL="0" lvl="0" indent="0" algn="ctr" defTabSz="1422400">
            <a:lnSpc>
              <a:spcPct val="90000"/>
            </a:lnSpc>
            <a:spcBef>
              <a:spcPct val="0"/>
            </a:spcBef>
            <a:spcAft>
              <a:spcPct val="35000"/>
            </a:spcAft>
            <a:buNone/>
          </a:pPr>
          <a:r>
            <a:rPr lang="nl-NL" sz="3200" b="0" kern="1200" dirty="0">
              <a:latin typeface="Frutiger LT Std 45 Light" panose="020B0402020204020204" pitchFamily="34" charset="0"/>
            </a:rPr>
            <a:t>Behoeften</a:t>
          </a:r>
        </a:p>
      </dsp:txBody>
      <dsp:txXfrm>
        <a:off x="627088" y="2158178"/>
        <a:ext cx="2109073" cy="1422313"/>
      </dsp:txXfrm>
    </dsp:sp>
    <dsp:sp modelId="{F5013324-63D6-4AFB-A4E4-58EC5BDDD2E5}">
      <dsp:nvSpPr>
        <dsp:cNvPr id="0" name=""/>
        <dsp:cNvSpPr/>
      </dsp:nvSpPr>
      <dsp:spPr>
        <a:xfrm rot="16200000">
          <a:off x="4885439" y="1803010"/>
          <a:ext cx="1295060" cy="63409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88E6FAF-6FE0-413F-A67E-E3C6D416D1A8}">
      <dsp:nvSpPr>
        <dsp:cNvPr id="0" name=""/>
        <dsp:cNvSpPr/>
      </dsp:nvSpPr>
      <dsp:spPr>
        <a:xfrm>
          <a:off x="4288636" y="235186"/>
          <a:ext cx="2340075" cy="1558649"/>
        </a:xfrm>
        <a:prstGeom prst="roundRect">
          <a:avLst>
            <a:gd name="adj" fmla="val 10000"/>
          </a:avLst>
        </a:prstGeom>
        <a:solidFill>
          <a:srgbClr val="00B0F0"/>
        </a:solidFill>
        <a:ln w="25400" cap="flat" cmpd="sng" algn="ctr">
          <a:solidFill>
            <a:schemeClr val="accent1">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nl-NL" sz="3200" b="1" kern="1200" dirty="0">
              <a:latin typeface="Frutiger LT Std 45 Light" panose="020B0402020204020204" pitchFamily="34" charset="0"/>
            </a:rPr>
            <a:t>Waarden</a:t>
          </a:r>
        </a:p>
        <a:p>
          <a:pPr marL="0" lvl="0" indent="0" algn="ctr" defTabSz="1422400">
            <a:lnSpc>
              <a:spcPct val="90000"/>
            </a:lnSpc>
            <a:spcBef>
              <a:spcPct val="0"/>
            </a:spcBef>
            <a:spcAft>
              <a:spcPct val="35000"/>
            </a:spcAft>
            <a:buNone/>
          </a:pPr>
          <a:r>
            <a:rPr lang="nl-NL" sz="3200" kern="1200" dirty="0">
              <a:latin typeface="Frutiger LT Std 45 Light" panose="020B0402020204020204" pitchFamily="34" charset="0"/>
            </a:rPr>
            <a:t>Waarom?</a:t>
          </a:r>
        </a:p>
      </dsp:txBody>
      <dsp:txXfrm>
        <a:off x="4334287" y="280837"/>
        <a:ext cx="2248773" cy="1467347"/>
      </dsp:txXfrm>
    </dsp:sp>
    <dsp:sp modelId="{8D35068E-9070-46BC-836E-E2D82FD78BA1}">
      <dsp:nvSpPr>
        <dsp:cNvPr id="0" name=""/>
        <dsp:cNvSpPr/>
      </dsp:nvSpPr>
      <dsp:spPr>
        <a:xfrm rot="20798019">
          <a:off x="6827439" y="2834193"/>
          <a:ext cx="2353872" cy="63409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C6F943C-3DF1-47CE-95FC-7EBFDB264F67}">
      <dsp:nvSpPr>
        <dsp:cNvPr id="0" name=""/>
        <dsp:cNvSpPr/>
      </dsp:nvSpPr>
      <dsp:spPr>
        <a:xfrm>
          <a:off x="7995192" y="2113928"/>
          <a:ext cx="2308476" cy="1530462"/>
        </a:xfrm>
        <a:prstGeom prst="roundRect">
          <a:avLst>
            <a:gd name="adj" fmla="val 10000"/>
          </a:avLst>
        </a:prstGeom>
        <a:solidFill>
          <a:srgbClr val="00B0F0"/>
        </a:solidFill>
        <a:ln w="25400" cap="flat" cmpd="sng" algn="ctr">
          <a:solidFill>
            <a:schemeClr val="accent1">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nl-NL" sz="3200" b="1" kern="1200" dirty="0">
              <a:latin typeface="Frutiger LT Std 45 Light" panose="020B0402020204020204" pitchFamily="34" charset="0"/>
            </a:rPr>
            <a:t>Interesses</a:t>
          </a:r>
        </a:p>
        <a:p>
          <a:pPr marL="0" lvl="0" indent="0" algn="ctr" defTabSz="1422400">
            <a:lnSpc>
              <a:spcPct val="90000"/>
            </a:lnSpc>
            <a:spcBef>
              <a:spcPct val="0"/>
            </a:spcBef>
            <a:spcAft>
              <a:spcPct val="35000"/>
            </a:spcAft>
            <a:buNone/>
          </a:pPr>
          <a:r>
            <a:rPr lang="nl-NL" sz="3200" kern="1200" dirty="0">
              <a:latin typeface="Frutiger LT Std 45 Light" panose="020B0402020204020204" pitchFamily="34" charset="0"/>
            </a:rPr>
            <a:t>Wat?</a:t>
          </a:r>
        </a:p>
      </dsp:txBody>
      <dsp:txXfrm>
        <a:off x="8040018" y="2158754"/>
        <a:ext cx="2218824" cy="1440810"/>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332"/>
          </a:xfrm>
          <a:prstGeom prst="rect">
            <a:avLst/>
          </a:prstGeom>
        </p:spPr>
        <p:txBody>
          <a:bodyPr vert="horz" lIns="95562" tIns="47781" rIns="95562" bIns="47781" rtlCol="0"/>
          <a:lstStyle>
            <a:lvl1pPr algn="l">
              <a:defRPr sz="1300"/>
            </a:lvl1pPr>
          </a:lstStyle>
          <a:p>
            <a:endParaRPr lang="en-US"/>
          </a:p>
        </p:txBody>
      </p:sp>
      <p:sp>
        <p:nvSpPr>
          <p:cNvPr id="3" name="Date Placeholder 2"/>
          <p:cNvSpPr>
            <a:spLocks noGrp="1"/>
          </p:cNvSpPr>
          <p:nvPr>
            <p:ph type="dt" sz="quarter" idx="1"/>
          </p:nvPr>
        </p:nvSpPr>
        <p:spPr>
          <a:xfrm>
            <a:off x="3850444" y="2"/>
            <a:ext cx="2945659" cy="496332"/>
          </a:xfrm>
          <a:prstGeom prst="rect">
            <a:avLst/>
          </a:prstGeom>
        </p:spPr>
        <p:txBody>
          <a:bodyPr vert="horz" lIns="95562" tIns="47781" rIns="95562" bIns="47781" rtlCol="0"/>
          <a:lstStyle>
            <a:lvl1pPr algn="r">
              <a:defRPr sz="1300"/>
            </a:lvl1pPr>
          </a:lstStyle>
          <a:p>
            <a:endParaRPr lang="en-US"/>
          </a:p>
        </p:txBody>
      </p:sp>
      <p:sp>
        <p:nvSpPr>
          <p:cNvPr id="4" name="Footer Placeholder 3"/>
          <p:cNvSpPr>
            <a:spLocks noGrp="1"/>
          </p:cNvSpPr>
          <p:nvPr>
            <p:ph type="ftr" sz="quarter" idx="2"/>
          </p:nvPr>
        </p:nvSpPr>
        <p:spPr>
          <a:xfrm>
            <a:off x="1" y="9428584"/>
            <a:ext cx="2945659" cy="496332"/>
          </a:xfrm>
          <a:prstGeom prst="rect">
            <a:avLst/>
          </a:prstGeom>
        </p:spPr>
        <p:txBody>
          <a:bodyPr vert="horz" lIns="95562" tIns="47781" rIns="95562" bIns="47781" rtlCol="0" anchor="b"/>
          <a:lstStyle>
            <a:lvl1pPr algn="l">
              <a:defRPr sz="1300"/>
            </a:lvl1pPr>
          </a:lstStyle>
          <a:p>
            <a:r>
              <a:rPr lang="en-US"/>
              <a:t>© 2023 Q4 Profiles</a:t>
            </a:r>
          </a:p>
        </p:txBody>
      </p:sp>
      <p:sp>
        <p:nvSpPr>
          <p:cNvPr id="5" name="Slide Number Placeholder 4"/>
          <p:cNvSpPr>
            <a:spLocks noGrp="1"/>
          </p:cNvSpPr>
          <p:nvPr>
            <p:ph type="sldNum" sz="quarter" idx="3"/>
          </p:nvPr>
        </p:nvSpPr>
        <p:spPr>
          <a:xfrm>
            <a:off x="3850444" y="9428584"/>
            <a:ext cx="2945659" cy="496332"/>
          </a:xfrm>
          <a:prstGeom prst="rect">
            <a:avLst/>
          </a:prstGeom>
        </p:spPr>
        <p:txBody>
          <a:bodyPr vert="horz" lIns="95562" tIns="47781" rIns="95562" bIns="47781" rtlCol="0" anchor="b"/>
          <a:lstStyle>
            <a:lvl1pPr algn="r">
              <a:defRPr sz="1300"/>
            </a:lvl1pPr>
          </a:lstStyle>
          <a:p>
            <a:fld id="{C36C0C7F-1C1D-BD45-8662-55066B1F8E7A}" type="slidenum">
              <a:rPr lang="en-US" smtClean="0"/>
              <a:pPr/>
              <a:t>‹nr.›</a:t>
            </a:fld>
            <a:endParaRPr lang="en-US"/>
          </a:p>
        </p:txBody>
      </p:sp>
    </p:spTree>
    <p:extLst>
      <p:ext uri="{BB962C8B-B14F-4D97-AF65-F5344CB8AC3E}">
        <p14:creationId xmlns:p14="http://schemas.microsoft.com/office/powerpoint/2010/main" val="321653745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332"/>
          </a:xfrm>
          <a:prstGeom prst="rect">
            <a:avLst/>
          </a:prstGeom>
        </p:spPr>
        <p:txBody>
          <a:bodyPr vert="horz" wrap="square" lIns="95562" tIns="47781" rIns="95562" bIns="47781" numCol="1" anchor="t" anchorCtr="0" compatLnSpc="1">
            <a:prstTxWarp prst="textNoShape">
              <a:avLst/>
            </a:prstTxWarp>
          </a:bodyPr>
          <a:lstStyle>
            <a:lvl1pPr>
              <a:defRPr sz="1300">
                <a:latin typeface="Calibri" charset="0"/>
                <a:cs typeface="Arial" charset="0"/>
              </a:defRPr>
            </a:lvl1pPr>
          </a:lstStyle>
          <a:p>
            <a:pPr>
              <a:defRPr/>
            </a:pPr>
            <a:endParaRPr lang="en-US"/>
          </a:p>
        </p:txBody>
      </p:sp>
      <p:sp>
        <p:nvSpPr>
          <p:cNvPr id="3" name="Date Placeholder 2"/>
          <p:cNvSpPr>
            <a:spLocks noGrp="1"/>
          </p:cNvSpPr>
          <p:nvPr>
            <p:ph type="dt" idx="1"/>
          </p:nvPr>
        </p:nvSpPr>
        <p:spPr>
          <a:xfrm>
            <a:off x="3850444" y="2"/>
            <a:ext cx="2945659" cy="496332"/>
          </a:xfrm>
          <a:prstGeom prst="rect">
            <a:avLst/>
          </a:prstGeom>
        </p:spPr>
        <p:txBody>
          <a:bodyPr vert="horz" wrap="square" lIns="95562" tIns="47781" rIns="95562" bIns="47781" numCol="1" anchor="t" anchorCtr="0" compatLnSpc="1">
            <a:prstTxWarp prst="textNoShape">
              <a:avLst/>
            </a:prstTxWarp>
          </a:bodyPr>
          <a:lstStyle>
            <a:lvl1pPr algn="r">
              <a:defRPr sz="1300">
                <a:latin typeface="Calibri" charset="0"/>
                <a:cs typeface="Arial" charset="0"/>
              </a:defRPr>
            </a:lvl1pPr>
          </a:lstStyle>
          <a:p>
            <a:pPr>
              <a:defRPr/>
            </a:pPr>
            <a:endParaRPr lang="nl-NL"/>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5562" tIns="47781" rIns="95562" bIns="47781" rtlCol="0" anchor="ctr"/>
          <a:lstStyle/>
          <a:p>
            <a:pPr lvl="0"/>
            <a:endParaRPr lang="nl-NL" noProof="0"/>
          </a:p>
        </p:txBody>
      </p:sp>
      <p:sp>
        <p:nvSpPr>
          <p:cNvPr id="5" name="Notes Placeholder 4"/>
          <p:cNvSpPr>
            <a:spLocks noGrp="1"/>
          </p:cNvSpPr>
          <p:nvPr>
            <p:ph type="body" sz="quarter" idx="3"/>
          </p:nvPr>
        </p:nvSpPr>
        <p:spPr>
          <a:xfrm>
            <a:off x="679768" y="4715154"/>
            <a:ext cx="5438140" cy="4466987"/>
          </a:xfrm>
          <a:prstGeom prst="rect">
            <a:avLst/>
          </a:prstGeom>
        </p:spPr>
        <p:txBody>
          <a:bodyPr vert="horz" wrap="square" lIns="95562" tIns="47781" rIns="95562" bIns="47781"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a:p>
        </p:txBody>
      </p:sp>
      <p:sp>
        <p:nvSpPr>
          <p:cNvPr id="6" name="Footer Placeholder 5"/>
          <p:cNvSpPr>
            <a:spLocks noGrp="1"/>
          </p:cNvSpPr>
          <p:nvPr>
            <p:ph type="ftr" sz="quarter" idx="4"/>
          </p:nvPr>
        </p:nvSpPr>
        <p:spPr>
          <a:xfrm>
            <a:off x="1" y="9428584"/>
            <a:ext cx="2945659" cy="496332"/>
          </a:xfrm>
          <a:prstGeom prst="rect">
            <a:avLst/>
          </a:prstGeom>
        </p:spPr>
        <p:txBody>
          <a:bodyPr vert="horz" wrap="square" lIns="95562" tIns="47781" rIns="95562" bIns="47781" numCol="1" anchor="b" anchorCtr="0" compatLnSpc="1">
            <a:prstTxWarp prst="textNoShape">
              <a:avLst/>
            </a:prstTxWarp>
          </a:bodyPr>
          <a:lstStyle>
            <a:lvl1pPr>
              <a:defRPr sz="1300">
                <a:latin typeface="Calibri" charset="0"/>
                <a:cs typeface="Arial" charset="0"/>
              </a:defRPr>
            </a:lvl1pPr>
          </a:lstStyle>
          <a:p>
            <a:pPr>
              <a:defRPr/>
            </a:pPr>
            <a:r>
              <a:rPr lang="en-US"/>
              <a:t>© 2023 Q4 Profiles</a:t>
            </a:r>
            <a:endParaRPr lang="en-US" dirty="0"/>
          </a:p>
        </p:txBody>
      </p:sp>
      <p:sp>
        <p:nvSpPr>
          <p:cNvPr id="7" name="Slide Number Placeholder 6"/>
          <p:cNvSpPr>
            <a:spLocks noGrp="1"/>
          </p:cNvSpPr>
          <p:nvPr>
            <p:ph type="sldNum" sz="quarter" idx="5"/>
          </p:nvPr>
        </p:nvSpPr>
        <p:spPr>
          <a:xfrm>
            <a:off x="3850444" y="9428584"/>
            <a:ext cx="2945659" cy="496332"/>
          </a:xfrm>
          <a:prstGeom prst="rect">
            <a:avLst/>
          </a:prstGeom>
        </p:spPr>
        <p:txBody>
          <a:bodyPr vert="horz" wrap="square" lIns="95562" tIns="47781" rIns="95562" bIns="47781" numCol="1" anchor="b" anchorCtr="0" compatLnSpc="1">
            <a:prstTxWarp prst="textNoShape">
              <a:avLst/>
            </a:prstTxWarp>
          </a:bodyPr>
          <a:lstStyle>
            <a:lvl1pPr algn="r">
              <a:defRPr sz="1300">
                <a:latin typeface="Calibri" charset="0"/>
                <a:cs typeface="Arial" charset="0"/>
              </a:defRPr>
            </a:lvl1pPr>
          </a:lstStyle>
          <a:p>
            <a:pPr>
              <a:defRPr/>
            </a:pPr>
            <a:fld id="{4DF5B407-0C7B-3F45-891E-996990709523}" type="slidenum">
              <a:rPr lang="nl-NL"/>
              <a:pPr>
                <a:defRPr/>
              </a:pPr>
              <a:t>‹nr.›</a:t>
            </a:fld>
            <a:endParaRPr lang="nl-NL"/>
          </a:p>
        </p:txBody>
      </p:sp>
    </p:spTree>
    <p:extLst>
      <p:ext uri="{BB962C8B-B14F-4D97-AF65-F5344CB8AC3E}">
        <p14:creationId xmlns:p14="http://schemas.microsoft.com/office/powerpoint/2010/main" val="945036281"/>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7" name="Tijdelijke aanduiding voor dianummer 16">
            <a:extLst>
              <a:ext uri="{FF2B5EF4-FFF2-40B4-BE49-F238E27FC236}">
                <a16:creationId xmlns:a16="http://schemas.microsoft.com/office/drawing/2014/main" id="{61BD8C16-4A94-4545-8979-853AD9666247}"/>
              </a:ext>
            </a:extLst>
          </p:cNvPr>
          <p:cNvSpPr>
            <a:spLocks noGrp="1"/>
          </p:cNvSpPr>
          <p:nvPr>
            <p:ph type="sldNum" sz="quarter" idx="5"/>
          </p:nvPr>
        </p:nvSpPr>
        <p:spPr/>
        <p:txBody>
          <a:bodyPr/>
          <a:lstStyle/>
          <a:p>
            <a:pPr>
              <a:defRPr/>
            </a:pPr>
            <a:fld id="{4DF5B407-0C7B-3F45-891E-996990709523}" type="slidenum">
              <a:rPr lang="nl-NL" smtClean="0"/>
              <a:pPr>
                <a:defRPr/>
              </a:pPr>
              <a:t>1</a:t>
            </a:fld>
            <a:endParaRPr lang="nl-NL"/>
          </a:p>
        </p:txBody>
      </p:sp>
      <p:sp>
        <p:nvSpPr>
          <p:cNvPr id="4" name="Tijdelijke aanduiding voor voettekst 3">
            <a:extLst>
              <a:ext uri="{FF2B5EF4-FFF2-40B4-BE49-F238E27FC236}">
                <a16:creationId xmlns:a16="http://schemas.microsoft.com/office/drawing/2014/main" id="{DEF72128-5807-0E72-90F8-6ABA8FE4D840}"/>
              </a:ext>
            </a:extLst>
          </p:cNvPr>
          <p:cNvSpPr>
            <a:spLocks noGrp="1"/>
          </p:cNvSpPr>
          <p:nvPr>
            <p:ph type="ftr" sz="quarter" idx="4"/>
          </p:nvPr>
        </p:nvSpPr>
        <p:spPr/>
        <p:txBody>
          <a:bodyPr/>
          <a:lstStyle/>
          <a:p>
            <a:pPr>
              <a:defRPr/>
            </a:pPr>
            <a:r>
              <a:rPr lang="en-US"/>
              <a:t>© 2023 Q4 Profiles</a:t>
            </a:r>
            <a:endParaRPr lang="en-US" dirty="0"/>
          </a:p>
        </p:txBody>
      </p:sp>
    </p:spTree>
    <p:extLst>
      <p:ext uri="{BB962C8B-B14F-4D97-AF65-F5344CB8AC3E}">
        <p14:creationId xmlns:p14="http://schemas.microsoft.com/office/powerpoint/2010/main" val="427205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jdelijke aanduiding voor dia-afbeelding 1"/>
          <p:cNvSpPr>
            <a:spLocks noGrp="1" noRot="1" noChangeAspect="1" noTextEdit="1"/>
          </p:cNvSpPr>
          <p:nvPr>
            <p:ph type="sldImg"/>
          </p:nvPr>
        </p:nvSpPr>
        <p:spPr bwMode="auto">
          <a:xfrm>
            <a:off x="90488" y="744538"/>
            <a:ext cx="6616700" cy="3722687"/>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0482" name="Tijdelijke aanduiding voor notities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spcBef>
                <a:spcPct val="0"/>
              </a:spcBef>
            </a:pPr>
            <a:endParaRPr lang="nl-NL">
              <a:latin typeface="Calibri" charset="0"/>
            </a:endParaRPr>
          </a:p>
        </p:txBody>
      </p:sp>
      <p:sp>
        <p:nvSpPr>
          <p:cNvPr id="15" name="Tijdelijke aanduiding voor dianummer 14">
            <a:extLst>
              <a:ext uri="{FF2B5EF4-FFF2-40B4-BE49-F238E27FC236}">
                <a16:creationId xmlns:a16="http://schemas.microsoft.com/office/drawing/2014/main" id="{4F8C15DE-40B2-41F7-B4F5-67F6AEE6998A}"/>
              </a:ext>
            </a:extLst>
          </p:cNvPr>
          <p:cNvSpPr>
            <a:spLocks noGrp="1"/>
          </p:cNvSpPr>
          <p:nvPr>
            <p:ph type="sldNum" sz="quarter" idx="5"/>
          </p:nvPr>
        </p:nvSpPr>
        <p:spPr/>
        <p:txBody>
          <a:bodyPr/>
          <a:lstStyle/>
          <a:p>
            <a:pPr>
              <a:defRPr/>
            </a:pPr>
            <a:fld id="{4DF5B407-0C7B-3F45-891E-996990709523}" type="slidenum">
              <a:rPr lang="nl-NL" smtClean="0"/>
              <a:pPr>
                <a:defRPr/>
              </a:pPr>
              <a:t>2</a:t>
            </a:fld>
            <a:endParaRPr lang="nl-NL"/>
          </a:p>
        </p:txBody>
      </p:sp>
      <p:sp>
        <p:nvSpPr>
          <p:cNvPr id="2" name="Tijdelijke aanduiding voor voettekst 1">
            <a:extLst>
              <a:ext uri="{FF2B5EF4-FFF2-40B4-BE49-F238E27FC236}">
                <a16:creationId xmlns:a16="http://schemas.microsoft.com/office/drawing/2014/main" id="{DE255A5C-AFD8-847E-9F3F-FC88D46A4A07}"/>
              </a:ext>
            </a:extLst>
          </p:cNvPr>
          <p:cNvSpPr>
            <a:spLocks noGrp="1"/>
          </p:cNvSpPr>
          <p:nvPr>
            <p:ph type="ftr" sz="quarter" idx="4"/>
          </p:nvPr>
        </p:nvSpPr>
        <p:spPr/>
        <p:txBody>
          <a:bodyPr/>
          <a:lstStyle/>
          <a:p>
            <a:pPr>
              <a:defRPr/>
            </a:pPr>
            <a:r>
              <a:rPr lang="en-US"/>
              <a:t>© 2023 Q4 Profiles</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7" name="Tijdelijke aanduiding voor dianummer 16">
            <a:extLst>
              <a:ext uri="{FF2B5EF4-FFF2-40B4-BE49-F238E27FC236}">
                <a16:creationId xmlns:a16="http://schemas.microsoft.com/office/drawing/2014/main" id="{68DB4A21-B40E-4414-A13E-7ED9F3C2CEB6}"/>
              </a:ext>
            </a:extLst>
          </p:cNvPr>
          <p:cNvSpPr>
            <a:spLocks noGrp="1"/>
          </p:cNvSpPr>
          <p:nvPr>
            <p:ph type="sldNum" sz="quarter" idx="5"/>
          </p:nvPr>
        </p:nvSpPr>
        <p:spPr/>
        <p:txBody>
          <a:bodyPr/>
          <a:lstStyle/>
          <a:p>
            <a:pPr>
              <a:defRPr/>
            </a:pPr>
            <a:fld id="{4DF5B407-0C7B-3F45-891E-996990709523}" type="slidenum">
              <a:rPr lang="nl-NL" smtClean="0"/>
              <a:pPr>
                <a:defRPr/>
              </a:pPr>
              <a:t>3</a:t>
            </a:fld>
            <a:endParaRPr lang="nl-NL"/>
          </a:p>
        </p:txBody>
      </p:sp>
      <p:sp>
        <p:nvSpPr>
          <p:cNvPr id="4" name="Tijdelijke aanduiding voor voettekst 3">
            <a:extLst>
              <a:ext uri="{FF2B5EF4-FFF2-40B4-BE49-F238E27FC236}">
                <a16:creationId xmlns:a16="http://schemas.microsoft.com/office/drawing/2014/main" id="{CFCA49E5-0F5F-736B-ADBC-2FC4BA5BF95E}"/>
              </a:ext>
            </a:extLst>
          </p:cNvPr>
          <p:cNvSpPr>
            <a:spLocks noGrp="1"/>
          </p:cNvSpPr>
          <p:nvPr>
            <p:ph type="ftr" sz="quarter" idx="4"/>
          </p:nvPr>
        </p:nvSpPr>
        <p:spPr/>
        <p:txBody>
          <a:bodyPr/>
          <a:lstStyle/>
          <a:p>
            <a:pPr>
              <a:defRPr/>
            </a:pPr>
            <a:r>
              <a:rPr lang="en-US"/>
              <a:t>© 2023 Q4 Profiles</a:t>
            </a:r>
            <a:endParaRPr lang="en-US" dirty="0"/>
          </a:p>
        </p:txBody>
      </p:sp>
    </p:spTree>
    <p:extLst>
      <p:ext uri="{BB962C8B-B14F-4D97-AF65-F5344CB8AC3E}">
        <p14:creationId xmlns:p14="http://schemas.microsoft.com/office/powerpoint/2010/main" val="139759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14400" y="2130428"/>
            <a:ext cx="10363200" cy="1470025"/>
          </a:xfrm>
        </p:spPr>
        <p:txBody>
          <a:bodyPr/>
          <a:lstStyle/>
          <a:p>
            <a:r>
              <a:rPr lang="nl-NL"/>
              <a:t>Titelstijl van model bewerken</a:t>
            </a:r>
          </a:p>
        </p:txBody>
      </p:sp>
      <p:sp>
        <p:nvSpPr>
          <p:cNvPr id="3" name="Subtitel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titelstijl van het model te bewerken</a:t>
            </a:r>
          </a:p>
        </p:txBody>
      </p:sp>
      <p:sp>
        <p:nvSpPr>
          <p:cNvPr id="4" name="Tijdelijke aanduiding voor datum 3"/>
          <p:cNvSpPr>
            <a:spLocks noGrp="1"/>
          </p:cNvSpPr>
          <p:nvPr>
            <p:ph type="dt" sz="half" idx="10"/>
          </p:nvPr>
        </p:nvSpPr>
        <p:spPr/>
        <p:txBody>
          <a:bodyPr/>
          <a:lstStyle>
            <a:lvl1pPr>
              <a:defRPr/>
            </a:lvl1pPr>
          </a:lstStyle>
          <a:p>
            <a:pPr>
              <a:defRPr/>
            </a:pPr>
            <a:fld id="{7E701C71-BA0E-4F9E-84B3-7064465BE3E4}" type="datetime1">
              <a:rPr lang="nl-NL" smtClean="0"/>
              <a:t>28-3-2023</a:t>
            </a:fld>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A6319679-BC94-8C46-8A90-0E065F9A00FD}" type="slidenum">
              <a:rPr lang="nl-NL"/>
              <a:pPr>
                <a:defRPr/>
              </a:pPr>
              <a:t>‹nr.›</a:t>
            </a:fld>
            <a:endParaRPr lang="nl-NL"/>
          </a:p>
        </p:txBody>
      </p:sp>
    </p:spTree>
    <p:extLst>
      <p:ext uri="{BB962C8B-B14F-4D97-AF65-F5344CB8AC3E}">
        <p14:creationId xmlns:p14="http://schemas.microsoft.com/office/powerpoint/2010/main" val="4144905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lvl1pPr>
              <a:defRPr/>
            </a:lvl1pPr>
          </a:lstStyle>
          <a:p>
            <a:pPr>
              <a:defRPr/>
            </a:pPr>
            <a:fld id="{22BEC383-E848-4783-9674-56CF7689BBC6}" type="datetime1">
              <a:rPr lang="nl-NL" smtClean="0"/>
              <a:t>28-3-2023</a:t>
            </a:fld>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C4DF5E9C-E797-3C4B-9460-4077DEC31D23}" type="slidenum">
              <a:rPr lang="nl-NL"/>
              <a:pPr>
                <a:defRPr/>
              </a:pPr>
              <a:t>‹nr.›</a:t>
            </a:fld>
            <a:endParaRPr lang="nl-NL"/>
          </a:p>
        </p:txBody>
      </p:sp>
    </p:spTree>
    <p:extLst>
      <p:ext uri="{BB962C8B-B14F-4D97-AF65-F5344CB8AC3E}">
        <p14:creationId xmlns:p14="http://schemas.microsoft.com/office/powerpoint/2010/main" val="364480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nl-NL"/>
              <a:t>Titelstijl van model bewerken</a:t>
            </a:r>
          </a:p>
        </p:txBody>
      </p:sp>
      <p:sp>
        <p:nvSpPr>
          <p:cNvPr id="3" name="Tijdelijke aanduiding voor tekst 2"/>
          <p:cNvSpPr>
            <a:spLocks noGrp="1"/>
          </p:cNvSpPr>
          <p:nvPr>
            <p:ph type="body" idx="1"/>
          </p:nvPr>
        </p:nvSpPr>
        <p:spPr>
          <a:xfrm>
            <a:off x="963084" y="2906716"/>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tekststijl van het model te bewerken</a:t>
            </a:r>
          </a:p>
        </p:txBody>
      </p:sp>
      <p:sp>
        <p:nvSpPr>
          <p:cNvPr id="4" name="Tijdelijke aanduiding voor datum 3"/>
          <p:cNvSpPr>
            <a:spLocks noGrp="1"/>
          </p:cNvSpPr>
          <p:nvPr>
            <p:ph type="dt" sz="half" idx="10"/>
          </p:nvPr>
        </p:nvSpPr>
        <p:spPr/>
        <p:txBody>
          <a:bodyPr/>
          <a:lstStyle>
            <a:lvl1pPr>
              <a:defRPr/>
            </a:lvl1pPr>
          </a:lstStyle>
          <a:p>
            <a:pPr>
              <a:defRPr/>
            </a:pPr>
            <a:fld id="{6ADC42DB-0701-4D8E-931C-3CEC255D0276}" type="datetime1">
              <a:rPr lang="nl-NL" smtClean="0"/>
              <a:t>28-3-2023</a:t>
            </a:fld>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FCFE96BA-62F2-574C-B7CC-1217AAFF8F7D}" type="slidenum">
              <a:rPr lang="nl-NL"/>
              <a:pPr>
                <a:defRPr/>
              </a:pPr>
              <a:t>‹nr.›</a:t>
            </a:fld>
            <a:endParaRPr lang="nl-NL"/>
          </a:p>
        </p:txBody>
      </p:sp>
    </p:spTree>
    <p:extLst>
      <p:ext uri="{BB962C8B-B14F-4D97-AF65-F5344CB8AC3E}">
        <p14:creationId xmlns:p14="http://schemas.microsoft.com/office/powerpoint/2010/main" val="94673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3"/>
          <p:cNvSpPr>
            <a:spLocks noGrp="1"/>
          </p:cNvSpPr>
          <p:nvPr>
            <p:ph type="dt" sz="half" idx="10"/>
          </p:nvPr>
        </p:nvSpPr>
        <p:spPr/>
        <p:txBody>
          <a:bodyPr/>
          <a:lstStyle>
            <a:lvl1pPr>
              <a:defRPr/>
            </a:lvl1pPr>
          </a:lstStyle>
          <a:p>
            <a:pPr>
              <a:defRPr/>
            </a:pPr>
            <a:fld id="{8AF7CF72-39D3-4BF6-91EC-560F85B77CDA}" type="datetime1">
              <a:rPr lang="nl-NL" smtClean="0"/>
              <a:t>28-3-2023</a:t>
            </a:fld>
            <a:endParaRPr lang="nl-NL"/>
          </a:p>
        </p:txBody>
      </p:sp>
      <p:sp>
        <p:nvSpPr>
          <p:cNvPr id="6"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7" name="Tijdelijke aanduiding voor dianummer 5"/>
          <p:cNvSpPr>
            <a:spLocks noGrp="1"/>
          </p:cNvSpPr>
          <p:nvPr>
            <p:ph type="sldNum" sz="quarter" idx="12"/>
          </p:nvPr>
        </p:nvSpPr>
        <p:spPr/>
        <p:txBody>
          <a:bodyPr/>
          <a:lstStyle>
            <a:lvl1pPr>
              <a:defRPr/>
            </a:lvl1pPr>
          </a:lstStyle>
          <a:p>
            <a:pPr>
              <a:defRPr/>
            </a:pPr>
            <a:fld id="{FC6451BC-0D83-B847-BD2A-2750FEA7A36D}" type="slidenum">
              <a:rPr lang="nl-NL"/>
              <a:pPr>
                <a:defRPr/>
              </a:pPr>
              <a:t>‹nr.›</a:t>
            </a:fld>
            <a:endParaRPr lang="nl-NL"/>
          </a:p>
        </p:txBody>
      </p:sp>
    </p:spTree>
    <p:extLst>
      <p:ext uri="{BB962C8B-B14F-4D97-AF65-F5344CB8AC3E}">
        <p14:creationId xmlns:p14="http://schemas.microsoft.com/office/powerpoint/2010/main" val="359809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Titelstijl van model bewerken</a:t>
            </a:r>
          </a:p>
        </p:txBody>
      </p:sp>
      <p:sp>
        <p:nvSpPr>
          <p:cNvPr id="3" name="Tijdelijke aanduiding voor tekst 2"/>
          <p:cNvSpPr>
            <a:spLocks noGrp="1"/>
          </p:cNvSpPr>
          <p:nvPr>
            <p:ph type="body" idx="1"/>
          </p:nvPr>
        </p:nvSpPr>
        <p:spPr>
          <a:xfrm>
            <a:off x="609603"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tekststijl van het model te bewerken</a:t>
            </a:r>
          </a:p>
        </p:txBody>
      </p:sp>
      <p:sp>
        <p:nvSpPr>
          <p:cNvPr id="4" name="Tijdelijke aanduiding voor inhoud 3"/>
          <p:cNvSpPr>
            <a:spLocks noGrp="1"/>
          </p:cNvSpPr>
          <p:nvPr>
            <p:ph sz="half" idx="2"/>
          </p:nvPr>
        </p:nvSpPr>
        <p:spPr>
          <a:xfrm>
            <a:off x="609603"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tekststijl van het model te bewerken</a:t>
            </a:r>
          </a:p>
        </p:txBody>
      </p:sp>
      <p:sp>
        <p:nvSpPr>
          <p:cNvPr id="6" name="Tijdelijke aanduiding voor inhoud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3"/>
          <p:cNvSpPr>
            <a:spLocks noGrp="1"/>
          </p:cNvSpPr>
          <p:nvPr>
            <p:ph type="dt" sz="half" idx="10"/>
          </p:nvPr>
        </p:nvSpPr>
        <p:spPr/>
        <p:txBody>
          <a:bodyPr/>
          <a:lstStyle>
            <a:lvl1pPr>
              <a:defRPr/>
            </a:lvl1pPr>
          </a:lstStyle>
          <a:p>
            <a:pPr>
              <a:defRPr/>
            </a:pPr>
            <a:fld id="{11DE78CF-2677-4981-AFFE-22EA3211A449}" type="datetime1">
              <a:rPr lang="nl-NL" smtClean="0"/>
              <a:t>28-3-2023</a:t>
            </a:fld>
            <a:endParaRPr lang="nl-NL"/>
          </a:p>
        </p:txBody>
      </p:sp>
      <p:sp>
        <p:nvSpPr>
          <p:cNvPr id="8"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9" name="Tijdelijke aanduiding voor dianummer 5"/>
          <p:cNvSpPr>
            <a:spLocks noGrp="1"/>
          </p:cNvSpPr>
          <p:nvPr>
            <p:ph type="sldNum" sz="quarter" idx="12"/>
          </p:nvPr>
        </p:nvSpPr>
        <p:spPr/>
        <p:txBody>
          <a:bodyPr/>
          <a:lstStyle>
            <a:lvl1pPr>
              <a:defRPr/>
            </a:lvl1pPr>
          </a:lstStyle>
          <a:p>
            <a:pPr>
              <a:defRPr/>
            </a:pPr>
            <a:fld id="{4FA43F62-804D-5240-9C20-54C68EE2893F}" type="slidenum">
              <a:rPr lang="nl-NL"/>
              <a:pPr>
                <a:defRPr/>
              </a:pPr>
              <a:t>‹nr.›</a:t>
            </a:fld>
            <a:endParaRPr lang="nl-NL"/>
          </a:p>
        </p:txBody>
      </p:sp>
    </p:spTree>
    <p:extLst>
      <p:ext uri="{BB962C8B-B14F-4D97-AF65-F5344CB8AC3E}">
        <p14:creationId xmlns:p14="http://schemas.microsoft.com/office/powerpoint/2010/main" val="1098941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datum 3"/>
          <p:cNvSpPr>
            <a:spLocks noGrp="1"/>
          </p:cNvSpPr>
          <p:nvPr>
            <p:ph type="dt" sz="half" idx="10"/>
          </p:nvPr>
        </p:nvSpPr>
        <p:spPr/>
        <p:txBody>
          <a:bodyPr/>
          <a:lstStyle>
            <a:lvl1pPr>
              <a:defRPr/>
            </a:lvl1pPr>
          </a:lstStyle>
          <a:p>
            <a:pPr>
              <a:defRPr/>
            </a:pPr>
            <a:fld id="{DD785A32-1978-49B2-B011-02CBD25F8815}" type="datetime1">
              <a:rPr lang="nl-NL" smtClean="0"/>
              <a:t>28-3-2023</a:t>
            </a:fld>
            <a:endParaRPr lang="nl-NL"/>
          </a:p>
        </p:txBody>
      </p:sp>
      <p:sp>
        <p:nvSpPr>
          <p:cNvPr id="4"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5" name="Tijdelijke aanduiding voor dianummer 5"/>
          <p:cNvSpPr>
            <a:spLocks noGrp="1"/>
          </p:cNvSpPr>
          <p:nvPr>
            <p:ph type="sldNum" sz="quarter" idx="12"/>
          </p:nvPr>
        </p:nvSpPr>
        <p:spPr/>
        <p:txBody>
          <a:bodyPr/>
          <a:lstStyle>
            <a:lvl1pPr>
              <a:defRPr/>
            </a:lvl1pPr>
          </a:lstStyle>
          <a:p>
            <a:pPr>
              <a:defRPr/>
            </a:pPr>
            <a:fld id="{48BC7640-FE66-A547-B300-F4E845B1EAFE}" type="slidenum">
              <a:rPr lang="nl-NL"/>
              <a:pPr>
                <a:defRPr/>
              </a:pPr>
              <a:t>‹nr.›</a:t>
            </a:fld>
            <a:endParaRPr lang="nl-NL"/>
          </a:p>
        </p:txBody>
      </p:sp>
    </p:spTree>
    <p:extLst>
      <p:ext uri="{BB962C8B-B14F-4D97-AF65-F5344CB8AC3E}">
        <p14:creationId xmlns:p14="http://schemas.microsoft.com/office/powerpoint/2010/main" val="344785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3"/>
          <p:cNvSpPr>
            <a:spLocks noGrp="1"/>
          </p:cNvSpPr>
          <p:nvPr>
            <p:ph type="dt" sz="half" idx="10"/>
          </p:nvPr>
        </p:nvSpPr>
        <p:spPr/>
        <p:txBody>
          <a:bodyPr/>
          <a:lstStyle>
            <a:lvl1pPr>
              <a:defRPr/>
            </a:lvl1pPr>
          </a:lstStyle>
          <a:p>
            <a:pPr>
              <a:defRPr/>
            </a:pPr>
            <a:fld id="{C6BA80F9-3F1A-4D8B-A97C-35F6AFBD2983}" type="datetime1">
              <a:rPr lang="nl-NL" smtClean="0"/>
              <a:t>28-3-2023</a:t>
            </a:fld>
            <a:endParaRPr lang="nl-NL"/>
          </a:p>
        </p:txBody>
      </p:sp>
      <p:sp>
        <p:nvSpPr>
          <p:cNvPr id="3"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4" name="Tijdelijke aanduiding voor dianummer 5"/>
          <p:cNvSpPr>
            <a:spLocks noGrp="1"/>
          </p:cNvSpPr>
          <p:nvPr>
            <p:ph type="sldNum" sz="quarter" idx="12"/>
          </p:nvPr>
        </p:nvSpPr>
        <p:spPr/>
        <p:txBody>
          <a:bodyPr/>
          <a:lstStyle>
            <a:lvl1pPr>
              <a:defRPr/>
            </a:lvl1pPr>
          </a:lstStyle>
          <a:p>
            <a:pPr>
              <a:defRPr/>
            </a:pPr>
            <a:fld id="{EA49DBE6-E832-C244-85C3-1A3F76120102}" type="slidenum">
              <a:rPr lang="nl-NL"/>
              <a:pPr>
                <a:defRPr/>
              </a:pPr>
              <a:t>‹nr.›</a:t>
            </a:fld>
            <a:endParaRPr lang="nl-NL"/>
          </a:p>
        </p:txBody>
      </p:sp>
    </p:spTree>
    <p:extLst>
      <p:ext uri="{BB962C8B-B14F-4D97-AF65-F5344CB8AC3E}">
        <p14:creationId xmlns:p14="http://schemas.microsoft.com/office/powerpoint/2010/main" val="3079729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3" y="273050"/>
            <a:ext cx="4011084" cy="1162050"/>
          </a:xfrm>
        </p:spPr>
        <p:txBody>
          <a:bodyPr anchor="b"/>
          <a:lstStyle>
            <a:lvl1pPr algn="l">
              <a:defRPr sz="2000" b="1"/>
            </a:lvl1pPr>
          </a:lstStyle>
          <a:p>
            <a:r>
              <a:rPr lang="nl-NL"/>
              <a:t>Titelstijl van model bewerken</a:t>
            </a:r>
          </a:p>
        </p:txBody>
      </p:sp>
      <p:sp>
        <p:nvSpPr>
          <p:cNvPr id="3" name="Tijdelijke aanduiding voor inhoud 2"/>
          <p:cNvSpPr>
            <a:spLocks noGrp="1"/>
          </p:cNvSpPr>
          <p:nvPr>
            <p:ph idx="1"/>
          </p:nvPr>
        </p:nvSpPr>
        <p:spPr>
          <a:xfrm>
            <a:off x="4766735" y="273053"/>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tekststijl van het model te bewerken</a:t>
            </a:r>
          </a:p>
        </p:txBody>
      </p:sp>
      <p:sp>
        <p:nvSpPr>
          <p:cNvPr id="5" name="Tijdelijke aanduiding voor datum 3"/>
          <p:cNvSpPr>
            <a:spLocks noGrp="1"/>
          </p:cNvSpPr>
          <p:nvPr>
            <p:ph type="dt" sz="half" idx="10"/>
          </p:nvPr>
        </p:nvSpPr>
        <p:spPr/>
        <p:txBody>
          <a:bodyPr/>
          <a:lstStyle>
            <a:lvl1pPr>
              <a:defRPr/>
            </a:lvl1pPr>
          </a:lstStyle>
          <a:p>
            <a:pPr>
              <a:defRPr/>
            </a:pPr>
            <a:fld id="{846105B2-E20D-42B0-A51A-AF46769E3C05}" type="datetime1">
              <a:rPr lang="nl-NL" smtClean="0"/>
              <a:t>28-3-2023</a:t>
            </a:fld>
            <a:endParaRPr lang="nl-NL"/>
          </a:p>
        </p:txBody>
      </p:sp>
      <p:sp>
        <p:nvSpPr>
          <p:cNvPr id="6"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7" name="Tijdelijke aanduiding voor dianummer 5"/>
          <p:cNvSpPr>
            <a:spLocks noGrp="1"/>
          </p:cNvSpPr>
          <p:nvPr>
            <p:ph type="sldNum" sz="quarter" idx="12"/>
          </p:nvPr>
        </p:nvSpPr>
        <p:spPr/>
        <p:txBody>
          <a:bodyPr/>
          <a:lstStyle>
            <a:lvl1pPr>
              <a:defRPr/>
            </a:lvl1pPr>
          </a:lstStyle>
          <a:p>
            <a:pPr>
              <a:defRPr/>
            </a:pPr>
            <a:fld id="{996F751F-2EEC-504D-8C60-CF3E1A6FB2CF}" type="slidenum">
              <a:rPr lang="nl-NL"/>
              <a:pPr>
                <a:defRPr/>
              </a:pPr>
              <a:t>‹nr.›</a:t>
            </a:fld>
            <a:endParaRPr lang="nl-NL"/>
          </a:p>
        </p:txBody>
      </p:sp>
    </p:spTree>
    <p:extLst>
      <p:ext uri="{BB962C8B-B14F-4D97-AF65-F5344CB8AC3E}">
        <p14:creationId xmlns:p14="http://schemas.microsoft.com/office/powerpoint/2010/main" val="120839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1"/>
            <a:ext cx="7315200" cy="566738"/>
          </a:xfrm>
        </p:spPr>
        <p:txBody>
          <a:bodyPr anchor="b"/>
          <a:lstStyle>
            <a:lvl1pPr algn="l">
              <a:defRPr sz="2000" b="1"/>
            </a:lvl1pPr>
          </a:lstStyle>
          <a:p>
            <a:r>
              <a:rPr lang="nl-NL"/>
              <a:t>Titelstijl van model bewerken</a:t>
            </a:r>
          </a:p>
        </p:txBody>
      </p:sp>
      <p:sp>
        <p:nvSpPr>
          <p:cNvPr id="3" name="Tijdelijke aanduiding voor afbeelding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tekststijl van het model te bewerken</a:t>
            </a:r>
          </a:p>
        </p:txBody>
      </p:sp>
      <p:sp>
        <p:nvSpPr>
          <p:cNvPr id="5" name="Tijdelijke aanduiding voor datum 3"/>
          <p:cNvSpPr>
            <a:spLocks noGrp="1"/>
          </p:cNvSpPr>
          <p:nvPr>
            <p:ph type="dt" sz="half" idx="10"/>
          </p:nvPr>
        </p:nvSpPr>
        <p:spPr/>
        <p:txBody>
          <a:bodyPr/>
          <a:lstStyle>
            <a:lvl1pPr>
              <a:defRPr/>
            </a:lvl1pPr>
          </a:lstStyle>
          <a:p>
            <a:pPr>
              <a:defRPr/>
            </a:pPr>
            <a:fld id="{66432D7D-950D-4922-9F63-51EDDED061AB}" type="datetime1">
              <a:rPr lang="nl-NL" smtClean="0"/>
              <a:t>28-3-2023</a:t>
            </a:fld>
            <a:endParaRPr lang="nl-NL"/>
          </a:p>
        </p:txBody>
      </p:sp>
      <p:sp>
        <p:nvSpPr>
          <p:cNvPr id="6"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7" name="Tijdelijke aanduiding voor dianummer 5"/>
          <p:cNvSpPr>
            <a:spLocks noGrp="1"/>
          </p:cNvSpPr>
          <p:nvPr>
            <p:ph type="sldNum" sz="quarter" idx="12"/>
          </p:nvPr>
        </p:nvSpPr>
        <p:spPr/>
        <p:txBody>
          <a:bodyPr/>
          <a:lstStyle>
            <a:lvl1pPr>
              <a:defRPr/>
            </a:lvl1pPr>
          </a:lstStyle>
          <a:p>
            <a:pPr>
              <a:defRPr/>
            </a:pPr>
            <a:fld id="{E2513D60-52D0-9741-8BA4-6C90513C713A}" type="slidenum">
              <a:rPr lang="nl-NL"/>
              <a:pPr>
                <a:defRPr/>
              </a:pPr>
              <a:t>‹nr.›</a:t>
            </a:fld>
            <a:endParaRPr lang="nl-NL"/>
          </a:p>
        </p:txBody>
      </p:sp>
    </p:spTree>
    <p:extLst>
      <p:ext uri="{BB962C8B-B14F-4D97-AF65-F5344CB8AC3E}">
        <p14:creationId xmlns:p14="http://schemas.microsoft.com/office/powerpoint/2010/main" val="3470262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verticale tekst 2"/>
          <p:cNvSpPr>
            <a:spLocks noGrp="1"/>
          </p:cNvSpPr>
          <p:nvPr>
            <p:ph type="body" orient="vert" idx="1"/>
          </p:nvPr>
        </p:nvSpPr>
        <p:spPr/>
        <p:txBody>
          <a:bodyPr vert="eaVert"/>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lvl1pPr>
              <a:defRPr/>
            </a:lvl1pPr>
          </a:lstStyle>
          <a:p>
            <a:pPr>
              <a:defRPr/>
            </a:pPr>
            <a:fld id="{51AA76F9-1F5F-4D12-BB91-43B915875B93}" type="datetime1">
              <a:rPr lang="nl-NL" smtClean="0"/>
              <a:t>28-3-2023</a:t>
            </a:fld>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49D75F54-EA4E-D14E-B22A-E83F753A6C6A}" type="slidenum">
              <a:rPr lang="nl-NL"/>
              <a:pPr>
                <a:defRPr/>
              </a:pPr>
              <a:t>‹nr.›</a:t>
            </a:fld>
            <a:endParaRPr lang="nl-NL"/>
          </a:p>
        </p:txBody>
      </p:sp>
    </p:spTree>
    <p:extLst>
      <p:ext uri="{BB962C8B-B14F-4D97-AF65-F5344CB8AC3E}">
        <p14:creationId xmlns:p14="http://schemas.microsoft.com/office/powerpoint/2010/main" val="273507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39200" y="274641"/>
            <a:ext cx="2743200" cy="5851525"/>
          </a:xfrm>
        </p:spPr>
        <p:txBody>
          <a:bodyPr vert="eaVert"/>
          <a:lstStyle/>
          <a:p>
            <a:r>
              <a:rPr lang="nl-NL"/>
              <a:t>Titelstijl van model bewerken</a:t>
            </a:r>
          </a:p>
        </p:txBody>
      </p:sp>
      <p:sp>
        <p:nvSpPr>
          <p:cNvPr id="3" name="Tijdelijke aanduiding voor verticale tekst 2"/>
          <p:cNvSpPr>
            <a:spLocks noGrp="1"/>
          </p:cNvSpPr>
          <p:nvPr>
            <p:ph type="body" orient="vert" idx="1"/>
          </p:nvPr>
        </p:nvSpPr>
        <p:spPr>
          <a:xfrm>
            <a:off x="609600" y="274641"/>
            <a:ext cx="8026400" cy="5851525"/>
          </a:xfrm>
        </p:spPr>
        <p:txBody>
          <a:bodyPr vert="eaVert"/>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lvl1pPr>
              <a:defRPr/>
            </a:lvl1pPr>
          </a:lstStyle>
          <a:p>
            <a:pPr>
              <a:defRPr/>
            </a:pPr>
            <a:fld id="{469E64FD-368C-41AB-BAF8-C3224502050D}" type="datetime1">
              <a:rPr lang="nl-NL" smtClean="0"/>
              <a:t>28-3-2023</a:t>
            </a:fld>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2023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332FF4AC-A8D4-3F4D-B51C-86B83652D0E6}" type="slidenum">
              <a:rPr lang="nl-NL"/>
              <a:pPr>
                <a:defRPr/>
              </a:pPr>
              <a:t>‹nr.›</a:t>
            </a:fld>
            <a:endParaRPr lang="nl-NL"/>
          </a:p>
        </p:txBody>
      </p:sp>
    </p:spTree>
    <p:extLst>
      <p:ext uri="{BB962C8B-B14F-4D97-AF65-F5344CB8AC3E}">
        <p14:creationId xmlns:p14="http://schemas.microsoft.com/office/powerpoint/2010/main" val="2521163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Tijdelijke aanduiding voor titel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nl-NL"/>
              <a:t>Titelstijl van model bewerken</a:t>
            </a:r>
          </a:p>
        </p:txBody>
      </p:sp>
      <p:sp>
        <p:nvSpPr>
          <p:cNvPr id="1027" name="Tijdelijke aanduiding voor tekst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cs typeface="Arial" charset="0"/>
              </a:defRPr>
            </a:lvl1pPr>
          </a:lstStyle>
          <a:p>
            <a:pPr>
              <a:defRPr/>
            </a:pPr>
            <a:fld id="{879D22EA-B891-4437-8E21-CEA1C2C8F105}" type="datetime1">
              <a:rPr lang="nl-NL" smtClean="0"/>
              <a:t>28-3-2023</a:t>
            </a:fld>
            <a:endParaRPr lang="nl-NL"/>
          </a:p>
        </p:txBody>
      </p:sp>
      <p:sp>
        <p:nvSpPr>
          <p:cNvPr id="5" name="Tijdelijke aanduiding voor voettekst 4"/>
          <p:cNvSpPr>
            <a:spLocks noGrp="1"/>
          </p:cNvSpPr>
          <p:nvPr>
            <p:ph type="ftr" sz="quarter" idx="3"/>
          </p:nvPr>
        </p:nvSpPr>
        <p:spPr>
          <a:xfrm>
            <a:off x="4165600" y="6356353"/>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cs typeface="Arial" charset="0"/>
              </a:defRPr>
            </a:lvl1pPr>
          </a:lstStyle>
          <a:p>
            <a:pPr>
              <a:defRPr/>
            </a:pPr>
            <a:r>
              <a:rPr lang="en-US"/>
              <a:t>© 2023 Q4 Profiles</a:t>
            </a:r>
          </a:p>
        </p:txBody>
      </p:sp>
      <p:sp>
        <p:nvSpPr>
          <p:cNvPr id="6" name="Tijdelijke aanduiding voor dianumm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cs typeface="Arial" charset="0"/>
              </a:defRPr>
            </a:lvl1pPr>
          </a:lstStyle>
          <a:p>
            <a:pPr>
              <a:defRPr/>
            </a:pPr>
            <a:fld id="{6F2553A2-8246-0246-B24A-2EEE757805AB}" type="slidenum">
              <a:rPr lang="nl-NL"/>
              <a:pPr>
                <a:defRPr/>
              </a:pPr>
              <a:t>‹nr.›</a:t>
            </a:fld>
            <a:endParaRPr lang="nl-NL"/>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4.xml"/><Relationship Id="rId6" Type="http://schemas.openxmlformats.org/officeDocument/2006/relationships/image" Target="../media/image10.jpeg"/><Relationship Id="rId5" Type="http://schemas.openxmlformats.org/officeDocument/2006/relationships/image" Target="../media/image9.jp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4.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png"/><Relationship Id="rId3" Type="http://schemas.openxmlformats.org/officeDocument/2006/relationships/image" Target="../media/image19.jpe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pn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1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1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1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1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1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1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1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2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2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Erwin\Desktop\iStock_000016699392_Double (1024x683).jpg"/>
          <p:cNvPicPr>
            <a:picLocks noChangeAspect="1" noChangeArrowheads="1"/>
          </p:cNvPicPr>
          <p:nvPr/>
        </p:nvPicPr>
        <p:blipFill>
          <a:blip r:embed="rId3">
            <a:extLst>
              <a:ext uri="{28A0092B-C50C-407E-A947-70E740481C1C}">
                <a14:useLocalDpi xmlns:a14="http://schemas.microsoft.com/office/drawing/2010/main" val="0"/>
              </a:ext>
            </a:extLst>
          </a:blip>
          <a:srcRect r="5885"/>
          <a:stretch>
            <a:fillRect/>
          </a:stretch>
        </p:blipFill>
        <p:spPr bwMode="auto">
          <a:xfrm>
            <a:off x="4355181" y="58396"/>
            <a:ext cx="6156443" cy="4363585"/>
          </a:xfrm>
          <a:prstGeom prst="rect">
            <a:avLst/>
          </a:prstGeom>
          <a:noFill/>
          <a:ln>
            <a:noFill/>
          </a:ln>
          <a:effectLst>
            <a:outerShdw blurRad="63500" algn="tl" rotWithShape="0">
              <a:srgbClr val="000000">
                <a:alpha val="70000"/>
              </a:srgb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itel 1"/>
          <p:cNvSpPr txBox="1">
            <a:spLocks/>
          </p:cNvSpPr>
          <p:nvPr/>
        </p:nvSpPr>
        <p:spPr bwMode="auto">
          <a:xfrm>
            <a:off x="1524003" y="4421981"/>
            <a:ext cx="8987621" cy="998538"/>
          </a:xfrm>
          <a:prstGeom prst="rect">
            <a:avLst/>
          </a:prstGeom>
          <a:noFill/>
          <a:ln w="9525">
            <a:noFill/>
            <a:miter lim="800000"/>
            <a:headEnd/>
            <a:tailEnd/>
          </a:ln>
        </p:spPr>
        <p:txBody>
          <a:bodyPr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r" eaLnBrk="1" hangingPunct="1">
              <a:defRPr/>
            </a:pPr>
            <a:r>
              <a:rPr lang="en-US" sz="5400" b="1" i="1" spc="50" dirty="0" err="1">
                <a:ln w="11430"/>
                <a:solidFill>
                  <a:srgbClr val="C00000"/>
                </a:solidFill>
                <a:effectLst>
                  <a:outerShdw blurRad="76200" dist="50800" dir="5400000" algn="tl" rotWithShape="0">
                    <a:srgbClr val="000000">
                      <a:alpha val="65000"/>
                    </a:srgbClr>
                  </a:outerShdw>
                </a:effectLst>
                <a:latin typeface="Frutiger LT Std 45 Light" panose="020B0402020204020204" pitchFamily="34" charset="0"/>
              </a:rPr>
              <a:t>Persoonlijke</a:t>
            </a:r>
            <a:r>
              <a:rPr lang="en-US" sz="5400" b="1" i="1" spc="50" dirty="0">
                <a:ln w="11430"/>
                <a:solidFill>
                  <a:srgbClr val="C00000"/>
                </a:solidFill>
                <a:effectLst>
                  <a:outerShdw blurRad="76200" dist="50800" dir="5400000" algn="tl" rotWithShape="0">
                    <a:srgbClr val="000000">
                      <a:alpha val="65000"/>
                    </a:srgbClr>
                  </a:outerShdw>
                </a:effectLst>
                <a:latin typeface="Frutiger LT Std 45 Light" panose="020B0402020204020204" pitchFamily="34" charset="0"/>
              </a:rPr>
              <a:t> Interesses</a:t>
            </a:r>
            <a:endParaRPr lang="nl-NL" sz="5400" b="1" i="1" spc="50" dirty="0">
              <a:ln w="11430"/>
              <a:solidFill>
                <a:srgbClr val="C00000"/>
              </a:solidFill>
              <a:effectLst>
                <a:outerShdw blurRad="76200" dist="50800" dir="5400000" algn="tl" rotWithShape="0">
                  <a:srgbClr val="000000">
                    <a:alpha val="65000"/>
                  </a:srgbClr>
                </a:outerShdw>
              </a:effectLst>
              <a:latin typeface="Frutiger LT Std 45 Light" panose="020B0402020204020204" pitchFamily="34" charset="0"/>
            </a:endParaRPr>
          </a:p>
        </p:txBody>
      </p:sp>
      <p:sp>
        <p:nvSpPr>
          <p:cNvPr id="6" name="Ondertitel 2"/>
          <p:cNvSpPr>
            <a:spLocks noGrp="1"/>
          </p:cNvSpPr>
          <p:nvPr>
            <p:ph type="subTitle" idx="1"/>
          </p:nvPr>
        </p:nvSpPr>
        <p:spPr>
          <a:xfrm>
            <a:off x="1524003" y="5278438"/>
            <a:ext cx="8987621" cy="914400"/>
          </a:xfrm>
        </p:spPr>
        <p:txBody>
          <a:bodyPr/>
          <a:lstStyle/>
          <a:p>
            <a:pPr marL="36513" algn="r" eaLnBrk="1" hangingPunct="1">
              <a:spcBef>
                <a:spcPct val="0"/>
              </a:spcBef>
              <a:defRPr/>
            </a:pPr>
            <a:r>
              <a:rPr lang="nl-NL"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Frutiger LT Std 45 Light" panose="020B0402020204020204" pitchFamily="34" charset="0"/>
                <a:ea typeface="+mn-ea"/>
                <a:cs typeface="Arial" pitchFamily="34" charset="0"/>
              </a:rPr>
              <a:t>CERTIFICATIE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820" y="524339"/>
            <a:ext cx="6036807" cy="5258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Rectangle 7"/>
          <p:cNvSpPr/>
          <p:nvPr/>
        </p:nvSpPr>
        <p:spPr>
          <a:xfrm>
            <a:off x="386705" y="3429000"/>
            <a:ext cx="5115582" cy="769441"/>
          </a:xfrm>
          <a:prstGeom prst="rect">
            <a:avLst/>
          </a:prstGeom>
          <a:noFill/>
        </p:spPr>
        <p:txBody>
          <a:bodyPr wrap="square" anchor="t">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en-US"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a:ea typeface="ＭＳ Ｐゴシック"/>
              </a:rPr>
              <a:t>Erwin Kruk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3167"/>
            <a:ext cx="8229600" cy="869587"/>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b="1" spc="50" dirty="0">
                <a:ln w="11430"/>
                <a:gradFill>
                  <a:gsLst>
                    <a:gs pos="25000">
                      <a:schemeClr val="accent2">
                        <a:satMod val="155000"/>
                      </a:schemeClr>
                    </a:gs>
                    <a:gs pos="100000">
                      <a:schemeClr val="accent2">
                        <a:shade val="45000"/>
                        <a:satMod val="165000"/>
                      </a:schemeClr>
                    </a:gs>
                  </a:gsLst>
                  <a:lin ang="5400000"/>
                </a:gradFill>
                <a:latin typeface="Frutiger LT Std 45 Light" panose="020B0402020204020204" pitchFamily="34" charset="0"/>
              </a:rPr>
              <a:t>Agenda</a:t>
            </a:r>
          </a:p>
        </p:txBody>
      </p:sp>
      <p:sp>
        <p:nvSpPr>
          <p:cNvPr id="3" name="Content Placeholder 2"/>
          <p:cNvSpPr>
            <a:spLocks noGrp="1"/>
          </p:cNvSpPr>
          <p:nvPr>
            <p:ph idx="1"/>
          </p:nvPr>
        </p:nvSpPr>
        <p:spPr>
          <a:xfrm>
            <a:off x="2759006" y="1300803"/>
            <a:ext cx="7800839" cy="4657545"/>
          </a:xfrm>
        </p:spPr>
        <p:txBody>
          <a:bodyPr/>
          <a:lstStyle/>
          <a:p>
            <a:r>
              <a:rPr lang="en-US" sz="2800" dirty="0">
                <a:solidFill>
                  <a:srgbClr val="36383E"/>
                </a:solidFill>
                <a:latin typeface="Frutiger LT Std 45 Light"/>
              </a:rPr>
              <a:t>09.30</a:t>
            </a:r>
            <a:r>
              <a:rPr lang="en-US" sz="2800" baseline="30000" dirty="0">
                <a:solidFill>
                  <a:srgbClr val="36383E"/>
                </a:solidFill>
                <a:latin typeface="Frutiger LT Std 45 Light"/>
              </a:rPr>
              <a:t>	</a:t>
            </a:r>
            <a:r>
              <a:rPr lang="en-US" sz="2800" dirty="0" err="1">
                <a:solidFill>
                  <a:srgbClr val="36383E"/>
                </a:solidFill>
                <a:latin typeface="Frutiger LT Std 45 Light"/>
              </a:rPr>
              <a:t>Introductie</a:t>
            </a:r>
            <a:r>
              <a:rPr lang="en-US" sz="2800" dirty="0">
                <a:solidFill>
                  <a:srgbClr val="36383E"/>
                </a:solidFill>
                <a:latin typeface="Frutiger LT Std 45 Light"/>
              </a:rPr>
              <a:t> en </a:t>
            </a:r>
            <a:r>
              <a:rPr lang="en-US" sz="2800" dirty="0" err="1">
                <a:solidFill>
                  <a:srgbClr val="36383E"/>
                </a:solidFill>
                <a:latin typeface="Frutiger LT Std 45 Light"/>
              </a:rPr>
              <a:t>kennismaking</a:t>
            </a:r>
            <a:endParaRPr lang="en-US" sz="2800" dirty="0">
              <a:solidFill>
                <a:srgbClr val="36383E"/>
              </a:solidFill>
              <a:latin typeface="Frutiger LT Std 45 Light"/>
            </a:endParaRPr>
          </a:p>
          <a:p>
            <a:r>
              <a:rPr lang="en-US" sz="2800" dirty="0">
                <a:solidFill>
                  <a:srgbClr val="36383E"/>
                </a:solidFill>
                <a:latin typeface="Frutiger LT Std 45 Light"/>
              </a:rPr>
              <a:t>10.00	Interesses en </a:t>
            </a:r>
            <a:r>
              <a:rPr lang="en-US" sz="2800" dirty="0" err="1">
                <a:solidFill>
                  <a:srgbClr val="36383E"/>
                </a:solidFill>
                <a:latin typeface="Frutiger LT Std 45 Light"/>
              </a:rPr>
              <a:t>achtergrond</a:t>
            </a:r>
            <a:endParaRPr lang="en-US" sz="2800" dirty="0">
              <a:solidFill>
                <a:srgbClr val="36383E"/>
              </a:solidFill>
              <a:latin typeface="Frutiger LT Std 45 Light"/>
            </a:endParaRPr>
          </a:p>
          <a:p>
            <a:r>
              <a:rPr lang="en-US" sz="2800" dirty="0">
                <a:solidFill>
                  <a:srgbClr val="36383E"/>
                </a:solidFill>
                <a:latin typeface="Frutiger LT Std 45 Light"/>
              </a:rPr>
              <a:t>11.00	Break</a:t>
            </a:r>
          </a:p>
          <a:p>
            <a:r>
              <a:rPr lang="en-US" sz="2800" dirty="0">
                <a:solidFill>
                  <a:srgbClr val="36383E"/>
                </a:solidFill>
                <a:latin typeface="Frutiger LT Std 45 Light"/>
              </a:rPr>
              <a:t>11.15	Interesses en </a:t>
            </a:r>
            <a:r>
              <a:rPr lang="en-US" sz="2800" dirty="0" err="1">
                <a:solidFill>
                  <a:srgbClr val="36383E"/>
                </a:solidFill>
                <a:latin typeface="Frutiger LT Std 45 Light"/>
              </a:rPr>
              <a:t>achtergrond</a:t>
            </a:r>
            <a:r>
              <a:rPr lang="en-US" sz="2800" dirty="0">
                <a:solidFill>
                  <a:srgbClr val="36383E"/>
                </a:solidFill>
                <a:latin typeface="Frutiger LT Std 45 Light"/>
              </a:rPr>
              <a:t> </a:t>
            </a:r>
            <a:r>
              <a:rPr lang="en-US" sz="2800" dirty="0" err="1">
                <a:solidFill>
                  <a:srgbClr val="36383E"/>
                </a:solidFill>
                <a:latin typeface="Frutiger LT Std 45 Light"/>
              </a:rPr>
              <a:t>vervolg</a:t>
            </a:r>
            <a:r>
              <a:rPr lang="en-US" sz="2800" dirty="0">
                <a:solidFill>
                  <a:srgbClr val="36383E"/>
                </a:solidFill>
                <a:latin typeface="Frutiger LT Std 45 Light"/>
              </a:rPr>
              <a:t> </a:t>
            </a:r>
          </a:p>
          <a:p>
            <a:r>
              <a:rPr lang="en-US" sz="2800" dirty="0">
                <a:solidFill>
                  <a:srgbClr val="36383E"/>
                </a:solidFill>
                <a:latin typeface="Frutiger LT Std 45 Light"/>
              </a:rPr>
              <a:t>12.00	Het Concept</a:t>
            </a:r>
          </a:p>
          <a:p>
            <a:r>
              <a:rPr lang="en-US" sz="2800" dirty="0">
                <a:solidFill>
                  <a:srgbClr val="36383E"/>
                </a:solidFill>
                <a:latin typeface="Frutiger LT Std 45 Light"/>
              </a:rPr>
              <a:t>13.00	Lunch</a:t>
            </a:r>
          </a:p>
          <a:p>
            <a:r>
              <a:rPr lang="en-US" sz="2800" dirty="0">
                <a:solidFill>
                  <a:srgbClr val="36383E"/>
                </a:solidFill>
                <a:latin typeface="Frutiger LT Std 45 Light"/>
              </a:rPr>
              <a:t>14.00	Examen/Gap meting</a:t>
            </a:r>
          </a:p>
          <a:p>
            <a:r>
              <a:rPr lang="en-US" sz="2800" dirty="0">
                <a:solidFill>
                  <a:srgbClr val="36383E"/>
                </a:solidFill>
                <a:latin typeface="Frutiger LT Std 45 Light"/>
              </a:rPr>
              <a:t>15.00	</a:t>
            </a:r>
            <a:r>
              <a:rPr lang="en-US" sz="2800" dirty="0" err="1">
                <a:solidFill>
                  <a:srgbClr val="36383E"/>
                </a:solidFill>
                <a:latin typeface="Frutiger LT Std 45 Light"/>
              </a:rPr>
              <a:t>Oefeningen</a:t>
            </a:r>
            <a:r>
              <a:rPr lang="en-US" sz="2800" dirty="0">
                <a:solidFill>
                  <a:srgbClr val="36383E"/>
                </a:solidFill>
                <a:latin typeface="Frutiger LT Std 45 Light"/>
              </a:rPr>
              <a:t> &amp; Cases (</a:t>
            </a:r>
            <a:r>
              <a:rPr lang="en-US" sz="2800" dirty="0" err="1">
                <a:solidFill>
                  <a:srgbClr val="36383E"/>
                </a:solidFill>
                <a:latin typeface="Frutiger LT Std 45 Light"/>
              </a:rPr>
              <a:t>Motivatie</a:t>
            </a:r>
            <a:r>
              <a:rPr lang="en-US" sz="2800" dirty="0">
                <a:solidFill>
                  <a:srgbClr val="36383E"/>
                </a:solidFill>
                <a:latin typeface="Frutiger LT Std 45 Light"/>
              </a:rPr>
              <a:t> </a:t>
            </a:r>
            <a:r>
              <a:rPr lang="en-US" sz="2800" dirty="0" err="1">
                <a:solidFill>
                  <a:srgbClr val="36383E"/>
                </a:solidFill>
                <a:latin typeface="Frutiger LT Std 45 Light"/>
              </a:rPr>
              <a:t>Profiel</a:t>
            </a:r>
            <a:r>
              <a:rPr lang="en-US" sz="2800" dirty="0">
                <a:solidFill>
                  <a:srgbClr val="36383E"/>
                </a:solidFill>
                <a:latin typeface="Frutiger LT Std 45 Light"/>
              </a:rPr>
              <a:t>)</a:t>
            </a:r>
          </a:p>
          <a:p>
            <a:r>
              <a:rPr lang="en-US" sz="2800" dirty="0">
                <a:solidFill>
                  <a:srgbClr val="36383E"/>
                </a:solidFill>
                <a:latin typeface="Frutiger LT Std 45 Light"/>
              </a:rPr>
              <a:t>17.00	</a:t>
            </a:r>
            <a:r>
              <a:rPr lang="en-US" sz="2800" dirty="0" err="1">
                <a:solidFill>
                  <a:srgbClr val="36383E"/>
                </a:solidFill>
                <a:latin typeface="Frutiger LT Std 45 Light"/>
              </a:rPr>
              <a:t>Einde</a:t>
            </a:r>
            <a:endParaRPr lang="en-US" sz="2800" dirty="0">
              <a:solidFill>
                <a:srgbClr val="36383E"/>
              </a:solidFill>
              <a:latin typeface="Frutiger LT Std 45 Light"/>
            </a:endParaRPr>
          </a:p>
          <a:p>
            <a:endParaRPr lang="en-US" sz="2800" dirty="0">
              <a:solidFill>
                <a:srgbClr val="36383E"/>
              </a:solidFill>
              <a:highlight>
                <a:srgbClr val="FFFF00"/>
              </a:highlight>
              <a:latin typeface="Frutiger LT Std 45 Light"/>
            </a:endParaRPr>
          </a:p>
        </p:txBody>
      </p:sp>
    </p:spTree>
    <p:extLst>
      <p:ext uri="{BB962C8B-B14F-4D97-AF65-F5344CB8AC3E}">
        <p14:creationId xmlns:p14="http://schemas.microsoft.com/office/powerpoint/2010/main" val="240351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el 1">
            <a:extLst>
              <a:ext uri="{FF2B5EF4-FFF2-40B4-BE49-F238E27FC236}">
                <a16:creationId xmlns:a16="http://schemas.microsoft.com/office/drawing/2014/main" id="{6FBC369A-A8D9-4238-ACCE-6EDA0F06B291}"/>
              </a:ext>
            </a:extLst>
          </p:cNvPr>
          <p:cNvSpPr>
            <a:spLocks noGrp="1"/>
          </p:cNvSpPr>
          <p:nvPr>
            <p:ph type="title"/>
          </p:nvPr>
        </p:nvSpPr>
        <p:spPr>
          <a:xfrm>
            <a:off x="1952626" y="428626"/>
            <a:ext cx="8183563" cy="714375"/>
          </a:xfrm>
        </p:spPr>
        <p:txBody>
          <a:bodyPr/>
          <a:lstStyle/>
          <a:p>
            <a:pPr eaLnBrk="1" hangingPunct="1">
              <a:defRPr/>
            </a:pPr>
            <a:r>
              <a:rPr lang="en-US" b="1" dirty="0">
                <a:solidFill>
                  <a:schemeClr val="accent6">
                    <a:lumMod val="75000"/>
                  </a:schemeClr>
                </a:solidFill>
                <a:latin typeface="Frutiger LT Std 45 Light" panose="020B0402020204020204" pitchFamily="34" charset="0"/>
              </a:rPr>
              <a:t>Interesses </a:t>
            </a:r>
            <a:r>
              <a:rPr lang="en-US" b="1" dirty="0" err="1">
                <a:solidFill>
                  <a:schemeClr val="accent6">
                    <a:lumMod val="75000"/>
                  </a:schemeClr>
                </a:solidFill>
                <a:latin typeface="Frutiger LT Std 45 Light" panose="020B0402020204020204" pitchFamily="34" charset="0"/>
              </a:rPr>
              <a:t>herkennen</a:t>
            </a:r>
            <a:endParaRPr lang="nl-NL" b="1" dirty="0">
              <a:solidFill>
                <a:schemeClr val="accent6">
                  <a:lumMod val="75000"/>
                </a:schemeClr>
              </a:solidFill>
              <a:latin typeface="Frutiger LT Std 45 Light" panose="020B0402020204020204" pitchFamily="34" charset="0"/>
            </a:endParaRPr>
          </a:p>
        </p:txBody>
      </p:sp>
      <p:pic>
        <p:nvPicPr>
          <p:cNvPr id="1026" name="Picture 2" descr="melle_sport_freizeit">
            <a:extLst>
              <a:ext uri="{FF2B5EF4-FFF2-40B4-BE49-F238E27FC236}">
                <a16:creationId xmlns:a16="http://schemas.microsoft.com/office/drawing/2014/main" id="{48933714-B9FD-433E-BE51-4224FBE69679}"/>
              </a:ext>
            </a:extLst>
          </p:cNvPr>
          <p:cNvPicPr>
            <a:picLocks noChangeAspect="1" noChangeArrowheads="1"/>
          </p:cNvPicPr>
          <p:nvPr/>
        </p:nvPicPr>
        <p:blipFill>
          <a:blip r:embed="rId2"/>
          <a:srcRect/>
          <a:stretch>
            <a:fillRect/>
          </a:stretch>
        </p:blipFill>
        <p:spPr bwMode="auto">
          <a:xfrm>
            <a:off x="3452814" y="1428750"/>
            <a:ext cx="5286375" cy="2959100"/>
          </a:xfrm>
          <a:prstGeom prst="rect">
            <a:avLst/>
          </a:prstGeom>
          <a:ln>
            <a:noFill/>
          </a:ln>
          <a:effectLst>
            <a:outerShdw blurRad="292100" dist="139700" dir="2700000" algn="tl" rotWithShape="0">
              <a:srgbClr val="333333">
                <a:alpha val="65000"/>
              </a:srgbClr>
            </a:outerShdw>
          </a:effectLst>
        </p:spPr>
      </p:pic>
      <p:sp>
        <p:nvSpPr>
          <p:cNvPr id="7172" name="Rechthoek 4">
            <a:extLst>
              <a:ext uri="{FF2B5EF4-FFF2-40B4-BE49-F238E27FC236}">
                <a16:creationId xmlns:a16="http://schemas.microsoft.com/office/drawing/2014/main" id="{9901BCF6-F7AE-41A4-A7EA-FE07C2C97BE1}"/>
              </a:ext>
            </a:extLst>
          </p:cNvPr>
          <p:cNvSpPr>
            <a:spLocks noChangeArrowheads="1"/>
          </p:cNvSpPr>
          <p:nvPr/>
        </p:nvSpPr>
        <p:spPr bwMode="auto">
          <a:xfrm>
            <a:off x="3230318" y="4684097"/>
            <a:ext cx="573136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sz="2000" b="1" i="1" dirty="0">
                <a:latin typeface="Frutiger LT Std 45 Light" panose="020B0402020204020204" pitchFamily="34" charset="0"/>
              </a:rPr>
              <a:t>“</a:t>
            </a:r>
            <a:r>
              <a:rPr lang="en-US" altLang="nl-NL" sz="2000" b="1" i="1" dirty="0" err="1">
                <a:latin typeface="Frutiger LT Std 45 Light" panose="020B0402020204020204" pitchFamily="34" charset="0"/>
              </a:rPr>
              <a:t>Wanneer</a:t>
            </a:r>
            <a:r>
              <a:rPr lang="en-US" altLang="nl-NL" sz="2000" b="1" i="1" dirty="0">
                <a:latin typeface="Frutiger LT Std 45 Light" panose="020B0402020204020204" pitchFamily="34" charset="0"/>
              </a:rPr>
              <a:t> je wilt </a:t>
            </a:r>
            <a:r>
              <a:rPr lang="en-US" altLang="nl-NL" sz="2000" b="1" i="1" dirty="0" err="1">
                <a:latin typeface="Frutiger LT Std 45 Light" panose="020B0402020204020204" pitchFamily="34" charset="0"/>
              </a:rPr>
              <a:t>weten</a:t>
            </a:r>
            <a:r>
              <a:rPr lang="en-US" altLang="nl-NL" sz="2000" b="1" i="1" dirty="0">
                <a:latin typeface="Frutiger LT Std 45 Light" panose="020B0402020204020204" pitchFamily="34" charset="0"/>
              </a:rPr>
              <a:t> wat de interesses van </a:t>
            </a:r>
            <a:r>
              <a:rPr lang="en-US" altLang="nl-NL" sz="2000" b="1" i="1" dirty="0" err="1">
                <a:latin typeface="Frutiger LT Std 45 Light" panose="020B0402020204020204" pitchFamily="34" charset="0"/>
              </a:rPr>
              <a:t>iemand</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zijn</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kijk</a:t>
            </a:r>
            <a:r>
              <a:rPr lang="en-US" altLang="nl-NL" sz="2000" b="1" i="1" dirty="0">
                <a:latin typeface="Frutiger LT Std 45 Light" panose="020B0402020204020204" pitchFamily="34" charset="0"/>
              </a:rPr>
              <a:t> dan </a:t>
            </a:r>
            <a:r>
              <a:rPr lang="en-US" altLang="nl-NL" sz="2000" b="1" i="1" dirty="0" err="1">
                <a:latin typeface="Frutiger LT Std 45 Light" panose="020B0402020204020204" pitchFamily="34" charset="0"/>
              </a:rPr>
              <a:t>aan</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waar</a:t>
            </a:r>
            <a:r>
              <a:rPr lang="en-US" altLang="nl-NL" sz="2000" b="1" i="1" dirty="0">
                <a:latin typeface="Frutiger LT Std 45 Light" panose="020B0402020204020204" pitchFamily="34" charset="0"/>
              </a:rPr>
              <a:t> ze </a:t>
            </a:r>
            <a:r>
              <a:rPr lang="en-US" altLang="nl-NL" sz="2000" b="1" i="1" dirty="0" err="1">
                <a:latin typeface="Frutiger LT Std 45 Light" panose="020B0402020204020204" pitchFamily="34" charset="0"/>
              </a:rPr>
              <a:t>hun</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tijd</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energie</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middelen</a:t>
            </a:r>
            <a:r>
              <a:rPr lang="en-US" altLang="nl-NL" sz="2000" b="1" i="1" dirty="0">
                <a:latin typeface="Frutiger LT Std 45 Light" panose="020B0402020204020204" pitchFamily="34" charset="0"/>
              </a:rPr>
              <a:t> en/of geld </a:t>
            </a:r>
            <a:r>
              <a:rPr lang="en-US" altLang="nl-NL" sz="2000" b="1" i="1" dirty="0" err="1">
                <a:latin typeface="Frutiger LT Std 45 Light" panose="020B0402020204020204" pitchFamily="34" charset="0"/>
              </a:rPr>
              <a:t>aan</a:t>
            </a:r>
            <a:r>
              <a:rPr lang="en-US" altLang="nl-NL" sz="2000" b="1" i="1" dirty="0">
                <a:latin typeface="Frutiger LT Std 45 Light" panose="020B0402020204020204" pitchFamily="34" charset="0"/>
              </a:rPr>
              <a:t> </a:t>
            </a:r>
            <a:r>
              <a:rPr lang="en-US" altLang="nl-NL" sz="2000" b="1" i="1" dirty="0" err="1">
                <a:latin typeface="Frutiger LT Std 45 Light" panose="020B0402020204020204" pitchFamily="34" charset="0"/>
              </a:rPr>
              <a:t>besteden</a:t>
            </a:r>
            <a:r>
              <a:rPr lang="en-US" altLang="nl-NL" sz="2000" b="1" i="1" dirty="0">
                <a:latin typeface="Frutiger LT Std 45 Light" panose="020B0402020204020204" pitchFamily="34" charset="0"/>
              </a:rPr>
              <a:t>.”</a:t>
            </a:r>
            <a:br>
              <a:rPr lang="en-US" altLang="nl-NL" sz="2000" b="1" i="1" dirty="0">
                <a:latin typeface="Frutiger LT Std 45 Light" panose="020B0402020204020204" pitchFamily="34" charset="0"/>
              </a:rPr>
            </a:br>
            <a:r>
              <a:rPr lang="en-US" altLang="nl-NL" sz="2000" i="1" dirty="0">
                <a:latin typeface="Frutiger LT Std 45 Light" panose="020B0402020204020204" pitchFamily="34" charset="0"/>
              </a:rPr>
              <a:t>Judy Suiter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el 1">
            <a:extLst>
              <a:ext uri="{FF2B5EF4-FFF2-40B4-BE49-F238E27FC236}">
                <a16:creationId xmlns:a16="http://schemas.microsoft.com/office/drawing/2014/main" id="{4656414C-4402-4345-A432-907F6D417BE0}"/>
              </a:ext>
            </a:extLst>
          </p:cNvPr>
          <p:cNvSpPr>
            <a:spLocks noGrp="1"/>
          </p:cNvSpPr>
          <p:nvPr>
            <p:ph type="title"/>
          </p:nvPr>
        </p:nvSpPr>
        <p:spPr>
          <a:xfrm>
            <a:off x="1952626" y="571500"/>
            <a:ext cx="8183563" cy="660400"/>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Feiten</a:t>
            </a:r>
            <a:r>
              <a:rPr lang="en-US" b="1" dirty="0">
                <a:solidFill>
                  <a:schemeClr val="accent6">
                    <a:lumMod val="75000"/>
                  </a:schemeClr>
                </a:solidFill>
                <a:latin typeface="Frutiger LT Std 45 Light" panose="020B0402020204020204" pitchFamily="34" charset="0"/>
              </a:rPr>
              <a:t> over Interesses</a:t>
            </a:r>
            <a:endParaRPr lang="nl-NL" b="1" dirty="0">
              <a:solidFill>
                <a:schemeClr val="accent6">
                  <a:lumMod val="75000"/>
                </a:schemeClr>
              </a:solidFill>
              <a:latin typeface="Frutiger LT Std 45 Light" panose="020B0402020204020204" pitchFamily="34" charset="0"/>
            </a:endParaRPr>
          </a:p>
        </p:txBody>
      </p:sp>
      <p:pic>
        <p:nvPicPr>
          <p:cNvPr id="2050" name="Picture 2" descr="open-innovatie-verbinding">
            <a:extLst>
              <a:ext uri="{FF2B5EF4-FFF2-40B4-BE49-F238E27FC236}">
                <a16:creationId xmlns:a16="http://schemas.microsoft.com/office/drawing/2014/main" id="{02E1E790-606A-41A8-B4D4-8605646D12E6}"/>
              </a:ext>
            </a:extLst>
          </p:cNvPr>
          <p:cNvPicPr>
            <a:picLocks noChangeAspect="1" noChangeArrowheads="1"/>
          </p:cNvPicPr>
          <p:nvPr/>
        </p:nvPicPr>
        <p:blipFill>
          <a:blip r:embed="rId2"/>
          <a:srcRect/>
          <a:stretch>
            <a:fillRect/>
          </a:stretch>
        </p:blipFill>
        <p:spPr bwMode="auto">
          <a:xfrm>
            <a:off x="6596064" y="1571625"/>
            <a:ext cx="3500437" cy="3500438"/>
          </a:xfrm>
          <a:prstGeom prst="rect">
            <a:avLst/>
          </a:prstGeom>
          <a:ln>
            <a:noFill/>
          </a:ln>
          <a:effectLst>
            <a:outerShdw blurRad="292100" dist="139700" dir="2700000" algn="tl" rotWithShape="0">
              <a:srgbClr val="333333">
                <a:alpha val="65000"/>
              </a:srgbClr>
            </a:outerShdw>
          </a:effectLst>
        </p:spPr>
      </p:pic>
      <p:sp>
        <p:nvSpPr>
          <p:cNvPr id="4101" name="Tekstvak 5">
            <a:extLst>
              <a:ext uri="{FF2B5EF4-FFF2-40B4-BE49-F238E27FC236}">
                <a16:creationId xmlns:a16="http://schemas.microsoft.com/office/drawing/2014/main" id="{60E3F20B-3000-4352-82AE-3D0E52772F52}"/>
              </a:ext>
            </a:extLst>
          </p:cNvPr>
          <p:cNvSpPr txBox="1">
            <a:spLocks noChangeArrowheads="1"/>
          </p:cNvSpPr>
          <p:nvPr/>
        </p:nvSpPr>
        <p:spPr bwMode="auto">
          <a:xfrm>
            <a:off x="1952625" y="1428750"/>
            <a:ext cx="4357688" cy="1784350"/>
          </a:xfrm>
          <a:prstGeom prst="rect">
            <a:avLst/>
          </a:prstGeom>
          <a:noFill/>
          <a:ln w="9525">
            <a:noFill/>
            <a:miter lim="800000"/>
            <a:headEnd/>
            <a:tailEnd/>
          </a:ln>
        </p:spPr>
        <p:txBody>
          <a:bodyPr>
            <a:spAutoFit/>
          </a:bodyPr>
          <a:lstStyle/>
          <a:p>
            <a:pPr>
              <a:defRPr/>
            </a:pPr>
            <a:r>
              <a:rPr lang="nl-NL" sz="2200" b="1" dirty="0">
                <a:solidFill>
                  <a:srgbClr val="0070C0"/>
                </a:solidFill>
                <a:latin typeface="Frutiger LT Std 45 Light" panose="020B0402020204020204" pitchFamily="34" charset="0"/>
              </a:rPr>
              <a:t>Feit 1</a:t>
            </a:r>
          </a:p>
          <a:p>
            <a:pPr>
              <a:defRPr/>
            </a:pPr>
            <a:r>
              <a:rPr lang="nl-NL" sz="2200" dirty="0">
                <a:latin typeface="Frutiger LT Std 45 Light" panose="020B0402020204020204" pitchFamily="34" charset="0"/>
              </a:rPr>
              <a:t>U zult conversaties en activiteiten met andere mensen meer appreciëren wanneer zij dezelfde interesses hebben als die van u.</a:t>
            </a:r>
          </a:p>
        </p:txBody>
      </p:sp>
      <p:sp>
        <p:nvSpPr>
          <p:cNvPr id="4102" name="Tekstvak 6">
            <a:extLst>
              <a:ext uri="{FF2B5EF4-FFF2-40B4-BE49-F238E27FC236}">
                <a16:creationId xmlns:a16="http://schemas.microsoft.com/office/drawing/2014/main" id="{E9617F05-789B-460D-91AF-923B19E4B8B7}"/>
              </a:ext>
            </a:extLst>
          </p:cNvPr>
          <p:cNvSpPr txBox="1">
            <a:spLocks noChangeArrowheads="1"/>
          </p:cNvSpPr>
          <p:nvPr/>
        </p:nvSpPr>
        <p:spPr bwMode="auto">
          <a:xfrm>
            <a:off x="1952625" y="3571876"/>
            <a:ext cx="4572000" cy="1446213"/>
          </a:xfrm>
          <a:prstGeom prst="rect">
            <a:avLst/>
          </a:prstGeom>
          <a:noFill/>
          <a:ln w="9525">
            <a:noFill/>
            <a:miter lim="800000"/>
            <a:headEnd/>
            <a:tailEnd/>
          </a:ln>
        </p:spPr>
        <p:txBody>
          <a:bodyPr>
            <a:spAutoFit/>
          </a:bodyPr>
          <a:lstStyle/>
          <a:p>
            <a:pPr>
              <a:defRPr/>
            </a:pPr>
            <a:r>
              <a:rPr lang="nl-NL" sz="2200" b="1" dirty="0">
                <a:solidFill>
                  <a:srgbClr val="0070C0"/>
                </a:solidFill>
                <a:latin typeface="Frutiger LT Std 45 Light" panose="020B0402020204020204" pitchFamily="34" charset="0"/>
              </a:rPr>
              <a:t>Feit 2</a:t>
            </a:r>
          </a:p>
          <a:p>
            <a:pPr>
              <a:defRPr/>
            </a:pPr>
            <a:r>
              <a:rPr lang="nl-NL" sz="2200" dirty="0">
                <a:latin typeface="Frutiger LT Std 45 Light" panose="020B0402020204020204" pitchFamily="34" charset="0"/>
              </a:rPr>
              <a:t>U zult minder comfortabel met mensen zijn die andere interesses hebben dan u.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el 1">
            <a:extLst>
              <a:ext uri="{FF2B5EF4-FFF2-40B4-BE49-F238E27FC236}">
                <a16:creationId xmlns:a16="http://schemas.microsoft.com/office/drawing/2014/main" id="{B8C5863B-8578-4B4B-B555-EF94EEBC3E13}"/>
              </a:ext>
            </a:extLst>
          </p:cNvPr>
          <p:cNvSpPr>
            <a:spLocks noGrp="1"/>
          </p:cNvSpPr>
          <p:nvPr>
            <p:ph type="title"/>
          </p:nvPr>
        </p:nvSpPr>
        <p:spPr>
          <a:xfrm>
            <a:off x="1952626" y="500064"/>
            <a:ext cx="8183563" cy="642937"/>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Dingen</a:t>
            </a:r>
            <a:r>
              <a:rPr lang="en-US" b="1" dirty="0">
                <a:solidFill>
                  <a:schemeClr val="accent6">
                    <a:lumMod val="75000"/>
                  </a:schemeClr>
                </a:solidFill>
                <a:latin typeface="Frutiger LT Std 45 Light" panose="020B0402020204020204" pitchFamily="34" charset="0"/>
              </a:rPr>
              <a:t> versus </a:t>
            </a:r>
            <a:r>
              <a:rPr lang="en-US" b="1" dirty="0" err="1">
                <a:solidFill>
                  <a:schemeClr val="accent6">
                    <a:lumMod val="75000"/>
                  </a:schemeClr>
                </a:solidFill>
                <a:latin typeface="Frutiger LT Std 45 Light" panose="020B0402020204020204" pitchFamily="34" charset="0"/>
              </a:rPr>
              <a:t>Mensen</a:t>
            </a:r>
            <a:endParaRPr lang="nl-NL" b="1" dirty="0">
              <a:solidFill>
                <a:schemeClr val="accent6">
                  <a:lumMod val="75000"/>
                </a:schemeClr>
              </a:solidFill>
              <a:latin typeface="Frutiger LT Std 45 Light" panose="020B0402020204020204" pitchFamily="34" charset="0"/>
            </a:endParaRPr>
          </a:p>
        </p:txBody>
      </p:sp>
      <p:sp>
        <p:nvSpPr>
          <p:cNvPr id="9219" name="Tijdelijke aanduiding voor inhoud 2">
            <a:extLst>
              <a:ext uri="{FF2B5EF4-FFF2-40B4-BE49-F238E27FC236}">
                <a16:creationId xmlns:a16="http://schemas.microsoft.com/office/drawing/2014/main" id="{9DEB8A29-C4D4-4E1F-8BD0-FC846424B589}"/>
              </a:ext>
            </a:extLst>
          </p:cNvPr>
          <p:cNvSpPr>
            <a:spLocks noGrp="1"/>
          </p:cNvSpPr>
          <p:nvPr>
            <p:ph sz="half" idx="1"/>
          </p:nvPr>
        </p:nvSpPr>
        <p:spPr>
          <a:xfrm>
            <a:off x="1338417" y="1365933"/>
            <a:ext cx="4038600" cy="685800"/>
          </a:xfrm>
        </p:spPr>
        <p:txBody>
          <a:bodyPr/>
          <a:lstStyle/>
          <a:p>
            <a:pPr algn="ctr" eaLnBrk="1" hangingPunct="1">
              <a:buFont typeface="Arial" panose="020B0604020202020204" pitchFamily="34" charset="0"/>
              <a:buNone/>
            </a:pPr>
            <a:r>
              <a:rPr lang="en-US" altLang="nl-NL" b="1" dirty="0">
                <a:latin typeface="Frutiger LT Std 45 Light" panose="020B0402020204020204" pitchFamily="34" charset="0"/>
              </a:rPr>
              <a:t>Interesses in </a:t>
            </a:r>
            <a:r>
              <a:rPr lang="en-US" altLang="nl-NL" b="1" dirty="0" err="1">
                <a:solidFill>
                  <a:srgbClr val="0070C0"/>
                </a:solidFill>
                <a:latin typeface="Frutiger LT Std 45 Light" panose="020B0402020204020204" pitchFamily="34" charset="0"/>
              </a:rPr>
              <a:t>Dingen</a:t>
            </a:r>
            <a:endParaRPr lang="en-US" altLang="nl-NL" b="1" dirty="0">
              <a:solidFill>
                <a:srgbClr val="0070C0"/>
              </a:solidFill>
              <a:latin typeface="Frutiger LT Std 45 Light" panose="020B0402020204020204" pitchFamily="34" charset="0"/>
            </a:endParaRPr>
          </a:p>
        </p:txBody>
      </p:sp>
      <p:sp>
        <p:nvSpPr>
          <p:cNvPr id="9220" name="Tijdelijke aanduiding voor inhoud 3">
            <a:extLst>
              <a:ext uri="{FF2B5EF4-FFF2-40B4-BE49-F238E27FC236}">
                <a16:creationId xmlns:a16="http://schemas.microsoft.com/office/drawing/2014/main" id="{0CBFA3C7-1505-4D8A-A053-F4FCEDE0C945}"/>
              </a:ext>
            </a:extLst>
          </p:cNvPr>
          <p:cNvSpPr>
            <a:spLocks noGrp="1"/>
          </p:cNvSpPr>
          <p:nvPr>
            <p:ph sz="half" idx="2"/>
          </p:nvPr>
        </p:nvSpPr>
        <p:spPr>
          <a:xfrm>
            <a:off x="6507710" y="5434600"/>
            <a:ext cx="4163756" cy="625475"/>
          </a:xfrm>
        </p:spPr>
        <p:txBody>
          <a:bodyPr/>
          <a:lstStyle/>
          <a:p>
            <a:pPr algn="ctr" eaLnBrk="1" hangingPunct="1">
              <a:buFont typeface="Arial" panose="020B0604020202020204" pitchFamily="34" charset="0"/>
              <a:buNone/>
            </a:pPr>
            <a:r>
              <a:rPr lang="en-US" altLang="nl-NL" b="1" dirty="0">
                <a:latin typeface="Frutiger LT Std 45 Light" panose="020B0402020204020204" pitchFamily="34" charset="0"/>
              </a:rPr>
              <a:t>Interesses in </a:t>
            </a:r>
            <a:r>
              <a:rPr lang="en-US" altLang="nl-NL" b="1" dirty="0" err="1">
                <a:solidFill>
                  <a:srgbClr val="0070C0"/>
                </a:solidFill>
                <a:latin typeface="Frutiger LT Std 45 Light" panose="020B0402020204020204" pitchFamily="34" charset="0"/>
              </a:rPr>
              <a:t>Mensen</a:t>
            </a:r>
            <a:endParaRPr lang="nl-NL" altLang="nl-NL" b="1" dirty="0">
              <a:solidFill>
                <a:srgbClr val="0070C0"/>
              </a:solidFill>
              <a:latin typeface="Frutiger LT Std 45 Light" panose="020B0402020204020204" pitchFamily="34" charset="0"/>
            </a:endParaRPr>
          </a:p>
        </p:txBody>
      </p:sp>
      <p:pic>
        <p:nvPicPr>
          <p:cNvPr id="3074" name="Picture 2" descr="http://everyoneweb.com/WA/DataFileshijskraan/Fotoalbum_BoomB1_F2/Liebherr%20LTM%201030-2.jpg">
            <a:extLst>
              <a:ext uri="{FF2B5EF4-FFF2-40B4-BE49-F238E27FC236}">
                <a16:creationId xmlns:a16="http://schemas.microsoft.com/office/drawing/2014/main" id="{9649580F-6BE0-4BC0-9C00-68D6BF63D692}"/>
              </a:ext>
            </a:extLst>
          </p:cNvPr>
          <p:cNvPicPr>
            <a:picLocks noChangeAspect="1" noChangeArrowheads="1"/>
          </p:cNvPicPr>
          <p:nvPr/>
        </p:nvPicPr>
        <p:blipFill>
          <a:blip r:embed="rId2"/>
          <a:srcRect/>
          <a:stretch>
            <a:fillRect/>
          </a:stretch>
        </p:blipFill>
        <p:spPr bwMode="auto">
          <a:xfrm>
            <a:off x="1214092" y="2128548"/>
            <a:ext cx="2428875" cy="1724025"/>
          </a:xfrm>
          <a:prstGeom prst="rect">
            <a:avLst/>
          </a:prstGeom>
          <a:ln>
            <a:noFill/>
          </a:ln>
          <a:effectLst>
            <a:outerShdw blurRad="292100" dist="139700" dir="2700000" algn="tl" rotWithShape="0">
              <a:srgbClr val="333333">
                <a:alpha val="65000"/>
              </a:srgbClr>
            </a:outerShdw>
          </a:effectLst>
        </p:spPr>
      </p:pic>
      <p:pic>
        <p:nvPicPr>
          <p:cNvPr id="3080" name="Picture 8" descr="http://stldesignworld.files.wordpress.com/2009/03/istock_000004854511xsmall_happy-people1.jpg">
            <a:extLst>
              <a:ext uri="{FF2B5EF4-FFF2-40B4-BE49-F238E27FC236}">
                <a16:creationId xmlns:a16="http://schemas.microsoft.com/office/drawing/2014/main" id="{6E5168CA-3528-4614-92F1-06A0BBC7C2DE}"/>
              </a:ext>
            </a:extLst>
          </p:cNvPr>
          <p:cNvPicPr>
            <a:picLocks noChangeAspect="1" noChangeArrowheads="1"/>
          </p:cNvPicPr>
          <p:nvPr/>
        </p:nvPicPr>
        <p:blipFill>
          <a:blip r:embed="rId3"/>
          <a:srcRect/>
          <a:stretch>
            <a:fillRect/>
          </a:stretch>
        </p:blipFill>
        <p:spPr bwMode="auto">
          <a:xfrm>
            <a:off x="8318326" y="3323538"/>
            <a:ext cx="2659582" cy="1764736"/>
          </a:xfrm>
          <a:prstGeom prst="rect">
            <a:avLst/>
          </a:prstGeom>
          <a:ln>
            <a:noFill/>
          </a:ln>
          <a:effectLst>
            <a:outerShdw blurRad="292100" dist="139700" dir="2700000" algn="tl" rotWithShape="0">
              <a:srgbClr val="333333">
                <a:alpha val="65000"/>
              </a:srgbClr>
            </a:outerShdw>
          </a:effectLst>
        </p:spPr>
      </p:pic>
      <p:pic>
        <p:nvPicPr>
          <p:cNvPr id="3082" name="Picture 10" descr="http://www.wirelessvalue.nl/cms/media/downloads/Klaslokaal.jpg">
            <a:extLst>
              <a:ext uri="{FF2B5EF4-FFF2-40B4-BE49-F238E27FC236}">
                <a16:creationId xmlns:a16="http://schemas.microsoft.com/office/drawing/2014/main" id="{C4ADE3D5-76AD-423B-A89F-9289B670C4C5}"/>
              </a:ext>
            </a:extLst>
          </p:cNvPr>
          <p:cNvPicPr>
            <a:picLocks noChangeAspect="1" noChangeArrowheads="1"/>
          </p:cNvPicPr>
          <p:nvPr/>
        </p:nvPicPr>
        <p:blipFill>
          <a:blip r:embed="rId4"/>
          <a:srcRect/>
          <a:stretch>
            <a:fillRect/>
          </a:stretch>
        </p:blipFill>
        <p:spPr bwMode="auto">
          <a:xfrm>
            <a:off x="7924544" y="1815743"/>
            <a:ext cx="2166227" cy="1445871"/>
          </a:xfrm>
          <a:prstGeom prst="rect">
            <a:avLst/>
          </a:prstGeom>
          <a:ln>
            <a:noFill/>
          </a:ln>
          <a:effectLst>
            <a:outerShdw blurRad="292100" dist="139700" dir="2700000" algn="tl" rotWithShape="0">
              <a:srgbClr val="333333">
                <a:alpha val="65000"/>
              </a:srgbClr>
            </a:outerShdw>
          </a:effectLst>
        </p:spPr>
      </p:pic>
      <p:pic>
        <p:nvPicPr>
          <p:cNvPr id="3" name="Afbeelding 2" descr="Afbeelding met elektronica, tafel, binnen, zitten&#10;&#10;Automatisch gegenereerde beschrijving">
            <a:extLst>
              <a:ext uri="{FF2B5EF4-FFF2-40B4-BE49-F238E27FC236}">
                <a16:creationId xmlns:a16="http://schemas.microsoft.com/office/drawing/2014/main" id="{089F0C0D-9AA8-4973-9E4A-447E924A5FAD}"/>
              </a:ext>
            </a:extLst>
          </p:cNvPr>
          <p:cNvPicPr>
            <a:picLocks noChangeAspect="1"/>
          </p:cNvPicPr>
          <p:nvPr/>
        </p:nvPicPr>
        <p:blipFill>
          <a:blip r:embed="rId5"/>
          <a:stretch>
            <a:fillRect/>
          </a:stretch>
        </p:blipFill>
        <p:spPr>
          <a:xfrm>
            <a:off x="1634623" y="4006203"/>
            <a:ext cx="2909970" cy="1775082"/>
          </a:xfrm>
          <a:prstGeom prst="rect">
            <a:avLst/>
          </a:prstGeom>
          <a:ln>
            <a:noFill/>
          </a:ln>
          <a:effectLst>
            <a:outerShdw blurRad="190500" algn="tl" rotWithShape="0">
              <a:srgbClr val="000000">
                <a:alpha val="70000"/>
              </a:srgbClr>
            </a:outerShdw>
          </a:effectLst>
        </p:spPr>
      </p:pic>
      <p:pic>
        <p:nvPicPr>
          <p:cNvPr id="20484" name="Picture 4">
            <a:extLst>
              <a:ext uri="{FF2B5EF4-FFF2-40B4-BE49-F238E27FC236}">
                <a16:creationId xmlns:a16="http://schemas.microsoft.com/office/drawing/2014/main" id="{7883A0AD-D12C-4BEA-8BC5-D02A49A8DC0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843" t="19928" r="6606" b="12402"/>
          <a:stretch/>
        </p:blipFill>
        <p:spPr bwMode="auto">
          <a:xfrm>
            <a:off x="3947523" y="2569025"/>
            <a:ext cx="1762084" cy="181594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486" name="Picture 6">
            <a:extLst>
              <a:ext uri="{FF2B5EF4-FFF2-40B4-BE49-F238E27FC236}">
                <a16:creationId xmlns:a16="http://schemas.microsoft.com/office/drawing/2014/main" id="{DE6BA5E1-6F59-4E6B-B2DF-91994B1507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9555" y="3078734"/>
            <a:ext cx="1622605" cy="216414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6" descr="http://www.geldboom.be/wp-images/appel.jpg">
            <a:extLst>
              <a:ext uri="{FF2B5EF4-FFF2-40B4-BE49-F238E27FC236}">
                <a16:creationId xmlns:a16="http://schemas.microsoft.com/office/drawing/2014/main" id="{3575349B-9B9B-4389-B947-76B03BD724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284" r="9949" b="6285"/>
          <a:stretch/>
        </p:blipFill>
        <p:spPr bwMode="auto">
          <a:xfrm>
            <a:off x="3234219" y="1889239"/>
            <a:ext cx="2089595" cy="2619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 name="Titel 1">
            <a:extLst>
              <a:ext uri="{FF2B5EF4-FFF2-40B4-BE49-F238E27FC236}">
                <a16:creationId xmlns:a16="http://schemas.microsoft.com/office/drawing/2014/main" id="{CC8FC909-CEE3-4A60-87FF-5337F7F719BA}"/>
              </a:ext>
            </a:extLst>
          </p:cNvPr>
          <p:cNvSpPr>
            <a:spLocks noGrp="1"/>
          </p:cNvSpPr>
          <p:nvPr>
            <p:ph type="title"/>
          </p:nvPr>
        </p:nvSpPr>
        <p:spPr>
          <a:xfrm>
            <a:off x="1952626" y="571500"/>
            <a:ext cx="8183563" cy="585788"/>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Praktisch</a:t>
            </a:r>
            <a:r>
              <a:rPr lang="en-US" b="1" dirty="0">
                <a:solidFill>
                  <a:schemeClr val="accent6">
                    <a:lumMod val="75000"/>
                  </a:schemeClr>
                </a:solidFill>
                <a:latin typeface="Frutiger LT Std 45 Light" panose="020B0402020204020204" pitchFamily="34" charset="0"/>
              </a:rPr>
              <a:t> versus Abstract</a:t>
            </a:r>
            <a:endParaRPr lang="nl-NL" b="1" dirty="0">
              <a:solidFill>
                <a:schemeClr val="accent6">
                  <a:lumMod val="75000"/>
                </a:schemeClr>
              </a:solidFill>
              <a:latin typeface="Frutiger LT Std 45 Light" panose="020B0402020204020204" pitchFamily="34" charset="0"/>
            </a:endParaRPr>
          </a:p>
        </p:txBody>
      </p:sp>
      <p:sp>
        <p:nvSpPr>
          <p:cNvPr id="10243" name="Tijdelijke aanduiding voor inhoud 2">
            <a:extLst>
              <a:ext uri="{FF2B5EF4-FFF2-40B4-BE49-F238E27FC236}">
                <a16:creationId xmlns:a16="http://schemas.microsoft.com/office/drawing/2014/main" id="{69412286-7159-4AF1-AFA8-0AB3FC6C544F}"/>
              </a:ext>
            </a:extLst>
          </p:cNvPr>
          <p:cNvSpPr>
            <a:spLocks noGrp="1"/>
          </p:cNvSpPr>
          <p:nvPr>
            <p:ph sz="half" idx="1"/>
          </p:nvPr>
        </p:nvSpPr>
        <p:spPr>
          <a:xfrm>
            <a:off x="1304132" y="1528764"/>
            <a:ext cx="4038600" cy="542925"/>
          </a:xfrm>
        </p:spPr>
        <p:txBody>
          <a:bodyPr/>
          <a:lstStyle/>
          <a:p>
            <a:pPr algn="ctr" eaLnBrk="1" hangingPunct="1">
              <a:buFont typeface="Arial" panose="020B0604020202020204" pitchFamily="34" charset="0"/>
              <a:buNone/>
            </a:pPr>
            <a:r>
              <a:rPr lang="en-US" altLang="nl-NL" b="1" dirty="0" err="1">
                <a:solidFill>
                  <a:srgbClr val="0070C0"/>
                </a:solidFill>
                <a:latin typeface="Frutiger LT Std 45 Light" panose="020B0402020204020204" pitchFamily="34" charset="0"/>
              </a:rPr>
              <a:t>Praktische</a:t>
            </a:r>
            <a:r>
              <a:rPr lang="en-US" altLang="nl-NL" dirty="0">
                <a:latin typeface="Frutiger LT Std 45 Light" panose="020B0402020204020204" pitchFamily="34" charset="0"/>
              </a:rPr>
              <a:t> </a:t>
            </a:r>
            <a:r>
              <a:rPr lang="en-US" altLang="nl-NL" b="1" dirty="0">
                <a:latin typeface="Frutiger LT Std 45 Light" panose="020B0402020204020204" pitchFamily="34" charset="0"/>
              </a:rPr>
              <a:t>Interesses</a:t>
            </a:r>
          </a:p>
        </p:txBody>
      </p:sp>
      <p:sp>
        <p:nvSpPr>
          <p:cNvPr id="10244" name="Tijdelijke aanduiding voor inhoud 3">
            <a:extLst>
              <a:ext uri="{FF2B5EF4-FFF2-40B4-BE49-F238E27FC236}">
                <a16:creationId xmlns:a16="http://schemas.microsoft.com/office/drawing/2014/main" id="{B39BF548-AF87-4328-AD79-AC69F624ED17}"/>
              </a:ext>
            </a:extLst>
          </p:cNvPr>
          <p:cNvSpPr>
            <a:spLocks noGrp="1"/>
          </p:cNvSpPr>
          <p:nvPr>
            <p:ph sz="half" idx="2"/>
          </p:nvPr>
        </p:nvSpPr>
        <p:spPr>
          <a:xfrm>
            <a:off x="6443771" y="5559423"/>
            <a:ext cx="4038600" cy="428623"/>
          </a:xfrm>
        </p:spPr>
        <p:txBody>
          <a:bodyPr/>
          <a:lstStyle/>
          <a:p>
            <a:pPr algn="ctr" eaLnBrk="1" hangingPunct="1">
              <a:buFont typeface="Arial" panose="020B0604020202020204" pitchFamily="34" charset="0"/>
              <a:buNone/>
            </a:pPr>
            <a:r>
              <a:rPr lang="en-US" altLang="nl-NL" b="1" dirty="0" err="1">
                <a:solidFill>
                  <a:srgbClr val="0070C0"/>
                </a:solidFill>
                <a:latin typeface="Frutiger LT Std 45 Light" panose="020B0402020204020204" pitchFamily="34" charset="0"/>
              </a:rPr>
              <a:t>Abstracte</a:t>
            </a:r>
            <a:r>
              <a:rPr lang="en-US" altLang="nl-NL" dirty="0">
                <a:latin typeface="Frutiger LT Std 45 Light" panose="020B0402020204020204" pitchFamily="34" charset="0"/>
              </a:rPr>
              <a:t> </a:t>
            </a:r>
            <a:r>
              <a:rPr lang="en-US" altLang="nl-NL" b="1" dirty="0">
                <a:latin typeface="Frutiger LT Std 45 Light" panose="020B0402020204020204" pitchFamily="34" charset="0"/>
              </a:rPr>
              <a:t>Interesses</a:t>
            </a:r>
            <a:endParaRPr lang="nl-NL" altLang="nl-NL" b="1" dirty="0">
              <a:latin typeface="Frutiger LT Std 45 Light" panose="020B0402020204020204" pitchFamily="34" charset="0"/>
            </a:endParaRPr>
          </a:p>
        </p:txBody>
      </p:sp>
      <p:pic>
        <p:nvPicPr>
          <p:cNvPr id="19458" name="Picture 2" descr="Minimalismus – wie sich meine Einstellung zu Geld ...">
            <a:extLst>
              <a:ext uri="{FF2B5EF4-FFF2-40B4-BE49-F238E27FC236}">
                <a16:creationId xmlns:a16="http://schemas.microsoft.com/office/drawing/2014/main" id="{C0D56AA8-0352-494E-B0E5-3358A3BC71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377" t="30787" r="17187" b="28611"/>
          <a:stretch/>
        </p:blipFill>
        <p:spPr bwMode="auto">
          <a:xfrm>
            <a:off x="2057400" y="4325937"/>
            <a:ext cx="2938134" cy="1326741"/>
          </a:xfrm>
          <a:prstGeom prst="rect">
            <a:avLst/>
          </a:prstGeom>
          <a:noFill/>
          <a:extLst>
            <a:ext uri="{909E8E84-426E-40DD-AFC4-6F175D3DCCD1}">
              <a14:hiddenFill xmlns:a14="http://schemas.microsoft.com/office/drawing/2010/main">
                <a:solidFill>
                  <a:srgbClr val="FFFFFF"/>
                </a:solidFill>
              </a14:hiddenFill>
            </a:ext>
          </a:extLst>
        </p:spPr>
      </p:pic>
      <p:pic>
        <p:nvPicPr>
          <p:cNvPr id="10247" name="Picture 4" descr="http://divers-watch.net/wp-content/uploads/2008/09/399px-rolex-submariner.jpg">
            <a:extLst>
              <a:ext uri="{FF2B5EF4-FFF2-40B4-BE49-F238E27FC236}">
                <a16:creationId xmlns:a16="http://schemas.microsoft.com/office/drawing/2014/main" id="{6C716F67-C516-4998-BFA9-FC58F8A466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8915" y="2668333"/>
            <a:ext cx="1382444" cy="207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11" descr="http://www.rijnvos.nl/foto/kunst3.jpg">
            <a:extLst>
              <a:ext uri="{FF2B5EF4-FFF2-40B4-BE49-F238E27FC236}">
                <a16:creationId xmlns:a16="http://schemas.microsoft.com/office/drawing/2014/main" id="{471CE044-1655-401C-B549-40BF499E57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63071" y="1528764"/>
            <a:ext cx="2498110" cy="250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Picture 13" descr="http://www.standaarduitgeverij.be/img/covers500H/9789035127548.jpg">
            <a:extLst>
              <a:ext uri="{FF2B5EF4-FFF2-40B4-BE49-F238E27FC236}">
                <a16:creationId xmlns:a16="http://schemas.microsoft.com/office/drawing/2014/main" id="{9358B0C2-3B03-4B5D-8CA7-B9606859D8E1}"/>
              </a:ext>
            </a:extLst>
          </p:cNvPr>
          <p:cNvPicPr>
            <a:picLocks noChangeAspect="1" noChangeArrowheads="1"/>
          </p:cNvPicPr>
          <p:nvPr/>
        </p:nvPicPr>
        <p:blipFill>
          <a:blip r:embed="rId6"/>
          <a:srcRect/>
          <a:stretch>
            <a:fillRect/>
          </a:stretch>
        </p:blipFill>
        <p:spPr bwMode="auto">
          <a:xfrm>
            <a:off x="6368856" y="2071689"/>
            <a:ext cx="1821359" cy="2507643"/>
          </a:xfrm>
          <a:prstGeom prst="rect">
            <a:avLst/>
          </a:prstGeom>
          <a:ln>
            <a:noFill/>
          </a:ln>
          <a:effectLst>
            <a:outerShdw blurRad="292100" dist="139700" dir="2700000" algn="tl" rotWithShape="0">
              <a:srgbClr val="333333">
                <a:alpha val="65000"/>
              </a:srgbClr>
            </a:outerShdw>
          </a:effectLst>
        </p:spPr>
      </p:pic>
      <p:pic>
        <p:nvPicPr>
          <p:cNvPr id="10250" name="Picture 9" descr="green-earth">
            <a:extLst>
              <a:ext uri="{FF2B5EF4-FFF2-40B4-BE49-F238E27FC236}">
                <a16:creationId xmlns:a16="http://schemas.microsoft.com/office/drawing/2014/main" id="{C8108F5C-B530-439E-B759-5A8901266B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6326" y="4168099"/>
            <a:ext cx="1320026" cy="1259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IJL-RECHTS 5">
            <a:extLst>
              <a:ext uri="{FF2B5EF4-FFF2-40B4-BE49-F238E27FC236}">
                <a16:creationId xmlns:a16="http://schemas.microsoft.com/office/drawing/2014/main" id="{BAA9B36B-0B15-4E29-A215-FC6EEF6C3891}"/>
              </a:ext>
            </a:extLst>
          </p:cNvPr>
          <p:cNvSpPr/>
          <p:nvPr/>
        </p:nvSpPr>
        <p:spPr>
          <a:xfrm rot="16200000">
            <a:off x="5574586" y="-863323"/>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dirty="0">
              <a:solidFill>
                <a:srgbClr val="FFFFFF"/>
              </a:solidFill>
              <a:latin typeface="Frutiger LT Std 45 Light" panose="020B0402020204020204" pitchFamily="34" charset="0"/>
            </a:endParaRPr>
          </a:p>
        </p:txBody>
      </p:sp>
      <p:graphicFrame>
        <p:nvGraphicFramePr>
          <p:cNvPr id="2" name="Tabel 1">
            <a:extLst>
              <a:ext uri="{FF2B5EF4-FFF2-40B4-BE49-F238E27FC236}">
                <a16:creationId xmlns:a16="http://schemas.microsoft.com/office/drawing/2014/main" id="{70105A5F-D0F6-4FF4-9B8A-21E62FC1BB7B}"/>
              </a:ext>
            </a:extLst>
          </p:cNvPr>
          <p:cNvGraphicFramePr>
            <a:graphicFrameLocks noGrp="1"/>
          </p:cNvGraphicFramePr>
          <p:nvPr>
            <p:extLst>
              <p:ext uri="{D42A27DB-BD31-4B8C-83A1-F6EECF244321}">
                <p14:modId xmlns:p14="http://schemas.microsoft.com/office/powerpoint/2010/main" val="3865342358"/>
              </p:ext>
            </p:extLst>
          </p:nvPr>
        </p:nvGraphicFramePr>
        <p:xfrm>
          <a:off x="1927120" y="1571153"/>
          <a:ext cx="8337756" cy="3930007"/>
        </p:xfrm>
        <a:graphic>
          <a:graphicData uri="http://schemas.openxmlformats.org/drawingml/2006/table">
            <a:tbl>
              <a:tblPr firstRow="1" bandRow="1">
                <a:tableStyleId>{5940675A-B579-460E-94D1-54222C63F5DA}</a:tableStyleId>
              </a:tblPr>
              <a:tblGrid>
                <a:gridCol w="687652">
                  <a:extLst>
                    <a:ext uri="{9D8B030D-6E8A-4147-A177-3AD203B41FA5}">
                      <a16:colId xmlns:a16="http://schemas.microsoft.com/office/drawing/2014/main" val="20000"/>
                    </a:ext>
                  </a:extLst>
                </a:gridCol>
                <a:gridCol w="2320819">
                  <a:extLst>
                    <a:ext uri="{9D8B030D-6E8A-4147-A177-3AD203B41FA5}">
                      <a16:colId xmlns:a16="http://schemas.microsoft.com/office/drawing/2014/main" val="20001"/>
                    </a:ext>
                  </a:extLst>
                </a:gridCol>
                <a:gridCol w="2395723">
                  <a:extLst>
                    <a:ext uri="{9D8B030D-6E8A-4147-A177-3AD203B41FA5}">
                      <a16:colId xmlns:a16="http://schemas.microsoft.com/office/drawing/2014/main" val="20002"/>
                    </a:ext>
                  </a:extLst>
                </a:gridCol>
                <a:gridCol w="2215397">
                  <a:extLst>
                    <a:ext uri="{9D8B030D-6E8A-4147-A177-3AD203B41FA5}">
                      <a16:colId xmlns:a16="http://schemas.microsoft.com/office/drawing/2014/main" val="20003"/>
                    </a:ext>
                  </a:extLst>
                </a:gridCol>
                <a:gridCol w="718165">
                  <a:extLst>
                    <a:ext uri="{9D8B030D-6E8A-4147-A177-3AD203B41FA5}">
                      <a16:colId xmlns:a16="http://schemas.microsoft.com/office/drawing/2014/main" val="20004"/>
                    </a:ext>
                  </a:extLst>
                </a:gridCol>
              </a:tblGrid>
              <a:tr h="307702">
                <a:tc>
                  <a:txBody>
                    <a:bodyPr/>
                    <a:lstStyle/>
                    <a:p>
                      <a:endParaRPr lang="nl-NL" dirty="0"/>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endParaRPr lang="en-US" sz="3200" b="1" dirty="0">
                        <a:solidFill>
                          <a:srgbClr val="0070C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nl-NL" dirty="0"/>
                    </a:p>
                  </a:txBody>
                  <a:tcPr/>
                </a:tc>
                <a:tc hMerge="1">
                  <a:txBody>
                    <a:bodyPr/>
                    <a:lstStyle/>
                    <a:p>
                      <a:endParaRPr lang="nl-NL" dirty="0"/>
                    </a:p>
                  </a:txBody>
                  <a:tcPr/>
                </a:tc>
                <a:tc>
                  <a:txBody>
                    <a:bodyPr/>
                    <a:lstStyle/>
                    <a:p>
                      <a:endParaRPr lang="nl-NL" sz="1900" dirty="0"/>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53528">
                <a:tc rowSpan="4">
                  <a:txBody>
                    <a:bodyPr/>
                    <a:lstStyle/>
                    <a:p>
                      <a:endParaRPr lang="nl-NL" sz="2400" b="1" dirty="0">
                        <a:solidFill>
                          <a:srgbClr val="0070C0"/>
                        </a:solidFill>
                      </a:endParaRPr>
                    </a:p>
                  </a:txBody>
                  <a:tcPr vert="vert" anchor="ctr" anchorCtr="1">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a:solidFill>
                            <a:schemeClr val="tx1"/>
                          </a:solidFill>
                        </a:rPr>
                        <a:t>Fysiek</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DBEEF4">
                        <a:alpha val="50196"/>
                      </a:srgbClr>
                    </a:solidFill>
                  </a:tcPr>
                </a:tc>
                <a:tc>
                  <a:txBody>
                    <a:bodyPr/>
                    <a:lstStyle/>
                    <a:p>
                      <a:pPr algn="ctr"/>
                      <a:r>
                        <a:rPr lang="en-US" sz="2400" b="1" dirty="0" err="1">
                          <a:solidFill>
                            <a:schemeClr val="tx1"/>
                          </a:solidFill>
                        </a:rPr>
                        <a:t>Technisch</a:t>
                      </a:r>
                      <a:endParaRPr lang="nl-NL" sz="2400" b="1" dirty="0">
                        <a:solidFill>
                          <a:schemeClr val="tx1"/>
                        </a:solidFill>
                      </a:endParaRPr>
                    </a:p>
                  </a:txBody>
                  <a:tcPr anchor="ctr">
                    <a:lnT w="12700" cap="flat" cmpd="sng" algn="ctr">
                      <a:solidFill>
                        <a:schemeClr val="tx1"/>
                      </a:solidFill>
                      <a:prstDash val="solid"/>
                      <a:round/>
                      <a:headEnd type="none" w="med" len="med"/>
                      <a:tailEnd type="none" w="med" len="med"/>
                    </a:lnT>
                    <a:solidFill>
                      <a:srgbClr val="DBEEF4">
                        <a:alpha val="50196"/>
                      </a:srgbClr>
                    </a:solidFill>
                  </a:tcPr>
                </a:tc>
                <a:tc>
                  <a:txBody>
                    <a:bodyPr/>
                    <a:lstStyle/>
                    <a:p>
                      <a:pPr algn="ctr"/>
                      <a:r>
                        <a:rPr lang="en-US" sz="2400" b="1" dirty="0" err="1">
                          <a:solidFill>
                            <a:schemeClr val="tx1"/>
                          </a:solidFill>
                        </a:rPr>
                        <a:t>Intellectueel</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DBEEF4">
                        <a:alpha val="50196"/>
                      </a:srgbClr>
                    </a:solidFill>
                  </a:tcPr>
                </a:tc>
                <a:tc rowSpan="4">
                  <a:txBody>
                    <a:bodyPr/>
                    <a:lstStyle/>
                    <a:p>
                      <a:r>
                        <a:rPr lang="en-US" sz="2400" b="1" baseline="0" dirty="0"/>
                        <a:t> </a:t>
                      </a:r>
                      <a:endParaRPr lang="nl-NL" sz="2400" b="1" dirty="0"/>
                    </a:p>
                  </a:txBody>
                  <a:tcPr vert="vert" anchor="ctr" anchorCtr="1">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53528">
                <a:tc vMerge="1">
                  <a:txBody>
                    <a:bodyPr/>
                    <a:lstStyle/>
                    <a:p>
                      <a:endParaRPr lang="nl-NL" dirty="0"/>
                    </a:p>
                  </a:txBody>
                  <a:tcPr/>
                </a:tc>
                <a:tc>
                  <a:txBody>
                    <a:bodyPr/>
                    <a:lstStyle/>
                    <a:p>
                      <a:pPr algn="ctr"/>
                      <a:r>
                        <a:rPr lang="en-US" sz="2400" b="1" dirty="0" err="1">
                          <a:solidFill>
                            <a:schemeClr val="tx1"/>
                          </a:solidFill>
                        </a:rPr>
                        <a:t>Economisch</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ctr"/>
                      <a:r>
                        <a:rPr lang="en-US" sz="2400" b="1" dirty="0" err="1">
                          <a:solidFill>
                            <a:schemeClr val="tx1"/>
                          </a:solidFill>
                        </a:rPr>
                        <a:t>Routinematig</a:t>
                      </a:r>
                      <a:endParaRPr lang="nl-NL" sz="2400" b="1" dirty="0">
                        <a:solidFill>
                          <a:schemeClr val="tx1"/>
                        </a:solidFill>
                      </a:endParaRPr>
                    </a:p>
                  </a:txBody>
                  <a:tcPr anchor="ctr">
                    <a:noFill/>
                  </a:tcPr>
                </a:tc>
                <a:tc>
                  <a:txBody>
                    <a:bodyPr/>
                    <a:lstStyle/>
                    <a:p>
                      <a:pPr algn="ctr"/>
                      <a:r>
                        <a:rPr lang="en-US" sz="2400" b="1" dirty="0" err="1">
                          <a:solidFill>
                            <a:schemeClr val="tx1"/>
                          </a:solidFill>
                        </a:rPr>
                        <a:t>Artistiek</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noFill/>
                  </a:tcPr>
                </a:tc>
                <a:tc vMerge="1">
                  <a:txBody>
                    <a:bodyPr/>
                    <a:lstStyle/>
                    <a:p>
                      <a:endParaRPr lang="nl-NL" dirty="0"/>
                    </a:p>
                  </a:txBody>
                  <a:tcPr/>
                </a:tc>
                <a:extLst>
                  <a:ext uri="{0D108BD9-81ED-4DB2-BD59-A6C34878D82A}">
                    <a16:rowId xmlns:a16="http://schemas.microsoft.com/office/drawing/2014/main" val="10002"/>
                  </a:ext>
                </a:extLst>
              </a:tr>
              <a:tr h="701446">
                <a:tc vMerge="1">
                  <a:txBody>
                    <a:bodyPr/>
                    <a:lstStyle/>
                    <a:p>
                      <a:endParaRPr lang="nl-NL" dirty="0"/>
                    </a:p>
                  </a:txBody>
                  <a:tcPr/>
                </a:tc>
                <a:tc>
                  <a:txBody>
                    <a:bodyPr/>
                    <a:lstStyle/>
                    <a:p>
                      <a:pPr algn="ctr"/>
                      <a:r>
                        <a:rPr lang="en-US" sz="2400" b="1" dirty="0">
                          <a:solidFill>
                            <a:schemeClr val="tx1"/>
                          </a:solidFill>
                        </a:rPr>
                        <a:t>Status</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solidFill>
                      <a:srgbClr val="DBEEF4">
                        <a:alpha val="50196"/>
                      </a:srgbClr>
                    </a:solidFill>
                  </a:tcPr>
                </a:tc>
                <a:tc>
                  <a:txBody>
                    <a:bodyPr/>
                    <a:lstStyle/>
                    <a:p>
                      <a:pPr algn="ctr"/>
                      <a:r>
                        <a:rPr lang="en-US" sz="2400" b="1" dirty="0" err="1">
                          <a:solidFill>
                            <a:schemeClr val="tx1"/>
                          </a:solidFill>
                        </a:rPr>
                        <a:t>Ondernemer-schap</a:t>
                      </a:r>
                      <a:endParaRPr lang="en-US" sz="2400" b="1" dirty="0">
                        <a:solidFill>
                          <a:schemeClr val="tx1"/>
                        </a:solidFill>
                      </a:endParaRPr>
                    </a:p>
                  </a:txBody>
                  <a:tcPr anchor="ctr">
                    <a:solidFill>
                      <a:srgbClr val="DBEEF4">
                        <a:alpha val="50196"/>
                      </a:srgbClr>
                    </a:solidFill>
                  </a:tcPr>
                </a:tc>
                <a:tc>
                  <a:txBody>
                    <a:bodyPr/>
                    <a:lstStyle/>
                    <a:p>
                      <a:pPr algn="ctr"/>
                      <a:r>
                        <a:rPr lang="en-US" sz="2400" b="1" dirty="0" err="1">
                          <a:solidFill>
                            <a:schemeClr val="tx1"/>
                          </a:solidFill>
                        </a:rPr>
                        <a:t>Autoriteit</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solidFill>
                      <a:srgbClr val="DBEEF4">
                        <a:alpha val="50196"/>
                      </a:srgbClr>
                    </a:solidFill>
                  </a:tcPr>
                </a:tc>
                <a:tc vMerge="1">
                  <a:txBody>
                    <a:bodyPr/>
                    <a:lstStyle/>
                    <a:p>
                      <a:endParaRPr lang="nl-NL" dirty="0"/>
                    </a:p>
                  </a:txBody>
                  <a:tcPr/>
                </a:tc>
                <a:extLst>
                  <a:ext uri="{0D108BD9-81ED-4DB2-BD59-A6C34878D82A}">
                    <a16:rowId xmlns:a16="http://schemas.microsoft.com/office/drawing/2014/main" val="10003"/>
                  </a:ext>
                </a:extLst>
              </a:tr>
              <a:tr h="641751">
                <a:tc vMerge="1">
                  <a:txBody>
                    <a:bodyPr/>
                    <a:lstStyle/>
                    <a:p>
                      <a:endParaRPr lang="nl-NL" dirty="0"/>
                    </a:p>
                  </a:txBody>
                  <a:tcPr/>
                </a:tc>
                <a:tc>
                  <a:txBody>
                    <a:bodyPr/>
                    <a:lstStyle/>
                    <a:p>
                      <a:pPr algn="ctr"/>
                      <a:r>
                        <a:rPr lang="en-US" sz="2400" b="1" dirty="0" err="1">
                          <a:solidFill>
                            <a:schemeClr val="tx1"/>
                          </a:solidFill>
                        </a:rPr>
                        <a:t>Relationeel</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r>
                        <a:rPr lang="en-US" sz="2400" b="1" dirty="0" err="1">
                          <a:solidFill>
                            <a:schemeClr val="tx1"/>
                          </a:solidFill>
                        </a:rPr>
                        <a:t>Helpend</a:t>
                      </a:r>
                      <a:endParaRPr lang="nl-NL" sz="2400" b="1" dirty="0">
                        <a:solidFill>
                          <a:schemeClr val="tx1"/>
                        </a:solidFill>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sz="2400" b="1" dirty="0" err="1">
                          <a:solidFill>
                            <a:schemeClr val="tx1"/>
                          </a:solidFill>
                        </a:rPr>
                        <a:t>Humanitair</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vMerge="1">
                  <a:txBody>
                    <a:bodyPr/>
                    <a:lstStyle/>
                    <a:p>
                      <a:endParaRPr lang="nl-NL" dirty="0"/>
                    </a:p>
                  </a:txBody>
                  <a:tcPr/>
                </a:tc>
                <a:extLst>
                  <a:ext uri="{0D108BD9-81ED-4DB2-BD59-A6C34878D82A}">
                    <a16:rowId xmlns:a16="http://schemas.microsoft.com/office/drawing/2014/main" val="10004"/>
                  </a:ext>
                </a:extLst>
              </a:tr>
              <a:tr h="408388">
                <a:tc>
                  <a:txBody>
                    <a:bodyPr/>
                    <a:lstStyle/>
                    <a:p>
                      <a:endParaRPr lang="nl-NL" sz="2400" dirty="0"/>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3">
                  <a:txBody>
                    <a:bodyPr/>
                    <a:lstStyle/>
                    <a:p>
                      <a:pPr algn="ctr"/>
                      <a:endParaRPr lang="nl-NL" sz="3200" b="1" dirty="0">
                        <a:solidFill>
                          <a:srgbClr val="0070C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nl-NL" dirty="0"/>
                    </a:p>
                  </a:txBody>
                  <a:tcPr/>
                </a:tc>
                <a:tc hMerge="1">
                  <a:txBody>
                    <a:bodyPr/>
                    <a:lstStyle/>
                    <a:p>
                      <a:endParaRPr lang="nl-NL" dirty="0"/>
                    </a:p>
                  </a:txBody>
                  <a:tcPr/>
                </a:tc>
                <a:tc>
                  <a:txBody>
                    <a:bodyPr/>
                    <a:lstStyle/>
                    <a:p>
                      <a:endParaRPr lang="nl-NL" sz="2400" dirty="0"/>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6" name="PIJL-RECHTS 5">
            <a:extLst>
              <a:ext uri="{FF2B5EF4-FFF2-40B4-BE49-F238E27FC236}">
                <a16:creationId xmlns:a16="http://schemas.microsoft.com/office/drawing/2014/main" id="{62EA3C50-15DF-4D4E-923C-21BC62B94225}"/>
              </a:ext>
            </a:extLst>
          </p:cNvPr>
          <p:cNvSpPr/>
          <p:nvPr/>
        </p:nvSpPr>
        <p:spPr>
          <a:xfrm rot="5400000">
            <a:off x="5574586" y="3185347"/>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latin typeface="Frutiger LT Std 45 Light" panose="020B0402020204020204" pitchFamily="34" charset="0"/>
            </a:endParaRPr>
          </a:p>
        </p:txBody>
      </p:sp>
      <p:sp>
        <p:nvSpPr>
          <p:cNvPr id="11271" name="Tekstvak 7">
            <a:extLst>
              <a:ext uri="{FF2B5EF4-FFF2-40B4-BE49-F238E27FC236}">
                <a16:creationId xmlns:a16="http://schemas.microsoft.com/office/drawing/2014/main" id="{EF823C4F-440E-4BAD-83C9-28941CF3D884}"/>
              </a:ext>
            </a:extLst>
          </p:cNvPr>
          <p:cNvSpPr txBox="1">
            <a:spLocks noChangeArrowheads="1"/>
          </p:cNvSpPr>
          <p:nvPr/>
        </p:nvSpPr>
        <p:spPr bwMode="auto">
          <a:xfrm>
            <a:off x="2409440" y="173618"/>
            <a:ext cx="744455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nl-NL" sz="4400" b="1" dirty="0">
                <a:solidFill>
                  <a:schemeClr val="accent6">
                    <a:lumMod val="75000"/>
                  </a:schemeClr>
                </a:solidFill>
                <a:latin typeface="Frutiger LT Std 45 Light" panose="020B0402020204020204" pitchFamily="34" charset="0"/>
              </a:rPr>
              <a:t>De Interesses </a:t>
            </a:r>
            <a:r>
              <a:rPr lang="en-US" altLang="nl-NL" sz="4400" b="1" dirty="0" err="1">
                <a:solidFill>
                  <a:schemeClr val="accent6">
                    <a:lumMod val="75000"/>
                  </a:schemeClr>
                </a:solidFill>
                <a:latin typeface="Frutiger LT Std 45 Light" panose="020B0402020204020204" pitchFamily="34" charset="0"/>
              </a:rPr>
              <a:t>gebieden</a:t>
            </a:r>
            <a:endParaRPr lang="nl-NL" altLang="nl-NL" sz="4400" b="1" dirty="0">
              <a:solidFill>
                <a:schemeClr val="accent6">
                  <a:lumMod val="75000"/>
                </a:schemeClr>
              </a:solidFill>
              <a:latin typeface="Frutiger LT Std 45 Light" panose="020B0402020204020204" pitchFamily="34" charset="0"/>
            </a:endParaRPr>
          </a:p>
        </p:txBody>
      </p:sp>
      <p:sp>
        <p:nvSpPr>
          <p:cNvPr id="3" name="Tekstvak 2">
            <a:extLst>
              <a:ext uri="{FF2B5EF4-FFF2-40B4-BE49-F238E27FC236}">
                <a16:creationId xmlns:a16="http://schemas.microsoft.com/office/drawing/2014/main" id="{A29A08CF-6F7A-4829-BF71-103CAF0CF19A}"/>
              </a:ext>
            </a:extLst>
          </p:cNvPr>
          <p:cNvSpPr txBox="1"/>
          <p:nvPr/>
        </p:nvSpPr>
        <p:spPr>
          <a:xfrm>
            <a:off x="5428364" y="1340321"/>
            <a:ext cx="1442116"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DINGEN</a:t>
            </a:r>
          </a:p>
        </p:txBody>
      </p:sp>
      <p:sp>
        <p:nvSpPr>
          <p:cNvPr id="10" name="Tekstvak 9">
            <a:extLst>
              <a:ext uri="{FF2B5EF4-FFF2-40B4-BE49-F238E27FC236}">
                <a16:creationId xmlns:a16="http://schemas.microsoft.com/office/drawing/2014/main" id="{28416E4E-F803-4BC5-8CA3-CE6C4EA13A73}"/>
              </a:ext>
            </a:extLst>
          </p:cNvPr>
          <p:cNvSpPr txBox="1"/>
          <p:nvPr/>
        </p:nvSpPr>
        <p:spPr>
          <a:xfrm rot="5400000">
            <a:off x="9299393" y="3301982"/>
            <a:ext cx="1930965"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ABSTRACT</a:t>
            </a:r>
          </a:p>
        </p:txBody>
      </p:sp>
      <p:sp>
        <p:nvSpPr>
          <p:cNvPr id="11" name="Tekstvak 10">
            <a:extLst>
              <a:ext uri="{FF2B5EF4-FFF2-40B4-BE49-F238E27FC236}">
                <a16:creationId xmlns:a16="http://schemas.microsoft.com/office/drawing/2014/main" id="{BA61AA7F-2ED2-426B-9D1C-FF581551F3C1}"/>
              </a:ext>
            </a:extLst>
          </p:cNvPr>
          <p:cNvSpPr txBox="1"/>
          <p:nvPr/>
        </p:nvSpPr>
        <p:spPr>
          <a:xfrm rot="16200000">
            <a:off x="836605" y="3301981"/>
            <a:ext cx="2181030"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PRAKTISCH</a:t>
            </a:r>
          </a:p>
        </p:txBody>
      </p:sp>
      <p:sp>
        <p:nvSpPr>
          <p:cNvPr id="12" name="Tekstvak 11">
            <a:extLst>
              <a:ext uri="{FF2B5EF4-FFF2-40B4-BE49-F238E27FC236}">
                <a16:creationId xmlns:a16="http://schemas.microsoft.com/office/drawing/2014/main" id="{F6AB9183-92F8-4E95-AAB5-F40BEE840AA5}"/>
              </a:ext>
            </a:extLst>
          </p:cNvPr>
          <p:cNvSpPr txBox="1"/>
          <p:nvPr/>
        </p:nvSpPr>
        <p:spPr>
          <a:xfrm>
            <a:off x="5402050" y="5270327"/>
            <a:ext cx="1494745"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MENSEN</a:t>
            </a:r>
          </a:p>
        </p:txBody>
      </p:sp>
      <p:sp>
        <p:nvSpPr>
          <p:cNvPr id="13" name="PIJL-RECHTS 5">
            <a:extLst>
              <a:ext uri="{FF2B5EF4-FFF2-40B4-BE49-F238E27FC236}">
                <a16:creationId xmlns:a16="http://schemas.microsoft.com/office/drawing/2014/main" id="{FBEF406E-9245-4F1C-AF7E-ECD1CEB5477E}"/>
              </a:ext>
            </a:extLst>
          </p:cNvPr>
          <p:cNvSpPr/>
          <p:nvPr/>
        </p:nvSpPr>
        <p:spPr>
          <a:xfrm rot="10800000">
            <a:off x="1332039" y="1157672"/>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latin typeface="Frutiger LT Std 45 Light" panose="020B0402020204020204" pitchFamily="34" charset="0"/>
            </a:endParaRPr>
          </a:p>
        </p:txBody>
      </p:sp>
      <p:sp>
        <p:nvSpPr>
          <p:cNvPr id="14" name="PIJL-RECHTS 5">
            <a:extLst>
              <a:ext uri="{FF2B5EF4-FFF2-40B4-BE49-F238E27FC236}">
                <a16:creationId xmlns:a16="http://schemas.microsoft.com/office/drawing/2014/main" id="{5475117C-A5F7-4BD5-80BD-019A58A88BBA}"/>
              </a:ext>
            </a:extLst>
          </p:cNvPr>
          <p:cNvSpPr/>
          <p:nvPr/>
        </p:nvSpPr>
        <p:spPr>
          <a:xfrm>
            <a:off x="9670912" y="1157671"/>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dirty="0">
              <a:solidFill>
                <a:srgbClr val="FFFFFF"/>
              </a:solidFill>
              <a:latin typeface="Frutiger LT Std 45 Light" panose="020B0402020204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8" name="Picture 6" descr="Managing Intellectual Property in Fusion">
            <a:extLst>
              <a:ext uri="{FF2B5EF4-FFF2-40B4-BE49-F238E27FC236}">
                <a16:creationId xmlns:a16="http://schemas.microsoft.com/office/drawing/2014/main" id="{D01C4D0C-9E0F-41AB-BD07-29F2CB3DB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0376" y="4411277"/>
            <a:ext cx="1882828" cy="1495503"/>
          </a:xfrm>
          <a:prstGeom prst="rect">
            <a:avLst/>
          </a:prstGeom>
          <a:noFill/>
          <a:extLst>
            <a:ext uri="{909E8E84-426E-40DD-AFC4-6F175D3DCCD1}">
              <a14:hiddenFill xmlns:a14="http://schemas.microsoft.com/office/drawing/2010/main">
                <a:solidFill>
                  <a:srgbClr val="FFFFFF"/>
                </a:solidFill>
              </a14:hiddenFill>
            </a:ext>
          </a:extLst>
        </p:spPr>
      </p:pic>
      <p:pic>
        <p:nvPicPr>
          <p:cNvPr id="23582" name="Picture 30" descr="Les aspects techniques du monte-escalier">
            <a:extLst>
              <a:ext uri="{FF2B5EF4-FFF2-40B4-BE49-F238E27FC236}">
                <a16:creationId xmlns:a16="http://schemas.microsoft.com/office/drawing/2014/main" id="{57CC84B0-1C6B-4BE6-B8F6-C54DE12E7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2857" y="4278052"/>
            <a:ext cx="1432082" cy="1432082"/>
          </a:xfrm>
          <a:prstGeom prst="rect">
            <a:avLst/>
          </a:prstGeom>
          <a:noFill/>
          <a:extLst>
            <a:ext uri="{909E8E84-426E-40DD-AFC4-6F175D3DCCD1}">
              <a14:hiddenFill xmlns:a14="http://schemas.microsoft.com/office/drawing/2010/main">
                <a:solidFill>
                  <a:srgbClr val="FFFFFF"/>
                </a:solidFill>
              </a14:hiddenFill>
            </a:ext>
          </a:extLst>
        </p:spPr>
      </p:pic>
      <p:pic>
        <p:nvPicPr>
          <p:cNvPr id="23572" name="Picture 20" descr="Directors' Authority - Thomas Cooper LLP">
            <a:extLst>
              <a:ext uri="{FF2B5EF4-FFF2-40B4-BE49-F238E27FC236}">
                <a16:creationId xmlns:a16="http://schemas.microsoft.com/office/drawing/2014/main" id="{BF641502-0AF1-4457-A48C-1CF0E862B97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221" t="12336" r="9517" b="7686"/>
          <a:stretch/>
        </p:blipFill>
        <p:spPr bwMode="auto">
          <a:xfrm>
            <a:off x="7962191" y="1925496"/>
            <a:ext cx="1850299" cy="1324164"/>
          </a:xfrm>
          <a:prstGeom prst="rect">
            <a:avLst/>
          </a:prstGeom>
          <a:noFill/>
          <a:extLst>
            <a:ext uri="{909E8E84-426E-40DD-AFC4-6F175D3DCCD1}">
              <a14:hiddenFill xmlns:a14="http://schemas.microsoft.com/office/drawing/2010/main">
                <a:solidFill>
                  <a:srgbClr val="FFFFFF"/>
                </a:solidFill>
              </a14:hiddenFill>
            </a:ext>
          </a:extLst>
        </p:spPr>
      </p:pic>
      <p:pic>
        <p:nvPicPr>
          <p:cNvPr id="23566" name="Picture 14" descr="Le feutre Posca, un feutre peinture remarquable">
            <a:extLst>
              <a:ext uri="{FF2B5EF4-FFF2-40B4-BE49-F238E27FC236}">
                <a16:creationId xmlns:a16="http://schemas.microsoft.com/office/drawing/2014/main" id="{F713074E-0D46-4FD2-B235-8CD00FDF43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289" y="1515127"/>
            <a:ext cx="2043721" cy="1969851"/>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E587B67C-B80A-45DF-97CC-E6CD2D6343E6}"/>
              </a:ext>
            </a:extLst>
          </p:cNvPr>
          <p:cNvSpPr>
            <a:spLocks noGrp="1"/>
          </p:cNvSpPr>
          <p:nvPr>
            <p:ph type="title"/>
          </p:nvPr>
        </p:nvSpPr>
        <p:spPr>
          <a:xfrm>
            <a:off x="609600" y="274638"/>
            <a:ext cx="10972800" cy="1143000"/>
          </a:xfrm>
        </p:spPr>
        <p:txBody>
          <a:bodyPr/>
          <a:lstStyle/>
          <a:p>
            <a:r>
              <a:rPr lang="nl-NL" b="1" dirty="0">
                <a:solidFill>
                  <a:schemeClr val="accent6">
                    <a:lumMod val="75000"/>
                  </a:schemeClr>
                </a:solidFill>
                <a:latin typeface="Frutiger LT Std 45 Light" panose="020B0402020204020204" pitchFamily="34" charset="0"/>
                <a:cs typeface="Arial" pitchFamily="34" charset="0"/>
              </a:rPr>
              <a:t>De 12 verschillende typen</a:t>
            </a:r>
            <a:endParaRPr lang="nl-NL" b="1" dirty="0">
              <a:solidFill>
                <a:schemeClr val="accent6">
                  <a:lumMod val="75000"/>
                </a:schemeClr>
              </a:solidFill>
              <a:latin typeface="Frutiger LT Std 45 Light" panose="020B0402020204020204" pitchFamily="34" charset="0"/>
            </a:endParaRPr>
          </a:p>
        </p:txBody>
      </p:sp>
      <p:pic>
        <p:nvPicPr>
          <p:cNvPr id="23560" name="Picture 8" descr="Logos Online School: Live Classical Christian Education ...">
            <a:extLst>
              <a:ext uri="{FF2B5EF4-FFF2-40B4-BE49-F238E27FC236}">
                <a16:creationId xmlns:a16="http://schemas.microsoft.com/office/drawing/2014/main" id="{97C0507E-8CBF-429A-959B-B068145DA23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129" t="6860" r="4753" b="4537"/>
          <a:stretch/>
        </p:blipFill>
        <p:spPr bwMode="auto">
          <a:xfrm>
            <a:off x="8887341" y="3435935"/>
            <a:ext cx="1073403" cy="1067187"/>
          </a:xfrm>
          <a:prstGeom prst="rect">
            <a:avLst/>
          </a:prstGeom>
          <a:noFill/>
          <a:extLst>
            <a:ext uri="{909E8E84-426E-40DD-AFC4-6F175D3DCCD1}">
              <a14:hiddenFill xmlns:a14="http://schemas.microsoft.com/office/drawing/2010/main">
                <a:solidFill>
                  <a:srgbClr val="FFFFFF"/>
                </a:solidFill>
              </a14:hiddenFill>
            </a:ext>
          </a:extLst>
        </p:spPr>
      </p:pic>
      <p:pic>
        <p:nvPicPr>
          <p:cNvPr id="23562" name="Picture 10" descr="Appointment, calendar, diary, event, reminder, schedule ...">
            <a:extLst>
              <a:ext uri="{FF2B5EF4-FFF2-40B4-BE49-F238E27FC236}">
                <a16:creationId xmlns:a16="http://schemas.microsoft.com/office/drawing/2014/main" id="{CC50B5CF-EE16-4077-AA0B-992C9E06D6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5746" y="1567156"/>
            <a:ext cx="1545611" cy="1545611"/>
          </a:xfrm>
          <a:prstGeom prst="rect">
            <a:avLst/>
          </a:prstGeom>
          <a:noFill/>
          <a:extLst>
            <a:ext uri="{909E8E84-426E-40DD-AFC4-6F175D3DCCD1}">
              <a14:hiddenFill xmlns:a14="http://schemas.microsoft.com/office/drawing/2010/main">
                <a:solidFill>
                  <a:srgbClr val="FFFFFF"/>
                </a:solidFill>
              </a14:hiddenFill>
            </a:ext>
          </a:extLst>
        </p:spPr>
      </p:pic>
      <p:pic>
        <p:nvPicPr>
          <p:cNvPr id="23568" name="Picture 16" descr="Rolls-Royce RR Logo | Cars Heraldry / Автогеральдика ...">
            <a:extLst>
              <a:ext uri="{FF2B5EF4-FFF2-40B4-BE49-F238E27FC236}">
                <a16:creationId xmlns:a16="http://schemas.microsoft.com/office/drawing/2014/main" id="{D92A56FF-7C3D-4D27-9E93-06D90EA5D8D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000" r="12580"/>
          <a:stretch/>
        </p:blipFill>
        <p:spPr bwMode="auto">
          <a:xfrm>
            <a:off x="7360308" y="3161963"/>
            <a:ext cx="901323" cy="1000492"/>
          </a:xfrm>
          <a:prstGeom prst="rect">
            <a:avLst/>
          </a:prstGeom>
          <a:noFill/>
          <a:extLst>
            <a:ext uri="{909E8E84-426E-40DD-AFC4-6F175D3DCCD1}">
              <a14:hiddenFill xmlns:a14="http://schemas.microsoft.com/office/drawing/2010/main">
                <a:solidFill>
                  <a:srgbClr val="FFFFFF"/>
                </a:solidFill>
              </a14:hiddenFill>
            </a:ext>
          </a:extLst>
        </p:spPr>
      </p:pic>
      <p:pic>
        <p:nvPicPr>
          <p:cNvPr id="23574" name="Picture 22" descr="Public Relations – iOpening Marketing">
            <a:extLst>
              <a:ext uri="{FF2B5EF4-FFF2-40B4-BE49-F238E27FC236}">
                <a16:creationId xmlns:a16="http://schemas.microsoft.com/office/drawing/2014/main" id="{71187972-4ACB-41BF-B143-692F82D96C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73381" y="4573581"/>
            <a:ext cx="1722027" cy="1454665"/>
          </a:xfrm>
          <a:prstGeom prst="rect">
            <a:avLst/>
          </a:prstGeom>
          <a:noFill/>
          <a:extLst>
            <a:ext uri="{909E8E84-426E-40DD-AFC4-6F175D3DCCD1}">
              <a14:hiddenFill xmlns:a14="http://schemas.microsoft.com/office/drawing/2010/main">
                <a:solidFill>
                  <a:srgbClr val="FFFFFF"/>
                </a:solidFill>
              </a14:hiddenFill>
            </a:ext>
          </a:extLst>
        </p:spPr>
      </p:pic>
      <p:pic>
        <p:nvPicPr>
          <p:cNvPr id="23576" name="Picture 24" descr="Jack's Helping Hand (@JacksHelpinHand) | Twitter">
            <a:extLst>
              <a:ext uri="{FF2B5EF4-FFF2-40B4-BE49-F238E27FC236}">
                <a16:creationId xmlns:a16="http://schemas.microsoft.com/office/drawing/2014/main" id="{46B156D3-535D-423E-AC9A-5B6B18F57E0F}"/>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1072" t="5696" r="9476" b="6401"/>
          <a:stretch/>
        </p:blipFill>
        <p:spPr bwMode="auto">
          <a:xfrm>
            <a:off x="2882102" y="4767193"/>
            <a:ext cx="1141859" cy="1263316"/>
          </a:xfrm>
          <a:prstGeom prst="rect">
            <a:avLst/>
          </a:prstGeom>
          <a:noFill/>
          <a:extLst>
            <a:ext uri="{909E8E84-426E-40DD-AFC4-6F175D3DCCD1}">
              <a14:hiddenFill xmlns:a14="http://schemas.microsoft.com/office/drawing/2010/main">
                <a:solidFill>
                  <a:srgbClr val="FFFFFF"/>
                </a:solidFill>
              </a14:hiddenFill>
            </a:ext>
          </a:extLst>
        </p:spPr>
      </p:pic>
      <p:pic>
        <p:nvPicPr>
          <p:cNvPr id="23578" name="Picture 26" descr="Reforming humanitarian system requires supporting organic ...">
            <a:extLst>
              <a:ext uri="{FF2B5EF4-FFF2-40B4-BE49-F238E27FC236}">
                <a16:creationId xmlns:a16="http://schemas.microsoft.com/office/drawing/2014/main" id="{6D5613C2-F892-47CC-8825-BE516F7E0278}"/>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9639" t="6595" r="17908" b="40248"/>
          <a:stretch/>
        </p:blipFill>
        <p:spPr bwMode="auto">
          <a:xfrm>
            <a:off x="6159369" y="1557086"/>
            <a:ext cx="1455174" cy="1443385"/>
          </a:xfrm>
          <a:prstGeom prst="rect">
            <a:avLst/>
          </a:prstGeom>
          <a:noFill/>
          <a:extLst>
            <a:ext uri="{909E8E84-426E-40DD-AFC4-6F175D3DCCD1}">
              <a14:hiddenFill xmlns:a14="http://schemas.microsoft.com/office/drawing/2010/main">
                <a:solidFill>
                  <a:srgbClr val="FFFFFF"/>
                </a:solidFill>
              </a14:hiddenFill>
            </a:ext>
          </a:extLst>
        </p:spPr>
      </p:pic>
      <p:pic>
        <p:nvPicPr>
          <p:cNvPr id="23580" name="Picture 28" descr="May Is Physical Fitness, Sports Month – Health Basis">
            <a:extLst>
              <a:ext uri="{FF2B5EF4-FFF2-40B4-BE49-F238E27FC236}">
                <a16:creationId xmlns:a16="http://schemas.microsoft.com/office/drawing/2014/main" id="{16E4E07E-FAE7-4163-B4BB-3459A3F1438F}"/>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10750" b="11053"/>
          <a:stretch/>
        </p:blipFill>
        <p:spPr bwMode="auto">
          <a:xfrm>
            <a:off x="4090446" y="3182248"/>
            <a:ext cx="2598157" cy="1015845"/>
          </a:xfrm>
          <a:prstGeom prst="rect">
            <a:avLst/>
          </a:prstGeom>
          <a:noFill/>
          <a:extLst>
            <a:ext uri="{909E8E84-426E-40DD-AFC4-6F175D3DCCD1}">
              <a14:hiddenFill xmlns:a14="http://schemas.microsoft.com/office/drawing/2010/main">
                <a:solidFill>
                  <a:srgbClr val="FFFFFF"/>
                </a:solidFill>
              </a14:hiddenFill>
            </a:ext>
          </a:extLst>
        </p:spPr>
      </p:pic>
      <p:pic>
        <p:nvPicPr>
          <p:cNvPr id="23584" name="Picture 32" descr="Innovation clipart - Clipground">
            <a:extLst>
              <a:ext uri="{FF2B5EF4-FFF2-40B4-BE49-F238E27FC236}">
                <a16:creationId xmlns:a16="http://schemas.microsoft.com/office/drawing/2014/main" id="{9FF26F23-5640-4EB6-B271-33E882B34F5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H="1">
            <a:off x="1529234" y="3429000"/>
            <a:ext cx="2570935" cy="1538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911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el 1">
            <a:extLst>
              <a:ext uri="{FF2B5EF4-FFF2-40B4-BE49-F238E27FC236}">
                <a16:creationId xmlns:a16="http://schemas.microsoft.com/office/drawing/2014/main" id="{CC19CA17-97F4-4944-8ACB-3F6DBBF1294B}"/>
              </a:ext>
            </a:extLst>
          </p:cNvPr>
          <p:cNvSpPr>
            <a:spLocks noGrp="1"/>
          </p:cNvSpPr>
          <p:nvPr>
            <p:ph type="title"/>
          </p:nvPr>
        </p:nvSpPr>
        <p:spPr>
          <a:xfrm>
            <a:off x="2024063" y="428626"/>
            <a:ext cx="8183562" cy="714375"/>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Fysiek</a:t>
            </a:r>
            <a:endParaRPr lang="nl-NL" b="1" dirty="0">
              <a:solidFill>
                <a:schemeClr val="accent6">
                  <a:lumMod val="75000"/>
                </a:schemeClr>
              </a:solidFill>
              <a:latin typeface="Frutiger LT Std 45 Light" panose="020B0402020204020204" pitchFamily="34" charset="0"/>
            </a:endParaRPr>
          </a:p>
        </p:txBody>
      </p:sp>
      <p:pic>
        <p:nvPicPr>
          <p:cNvPr id="20486" name="Picture 6" descr="http://www.herkon.nl/gfx/bouwvakker.jpg">
            <a:extLst>
              <a:ext uri="{FF2B5EF4-FFF2-40B4-BE49-F238E27FC236}">
                <a16:creationId xmlns:a16="http://schemas.microsoft.com/office/drawing/2014/main" id="{8D25A18F-A8F5-475F-8BFE-30E604CCE0B2}"/>
              </a:ext>
            </a:extLst>
          </p:cNvPr>
          <p:cNvPicPr>
            <a:picLocks noChangeAspect="1" noChangeArrowheads="1"/>
          </p:cNvPicPr>
          <p:nvPr/>
        </p:nvPicPr>
        <p:blipFill>
          <a:blip r:embed="rId2"/>
          <a:srcRect/>
          <a:stretch>
            <a:fillRect/>
          </a:stretch>
        </p:blipFill>
        <p:spPr bwMode="auto">
          <a:xfrm>
            <a:off x="6238876" y="1357313"/>
            <a:ext cx="3800978" cy="2527744"/>
          </a:xfrm>
          <a:prstGeom prst="rect">
            <a:avLst/>
          </a:prstGeom>
          <a:ln>
            <a:noFill/>
          </a:ln>
          <a:effectLst>
            <a:outerShdw blurRad="292100" dist="139700" dir="2700000" algn="tl" rotWithShape="0">
              <a:srgbClr val="333333">
                <a:alpha val="65000"/>
              </a:srgbClr>
            </a:outerShdw>
          </a:effectLst>
        </p:spPr>
      </p:pic>
      <p:sp>
        <p:nvSpPr>
          <p:cNvPr id="16389" name="Tekstvak 6">
            <a:extLst>
              <a:ext uri="{FF2B5EF4-FFF2-40B4-BE49-F238E27FC236}">
                <a16:creationId xmlns:a16="http://schemas.microsoft.com/office/drawing/2014/main" id="{FE18F559-2CF6-4537-B992-47E64B5780BA}"/>
              </a:ext>
            </a:extLst>
          </p:cNvPr>
          <p:cNvSpPr txBox="1">
            <a:spLocks noChangeArrowheads="1"/>
          </p:cNvSpPr>
          <p:nvPr/>
        </p:nvSpPr>
        <p:spPr bwMode="auto">
          <a:xfrm>
            <a:off x="2452689" y="1357313"/>
            <a:ext cx="3500437"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dirty="0" err="1">
                <a:latin typeface="Frutiger LT Std 45 Light" panose="020B0402020204020204" pitchFamily="34" charset="0"/>
              </a:rPr>
              <a:t>Lichaamsbeweging</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Fysieke</a:t>
            </a:r>
            <a:r>
              <a:rPr lang="en-US" altLang="nl-NL" dirty="0">
                <a:latin typeface="Frutiger LT Std 45 Light" panose="020B0402020204020204" pitchFamily="34" charset="0"/>
              </a:rPr>
              <a:t> </a:t>
            </a:r>
            <a:r>
              <a:rPr lang="en-US" altLang="nl-NL" dirty="0" err="1">
                <a:latin typeface="Frutiger LT Std 45 Light" panose="020B0402020204020204" pitchFamily="34" charset="0"/>
              </a:rPr>
              <a:t>inspanning</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Gezondheid</a:t>
            </a:r>
            <a:endParaRPr lang="en-US" altLang="nl-NL" dirty="0">
              <a:latin typeface="Frutiger LT Std 45 Light" panose="020B0402020204020204" pitchFamily="34" charset="0"/>
            </a:endParaRPr>
          </a:p>
          <a:p>
            <a:pPr eaLnBrk="1" hangingPunct="1"/>
            <a:r>
              <a:rPr lang="en-US" altLang="nl-NL" dirty="0">
                <a:latin typeface="Frutiger LT Std 45 Light" panose="020B0402020204020204" pitchFamily="34" charset="0"/>
              </a:rPr>
              <a:t>Sport</a:t>
            </a:r>
          </a:p>
          <a:p>
            <a:pPr eaLnBrk="1" hangingPunct="1"/>
            <a:r>
              <a:rPr lang="en-US" altLang="nl-NL" dirty="0" err="1">
                <a:latin typeface="Frutiger LT Std 45 Light" panose="020B0402020204020204" pitchFamily="34" charset="0"/>
              </a:rPr>
              <a:t>Recreatief</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Conditie</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Fysieke</a:t>
            </a:r>
            <a:r>
              <a:rPr lang="en-US" altLang="nl-NL" dirty="0">
                <a:latin typeface="Frutiger LT Std 45 Light" panose="020B0402020204020204" pitchFamily="34" charset="0"/>
              </a:rPr>
              <a:t>- of </a:t>
            </a:r>
            <a:r>
              <a:rPr lang="en-US" altLang="nl-NL" dirty="0" err="1">
                <a:latin typeface="Frutiger LT Std 45 Light" panose="020B0402020204020204" pitchFamily="34" charset="0"/>
              </a:rPr>
              <a:t>mentale</a:t>
            </a:r>
            <a:r>
              <a:rPr lang="en-US" altLang="nl-NL" dirty="0">
                <a:latin typeface="Frutiger LT Std 45 Light" panose="020B0402020204020204" pitchFamily="34" charset="0"/>
              </a:rPr>
              <a:t> </a:t>
            </a:r>
            <a:r>
              <a:rPr lang="en-US" altLang="nl-NL" dirty="0" err="1">
                <a:latin typeface="Frutiger LT Std 45 Light" panose="020B0402020204020204" pitchFamily="34" charset="0"/>
              </a:rPr>
              <a:t>weerbaarheid</a:t>
            </a:r>
            <a:endParaRPr lang="en-US" altLang="nl-NL" dirty="0">
              <a:latin typeface="Frutiger LT Std 45 Light" panose="020B0402020204020204" pitchFamily="34" charset="0"/>
            </a:endParaRPr>
          </a:p>
        </p:txBody>
      </p:sp>
      <p:pic>
        <p:nvPicPr>
          <p:cNvPr id="16390" name="Picture 9" descr="http://www.meavita.nl/ContentSuite/upload/hww/image/gezondheid_overgewicht_02_a.jpg">
            <a:extLst>
              <a:ext uri="{FF2B5EF4-FFF2-40B4-BE49-F238E27FC236}">
                <a16:creationId xmlns:a16="http://schemas.microsoft.com/office/drawing/2014/main" id="{ADD3F288-C3D0-4171-92F8-56446E090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9241" y="4148494"/>
            <a:ext cx="2696372" cy="135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descr="Hoe start ik met hardlopen? - Uit Liefde Voor Jezelf">
            <a:extLst>
              <a:ext uri="{FF2B5EF4-FFF2-40B4-BE49-F238E27FC236}">
                <a16:creationId xmlns:a16="http://schemas.microsoft.com/office/drawing/2014/main" id="{09DE33E2-63C0-46DC-BC2C-34FE3ED523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6387" y="3674997"/>
            <a:ext cx="3575310" cy="18256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el 1">
            <a:extLst>
              <a:ext uri="{FF2B5EF4-FFF2-40B4-BE49-F238E27FC236}">
                <a16:creationId xmlns:a16="http://schemas.microsoft.com/office/drawing/2014/main" id="{6CDCB901-6E1E-4604-BF7C-B1C5CEB059FF}"/>
              </a:ext>
            </a:extLst>
          </p:cNvPr>
          <p:cNvSpPr>
            <a:spLocks noGrp="1"/>
          </p:cNvSpPr>
          <p:nvPr>
            <p:ph type="title"/>
          </p:nvPr>
        </p:nvSpPr>
        <p:spPr>
          <a:xfrm>
            <a:off x="2024063" y="428626"/>
            <a:ext cx="8183562" cy="714375"/>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Technisch</a:t>
            </a:r>
            <a:endParaRPr lang="nl-NL" b="1" dirty="0">
              <a:solidFill>
                <a:schemeClr val="accent6">
                  <a:lumMod val="75000"/>
                </a:schemeClr>
              </a:solidFill>
              <a:latin typeface="Frutiger LT Std 45 Light" panose="020B0402020204020204" pitchFamily="34" charset="0"/>
            </a:endParaRPr>
          </a:p>
        </p:txBody>
      </p:sp>
      <p:pic>
        <p:nvPicPr>
          <p:cNvPr id="31751" name="Picture 7" descr="http://www.webkey2.nl/post_blank/images2/techniek.jpg">
            <a:extLst>
              <a:ext uri="{FF2B5EF4-FFF2-40B4-BE49-F238E27FC236}">
                <a16:creationId xmlns:a16="http://schemas.microsoft.com/office/drawing/2014/main" id="{2F443BBD-9BC9-40D5-AE01-A62BDDC2FCC0}"/>
              </a:ext>
            </a:extLst>
          </p:cNvPr>
          <p:cNvPicPr>
            <a:picLocks noChangeAspect="1" noChangeArrowheads="1"/>
          </p:cNvPicPr>
          <p:nvPr/>
        </p:nvPicPr>
        <p:blipFill>
          <a:blip r:embed="rId2"/>
          <a:srcRect/>
          <a:stretch>
            <a:fillRect/>
          </a:stretch>
        </p:blipFill>
        <p:spPr bwMode="auto">
          <a:xfrm>
            <a:off x="5167313" y="3214688"/>
            <a:ext cx="3905250" cy="2343150"/>
          </a:xfrm>
          <a:prstGeom prst="rect">
            <a:avLst/>
          </a:prstGeom>
          <a:ln>
            <a:noFill/>
          </a:ln>
          <a:effectLst>
            <a:outerShdw blurRad="292100" dist="139700" dir="2700000" algn="tl" rotWithShape="0">
              <a:srgbClr val="333333">
                <a:alpha val="65000"/>
              </a:srgbClr>
            </a:outerShdw>
          </a:effectLst>
        </p:spPr>
      </p:pic>
      <p:sp>
        <p:nvSpPr>
          <p:cNvPr id="17412" name="Tekstvak 8">
            <a:extLst>
              <a:ext uri="{FF2B5EF4-FFF2-40B4-BE49-F238E27FC236}">
                <a16:creationId xmlns:a16="http://schemas.microsoft.com/office/drawing/2014/main" id="{307C2ADD-B4D7-4133-8245-DD2F09B8EB17}"/>
              </a:ext>
            </a:extLst>
          </p:cNvPr>
          <p:cNvSpPr txBox="1">
            <a:spLocks noChangeArrowheads="1"/>
          </p:cNvSpPr>
          <p:nvPr/>
        </p:nvSpPr>
        <p:spPr bwMode="auto">
          <a:xfrm>
            <a:off x="5095876" y="1357314"/>
            <a:ext cx="41433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dirty="0" err="1">
                <a:latin typeface="Frutiger LT Std 45 Light" panose="020B0402020204020204" pitchFamily="34" charset="0"/>
              </a:rPr>
              <a:t>Techniek</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Ambachten</a:t>
            </a:r>
            <a:endParaRPr lang="en-US" altLang="nl-NL" dirty="0">
              <a:latin typeface="Frutiger LT Std 45 Light" panose="020B0402020204020204" pitchFamily="34" charset="0"/>
            </a:endParaRPr>
          </a:p>
          <a:p>
            <a:pPr eaLnBrk="1" hangingPunct="1"/>
            <a:r>
              <a:rPr lang="en-US" altLang="nl-NL" dirty="0">
                <a:latin typeface="Frutiger LT Std 45 Light" panose="020B0402020204020204" pitchFamily="34" charset="0"/>
              </a:rPr>
              <a:t>Specialist</a:t>
            </a:r>
          </a:p>
          <a:p>
            <a:pPr eaLnBrk="1" hangingPunct="1"/>
            <a:r>
              <a:rPr lang="en-US" altLang="nl-NL" dirty="0" err="1">
                <a:latin typeface="Frutiger LT Std 45 Light" panose="020B0402020204020204" pitchFamily="34" charset="0"/>
              </a:rPr>
              <a:t>Specifiek</a:t>
            </a:r>
            <a:r>
              <a:rPr lang="en-US" altLang="nl-NL" dirty="0">
                <a:latin typeface="Frutiger LT Std 45 Light" panose="020B0402020204020204" pitchFamily="34" charset="0"/>
              </a:rPr>
              <a:t> </a:t>
            </a:r>
            <a:r>
              <a:rPr lang="en-US" altLang="nl-NL" dirty="0" err="1">
                <a:latin typeface="Frutiger LT Std 45 Light" panose="020B0402020204020204" pitchFamily="34" charset="0"/>
              </a:rPr>
              <a:t>kennis</a:t>
            </a:r>
            <a:r>
              <a:rPr lang="en-US" altLang="nl-NL" dirty="0">
                <a:latin typeface="Frutiger LT Std 45 Light" panose="020B0402020204020204" pitchFamily="34" charset="0"/>
              </a:rPr>
              <a:t>- en/of </a:t>
            </a:r>
            <a:r>
              <a:rPr lang="en-US" altLang="nl-NL" dirty="0" err="1">
                <a:latin typeface="Frutiger LT Std 45 Light" panose="020B0402020204020204" pitchFamily="34" charset="0"/>
              </a:rPr>
              <a:t>vakgebied</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Apparatuur</a:t>
            </a:r>
            <a:r>
              <a:rPr lang="en-US" altLang="nl-NL" dirty="0">
                <a:latin typeface="Frutiger LT Std 45 Light" panose="020B0402020204020204" pitchFamily="34" charset="0"/>
              </a:rPr>
              <a:t>, machines, </a:t>
            </a:r>
            <a:r>
              <a:rPr lang="en-US" altLang="nl-NL" dirty="0" err="1">
                <a:latin typeface="Frutiger LT Std 45 Light" panose="020B0402020204020204" pitchFamily="34" charset="0"/>
              </a:rPr>
              <a:t>gereedschappen</a:t>
            </a:r>
            <a:endParaRPr lang="en-US" altLang="nl-NL" dirty="0">
              <a:latin typeface="Frutiger LT Std 45 Light" panose="020B0402020204020204" pitchFamily="34" charset="0"/>
            </a:endParaRPr>
          </a:p>
          <a:p>
            <a:pPr eaLnBrk="1" hangingPunct="1"/>
            <a:r>
              <a:rPr lang="en-US" altLang="nl-NL" dirty="0" err="1">
                <a:latin typeface="Frutiger LT Std 45 Light" panose="020B0402020204020204" pitchFamily="34" charset="0"/>
              </a:rPr>
              <a:t>Gespecialiseerde</a:t>
            </a:r>
            <a:r>
              <a:rPr lang="en-US" altLang="nl-NL" dirty="0">
                <a:latin typeface="Frutiger LT Std 45 Light" panose="020B0402020204020204" pitchFamily="34" charset="0"/>
              </a:rPr>
              <a:t> </a:t>
            </a:r>
            <a:r>
              <a:rPr lang="en-US" altLang="nl-NL" dirty="0" err="1">
                <a:latin typeface="Frutiger LT Std 45 Light" panose="020B0402020204020204" pitchFamily="34" charset="0"/>
              </a:rPr>
              <a:t>processen</a:t>
            </a:r>
            <a:r>
              <a:rPr lang="en-US" altLang="nl-NL" dirty="0">
                <a:latin typeface="Frutiger LT Std 45 Light" panose="020B0402020204020204" pitchFamily="34" charset="0"/>
              </a:rPr>
              <a:t> en </a:t>
            </a:r>
            <a:r>
              <a:rPr lang="en-US" altLang="nl-NL" dirty="0" err="1">
                <a:latin typeface="Frutiger LT Std 45 Light" panose="020B0402020204020204" pitchFamily="34" charset="0"/>
              </a:rPr>
              <a:t>systemen</a:t>
            </a:r>
            <a:endParaRPr lang="en-US" altLang="nl-NL" dirty="0">
              <a:latin typeface="Frutiger LT Std 45 Light" panose="020B0402020204020204" pitchFamily="34" charset="0"/>
            </a:endParaRPr>
          </a:p>
        </p:txBody>
      </p:sp>
      <p:pic>
        <p:nvPicPr>
          <p:cNvPr id="17413" name="Picture 7" descr="http://www.wired.com/images/article/magazine/1512/wl_leatherman_skeletool.jpg">
            <a:extLst>
              <a:ext uri="{FF2B5EF4-FFF2-40B4-BE49-F238E27FC236}">
                <a16:creationId xmlns:a16="http://schemas.microsoft.com/office/drawing/2014/main" id="{FF9FBBEB-1680-49F2-ADFC-94B76682B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1" y="4437064"/>
            <a:ext cx="1928813"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5" descr="http://www.leestrainer.nl/Woordenschat7/a/ambacht.jpg">
            <a:extLst>
              <a:ext uri="{FF2B5EF4-FFF2-40B4-BE49-F238E27FC236}">
                <a16:creationId xmlns:a16="http://schemas.microsoft.com/office/drawing/2014/main" id="{87F61CA4-F41D-43F2-8AF1-BC8C8773A7F3}"/>
              </a:ext>
            </a:extLst>
          </p:cNvPr>
          <p:cNvPicPr>
            <a:picLocks noChangeAspect="1" noChangeArrowheads="1"/>
          </p:cNvPicPr>
          <p:nvPr/>
        </p:nvPicPr>
        <p:blipFill>
          <a:blip r:embed="rId4"/>
          <a:srcRect/>
          <a:stretch>
            <a:fillRect/>
          </a:stretch>
        </p:blipFill>
        <p:spPr bwMode="auto">
          <a:xfrm>
            <a:off x="2952750" y="1428750"/>
            <a:ext cx="1905000" cy="28956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el 1">
            <a:extLst>
              <a:ext uri="{FF2B5EF4-FFF2-40B4-BE49-F238E27FC236}">
                <a16:creationId xmlns:a16="http://schemas.microsoft.com/office/drawing/2014/main" id="{D018261A-D9CA-4A6D-837F-6AE2F66D9CE0}"/>
              </a:ext>
            </a:extLst>
          </p:cNvPr>
          <p:cNvSpPr>
            <a:spLocks noGrp="1"/>
          </p:cNvSpPr>
          <p:nvPr>
            <p:ph type="title"/>
          </p:nvPr>
        </p:nvSpPr>
        <p:spPr>
          <a:xfrm>
            <a:off x="2024063" y="428626"/>
            <a:ext cx="8183562" cy="785813"/>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Intellectueel</a:t>
            </a:r>
            <a:endParaRPr lang="nl-NL" b="1" dirty="0">
              <a:solidFill>
                <a:schemeClr val="accent6">
                  <a:lumMod val="75000"/>
                </a:schemeClr>
              </a:solidFill>
              <a:latin typeface="Frutiger LT Std 45 Light" panose="020B0402020204020204" pitchFamily="34" charset="0"/>
            </a:endParaRPr>
          </a:p>
        </p:txBody>
      </p:sp>
      <p:pic>
        <p:nvPicPr>
          <p:cNvPr id="30722" name="Picture 2" descr="intellectueel">
            <a:extLst>
              <a:ext uri="{FF2B5EF4-FFF2-40B4-BE49-F238E27FC236}">
                <a16:creationId xmlns:a16="http://schemas.microsoft.com/office/drawing/2014/main" id="{0189E91A-0ACE-4F3E-A46D-750E1A93BE7C}"/>
              </a:ext>
            </a:extLst>
          </p:cNvPr>
          <p:cNvPicPr>
            <a:picLocks noChangeAspect="1" noChangeArrowheads="1"/>
          </p:cNvPicPr>
          <p:nvPr/>
        </p:nvPicPr>
        <p:blipFill>
          <a:blip r:embed="rId2"/>
          <a:srcRect/>
          <a:stretch>
            <a:fillRect/>
          </a:stretch>
        </p:blipFill>
        <p:spPr bwMode="auto">
          <a:xfrm>
            <a:off x="2595563" y="1500189"/>
            <a:ext cx="2671762" cy="1785937"/>
          </a:xfrm>
          <a:prstGeom prst="rect">
            <a:avLst/>
          </a:prstGeom>
          <a:ln>
            <a:noFill/>
          </a:ln>
          <a:effectLst>
            <a:outerShdw blurRad="292100" dist="139700" dir="2700000" algn="tl" rotWithShape="0">
              <a:srgbClr val="333333">
                <a:alpha val="65000"/>
              </a:srgbClr>
            </a:outerShdw>
          </a:effectLst>
        </p:spPr>
      </p:pic>
      <p:pic>
        <p:nvPicPr>
          <p:cNvPr id="18437" name="Picture 4" descr="http://bennythegreat.files.wordpress.com/2010/04/discovery_channel.jpg">
            <a:extLst>
              <a:ext uri="{FF2B5EF4-FFF2-40B4-BE49-F238E27FC236}">
                <a16:creationId xmlns:a16="http://schemas.microsoft.com/office/drawing/2014/main" id="{C7A2372B-133A-4D94-B1D6-E75B93324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2513" y="2160436"/>
            <a:ext cx="22860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kstvak 6">
            <a:extLst>
              <a:ext uri="{FF2B5EF4-FFF2-40B4-BE49-F238E27FC236}">
                <a16:creationId xmlns:a16="http://schemas.microsoft.com/office/drawing/2014/main" id="{66B1D037-F7A4-4E8C-B180-AFE666A9F9DE}"/>
              </a:ext>
            </a:extLst>
          </p:cNvPr>
          <p:cNvSpPr txBox="1">
            <a:spLocks noChangeArrowheads="1"/>
          </p:cNvSpPr>
          <p:nvPr/>
        </p:nvSpPr>
        <p:spPr bwMode="auto">
          <a:xfrm>
            <a:off x="2524126" y="3286126"/>
            <a:ext cx="335756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a:latin typeface="Frutiger LT Std 45 Light" panose="020B0402020204020204" pitchFamily="34" charset="0"/>
              </a:rPr>
              <a:t>Leren</a:t>
            </a:r>
          </a:p>
          <a:p>
            <a:pPr eaLnBrk="1" hangingPunct="1"/>
            <a:r>
              <a:rPr lang="en-US" altLang="nl-NL">
                <a:latin typeface="Frutiger LT Std 45 Light" panose="020B0402020204020204" pitchFamily="34" charset="0"/>
              </a:rPr>
              <a:t>Ontwikkelen</a:t>
            </a:r>
          </a:p>
          <a:p>
            <a:pPr eaLnBrk="1" hangingPunct="1"/>
            <a:r>
              <a:rPr lang="en-US" altLang="nl-NL">
                <a:latin typeface="Frutiger LT Std 45 Light" panose="020B0402020204020204" pitchFamily="34" charset="0"/>
              </a:rPr>
              <a:t>Onderzoeken, bestuderen</a:t>
            </a:r>
          </a:p>
          <a:p>
            <a:pPr eaLnBrk="1" hangingPunct="1"/>
            <a:r>
              <a:rPr lang="en-US" altLang="nl-NL">
                <a:latin typeface="Frutiger LT Std 45 Light" panose="020B0402020204020204" pitchFamily="34" charset="0"/>
              </a:rPr>
              <a:t>Problemen oplossen</a:t>
            </a:r>
          </a:p>
          <a:p>
            <a:pPr eaLnBrk="1" hangingPunct="1"/>
            <a:r>
              <a:rPr lang="en-US" altLang="nl-NL">
                <a:latin typeface="Frutiger LT Std 45 Light" panose="020B0402020204020204" pitchFamily="34" charset="0"/>
              </a:rPr>
              <a:t>Denkwerk</a:t>
            </a:r>
          </a:p>
          <a:p>
            <a:pPr eaLnBrk="1" hangingPunct="1"/>
            <a:r>
              <a:rPr lang="en-US" altLang="nl-NL">
                <a:latin typeface="Frutiger LT Std 45 Light" panose="020B0402020204020204" pitchFamily="34" charset="0"/>
              </a:rPr>
              <a:t>Wetenschappelijk</a:t>
            </a:r>
          </a:p>
          <a:p>
            <a:pPr eaLnBrk="1" hangingPunct="1"/>
            <a:r>
              <a:rPr lang="nl-NL" altLang="nl-NL">
                <a:latin typeface="Frutiger LT Std 45 Light" panose="020B0402020204020204" pitchFamily="34" charset="0"/>
              </a:rPr>
              <a:t>Methodisch, gedisciplineerd, rationeel, objectief, ruimdenkend</a:t>
            </a:r>
          </a:p>
        </p:txBody>
      </p:sp>
      <p:pic>
        <p:nvPicPr>
          <p:cNvPr id="11266" name="Picture 2">
            <a:extLst>
              <a:ext uri="{FF2B5EF4-FFF2-40B4-BE49-F238E27FC236}">
                <a16:creationId xmlns:a16="http://schemas.microsoft.com/office/drawing/2014/main" id="{B7C8B72A-99C2-447C-BEF7-5B3A516C63D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0505"/>
          <a:stretch/>
        </p:blipFill>
        <p:spPr bwMode="auto">
          <a:xfrm>
            <a:off x="5548262" y="3355006"/>
            <a:ext cx="4003728" cy="251644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268" name="Picture 4" descr="ΔS ≥ 0 - vistale: According to National Geographic, this...">
            <a:extLst>
              <a:ext uri="{FF2B5EF4-FFF2-40B4-BE49-F238E27FC236}">
                <a16:creationId xmlns:a16="http://schemas.microsoft.com/office/drawing/2014/main" id="{8CDF2AA5-7539-4CCB-9AC8-244CE8E316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6790" y="1328535"/>
            <a:ext cx="1315200" cy="1912374"/>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Portfolio Hoens Creative Facilities - Hoens Creative">
            <a:extLst>
              <a:ext uri="{FF2B5EF4-FFF2-40B4-BE49-F238E27FC236}">
                <a16:creationId xmlns:a16="http://schemas.microsoft.com/office/drawing/2014/main" id="{CD4BC4BB-0A93-4143-AA8E-0A24FDFD369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6366" b="24796"/>
          <a:stretch/>
        </p:blipFill>
        <p:spPr bwMode="auto">
          <a:xfrm>
            <a:off x="6392695" y="1357927"/>
            <a:ext cx="1795818" cy="802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el 1">
            <a:extLst>
              <a:ext uri="{FF2B5EF4-FFF2-40B4-BE49-F238E27FC236}">
                <a16:creationId xmlns:a16="http://schemas.microsoft.com/office/drawing/2014/main" id="{8BAA3287-FB06-4C3F-866D-AA9C783DC50C}"/>
              </a:ext>
            </a:extLst>
          </p:cNvPr>
          <p:cNvSpPr>
            <a:spLocks noGrp="1"/>
          </p:cNvSpPr>
          <p:nvPr>
            <p:ph type="title"/>
          </p:nvPr>
        </p:nvSpPr>
        <p:spPr>
          <a:xfrm>
            <a:off x="2024063" y="357188"/>
            <a:ext cx="8183562" cy="785812"/>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Economisch</a:t>
            </a:r>
            <a:endParaRPr lang="nl-NL" b="1" dirty="0">
              <a:solidFill>
                <a:schemeClr val="accent6">
                  <a:lumMod val="75000"/>
                </a:schemeClr>
              </a:solidFill>
              <a:latin typeface="Frutiger LT Std 45 Light" panose="020B0402020204020204" pitchFamily="34" charset="0"/>
            </a:endParaRPr>
          </a:p>
        </p:txBody>
      </p:sp>
      <p:pic>
        <p:nvPicPr>
          <p:cNvPr id="29697" name="Picture 1" descr="economie">
            <a:extLst>
              <a:ext uri="{FF2B5EF4-FFF2-40B4-BE49-F238E27FC236}">
                <a16:creationId xmlns:a16="http://schemas.microsoft.com/office/drawing/2014/main" id="{7F0D4DB3-D48C-45E5-BD57-D3155ACE34C9}"/>
              </a:ext>
            </a:extLst>
          </p:cNvPr>
          <p:cNvPicPr>
            <a:picLocks noChangeAspect="1" noChangeArrowheads="1"/>
          </p:cNvPicPr>
          <p:nvPr/>
        </p:nvPicPr>
        <p:blipFill>
          <a:blip r:embed="rId2"/>
          <a:srcRect t="23582" b="10389"/>
          <a:stretch>
            <a:fillRect/>
          </a:stretch>
        </p:blipFill>
        <p:spPr bwMode="auto">
          <a:xfrm>
            <a:off x="5381625" y="3500438"/>
            <a:ext cx="4071938" cy="2000250"/>
          </a:xfrm>
          <a:prstGeom prst="rect">
            <a:avLst/>
          </a:prstGeom>
          <a:ln>
            <a:noFill/>
          </a:ln>
          <a:effectLst>
            <a:outerShdw blurRad="292100" dist="139700" dir="2700000" algn="tl" rotWithShape="0">
              <a:srgbClr val="333333">
                <a:alpha val="65000"/>
              </a:srgbClr>
            </a:outerShdw>
          </a:effectLst>
        </p:spPr>
      </p:pic>
      <p:pic>
        <p:nvPicPr>
          <p:cNvPr id="29699" name="Picture 3" descr="http://beleggen.nieuwslog.nl/data/subdomain/346/article/20090130185008_beurs.jpg">
            <a:extLst>
              <a:ext uri="{FF2B5EF4-FFF2-40B4-BE49-F238E27FC236}">
                <a16:creationId xmlns:a16="http://schemas.microsoft.com/office/drawing/2014/main" id="{40867D4E-A4E4-42EF-BDCB-A1BA61C313E2}"/>
              </a:ext>
            </a:extLst>
          </p:cNvPr>
          <p:cNvPicPr>
            <a:picLocks noChangeAspect="1" noChangeArrowheads="1"/>
          </p:cNvPicPr>
          <p:nvPr/>
        </p:nvPicPr>
        <p:blipFill>
          <a:blip r:embed="rId3"/>
          <a:srcRect/>
          <a:stretch>
            <a:fillRect/>
          </a:stretch>
        </p:blipFill>
        <p:spPr bwMode="auto">
          <a:xfrm>
            <a:off x="2667001" y="1500189"/>
            <a:ext cx="2428875" cy="4048125"/>
          </a:xfrm>
          <a:prstGeom prst="rect">
            <a:avLst/>
          </a:prstGeom>
          <a:ln>
            <a:noFill/>
          </a:ln>
          <a:effectLst>
            <a:outerShdw blurRad="292100" dist="139700" dir="2700000" algn="tl" rotWithShape="0">
              <a:srgbClr val="333333">
                <a:alpha val="65000"/>
              </a:srgbClr>
            </a:outerShdw>
          </a:effectLst>
        </p:spPr>
      </p:pic>
      <p:pic>
        <p:nvPicPr>
          <p:cNvPr id="19461" name="Picture 5" descr="http://sparen.nieuwslog.nl/data/subdomain/1318/article/20090917120219_besparen.jpg">
            <a:extLst>
              <a:ext uri="{FF2B5EF4-FFF2-40B4-BE49-F238E27FC236}">
                <a16:creationId xmlns:a16="http://schemas.microsoft.com/office/drawing/2014/main" id="{5E6E8F14-604C-4198-8545-A703E1E373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664" y="1844676"/>
            <a:ext cx="1508125"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kstvak 6">
            <a:extLst>
              <a:ext uri="{FF2B5EF4-FFF2-40B4-BE49-F238E27FC236}">
                <a16:creationId xmlns:a16="http://schemas.microsoft.com/office/drawing/2014/main" id="{E66570A7-D5BB-4233-A625-E78F949DCC27}"/>
              </a:ext>
            </a:extLst>
          </p:cNvPr>
          <p:cNvSpPr txBox="1">
            <a:spLocks noChangeArrowheads="1"/>
          </p:cNvSpPr>
          <p:nvPr/>
        </p:nvSpPr>
        <p:spPr bwMode="auto">
          <a:xfrm>
            <a:off x="5310189" y="1500189"/>
            <a:ext cx="20716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a:latin typeface="Frutiger LT Std 45 Light" panose="020B0402020204020204" pitchFamily="34" charset="0"/>
              </a:rPr>
              <a:t>Geld beheren</a:t>
            </a:r>
          </a:p>
          <a:p>
            <a:pPr eaLnBrk="1" hangingPunct="1"/>
            <a:r>
              <a:rPr lang="en-US" altLang="nl-NL">
                <a:latin typeface="Frutiger LT Std 45 Light" panose="020B0402020204020204" pitchFamily="34" charset="0"/>
              </a:rPr>
              <a:t>Beleggen</a:t>
            </a:r>
          </a:p>
          <a:p>
            <a:pPr eaLnBrk="1" hangingPunct="1"/>
            <a:r>
              <a:rPr lang="en-US" altLang="nl-NL">
                <a:latin typeface="Frutiger LT Std 45 Light" panose="020B0402020204020204" pitchFamily="34" charset="0"/>
              </a:rPr>
              <a:t>Sparen</a:t>
            </a:r>
          </a:p>
          <a:p>
            <a:pPr eaLnBrk="1" hangingPunct="1"/>
            <a:r>
              <a:rPr lang="en-US" altLang="nl-NL">
                <a:latin typeface="Frutiger LT Std 45 Light" panose="020B0402020204020204" pitchFamily="34" charset="0"/>
              </a:rPr>
              <a:t>Pensioen </a:t>
            </a:r>
          </a:p>
          <a:p>
            <a:pPr eaLnBrk="1" hangingPunct="1"/>
            <a:r>
              <a:rPr lang="en-US" altLang="nl-NL">
                <a:latin typeface="Frutiger LT Std 45 Light" panose="020B0402020204020204" pitchFamily="34" charset="0"/>
              </a:rPr>
              <a:t>Hypotheken</a:t>
            </a:r>
          </a:p>
          <a:p>
            <a:pPr eaLnBrk="1" hangingPunct="1"/>
            <a:r>
              <a:rPr lang="en-US" altLang="nl-NL">
                <a:latin typeface="Frutiger LT Std 45 Light" panose="020B0402020204020204" pitchFamily="34" charset="0"/>
              </a:rPr>
              <a:t>Winst en verlies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el 1">
            <a:extLst>
              <a:ext uri="{FF2B5EF4-FFF2-40B4-BE49-F238E27FC236}">
                <a16:creationId xmlns:a16="http://schemas.microsoft.com/office/drawing/2014/main" id="{B28A92FB-E33E-44EB-BBE4-A38BF7BEB944}"/>
              </a:ext>
            </a:extLst>
          </p:cNvPr>
          <p:cNvSpPr>
            <a:spLocks noGrp="1"/>
          </p:cNvSpPr>
          <p:nvPr>
            <p:ph type="title"/>
          </p:nvPr>
        </p:nvSpPr>
        <p:spPr>
          <a:xfrm>
            <a:off x="2024063" y="428626"/>
            <a:ext cx="8183562" cy="785813"/>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Routinematig</a:t>
            </a:r>
            <a:endParaRPr lang="nl-NL" b="1" dirty="0">
              <a:solidFill>
                <a:schemeClr val="accent6">
                  <a:lumMod val="75000"/>
                </a:schemeClr>
              </a:solidFill>
              <a:latin typeface="Frutiger LT Std 45 Light" panose="020B0402020204020204" pitchFamily="34" charset="0"/>
            </a:endParaRPr>
          </a:p>
        </p:txBody>
      </p:sp>
      <p:pic>
        <p:nvPicPr>
          <p:cNvPr id="28673" name="Picture 1" descr="BD_A_4232115-bloeme_731250b">
            <a:extLst>
              <a:ext uri="{FF2B5EF4-FFF2-40B4-BE49-F238E27FC236}">
                <a16:creationId xmlns:a16="http://schemas.microsoft.com/office/drawing/2014/main" id="{4C7EFFD4-4DA5-48BF-8F93-B5F5BA71E56E}"/>
              </a:ext>
            </a:extLst>
          </p:cNvPr>
          <p:cNvPicPr>
            <a:picLocks noChangeAspect="1" noChangeArrowheads="1"/>
          </p:cNvPicPr>
          <p:nvPr/>
        </p:nvPicPr>
        <p:blipFill>
          <a:blip r:embed="rId2"/>
          <a:srcRect/>
          <a:stretch>
            <a:fillRect/>
          </a:stretch>
        </p:blipFill>
        <p:spPr bwMode="auto">
          <a:xfrm>
            <a:off x="2881313" y="3571876"/>
            <a:ext cx="2857500" cy="1901825"/>
          </a:xfrm>
          <a:prstGeom prst="rect">
            <a:avLst/>
          </a:prstGeom>
          <a:ln>
            <a:noFill/>
          </a:ln>
          <a:effectLst>
            <a:outerShdw blurRad="292100" dist="139700" dir="2700000" algn="tl" rotWithShape="0">
              <a:srgbClr val="333333">
                <a:alpha val="65000"/>
              </a:srgbClr>
            </a:outerShdw>
          </a:effectLst>
        </p:spPr>
      </p:pic>
      <p:sp>
        <p:nvSpPr>
          <p:cNvPr id="20484" name="Tekstvak 4">
            <a:extLst>
              <a:ext uri="{FF2B5EF4-FFF2-40B4-BE49-F238E27FC236}">
                <a16:creationId xmlns:a16="http://schemas.microsoft.com/office/drawing/2014/main" id="{EFFE66CD-54F7-49C3-97DD-1A26429F4105}"/>
              </a:ext>
            </a:extLst>
          </p:cNvPr>
          <p:cNvSpPr txBox="1">
            <a:spLocks noChangeArrowheads="1"/>
          </p:cNvSpPr>
          <p:nvPr/>
        </p:nvSpPr>
        <p:spPr bwMode="auto">
          <a:xfrm>
            <a:off x="2809875" y="1428750"/>
            <a:ext cx="31432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latin typeface="Frutiger LT Std 45 Light" panose="020B0402020204020204" pitchFamily="34" charset="0"/>
              </a:rPr>
              <a:t>Praktisch</a:t>
            </a:r>
          </a:p>
          <a:p>
            <a:pPr eaLnBrk="1" hangingPunct="1"/>
            <a:r>
              <a:rPr lang="nl-NL" altLang="nl-NL">
                <a:latin typeface="Frutiger LT Std 45 Light" panose="020B0402020204020204" pitchFamily="34" charset="0"/>
              </a:rPr>
              <a:t>Herhalende werkzaamheden</a:t>
            </a:r>
          </a:p>
          <a:p>
            <a:pPr eaLnBrk="1" hangingPunct="1"/>
            <a:r>
              <a:rPr lang="nl-NL" altLang="nl-NL">
                <a:latin typeface="Frutiger LT Std 45 Light" panose="020B0402020204020204" pitchFamily="34" charset="0"/>
              </a:rPr>
              <a:t>Stabiel</a:t>
            </a:r>
          </a:p>
          <a:p>
            <a:pPr eaLnBrk="1" hangingPunct="1"/>
            <a:r>
              <a:rPr lang="nl-NL" altLang="nl-NL">
                <a:latin typeface="Frutiger LT Std 45 Light" panose="020B0402020204020204" pitchFamily="34" charset="0"/>
              </a:rPr>
              <a:t>Conventioneel</a:t>
            </a:r>
          </a:p>
          <a:p>
            <a:pPr eaLnBrk="1" hangingPunct="1"/>
            <a:r>
              <a:rPr lang="en-US" altLang="nl-NL">
                <a:latin typeface="Frutiger LT Std 45 Light" panose="020B0402020204020204" pitchFamily="34" charset="0"/>
              </a:rPr>
              <a:t>Conformerend</a:t>
            </a:r>
          </a:p>
          <a:p>
            <a:pPr eaLnBrk="1" hangingPunct="1"/>
            <a:r>
              <a:rPr lang="en-US" altLang="nl-NL">
                <a:latin typeface="Frutiger LT Std 45 Light" panose="020B0402020204020204" pitchFamily="34" charset="0"/>
              </a:rPr>
              <a:t>Ordelijk</a:t>
            </a:r>
            <a:endParaRPr lang="nl-NL" altLang="nl-NL">
              <a:latin typeface="Frutiger LT Std 45 Light" panose="020B0402020204020204" pitchFamily="34" charset="0"/>
            </a:endParaRPr>
          </a:p>
          <a:p>
            <a:pPr eaLnBrk="1" hangingPunct="1"/>
            <a:r>
              <a:rPr lang="en-US" altLang="nl-NL">
                <a:latin typeface="Frutiger LT Std 45 Light" panose="020B0402020204020204" pitchFamily="34" charset="0"/>
              </a:rPr>
              <a:t>Hobbies</a:t>
            </a:r>
            <a:endParaRPr lang="nl-NL" altLang="nl-NL">
              <a:latin typeface="Frutiger LT Std 45 Light" panose="020B0402020204020204" pitchFamily="34" charset="0"/>
            </a:endParaRPr>
          </a:p>
        </p:txBody>
      </p:sp>
      <p:pic>
        <p:nvPicPr>
          <p:cNvPr id="28675" name="Picture 3" descr="http://www.hln.be/static/FOTO/pe/1/1/7/media_xl_871132.jpg">
            <a:extLst>
              <a:ext uri="{FF2B5EF4-FFF2-40B4-BE49-F238E27FC236}">
                <a16:creationId xmlns:a16="http://schemas.microsoft.com/office/drawing/2014/main" id="{EC6E3386-5F84-4A8A-A2D1-175A2B5F6713}"/>
              </a:ext>
            </a:extLst>
          </p:cNvPr>
          <p:cNvPicPr>
            <a:picLocks noChangeAspect="1" noChangeArrowheads="1"/>
          </p:cNvPicPr>
          <p:nvPr/>
        </p:nvPicPr>
        <p:blipFill>
          <a:blip r:embed="rId3"/>
          <a:srcRect/>
          <a:stretch>
            <a:fillRect/>
          </a:stretch>
        </p:blipFill>
        <p:spPr bwMode="auto">
          <a:xfrm>
            <a:off x="7390167" y="1714501"/>
            <a:ext cx="2063397" cy="1343331"/>
          </a:xfrm>
          <a:prstGeom prst="rect">
            <a:avLst/>
          </a:prstGeom>
          <a:ln>
            <a:noFill/>
          </a:ln>
          <a:effectLst>
            <a:outerShdw blurRad="292100" dist="139700" dir="2700000" algn="tl" rotWithShape="0">
              <a:srgbClr val="333333">
                <a:alpha val="65000"/>
              </a:srgbClr>
            </a:outerShdw>
          </a:effectLst>
        </p:spPr>
      </p:pic>
      <p:pic>
        <p:nvPicPr>
          <p:cNvPr id="28677" name="Picture 5" descr="http://home.scarlet.be/~project6/images/im0000009c2711f0e07.jpg">
            <a:extLst>
              <a:ext uri="{FF2B5EF4-FFF2-40B4-BE49-F238E27FC236}">
                <a16:creationId xmlns:a16="http://schemas.microsoft.com/office/drawing/2014/main" id="{81D5E81D-70B7-41C1-B237-C5E8F13780ED}"/>
              </a:ext>
            </a:extLst>
          </p:cNvPr>
          <p:cNvPicPr>
            <a:picLocks noChangeAspect="1" noChangeArrowheads="1"/>
          </p:cNvPicPr>
          <p:nvPr/>
        </p:nvPicPr>
        <p:blipFill>
          <a:blip r:embed="rId4"/>
          <a:srcRect/>
          <a:stretch>
            <a:fillRect/>
          </a:stretch>
        </p:blipFill>
        <p:spPr bwMode="auto">
          <a:xfrm>
            <a:off x="5953125" y="3143250"/>
            <a:ext cx="3556000" cy="235743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el 1">
            <a:extLst>
              <a:ext uri="{FF2B5EF4-FFF2-40B4-BE49-F238E27FC236}">
                <a16:creationId xmlns:a16="http://schemas.microsoft.com/office/drawing/2014/main" id="{7903715E-7C0B-4498-9F5D-86B08C91512D}"/>
              </a:ext>
            </a:extLst>
          </p:cNvPr>
          <p:cNvSpPr>
            <a:spLocks noGrp="1"/>
          </p:cNvSpPr>
          <p:nvPr>
            <p:ph type="title"/>
          </p:nvPr>
        </p:nvSpPr>
        <p:spPr>
          <a:xfrm>
            <a:off x="2238376" y="428626"/>
            <a:ext cx="8183563" cy="785813"/>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Artistiek</a:t>
            </a:r>
            <a:endParaRPr lang="nl-NL" b="1" dirty="0">
              <a:solidFill>
                <a:schemeClr val="accent6">
                  <a:lumMod val="75000"/>
                </a:schemeClr>
              </a:solidFill>
              <a:latin typeface="Frutiger LT Std 45 Light" panose="020B0402020204020204" pitchFamily="34" charset="0"/>
            </a:endParaRPr>
          </a:p>
        </p:txBody>
      </p:sp>
      <p:pic>
        <p:nvPicPr>
          <p:cNvPr id="27649" name="Picture 1" descr="Guggenheim">
            <a:extLst>
              <a:ext uri="{FF2B5EF4-FFF2-40B4-BE49-F238E27FC236}">
                <a16:creationId xmlns:a16="http://schemas.microsoft.com/office/drawing/2014/main" id="{01779B21-9807-4B71-8187-9CEE18384D02}"/>
              </a:ext>
            </a:extLst>
          </p:cNvPr>
          <p:cNvPicPr>
            <a:picLocks noChangeAspect="1" noChangeArrowheads="1"/>
          </p:cNvPicPr>
          <p:nvPr/>
        </p:nvPicPr>
        <p:blipFill>
          <a:blip r:embed="rId2" cstate="print"/>
          <a:srcRect/>
          <a:stretch>
            <a:fillRect/>
          </a:stretch>
        </p:blipFill>
        <p:spPr bwMode="auto">
          <a:xfrm>
            <a:off x="2423593" y="1484784"/>
            <a:ext cx="3737991" cy="280791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21508" name="Tekstvak 4">
            <a:extLst>
              <a:ext uri="{FF2B5EF4-FFF2-40B4-BE49-F238E27FC236}">
                <a16:creationId xmlns:a16="http://schemas.microsoft.com/office/drawing/2014/main" id="{B28F8F94-5250-431E-AC60-0E3767E5239F}"/>
              </a:ext>
            </a:extLst>
          </p:cNvPr>
          <p:cNvSpPr txBox="1">
            <a:spLocks noChangeArrowheads="1"/>
          </p:cNvSpPr>
          <p:nvPr/>
        </p:nvSpPr>
        <p:spPr bwMode="auto">
          <a:xfrm rot="690644">
            <a:off x="6332539" y="901701"/>
            <a:ext cx="30829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nl-NL" altLang="nl-NL" sz="2400" b="1" dirty="0">
                <a:solidFill>
                  <a:srgbClr val="7030A0"/>
                </a:solidFill>
                <a:latin typeface="Bradley Hand ITC" panose="03070402050302030203" pitchFamily="66" charset="0"/>
                <a:ea typeface="MS Mincho" panose="02020609040205080304" pitchFamily="49" charset="-128"/>
              </a:rPr>
              <a:t>Expressiviteit</a:t>
            </a:r>
          </a:p>
          <a:p>
            <a:pPr algn="r" eaLnBrk="1" hangingPunct="1"/>
            <a:r>
              <a:rPr lang="nl-NL" altLang="nl-NL" sz="2400" b="1" dirty="0">
                <a:solidFill>
                  <a:srgbClr val="7030A0"/>
                </a:solidFill>
                <a:latin typeface="Bradley Hand ITC" panose="03070402050302030203" pitchFamily="66" charset="0"/>
                <a:ea typeface="MS Mincho" panose="02020609040205080304" pitchFamily="49" charset="-128"/>
              </a:rPr>
              <a:t>Esthetiek</a:t>
            </a:r>
          </a:p>
          <a:p>
            <a:pPr algn="r" eaLnBrk="1" hangingPunct="1"/>
            <a:r>
              <a:rPr lang="nl-NL" altLang="nl-NL" sz="2400" b="1" dirty="0">
                <a:solidFill>
                  <a:srgbClr val="7030A0"/>
                </a:solidFill>
                <a:latin typeface="Bradley Hand ITC" panose="03070402050302030203" pitchFamily="66" charset="0"/>
                <a:ea typeface="MS Mincho" panose="02020609040205080304" pitchFamily="49" charset="-128"/>
              </a:rPr>
              <a:t>Onafhankelijkheid</a:t>
            </a:r>
            <a:endParaRPr lang="en-US" altLang="nl-NL" sz="2400" b="1" dirty="0">
              <a:solidFill>
                <a:srgbClr val="7030A0"/>
              </a:solidFill>
              <a:latin typeface="Bradley Hand ITC" panose="03070402050302030203" pitchFamily="66" charset="0"/>
              <a:ea typeface="MS Mincho" panose="02020609040205080304" pitchFamily="49" charset="-128"/>
            </a:endParaRPr>
          </a:p>
          <a:p>
            <a:pPr algn="r" eaLnBrk="1" hangingPunct="1"/>
            <a:r>
              <a:rPr lang="en-US" altLang="nl-NL" sz="2400" b="1" dirty="0" err="1">
                <a:solidFill>
                  <a:srgbClr val="7030A0"/>
                </a:solidFill>
                <a:latin typeface="Bradley Hand ITC" panose="03070402050302030203" pitchFamily="66" charset="0"/>
                <a:ea typeface="MS Mincho" panose="02020609040205080304" pitchFamily="49" charset="-128"/>
              </a:rPr>
              <a:t>Origineel</a:t>
            </a:r>
            <a:endParaRPr lang="en-US" altLang="nl-NL" sz="2400" b="1" dirty="0">
              <a:solidFill>
                <a:srgbClr val="7030A0"/>
              </a:solidFill>
              <a:latin typeface="Bradley Hand ITC" panose="03070402050302030203" pitchFamily="66" charset="0"/>
              <a:ea typeface="MS Mincho" panose="02020609040205080304" pitchFamily="49" charset="-128"/>
            </a:endParaRPr>
          </a:p>
          <a:p>
            <a:pPr algn="r" eaLnBrk="1" hangingPunct="1"/>
            <a:r>
              <a:rPr lang="en-US" altLang="nl-NL" sz="2400" b="1" dirty="0" err="1">
                <a:solidFill>
                  <a:srgbClr val="7030A0"/>
                </a:solidFill>
                <a:latin typeface="Bradley Hand ITC" panose="03070402050302030203" pitchFamily="66" charset="0"/>
                <a:ea typeface="MS Mincho" panose="02020609040205080304" pitchFamily="49" charset="-128"/>
              </a:rPr>
              <a:t>Onconventioneel</a:t>
            </a:r>
            <a:endParaRPr lang="en-US" altLang="nl-NL" sz="2400" b="1" dirty="0">
              <a:solidFill>
                <a:srgbClr val="7030A0"/>
              </a:solidFill>
              <a:latin typeface="Bradley Hand ITC" panose="03070402050302030203" pitchFamily="66" charset="0"/>
              <a:ea typeface="MS Mincho" panose="02020609040205080304" pitchFamily="49" charset="-128"/>
            </a:endParaRPr>
          </a:p>
          <a:p>
            <a:pPr algn="r" eaLnBrk="1" hangingPunct="1"/>
            <a:r>
              <a:rPr lang="en-US" altLang="nl-NL" sz="2400" b="1" dirty="0" err="1">
                <a:solidFill>
                  <a:srgbClr val="7030A0"/>
                </a:solidFill>
                <a:latin typeface="Bradley Hand ITC" panose="03070402050302030203" pitchFamily="66" charset="0"/>
                <a:ea typeface="MS Mincho" panose="02020609040205080304" pitchFamily="49" charset="-128"/>
              </a:rPr>
              <a:t>Fantasierijk</a:t>
            </a:r>
            <a:endParaRPr lang="en-US" altLang="nl-NL" sz="2400" b="1" dirty="0">
              <a:solidFill>
                <a:srgbClr val="7030A0"/>
              </a:solidFill>
              <a:latin typeface="Bradley Hand ITC" panose="03070402050302030203" pitchFamily="66" charset="0"/>
              <a:ea typeface="MS Mincho" panose="02020609040205080304" pitchFamily="49" charset="-128"/>
            </a:endParaRPr>
          </a:p>
          <a:p>
            <a:pPr algn="r" eaLnBrk="1" hangingPunct="1"/>
            <a:r>
              <a:rPr lang="en-US" altLang="nl-NL" sz="2400" b="1" dirty="0" err="1">
                <a:solidFill>
                  <a:srgbClr val="7030A0"/>
                </a:solidFill>
                <a:latin typeface="Bradley Hand ITC" panose="03070402050302030203" pitchFamily="66" charset="0"/>
                <a:ea typeface="MS Mincho" panose="02020609040205080304" pitchFamily="49" charset="-128"/>
              </a:rPr>
              <a:t>Spontaan</a:t>
            </a:r>
            <a:endParaRPr lang="en-US" altLang="nl-NL" sz="2400" b="1" dirty="0">
              <a:solidFill>
                <a:srgbClr val="7030A0"/>
              </a:solidFill>
              <a:latin typeface="Bradley Hand ITC" panose="03070402050302030203" pitchFamily="66" charset="0"/>
              <a:ea typeface="MS Mincho" panose="02020609040205080304" pitchFamily="49" charset="-128"/>
            </a:endParaRPr>
          </a:p>
        </p:txBody>
      </p:sp>
      <p:pic>
        <p:nvPicPr>
          <p:cNvPr id="27651" name="Picture 3" descr="http://www.decodesign.be/file_uploads/Cache/size_500_500_F09132I0300xISBA.jpg">
            <a:extLst>
              <a:ext uri="{FF2B5EF4-FFF2-40B4-BE49-F238E27FC236}">
                <a16:creationId xmlns:a16="http://schemas.microsoft.com/office/drawing/2014/main" id="{E99FA82B-38B6-4BAB-A37D-89D49AB3321A}"/>
              </a:ext>
            </a:extLst>
          </p:cNvPr>
          <p:cNvPicPr>
            <a:picLocks noChangeAspect="1" noChangeArrowheads="1"/>
          </p:cNvPicPr>
          <p:nvPr/>
        </p:nvPicPr>
        <p:blipFill>
          <a:blip r:embed="rId3" cstate="print"/>
          <a:srcRect t="41866"/>
          <a:stretch>
            <a:fillRect/>
          </a:stretch>
        </p:blipFill>
        <p:spPr bwMode="auto">
          <a:xfrm rot="21350146">
            <a:off x="3695788" y="4811469"/>
            <a:ext cx="2428892" cy="1412001"/>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27653" name="Picture 5" descr="http://www.habakuk.nu/content/images/stories/onafhankelijk.jpg">
            <a:extLst>
              <a:ext uri="{FF2B5EF4-FFF2-40B4-BE49-F238E27FC236}">
                <a16:creationId xmlns:a16="http://schemas.microsoft.com/office/drawing/2014/main" id="{0AFE54BF-32FE-42AF-9828-63D919F48C57}"/>
              </a:ext>
            </a:extLst>
          </p:cNvPr>
          <p:cNvPicPr>
            <a:picLocks noChangeAspect="1" noChangeArrowheads="1"/>
          </p:cNvPicPr>
          <p:nvPr/>
        </p:nvPicPr>
        <p:blipFill>
          <a:blip r:embed="rId4" cstate="print"/>
          <a:srcRect/>
          <a:stretch>
            <a:fillRect/>
          </a:stretch>
        </p:blipFill>
        <p:spPr bwMode="auto">
          <a:xfrm rot="10800000" flipV="1">
            <a:off x="6744072" y="4005064"/>
            <a:ext cx="2673578" cy="17859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el 1">
            <a:extLst>
              <a:ext uri="{FF2B5EF4-FFF2-40B4-BE49-F238E27FC236}">
                <a16:creationId xmlns:a16="http://schemas.microsoft.com/office/drawing/2014/main" id="{8ACE76AD-6B62-4A84-A3B2-BDE188801A5B}"/>
              </a:ext>
            </a:extLst>
          </p:cNvPr>
          <p:cNvSpPr>
            <a:spLocks noGrp="1"/>
          </p:cNvSpPr>
          <p:nvPr>
            <p:ph type="title"/>
          </p:nvPr>
        </p:nvSpPr>
        <p:spPr>
          <a:xfrm>
            <a:off x="2095501" y="285750"/>
            <a:ext cx="8183563" cy="857250"/>
          </a:xfrm>
        </p:spPr>
        <p:txBody>
          <a:bodyPr/>
          <a:lstStyle/>
          <a:p>
            <a:pPr eaLnBrk="1" hangingPunct="1">
              <a:defRPr/>
            </a:pPr>
            <a:r>
              <a:rPr lang="en-US" b="1" dirty="0">
                <a:solidFill>
                  <a:schemeClr val="accent6">
                    <a:lumMod val="75000"/>
                  </a:schemeClr>
                </a:solidFill>
                <a:latin typeface="Frutiger LT Std 45 Light" panose="020B0402020204020204" pitchFamily="34" charset="0"/>
              </a:rPr>
              <a:t>Status</a:t>
            </a:r>
            <a:endParaRPr lang="nl-NL" b="1" dirty="0">
              <a:solidFill>
                <a:schemeClr val="accent6">
                  <a:lumMod val="75000"/>
                </a:schemeClr>
              </a:solidFill>
              <a:latin typeface="Frutiger LT Std 45 Light" panose="020B0402020204020204" pitchFamily="34" charset="0"/>
            </a:endParaRPr>
          </a:p>
        </p:txBody>
      </p:sp>
      <p:pic>
        <p:nvPicPr>
          <p:cNvPr id="26626" name="Picture 2" descr="motorcars">
            <a:extLst>
              <a:ext uri="{FF2B5EF4-FFF2-40B4-BE49-F238E27FC236}">
                <a16:creationId xmlns:a16="http://schemas.microsoft.com/office/drawing/2014/main" id="{08505A28-E7D0-45FB-B2CB-827B2884CFFA}"/>
              </a:ext>
            </a:extLst>
          </p:cNvPr>
          <p:cNvPicPr>
            <a:picLocks noChangeAspect="1" noChangeArrowheads="1"/>
          </p:cNvPicPr>
          <p:nvPr/>
        </p:nvPicPr>
        <p:blipFill>
          <a:blip r:embed="rId2"/>
          <a:srcRect/>
          <a:stretch>
            <a:fillRect/>
          </a:stretch>
        </p:blipFill>
        <p:spPr bwMode="auto">
          <a:xfrm>
            <a:off x="6167438" y="1428750"/>
            <a:ext cx="3502389" cy="1754188"/>
          </a:xfrm>
          <a:prstGeom prst="rect">
            <a:avLst/>
          </a:prstGeom>
          <a:ln>
            <a:noFill/>
          </a:ln>
          <a:effectLst>
            <a:outerShdw blurRad="292100" dist="139700" dir="2700000" algn="tl" rotWithShape="0">
              <a:srgbClr val="333333">
                <a:alpha val="65000"/>
              </a:srgbClr>
            </a:outerShdw>
          </a:effectLst>
        </p:spPr>
      </p:pic>
      <p:sp>
        <p:nvSpPr>
          <p:cNvPr id="22533" name="Tekstvak 6">
            <a:extLst>
              <a:ext uri="{FF2B5EF4-FFF2-40B4-BE49-F238E27FC236}">
                <a16:creationId xmlns:a16="http://schemas.microsoft.com/office/drawing/2014/main" id="{D90933F5-49A1-49C5-948F-081FFB6061C0}"/>
              </a:ext>
            </a:extLst>
          </p:cNvPr>
          <p:cNvSpPr txBox="1">
            <a:spLocks noChangeArrowheads="1"/>
          </p:cNvSpPr>
          <p:nvPr/>
        </p:nvSpPr>
        <p:spPr bwMode="auto">
          <a:xfrm>
            <a:off x="3152867" y="1320595"/>
            <a:ext cx="278606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nl-NL" altLang="nl-NL" dirty="0">
                <a:latin typeface="Frutiger LT Std 45 Light" panose="020B0402020204020204" pitchFamily="34" charset="0"/>
              </a:rPr>
              <a:t>Persoonlijke autoriteit</a:t>
            </a:r>
          </a:p>
          <a:p>
            <a:pPr algn="r" eaLnBrk="1" hangingPunct="1"/>
            <a:r>
              <a:rPr lang="nl-NL" altLang="nl-NL" dirty="0">
                <a:latin typeface="Frutiger LT Std 45 Light" panose="020B0402020204020204" pitchFamily="34" charset="0"/>
              </a:rPr>
              <a:t>Invloed</a:t>
            </a:r>
          </a:p>
          <a:p>
            <a:pPr algn="r" eaLnBrk="1" hangingPunct="1"/>
            <a:r>
              <a:rPr lang="nl-NL" altLang="nl-NL" dirty="0">
                <a:latin typeface="Frutiger LT Std 45 Light" panose="020B0402020204020204" pitchFamily="34" charset="0"/>
              </a:rPr>
              <a:t>Prestige</a:t>
            </a:r>
          </a:p>
          <a:p>
            <a:pPr algn="r" eaLnBrk="1" hangingPunct="1"/>
            <a:r>
              <a:rPr lang="nl-NL" altLang="nl-NL" dirty="0">
                <a:latin typeface="Frutiger LT Std 45 Light" panose="020B0402020204020204" pitchFamily="34" charset="0"/>
              </a:rPr>
              <a:t>Aanzien</a:t>
            </a:r>
          </a:p>
          <a:p>
            <a:pPr algn="r" eaLnBrk="1" hangingPunct="1"/>
            <a:r>
              <a:rPr lang="en-US" altLang="nl-NL" dirty="0">
                <a:latin typeface="Frutiger LT Std 45 Light" panose="020B0402020204020204" pitchFamily="34" charset="0"/>
              </a:rPr>
              <a:t>In de </a:t>
            </a:r>
            <a:r>
              <a:rPr lang="en-US" altLang="nl-NL" dirty="0" err="1">
                <a:latin typeface="Frutiger LT Std 45 Light" panose="020B0402020204020204" pitchFamily="34" charset="0"/>
              </a:rPr>
              <a:t>belangstelling</a:t>
            </a:r>
            <a:r>
              <a:rPr lang="en-US" altLang="nl-NL" dirty="0">
                <a:latin typeface="Frutiger LT Std 45 Light" panose="020B0402020204020204" pitchFamily="34" charset="0"/>
              </a:rPr>
              <a:t> </a:t>
            </a:r>
            <a:r>
              <a:rPr lang="en-US" altLang="nl-NL" dirty="0" err="1">
                <a:latin typeface="Frutiger LT Std 45 Light" panose="020B0402020204020204" pitchFamily="34" charset="0"/>
              </a:rPr>
              <a:t>staan</a:t>
            </a:r>
            <a:endParaRPr lang="en-US" altLang="nl-NL" dirty="0">
              <a:latin typeface="Frutiger LT Std 45 Light" panose="020B0402020204020204" pitchFamily="34" charset="0"/>
            </a:endParaRPr>
          </a:p>
          <a:p>
            <a:pPr algn="r" eaLnBrk="1" hangingPunct="1"/>
            <a:r>
              <a:rPr lang="en-US" altLang="nl-NL" dirty="0" err="1">
                <a:latin typeface="Frutiger LT Std 45 Light" panose="020B0402020204020204" pitchFamily="34" charset="0"/>
              </a:rPr>
              <a:t>Anderen</a:t>
            </a:r>
            <a:r>
              <a:rPr lang="en-US" altLang="nl-NL" dirty="0">
                <a:latin typeface="Frutiger LT Std 45 Light" panose="020B0402020204020204" pitchFamily="34" charset="0"/>
              </a:rPr>
              <a:t> </a:t>
            </a:r>
            <a:r>
              <a:rPr lang="en-US" altLang="nl-NL" dirty="0" err="1">
                <a:latin typeface="Frutiger LT Std 45 Light" panose="020B0402020204020204" pitchFamily="34" charset="0"/>
              </a:rPr>
              <a:t>beïnvloeden</a:t>
            </a:r>
            <a:endParaRPr lang="en-US" altLang="nl-NL" dirty="0">
              <a:latin typeface="Frutiger LT Std 45 Light" panose="020B0402020204020204" pitchFamily="34" charset="0"/>
            </a:endParaRPr>
          </a:p>
        </p:txBody>
      </p:sp>
      <p:pic>
        <p:nvPicPr>
          <p:cNvPr id="7170" name="Picture 2">
            <a:extLst>
              <a:ext uri="{FF2B5EF4-FFF2-40B4-BE49-F238E27FC236}">
                <a16:creationId xmlns:a16="http://schemas.microsoft.com/office/drawing/2014/main" id="{AAC9B8C1-BDCF-4BE7-986F-47D7CFCB6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438" y="3675063"/>
            <a:ext cx="2891697" cy="162658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7172" name="Picture 4" descr="Prada Vitello Lux Flap and Double Flap Tote Bag Reference ...">
            <a:extLst>
              <a:ext uri="{FF2B5EF4-FFF2-40B4-BE49-F238E27FC236}">
                <a16:creationId xmlns:a16="http://schemas.microsoft.com/office/drawing/2014/main" id="{EFE17804-8BB7-459E-AD21-DB65CAE499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6540" y="3348678"/>
            <a:ext cx="3502389" cy="22793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el 1">
            <a:extLst>
              <a:ext uri="{FF2B5EF4-FFF2-40B4-BE49-F238E27FC236}">
                <a16:creationId xmlns:a16="http://schemas.microsoft.com/office/drawing/2014/main" id="{A65BF62A-F18D-4412-AAD0-EFB9AD331A61}"/>
              </a:ext>
            </a:extLst>
          </p:cNvPr>
          <p:cNvSpPr>
            <a:spLocks noGrp="1"/>
          </p:cNvSpPr>
          <p:nvPr>
            <p:ph type="title"/>
          </p:nvPr>
        </p:nvSpPr>
        <p:spPr>
          <a:xfrm>
            <a:off x="2024063" y="357188"/>
            <a:ext cx="8183562" cy="857250"/>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Ondernemerschap</a:t>
            </a:r>
            <a:endParaRPr lang="nl-NL" b="1" dirty="0">
              <a:solidFill>
                <a:schemeClr val="accent6">
                  <a:lumMod val="75000"/>
                </a:schemeClr>
              </a:solidFill>
              <a:latin typeface="Frutiger LT Std 45 Light" panose="020B0402020204020204" pitchFamily="34" charset="0"/>
            </a:endParaRPr>
          </a:p>
        </p:txBody>
      </p:sp>
      <p:pic>
        <p:nvPicPr>
          <p:cNvPr id="25601" name="Picture 1" descr="ondernemer2">
            <a:extLst>
              <a:ext uri="{FF2B5EF4-FFF2-40B4-BE49-F238E27FC236}">
                <a16:creationId xmlns:a16="http://schemas.microsoft.com/office/drawing/2014/main" id="{82A2EBFC-5FD5-4E6D-A925-B8244CEA9AB3}"/>
              </a:ext>
            </a:extLst>
          </p:cNvPr>
          <p:cNvPicPr>
            <a:picLocks noChangeAspect="1" noChangeArrowheads="1"/>
          </p:cNvPicPr>
          <p:nvPr/>
        </p:nvPicPr>
        <p:blipFill>
          <a:blip r:embed="rId2"/>
          <a:srcRect/>
          <a:stretch>
            <a:fillRect/>
          </a:stretch>
        </p:blipFill>
        <p:spPr bwMode="auto">
          <a:xfrm>
            <a:off x="6096000" y="3111501"/>
            <a:ext cx="3338513" cy="2500313"/>
          </a:xfrm>
          <a:prstGeom prst="rect">
            <a:avLst/>
          </a:prstGeom>
          <a:ln>
            <a:noFill/>
          </a:ln>
          <a:effectLst>
            <a:outerShdw blurRad="292100" dist="139700" dir="2700000" algn="tl" rotWithShape="0">
              <a:srgbClr val="333333">
                <a:alpha val="65000"/>
              </a:srgbClr>
            </a:outerShdw>
          </a:effectLst>
        </p:spPr>
      </p:pic>
      <p:sp>
        <p:nvSpPr>
          <p:cNvPr id="23556" name="Tekstvak 4">
            <a:extLst>
              <a:ext uri="{FF2B5EF4-FFF2-40B4-BE49-F238E27FC236}">
                <a16:creationId xmlns:a16="http://schemas.microsoft.com/office/drawing/2014/main" id="{1E38D4F4-567C-4099-A490-341EA0FFC87D}"/>
              </a:ext>
            </a:extLst>
          </p:cNvPr>
          <p:cNvSpPr txBox="1">
            <a:spLocks noChangeArrowheads="1"/>
          </p:cNvSpPr>
          <p:nvPr/>
        </p:nvSpPr>
        <p:spPr bwMode="auto">
          <a:xfrm>
            <a:off x="5453064" y="1357314"/>
            <a:ext cx="407193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nl-NL" altLang="nl-NL">
                <a:latin typeface="Frutiger LT Std 45 Light" panose="020B0402020204020204" pitchFamily="34" charset="0"/>
              </a:rPr>
              <a:t>Innoveren</a:t>
            </a:r>
          </a:p>
          <a:p>
            <a:pPr algn="r" eaLnBrk="1" hangingPunct="1"/>
            <a:r>
              <a:rPr lang="nl-NL" altLang="nl-NL">
                <a:latin typeface="Frutiger LT Std 45 Light" panose="020B0402020204020204" pitchFamily="34" charset="0"/>
              </a:rPr>
              <a:t>Pionieren, creëren en zoeken</a:t>
            </a:r>
          </a:p>
          <a:p>
            <a:pPr algn="r" eaLnBrk="1" hangingPunct="1"/>
            <a:r>
              <a:rPr lang="nl-NL" altLang="nl-NL">
                <a:latin typeface="Frutiger LT Std 45 Light" panose="020B0402020204020204" pitchFamily="34" charset="0"/>
              </a:rPr>
              <a:t>Iets tot stand brengen</a:t>
            </a:r>
          </a:p>
          <a:p>
            <a:pPr algn="r" eaLnBrk="1" hangingPunct="1"/>
            <a:r>
              <a:rPr lang="en-US" altLang="nl-NL">
                <a:latin typeface="Frutiger LT Std 45 Light" panose="020B0402020204020204" pitchFamily="34" charset="0"/>
              </a:rPr>
              <a:t>Comfortabel met risico’s en tegenstand</a:t>
            </a:r>
          </a:p>
          <a:p>
            <a:pPr algn="r" eaLnBrk="1" hangingPunct="1"/>
            <a:r>
              <a:rPr lang="en-US" altLang="nl-NL">
                <a:latin typeface="Frutiger LT Std 45 Light" panose="020B0402020204020204" pitchFamily="34" charset="0"/>
              </a:rPr>
              <a:t>Problemen te boven komen</a:t>
            </a:r>
            <a:endParaRPr lang="nl-NL" altLang="nl-NL">
              <a:latin typeface="Frutiger LT Std 45 Light" panose="020B0402020204020204" pitchFamily="34" charset="0"/>
            </a:endParaRPr>
          </a:p>
          <a:p>
            <a:pPr algn="r" eaLnBrk="1" hangingPunct="1"/>
            <a:r>
              <a:rPr lang="en-US" altLang="nl-NL">
                <a:latin typeface="Frutiger LT Std 45 Light" panose="020B0402020204020204" pitchFamily="34" charset="0"/>
              </a:rPr>
              <a:t>Overwinnen</a:t>
            </a:r>
          </a:p>
        </p:txBody>
      </p:sp>
      <p:pic>
        <p:nvPicPr>
          <p:cNvPr id="16392" name="Picture 8" descr="http://www.jesusweb.nl/wp-content/uploads/2010/03/maanman.jpg">
            <a:extLst>
              <a:ext uri="{FF2B5EF4-FFF2-40B4-BE49-F238E27FC236}">
                <a16:creationId xmlns:a16="http://schemas.microsoft.com/office/drawing/2014/main" id="{E1488CF5-5626-4F86-BBFF-F84621EE175B}"/>
              </a:ext>
            </a:extLst>
          </p:cNvPr>
          <p:cNvPicPr>
            <a:picLocks noChangeAspect="1" noChangeArrowheads="1"/>
          </p:cNvPicPr>
          <p:nvPr/>
        </p:nvPicPr>
        <p:blipFill>
          <a:blip r:embed="rId3"/>
          <a:srcRect/>
          <a:stretch>
            <a:fillRect/>
          </a:stretch>
        </p:blipFill>
        <p:spPr bwMode="auto">
          <a:xfrm>
            <a:off x="1948217" y="1846263"/>
            <a:ext cx="2214563" cy="1265238"/>
          </a:xfrm>
          <a:prstGeom prst="rect">
            <a:avLst/>
          </a:prstGeom>
          <a:ln>
            <a:noFill/>
          </a:ln>
          <a:effectLst>
            <a:outerShdw blurRad="292100" dist="139700" dir="2700000" algn="tl" rotWithShape="0">
              <a:srgbClr val="333333">
                <a:alpha val="65000"/>
              </a:srgbClr>
            </a:outerShdw>
          </a:effectLst>
        </p:spPr>
      </p:pic>
      <p:pic>
        <p:nvPicPr>
          <p:cNvPr id="6146" name="Picture 2" descr="Tips voor je backpack">
            <a:extLst>
              <a:ext uri="{FF2B5EF4-FFF2-40B4-BE49-F238E27FC236}">
                <a16:creationId xmlns:a16="http://schemas.microsoft.com/office/drawing/2014/main" id="{43711A9B-002F-455F-9F98-B9D59ECF10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8217" y="3618271"/>
            <a:ext cx="3987085" cy="199354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itel 1">
            <a:extLst>
              <a:ext uri="{FF2B5EF4-FFF2-40B4-BE49-F238E27FC236}">
                <a16:creationId xmlns:a16="http://schemas.microsoft.com/office/drawing/2014/main" id="{2AEAE285-7472-413E-91A7-0FED842238B0}"/>
              </a:ext>
            </a:extLst>
          </p:cNvPr>
          <p:cNvSpPr>
            <a:spLocks noGrp="1"/>
          </p:cNvSpPr>
          <p:nvPr>
            <p:ph type="title"/>
          </p:nvPr>
        </p:nvSpPr>
        <p:spPr>
          <a:xfrm>
            <a:off x="2024063" y="357188"/>
            <a:ext cx="8183562" cy="857250"/>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Autoriteit</a:t>
            </a:r>
            <a:endParaRPr lang="nl-NL" b="1" dirty="0">
              <a:solidFill>
                <a:schemeClr val="accent6">
                  <a:lumMod val="75000"/>
                </a:schemeClr>
              </a:solidFill>
              <a:latin typeface="Frutiger LT Std 45 Light" panose="020B0402020204020204" pitchFamily="34" charset="0"/>
            </a:endParaRPr>
          </a:p>
        </p:txBody>
      </p:sp>
      <p:pic>
        <p:nvPicPr>
          <p:cNvPr id="24577" name="Picture 1" descr="autoriteit">
            <a:extLst>
              <a:ext uri="{FF2B5EF4-FFF2-40B4-BE49-F238E27FC236}">
                <a16:creationId xmlns:a16="http://schemas.microsoft.com/office/drawing/2014/main" id="{C95EFD1B-7298-4BA5-B68B-F223D73D8ADF}"/>
              </a:ext>
            </a:extLst>
          </p:cNvPr>
          <p:cNvPicPr>
            <a:picLocks noChangeAspect="1" noChangeArrowheads="1"/>
          </p:cNvPicPr>
          <p:nvPr/>
        </p:nvPicPr>
        <p:blipFill>
          <a:blip r:embed="rId2"/>
          <a:srcRect/>
          <a:stretch>
            <a:fillRect/>
          </a:stretch>
        </p:blipFill>
        <p:spPr bwMode="auto">
          <a:xfrm>
            <a:off x="6381750" y="1428751"/>
            <a:ext cx="2586038" cy="1928813"/>
          </a:xfrm>
          <a:prstGeom prst="rect">
            <a:avLst/>
          </a:prstGeom>
          <a:ln>
            <a:noFill/>
          </a:ln>
          <a:effectLst>
            <a:outerShdw blurRad="292100" dist="139700" dir="2700000" algn="tl" rotWithShape="0">
              <a:srgbClr val="333333">
                <a:alpha val="65000"/>
              </a:srgbClr>
            </a:outerShdw>
          </a:effectLst>
        </p:spPr>
      </p:pic>
      <p:pic>
        <p:nvPicPr>
          <p:cNvPr id="24578" name="Picture 2" descr="CartmanAuthoritah">
            <a:extLst>
              <a:ext uri="{FF2B5EF4-FFF2-40B4-BE49-F238E27FC236}">
                <a16:creationId xmlns:a16="http://schemas.microsoft.com/office/drawing/2014/main" id="{122EAFA5-0BB3-4A07-A0BE-C0887038EDC6}"/>
              </a:ext>
            </a:extLst>
          </p:cNvPr>
          <p:cNvPicPr>
            <a:picLocks noChangeAspect="1" noChangeArrowheads="1"/>
          </p:cNvPicPr>
          <p:nvPr/>
        </p:nvPicPr>
        <p:blipFill>
          <a:blip r:embed="rId3"/>
          <a:srcRect/>
          <a:stretch>
            <a:fillRect/>
          </a:stretch>
        </p:blipFill>
        <p:spPr bwMode="auto">
          <a:xfrm>
            <a:off x="6381750" y="3518694"/>
            <a:ext cx="2948344" cy="2089944"/>
          </a:xfrm>
          <a:prstGeom prst="rect">
            <a:avLst/>
          </a:prstGeom>
          <a:ln>
            <a:noFill/>
          </a:ln>
          <a:effectLst>
            <a:outerShdw blurRad="292100" dist="139700" dir="2700000" algn="tl" rotWithShape="0">
              <a:srgbClr val="333333">
                <a:alpha val="65000"/>
              </a:srgbClr>
            </a:outerShdw>
          </a:effectLst>
        </p:spPr>
      </p:pic>
      <p:pic>
        <p:nvPicPr>
          <p:cNvPr id="24579" name="Picture 3" descr="opnieuw-klacht-tegen-rechter-de-tandt_5_460x0">
            <a:extLst>
              <a:ext uri="{FF2B5EF4-FFF2-40B4-BE49-F238E27FC236}">
                <a16:creationId xmlns:a16="http://schemas.microsoft.com/office/drawing/2014/main" id="{B10A4B5F-2254-49A2-925F-24A74CB2CF62}"/>
              </a:ext>
            </a:extLst>
          </p:cNvPr>
          <p:cNvPicPr>
            <a:picLocks noChangeAspect="1" noChangeArrowheads="1"/>
          </p:cNvPicPr>
          <p:nvPr/>
        </p:nvPicPr>
        <p:blipFill>
          <a:blip r:embed="rId4"/>
          <a:srcRect/>
          <a:stretch>
            <a:fillRect/>
          </a:stretch>
        </p:blipFill>
        <p:spPr bwMode="auto">
          <a:xfrm>
            <a:off x="2711451" y="3500438"/>
            <a:ext cx="3286125" cy="2108200"/>
          </a:xfrm>
          <a:prstGeom prst="rect">
            <a:avLst/>
          </a:prstGeom>
          <a:ln>
            <a:noFill/>
          </a:ln>
          <a:effectLst>
            <a:outerShdw blurRad="292100" dist="139700" dir="2700000" algn="tl" rotWithShape="0">
              <a:srgbClr val="333333">
                <a:alpha val="65000"/>
              </a:srgbClr>
            </a:outerShdw>
          </a:effectLst>
        </p:spPr>
      </p:pic>
      <p:sp>
        <p:nvSpPr>
          <p:cNvPr id="24582" name="Tekstvak 6">
            <a:extLst>
              <a:ext uri="{FF2B5EF4-FFF2-40B4-BE49-F238E27FC236}">
                <a16:creationId xmlns:a16="http://schemas.microsoft.com/office/drawing/2014/main" id="{DB8B3878-3081-4CA5-9271-2C04FB3DF5FE}"/>
              </a:ext>
            </a:extLst>
          </p:cNvPr>
          <p:cNvSpPr txBox="1">
            <a:spLocks noChangeArrowheads="1"/>
          </p:cNvSpPr>
          <p:nvPr/>
        </p:nvSpPr>
        <p:spPr bwMode="auto">
          <a:xfrm>
            <a:off x="2024064" y="1357313"/>
            <a:ext cx="4071937"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nl-NL" altLang="nl-NL" dirty="0">
                <a:latin typeface="Frutiger LT Std 45 Light" panose="020B0402020204020204" pitchFamily="34" charset="0"/>
              </a:rPr>
              <a:t>Controle willen hebben </a:t>
            </a:r>
          </a:p>
          <a:p>
            <a:pPr algn="r" eaLnBrk="1" hangingPunct="1"/>
            <a:r>
              <a:rPr lang="nl-NL" altLang="nl-NL" dirty="0">
                <a:latin typeface="Frutiger LT Std 45 Light" panose="020B0402020204020204" pitchFamily="34" charset="0"/>
              </a:rPr>
              <a:t>Verantwoordelijkheid, aansprakelijkheid</a:t>
            </a:r>
          </a:p>
          <a:p>
            <a:pPr algn="r" eaLnBrk="1" hangingPunct="1"/>
            <a:r>
              <a:rPr lang="nl-NL" altLang="nl-NL" dirty="0">
                <a:latin typeface="Frutiger LT Std 45 Light" panose="020B0402020204020204" pitchFamily="34" charset="0"/>
              </a:rPr>
              <a:t>Positionele macht</a:t>
            </a:r>
          </a:p>
          <a:p>
            <a:pPr algn="r" eaLnBrk="1" hangingPunct="1"/>
            <a:r>
              <a:rPr lang="nl-NL" altLang="nl-NL" dirty="0">
                <a:latin typeface="Frutiger LT Std 45 Light" panose="020B0402020204020204" pitchFamily="34" charset="0"/>
              </a:rPr>
              <a:t>Leiden of managen van groepen</a:t>
            </a:r>
          </a:p>
          <a:p>
            <a:pPr algn="r" eaLnBrk="1" hangingPunct="1"/>
            <a:r>
              <a:rPr lang="nl-NL" altLang="nl-NL" dirty="0">
                <a:latin typeface="Frutiger LT Std 45 Light" panose="020B0402020204020204" pitchFamily="34" charset="0"/>
              </a:rPr>
              <a:t>(</a:t>
            </a:r>
            <a:r>
              <a:rPr lang="nl-NL" altLang="nl-NL" dirty="0" err="1">
                <a:latin typeface="Frutiger LT Std 45 Light" panose="020B0402020204020204" pitchFamily="34" charset="0"/>
              </a:rPr>
              <a:t>Beleids</a:t>
            </a:r>
            <a:r>
              <a:rPr lang="nl-NL" altLang="nl-NL" dirty="0">
                <a:latin typeface="Frutiger LT Std 45 Light" panose="020B0402020204020204" pitchFamily="34" charset="0"/>
              </a:rPr>
              <a:t>)beslissingen nemen</a:t>
            </a:r>
          </a:p>
          <a:p>
            <a:pPr algn="r" eaLnBrk="1" hangingPunct="1"/>
            <a:r>
              <a:rPr lang="nl-NL" altLang="nl-NL" dirty="0">
                <a:latin typeface="Frutiger LT Std 45 Light" panose="020B0402020204020204" pitchFamily="34" charset="0"/>
              </a:rPr>
              <a:t>Comfortabel voor een publiek </a:t>
            </a:r>
          </a:p>
          <a:p>
            <a:pPr algn="r" eaLnBrk="1" hangingPunct="1"/>
            <a:r>
              <a:rPr lang="nl-NL" altLang="nl-NL" dirty="0">
                <a:latin typeface="Frutiger LT Std 45 Light" panose="020B0402020204020204" pitchFamily="34" charset="0"/>
              </a:rPr>
              <a:t>Beïnvloeden en sturen van mensen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el 1">
            <a:extLst>
              <a:ext uri="{FF2B5EF4-FFF2-40B4-BE49-F238E27FC236}">
                <a16:creationId xmlns:a16="http://schemas.microsoft.com/office/drawing/2014/main" id="{D3BDF141-5D4E-4296-A8B5-FFA4CAC0ADE7}"/>
              </a:ext>
            </a:extLst>
          </p:cNvPr>
          <p:cNvSpPr>
            <a:spLocks noGrp="1"/>
          </p:cNvSpPr>
          <p:nvPr>
            <p:ph type="title"/>
          </p:nvPr>
        </p:nvSpPr>
        <p:spPr>
          <a:xfrm>
            <a:off x="2166938" y="357188"/>
            <a:ext cx="8183562" cy="785812"/>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Relationeel</a:t>
            </a:r>
            <a:endParaRPr lang="nl-NL" b="1" dirty="0">
              <a:solidFill>
                <a:schemeClr val="accent6">
                  <a:lumMod val="75000"/>
                </a:schemeClr>
              </a:solidFill>
              <a:latin typeface="Frutiger LT Std 45 Light" panose="020B0402020204020204" pitchFamily="34" charset="0"/>
            </a:endParaRPr>
          </a:p>
        </p:txBody>
      </p:sp>
      <p:pic>
        <p:nvPicPr>
          <p:cNvPr id="23554" name="Picture 2" descr="Business%20teamwork%20discussion%20pic">
            <a:extLst>
              <a:ext uri="{FF2B5EF4-FFF2-40B4-BE49-F238E27FC236}">
                <a16:creationId xmlns:a16="http://schemas.microsoft.com/office/drawing/2014/main" id="{62F6FFDE-8150-41E1-9367-F9396AB97C20}"/>
              </a:ext>
            </a:extLst>
          </p:cNvPr>
          <p:cNvPicPr>
            <a:picLocks noChangeAspect="1" noChangeArrowheads="1"/>
          </p:cNvPicPr>
          <p:nvPr/>
        </p:nvPicPr>
        <p:blipFill>
          <a:blip r:embed="rId2"/>
          <a:srcRect/>
          <a:stretch>
            <a:fillRect/>
          </a:stretch>
        </p:blipFill>
        <p:spPr bwMode="auto">
          <a:xfrm>
            <a:off x="2632075" y="3071814"/>
            <a:ext cx="3606800" cy="2409825"/>
          </a:xfrm>
          <a:prstGeom prst="rect">
            <a:avLst/>
          </a:prstGeom>
          <a:ln>
            <a:noFill/>
          </a:ln>
          <a:effectLst>
            <a:outerShdw blurRad="292100" dist="139700" dir="2700000" algn="tl" rotWithShape="0">
              <a:srgbClr val="333333">
                <a:alpha val="65000"/>
              </a:srgbClr>
            </a:outerShdw>
          </a:effectLst>
        </p:spPr>
      </p:pic>
      <p:sp>
        <p:nvSpPr>
          <p:cNvPr id="25605" name="Tekstvak 5">
            <a:extLst>
              <a:ext uri="{FF2B5EF4-FFF2-40B4-BE49-F238E27FC236}">
                <a16:creationId xmlns:a16="http://schemas.microsoft.com/office/drawing/2014/main" id="{EB1DFD61-87F5-4A35-8A6A-401E27227274}"/>
              </a:ext>
            </a:extLst>
          </p:cNvPr>
          <p:cNvSpPr txBox="1">
            <a:spLocks noChangeArrowheads="1"/>
          </p:cNvSpPr>
          <p:nvPr/>
        </p:nvSpPr>
        <p:spPr bwMode="auto">
          <a:xfrm>
            <a:off x="5381625" y="1214438"/>
            <a:ext cx="407193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nl-NL" altLang="nl-NL">
                <a:latin typeface="Frutiger LT Std 45 Light" panose="020B0402020204020204" pitchFamily="34" charset="0"/>
              </a:rPr>
              <a:t>Sociaal</a:t>
            </a:r>
          </a:p>
          <a:p>
            <a:pPr algn="r" eaLnBrk="1" hangingPunct="1"/>
            <a:r>
              <a:rPr lang="nl-NL" altLang="nl-NL">
                <a:latin typeface="Frutiger LT Std 45 Light" panose="020B0402020204020204" pitchFamily="34" charset="0"/>
              </a:rPr>
              <a:t>Persoonlijke interactie</a:t>
            </a:r>
          </a:p>
          <a:p>
            <a:pPr algn="r" eaLnBrk="1" hangingPunct="1"/>
            <a:r>
              <a:rPr lang="nl-NL" altLang="nl-NL">
                <a:latin typeface="Frutiger LT Std 45 Light" panose="020B0402020204020204" pitchFamily="34" charset="0"/>
              </a:rPr>
              <a:t>Bouwen aan relaties en betrekkingen</a:t>
            </a:r>
          </a:p>
          <a:p>
            <a:pPr algn="r" eaLnBrk="1" hangingPunct="1"/>
            <a:r>
              <a:rPr lang="nl-NL" altLang="nl-NL">
                <a:latin typeface="Frutiger LT Std 45 Light" panose="020B0402020204020204" pitchFamily="34" charset="0"/>
              </a:rPr>
              <a:t>Conflicten uit de weg gaan</a:t>
            </a:r>
          </a:p>
          <a:p>
            <a:pPr algn="r" eaLnBrk="1" hangingPunct="1"/>
            <a:r>
              <a:rPr lang="nl-NL" altLang="nl-NL">
                <a:latin typeface="Frutiger LT Std 45 Light" panose="020B0402020204020204" pitchFamily="34" charset="0"/>
              </a:rPr>
              <a:t>Anderen plezieren</a:t>
            </a:r>
          </a:p>
          <a:p>
            <a:pPr algn="r" eaLnBrk="1" hangingPunct="1"/>
            <a:r>
              <a:rPr lang="en-US" altLang="nl-NL">
                <a:latin typeface="Frutiger LT Std 45 Light" panose="020B0402020204020204" pitchFamily="34" charset="0"/>
              </a:rPr>
              <a:t>Optimistisch tegenover anderen</a:t>
            </a:r>
          </a:p>
          <a:p>
            <a:pPr algn="r" eaLnBrk="1" hangingPunct="1"/>
            <a:r>
              <a:rPr lang="en-US" altLang="nl-NL">
                <a:latin typeface="Frutiger LT Std 45 Light" panose="020B0402020204020204" pitchFamily="34" charset="0"/>
              </a:rPr>
              <a:t>Mensen ontmoeten</a:t>
            </a:r>
          </a:p>
        </p:txBody>
      </p:sp>
      <p:pic>
        <p:nvPicPr>
          <p:cNvPr id="4100" name="Picture 4" descr="Free Social Media PNG Transparent Images, Download Free ...">
            <a:extLst>
              <a:ext uri="{FF2B5EF4-FFF2-40B4-BE49-F238E27FC236}">
                <a16:creationId xmlns:a16="http://schemas.microsoft.com/office/drawing/2014/main" id="{1B1DAEFB-E100-4686-8A21-0EBCC316B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75" y="3408361"/>
            <a:ext cx="3298473" cy="223520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C41D6725-4F7C-4671-829F-B6C81DE28D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2075" y="1231791"/>
            <a:ext cx="1821938" cy="1678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el 1">
            <a:extLst>
              <a:ext uri="{FF2B5EF4-FFF2-40B4-BE49-F238E27FC236}">
                <a16:creationId xmlns:a16="http://schemas.microsoft.com/office/drawing/2014/main" id="{4ED853D9-F886-463C-8CAC-BFAC3FABEE88}"/>
              </a:ext>
            </a:extLst>
          </p:cNvPr>
          <p:cNvSpPr>
            <a:spLocks noGrp="1"/>
          </p:cNvSpPr>
          <p:nvPr>
            <p:ph type="title"/>
          </p:nvPr>
        </p:nvSpPr>
        <p:spPr>
          <a:xfrm>
            <a:off x="2095501" y="428626"/>
            <a:ext cx="8183563" cy="714375"/>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Helpend</a:t>
            </a:r>
            <a:endParaRPr lang="nl-NL" b="1" dirty="0">
              <a:solidFill>
                <a:schemeClr val="accent6">
                  <a:lumMod val="75000"/>
                </a:schemeClr>
              </a:solidFill>
              <a:latin typeface="Frutiger LT Std 45 Light" panose="020B0402020204020204" pitchFamily="34" charset="0"/>
            </a:endParaRPr>
          </a:p>
        </p:txBody>
      </p:sp>
      <p:pic>
        <p:nvPicPr>
          <p:cNvPr id="22529" name="Picture 1" descr="bij-de-huisarts">
            <a:extLst>
              <a:ext uri="{FF2B5EF4-FFF2-40B4-BE49-F238E27FC236}">
                <a16:creationId xmlns:a16="http://schemas.microsoft.com/office/drawing/2014/main" id="{43CD8F1A-3C23-4CC0-AC22-09764DD349C2}"/>
              </a:ext>
            </a:extLst>
          </p:cNvPr>
          <p:cNvPicPr>
            <a:picLocks noChangeAspect="1" noChangeArrowheads="1"/>
          </p:cNvPicPr>
          <p:nvPr/>
        </p:nvPicPr>
        <p:blipFill>
          <a:blip r:embed="rId2"/>
          <a:srcRect/>
          <a:stretch>
            <a:fillRect/>
          </a:stretch>
        </p:blipFill>
        <p:spPr bwMode="auto">
          <a:xfrm>
            <a:off x="5827303" y="3571875"/>
            <a:ext cx="2000250" cy="2000250"/>
          </a:xfrm>
          <a:prstGeom prst="rect">
            <a:avLst/>
          </a:prstGeom>
          <a:ln>
            <a:noFill/>
          </a:ln>
          <a:effectLst>
            <a:outerShdw blurRad="292100" dist="139700" dir="2700000" algn="tl" rotWithShape="0">
              <a:srgbClr val="333333">
                <a:alpha val="65000"/>
              </a:srgbClr>
            </a:outerShdw>
          </a:effectLst>
        </p:spPr>
      </p:pic>
      <p:pic>
        <p:nvPicPr>
          <p:cNvPr id="3" name="Picture 3" descr="helpen">
            <a:extLst>
              <a:ext uri="{FF2B5EF4-FFF2-40B4-BE49-F238E27FC236}">
                <a16:creationId xmlns:a16="http://schemas.microsoft.com/office/drawing/2014/main" id="{DB5EF98B-5355-4D2A-941C-60FEACBEA097}"/>
              </a:ext>
            </a:extLst>
          </p:cNvPr>
          <p:cNvPicPr>
            <a:picLocks noChangeAspect="1" noChangeArrowheads="1"/>
          </p:cNvPicPr>
          <p:nvPr/>
        </p:nvPicPr>
        <p:blipFill>
          <a:blip r:embed="rId3"/>
          <a:srcRect/>
          <a:stretch>
            <a:fillRect/>
          </a:stretch>
        </p:blipFill>
        <p:spPr bwMode="auto">
          <a:xfrm>
            <a:off x="5827303" y="1357313"/>
            <a:ext cx="3786187" cy="2082800"/>
          </a:xfrm>
          <a:prstGeom prst="rect">
            <a:avLst/>
          </a:prstGeom>
          <a:ln>
            <a:noFill/>
          </a:ln>
          <a:effectLst>
            <a:outerShdw blurRad="292100" dist="139700" dir="2700000" algn="tl" rotWithShape="0">
              <a:srgbClr val="333333">
                <a:alpha val="65000"/>
              </a:srgbClr>
            </a:outerShdw>
          </a:effectLst>
        </p:spPr>
      </p:pic>
      <p:sp>
        <p:nvSpPr>
          <p:cNvPr id="26630" name="Tekstvak 6">
            <a:extLst>
              <a:ext uri="{FF2B5EF4-FFF2-40B4-BE49-F238E27FC236}">
                <a16:creationId xmlns:a16="http://schemas.microsoft.com/office/drawing/2014/main" id="{7E1B48F9-B89F-44E9-BDA3-96D5FB2919AF}"/>
              </a:ext>
            </a:extLst>
          </p:cNvPr>
          <p:cNvSpPr txBox="1">
            <a:spLocks noChangeArrowheads="1"/>
          </p:cNvSpPr>
          <p:nvPr/>
        </p:nvSpPr>
        <p:spPr bwMode="auto">
          <a:xfrm>
            <a:off x="1952625" y="1214439"/>
            <a:ext cx="37147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nl-NL" altLang="nl-NL">
                <a:latin typeface="Frutiger LT Std 45 Light" panose="020B0402020204020204" pitchFamily="34" charset="0"/>
              </a:rPr>
              <a:t>Dienstverlenen</a:t>
            </a:r>
          </a:p>
          <a:p>
            <a:pPr algn="r" eaLnBrk="1" hangingPunct="1"/>
            <a:r>
              <a:rPr lang="nl-NL" altLang="nl-NL">
                <a:latin typeface="Frutiger LT Std 45 Light" panose="020B0402020204020204" pitchFamily="34" charset="0"/>
              </a:rPr>
              <a:t>Hulpverlenen</a:t>
            </a:r>
          </a:p>
          <a:p>
            <a:pPr algn="r" eaLnBrk="1" hangingPunct="1"/>
            <a:r>
              <a:rPr lang="nl-NL" altLang="nl-NL">
                <a:latin typeface="Frutiger LT Std 45 Light" panose="020B0402020204020204" pitchFamily="34" charset="0"/>
              </a:rPr>
              <a:t>Raadspersoon</a:t>
            </a:r>
          </a:p>
          <a:p>
            <a:pPr algn="r" eaLnBrk="1" hangingPunct="1"/>
            <a:r>
              <a:rPr lang="en-US" altLang="nl-NL">
                <a:latin typeface="Frutiger LT Std 45 Light" panose="020B0402020204020204" pitchFamily="34" charset="0"/>
              </a:rPr>
              <a:t>Ondersteuning</a:t>
            </a:r>
          </a:p>
          <a:p>
            <a:pPr algn="r" eaLnBrk="1" hangingPunct="1"/>
            <a:r>
              <a:rPr lang="en-US" altLang="nl-NL">
                <a:latin typeface="Frutiger LT Std 45 Light" panose="020B0402020204020204" pitchFamily="34" charset="0"/>
              </a:rPr>
              <a:t>Samenwerken</a:t>
            </a:r>
          </a:p>
          <a:p>
            <a:pPr algn="r" eaLnBrk="1" hangingPunct="1"/>
            <a:r>
              <a:rPr lang="en-US" altLang="nl-NL">
                <a:latin typeface="Frutiger LT Std 45 Light" panose="020B0402020204020204" pitchFamily="34" charset="0"/>
              </a:rPr>
              <a:t>Verzorgen</a:t>
            </a:r>
          </a:p>
          <a:p>
            <a:pPr algn="r" eaLnBrk="1" hangingPunct="1"/>
            <a:r>
              <a:rPr lang="en-US" altLang="nl-NL">
                <a:latin typeface="Frutiger LT Std 45 Light" panose="020B0402020204020204" pitchFamily="34" charset="0"/>
              </a:rPr>
              <a:t>Geloven in het positieve en potentieel van mensen</a:t>
            </a:r>
            <a:endParaRPr lang="nl-NL" altLang="nl-NL">
              <a:latin typeface="Frutiger LT Std 45 Light" panose="020B0402020204020204" pitchFamily="34" charset="0"/>
            </a:endParaRPr>
          </a:p>
        </p:txBody>
      </p:sp>
      <p:pic>
        <p:nvPicPr>
          <p:cNvPr id="3074" name="Picture 2" descr="Brandweer redt kat uit boom in Schoonhoven - RTV ...">
            <a:extLst>
              <a:ext uri="{FF2B5EF4-FFF2-40B4-BE49-F238E27FC236}">
                <a16:creationId xmlns:a16="http://schemas.microsoft.com/office/drawing/2014/main" id="{EA50CCDF-6A09-4036-B3FA-2456B600A4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1375" y="3571875"/>
            <a:ext cx="3556000" cy="20002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itel 1">
            <a:extLst>
              <a:ext uri="{FF2B5EF4-FFF2-40B4-BE49-F238E27FC236}">
                <a16:creationId xmlns:a16="http://schemas.microsoft.com/office/drawing/2014/main" id="{3B6FAE91-0121-483B-88F7-B4174FD58BA6}"/>
              </a:ext>
            </a:extLst>
          </p:cNvPr>
          <p:cNvSpPr>
            <a:spLocks noGrp="1"/>
          </p:cNvSpPr>
          <p:nvPr>
            <p:ph type="title"/>
          </p:nvPr>
        </p:nvSpPr>
        <p:spPr>
          <a:xfrm>
            <a:off x="2024063" y="428625"/>
            <a:ext cx="8183562" cy="857250"/>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Humanitair</a:t>
            </a:r>
            <a:endParaRPr lang="nl-NL" b="1" dirty="0">
              <a:solidFill>
                <a:schemeClr val="accent6">
                  <a:lumMod val="75000"/>
                </a:schemeClr>
              </a:solidFill>
              <a:latin typeface="Frutiger LT Std 45 Light" panose="020B0402020204020204" pitchFamily="34" charset="0"/>
            </a:endParaRPr>
          </a:p>
        </p:txBody>
      </p:sp>
      <p:pic>
        <p:nvPicPr>
          <p:cNvPr id="21505" name="Picture 1" descr="large_480981">
            <a:extLst>
              <a:ext uri="{FF2B5EF4-FFF2-40B4-BE49-F238E27FC236}">
                <a16:creationId xmlns:a16="http://schemas.microsoft.com/office/drawing/2014/main" id="{0670C1C4-4ABF-48E0-93D0-DD45681BB3F0}"/>
              </a:ext>
            </a:extLst>
          </p:cNvPr>
          <p:cNvPicPr>
            <a:picLocks noChangeAspect="1" noChangeArrowheads="1"/>
          </p:cNvPicPr>
          <p:nvPr/>
        </p:nvPicPr>
        <p:blipFill>
          <a:blip r:embed="rId2"/>
          <a:srcRect l="4439" t="13636" b="13636"/>
          <a:stretch>
            <a:fillRect/>
          </a:stretch>
        </p:blipFill>
        <p:spPr bwMode="auto">
          <a:xfrm>
            <a:off x="6024563" y="3857626"/>
            <a:ext cx="3429000" cy="1698625"/>
          </a:xfrm>
          <a:prstGeom prst="rect">
            <a:avLst/>
          </a:prstGeom>
          <a:ln>
            <a:noFill/>
          </a:ln>
          <a:effectLst>
            <a:outerShdw blurRad="292100" dist="139700" dir="2700000" algn="tl" rotWithShape="0">
              <a:srgbClr val="333333">
                <a:alpha val="65000"/>
              </a:srgbClr>
            </a:outerShdw>
          </a:effectLst>
        </p:spPr>
      </p:pic>
      <p:pic>
        <p:nvPicPr>
          <p:cNvPr id="21506" name="Picture 2" descr="timebonoo">
            <a:extLst>
              <a:ext uri="{FF2B5EF4-FFF2-40B4-BE49-F238E27FC236}">
                <a16:creationId xmlns:a16="http://schemas.microsoft.com/office/drawing/2014/main" id="{2B3AFC40-2C89-47C7-8044-667D32CE1C04}"/>
              </a:ext>
            </a:extLst>
          </p:cNvPr>
          <p:cNvPicPr>
            <a:picLocks noChangeAspect="1" noChangeArrowheads="1"/>
          </p:cNvPicPr>
          <p:nvPr/>
        </p:nvPicPr>
        <p:blipFill>
          <a:blip r:embed="rId3"/>
          <a:srcRect/>
          <a:stretch>
            <a:fillRect/>
          </a:stretch>
        </p:blipFill>
        <p:spPr bwMode="auto">
          <a:xfrm>
            <a:off x="2738439" y="1571625"/>
            <a:ext cx="3043237" cy="4000500"/>
          </a:xfrm>
          <a:prstGeom prst="rect">
            <a:avLst/>
          </a:prstGeom>
          <a:ln>
            <a:noFill/>
          </a:ln>
          <a:effectLst>
            <a:outerShdw blurRad="292100" dist="139700" dir="2700000" algn="tl" rotWithShape="0">
              <a:srgbClr val="333333">
                <a:alpha val="65000"/>
              </a:srgbClr>
            </a:outerShdw>
          </a:effectLst>
        </p:spPr>
      </p:pic>
      <p:sp>
        <p:nvSpPr>
          <p:cNvPr id="27653" name="Tekstvak 5">
            <a:extLst>
              <a:ext uri="{FF2B5EF4-FFF2-40B4-BE49-F238E27FC236}">
                <a16:creationId xmlns:a16="http://schemas.microsoft.com/office/drawing/2014/main" id="{5AEC65B0-DEBD-4DD4-BDB3-FFEB2FAB43DA}"/>
              </a:ext>
            </a:extLst>
          </p:cNvPr>
          <p:cNvSpPr txBox="1">
            <a:spLocks noChangeArrowheads="1"/>
          </p:cNvSpPr>
          <p:nvPr/>
        </p:nvSpPr>
        <p:spPr bwMode="auto">
          <a:xfrm>
            <a:off x="5953126" y="1500189"/>
            <a:ext cx="39290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latin typeface="Frutiger LT Std 45 Light" panose="020B0402020204020204" pitchFamily="34" charset="0"/>
              </a:rPr>
              <a:t>Gemeenschapswerk, milieu of politiek</a:t>
            </a:r>
          </a:p>
          <a:p>
            <a:pPr eaLnBrk="1" hangingPunct="1"/>
            <a:r>
              <a:rPr lang="nl-NL" altLang="nl-NL">
                <a:latin typeface="Frutiger LT Std 45 Light" panose="020B0402020204020204" pitchFamily="34" charset="0"/>
              </a:rPr>
              <a:t>‘De goede zaak‘</a:t>
            </a:r>
          </a:p>
          <a:p>
            <a:pPr eaLnBrk="1" hangingPunct="1"/>
            <a:r>
              <a:rPr lang="nl-NL" altLang="nl-NL">
                <a:latin typeface="Frutiger LT Std 45 Light" panose="020B0402020204020204" pitchFamily="34" charset="0"/>
              </a:rPr>
              <a:t>Welzijn van anderen vergroten</a:t>
            </a:r>
          </a:p>
          <a:p>
            <a:pPr eaLnBrk="1" hangingPunct="1"/>
            <a:r>
              <a:rPr lang="en-US" altLang="nl-NL">
                <a:latin typeface="Frutiger LT Std 45 Light" panose="020B0402020204020204" pitchFamily="34" charset="0"/>
              </a:rPr>
              <a:t>Betere wereld</a:t>
            </a:r>
          </a:p>
          <a:p>
            <a:pPr eaLnBrk="1" hangingPunct="1"/>
            <a:r>
              <a:rPr lang="nl-NL" altLang="nl-NL">
                <a:latin typeface="Frutiger LT Std 45 Light" panose="020B0402020204020204" pitchFamily="34" charset="0"/>
              </a:rPr>
              <a:t>Vrijwilligerswerk, fondsen werven Filantropisch</a:t>
            </a:r>
          </a:p>
          <a:p>
            <a:pPr eaLnBrk="1" hangingPunct="1"/>
            <a:r>
              <a:rPr lang="nl-NL" altLang="nl-NL">
                <a:latin typeface="Frutiger LT Std 45 Light" panose="020B0402020204020204" pitchFamily="34" charset="0"/>
              </a:rPr>
              <a:t>Geven i.p.v. ontvangen</a:t>
            </a:r>
          </a:p>
          <a:p>
            <a:pPr eaLnBrk="1" hangingPunct="1"/>
            <a:r>
              <a:rPr lang="en-US" altLang="nl-NL">
                <a:latin typeface="Frutiger LT Std 45 Light" panose="020B0402020204020204" pitchFamily="34" charset="0"/>
              </a:rPr>
              <a:t>Veranderaar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ep 1">
            <a:extLst>
              <a:ext uri="{FF2B5EF4-FFF2-40B4-BE49-F238E27FC236}">
                <a16:creationId xmlns:a16="http://schemas.microsoft.com/office/drawing/2014/main" id="{69709FFF-6F26-4DC9-8DFC-E7558E8A8F68}"/>
              </a:ext>
            </a:extLst>
          </p:cNvPr>
          <p:cNvGrpSpPr/>
          <p:nvPr/>
        </p:nvGrpSpPr>
        <p:grpSpPr>
          <a:xfrm>
            <a:off x="4272288" y="762973"/>
            <a:ext cx="3647423" cy="4683125"/>
            <a:chOff x="4247534" y="1087437"/>
            <a:chExt cx="3647423" cy="4683125"/>
          </a:xfrm>
        </p:grpSpPr>
        <p:pic>
          <p:nvPicPr>
            <p:cNvPr id="24579" name="Afbeelding 6" descr="http://www.cartoonstock.com/lowres/cza1402l.jpg">
              <a:extLst>
                <a:ext uri="{FF2B5EF4-FFF2-40B4-BE49-F238E27FC236}">
                  <a16:creationId xmlns:a16="http://schemas.microsoft.com/office/drawing/2014/main" id="{7127E876-A1BC-4595-8494-548DE6FC8FD7}"/>
                </a:ext>
              </a:extLst>
            </p:cNvPr>
            <p:cNvPicPr>
              <a:picLocks noChangeAspect="1" noChangeArrowheads="1"/>
            </p:cNvPicPr>
            <p:nvPr/>
          </p:nvPicPr>
          <p:blipFill rotWithShape="1">
            <a:blip r:embed="rId2"/>
            <a:srcRect l="5835" r="7627"/>
            <a:stretch/>
          </p:blipFill>
          <p:spPr bwMode="auto">
            <a:xfrm>
              <a:off x="4247535" y="1087437"/>
              <a:ext cx="3647422" cy="4683125"/>
            </a:xfrm>
            <a:prstGeom prst="rect">
              <a:avLst/>
            </a:prstGeom>
            <a:ln>
              <a:noFill/>
            </a:ln>
            <a:effectLst>
              <a:outerShdw blurRad="292100" dist="139700" dir="2700000" algn="tl" rotWithShape="0">
                <a:srgbClr val="333333">
                  <a:alpha val="65000"/>
                </a:srgbClr>
              </a:outerShdw>
            </a:effectLst>
          </p:spPr>
        </p:pic>
        <p:sp>
          <p:nvSpPr>
            <p:cNvPr id="8" name="Rechthoek 7">
              <a:extLst>
                <a:ext uri="{FF2B5EF4-FFF2-40B4-BE49-F238E27FC236}">
                  <a16:creationId xmlns:a16="http://schemas.microsoft.com/office/drawing/2014/main" id="{965CE8FD-43AB-43F4-9931-40E341FD9CCE}"/>
                </a:ext>
              </a:extLst>
            </p:cNvPr>
            <p:cNvSpPr/>
            <p:nvPr/>
          </p:nvSpPr>
          <p:spPr>
            <a:xfrm>
              <a:off x="4247534" y="1087437"/>
              <a:ext cx="2397267" cy="5715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nl-NL">
                <a:solidFill>
                  <a:srgbClr val="000000"/>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el 1">
            <a:extLst>
              <a:ext uri="{FF2B5EF4-FFF2-40B4-BE49-F238E27FC236}">
                <a16:creationId xmlns:a16="http://schemas.microsoft.com/office/drawing/2014/main" id="{04EFC34F-CBCA-488D-92F5-4154FD071D4E}"/>
              </a:ext>
            </a:extLst>
          </p:cNvPr>
          <p:cNvSpPr>
            <a:spLocks noGrp="1"/>
          </p:cNvSpPr>
          <p:nvPr>
            <p:ph type="title"/>
          </p:nvPr>
        </p:nvSpPr>
        <p:spPr>
          <a:xfrm>
            <a:off x="1952626" y="571500"/>
            <a:ext cx="8183563" cy="660400"/>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Werk</a:t>
            </a:r>
            <a:r>
              <a:rPr lang="en-US" b="1" dirty="0">
                <a:solidFill>
                  <a:schemeClr val="accent6">
                    <a:lumMod val="75000"/>
                  </a:schemeClr>
                </a:solidFill>
                <a:latin typeface="Frutiger LT Std 45 Light" panose="020B0402020204020204" pitchFamily="34" charset="0"/>
              </a:rPr>
              <a:t> Interesses </a:t>
            </a:r>
            <a:r>
              <a:rPr lang="en-US" b="1" dirty="0" err="1">
                <a:solidFill>
                  <a:schemeClr val="accent6">
                    <a:lumMod val="75000"/>
                  </a:schemeClr>
                </a:solidFill>
                <a:latin typeface="Frutiger LT Std 45 Light" panose="020B0402020204020204" pitchFamily="34" charset="0"/>
              </a:rPr>
              <a:t>uitkomsten</a:t>
            </a:r>
            <a:endParaRPr lang="nl-NL" b="1" dirty="0">
              <a:solidFill>
                <a:schemeClr val="accent6">
                  <a:lumMod val="75000"/>
                </a:schemeClr>
              </a:solidFill>
              <a:latin typeface="Frutiger LT Std 45 Light" panose="020B0402020204020204" pitchFamily="34" charset="0"/>
            </a:endParaRPr>
          </a:p>
        </p:txBody>
      </p:sp>
      <p:sp>
        <p:nvSpPr>
          <p:cNvPr id="12291" name="Tekstvak 5">
            <a:extLst>
              <a:ext uri="{FF2B5EF4-FFF2-40B4-BE49-F238E27FC236}">
                <a16:creationId xmlns:a16="http://schemas.microsoft.com/office/drawing/2014/main" id="{8A3576E4-0FB6-4AC4-8FD5-38430249B9DB}"/>
              </a:ext>
            </a:extLst>
          </p:cNvPr>
          <p:cNvSpPr txBox="1">
            <a:spLocks noChangeArrowheads="1"/>
          </p:cNvSpPr>
          <p:nvPr/>
        </p:nvSpPr>
        <p:spPr bwMode="auto">
          <a:xfrm>
            <a:off x="2452689" y="1500188"/>
            <a:ext cx="7286625" cy="432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sz="2500" b="1" dirty="0">
                <a:solidFill>
                  <a:srgbClr val="009A46"/>
                </a:solidFill>
                <a:latin typeface="Frutiger LT Std 45 Light" panose="020B0402020204020204" pitchFamily="34" charset="0"/>
              </a:rPr>
              <a:t>Groen</a:t>
            </a:r>
            <a:endParaRPr lang="en-US" altLang="nl-NL" sz="2500" dirty="0">
              <a:latin typeface="Frutiger LT Std 45 Light" panose="020B0402020204020204" pitchFamily="34" charset="0"/>
            </a:endParaRPr>
          </a:p>
          <a:p>
            <a:pPr eaLnBrk="1" hangingPunct="1"/>
            <a:r>
              <a:rPr lang="en-US" altLang="nl-NL" sz="2500" dirty="0">
                <a:latin typeface="Frutiger LT Std 45 Light" panose="020B0402020204020204" pitchFamily="34" charset="0"/>
              </a:rPr>
              <a:t>De </a:t>
            </a:r>
            <a:r>
              <a:rPr lang="en-US" altLang="nl-NL" sz="2500" dirty="0" err="1">
                <a:latin typeface="Frutiger LT Std 45 Light" panose="020B0402020204020204" pitchFamily="34" charset="0"/>
              </a:rPr>
              <a:t>vier</a:t>
            </a:r>
            <a:r>
              <a:rPr lang="en-US" altLang="nl-NL" sz="2500" dirty="0">
                <a:latin typeface="Frutiger LT Std 45 Light" panose="020B0402020204020204" pitchFamily="34" charset="0"/>
              </a:rPr>
              <a:t> (1 t/m 4) </a:t>
            </a:r>
            <a:r>
              <a:rPr lang="en-US" altLang="nl-NL" sz="2500" dirty="0" err="1">
                <a:latin typeface="Frutiger LT Std 45 Light" panose="020B0402020204020204" pitchFamily="34" charset="0"/>
              </a:rPr>
              <a:t>hoogste</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werkinteresses</a:t>
            </a:r>
            <a:endParaRPr lang="en-US" altLang="nl-NL" sz="2500" dirty="0">
              <a:latin typeface="Frutiger LT Std 45 Light" panose="020B0402020204020204" pitchFamily="34" charset="0"/>
            </a:endParaRPr>
          </a:p>
          <a:p>
            <a:pPr eaLnBrk="1" hangingPunct="1"/>
            <a:r>
              <a:rPr lang="en-US" altLang="nl-NL" sz="2500" dirty="0">
                <a:latin typeface="Frutiger LT Std 45 Light" panose="020B0402020204020204" pitchFamily="34" charset="0"/>
              </a:rPr>
              <a:t>De </a:t>
            </a:r>
            <a:r>
              <a:rPr lang="en-US" altLang="nl-NL" sz="2500" dirty="0" err="1">
                <a:latin typeface="Frutiger LT Std 45 Light" panose="020B0402020204020204" pitchFamily="34" charset="0"/>
              </a:rPr>
              <a:t>hoogste</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voorkeur</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geven</a:t>
            </a:r>
            <a:r>
              <a:rPr lang="en-US" altLang="nl-NL" sz="2500" dirty="0">
                <a:latin typeface="Frutiger LT Std 45 Light" panose="020B0402020204020204" pitchFamily="34" charset="0"/>
              </a:rPr>
              <a:t> de </a:t>
            </a:r>
            <a:r>
              <a:rPr lang="en-US" altLang="nl-NL" sz="2500" dirty="0" err="1">
                <a:latin typeface="Frutiger LT Std 45 Light" panose="020B0402020204020204" pitchFamily="34" charset="0"/>
              </a:rPr>
              <a:t>meeste</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voldoening</a:t>
            </a:r>
            <a:endParaRPr lang="en-US" altLang="nl-NL" sz="2500" dirty="0">
              <a:latin typeface="Frutiger LT Std 45 Light" panose="020B0402020204020204" pitchFamily="34" charset="0"/>
            </a:endParaRPr>
          </a:p>
          <a:p>
            <a:pPr eaLnBrk="1" hangingPunct="1"/>
            <a:endParaRPr lang="en-US" altLang="nl-NL" sz="2500" b="1" dirty="0">
              <a:solidFill>
                <a:srgbClr val="FFFF00"/>
              </a:solidFill>
              <a:latin typeface="Frutiger LT Std 45 Light" panose="020B0402020204020204" pitchFamily="34" charset="0"/>
            </a:endParaRPr>
          </a:p>
          <a:p>
            <a:pPr eaLnBrk="1" hangingPunct="1"/>
            <a:r>
              <a:rPr lang="en-US" altLang="nl-NL" sz="2500" b="1" dirty="0" err="1">
                <a:solidFill>
                  <a:srgbClr val="FDD903"/>
                </a:solidFill>
                <a:latin typeface="Frutiger LT Std 45 Light" panose="020B0402020204020204" pitchFamily="34" charset="0"/>
              </a:rPr>
              <a:t>Geel</a:t>
            </a:r>
            <a:endParaRPr lang="en-US" altLang="nl-NL" sz="2500" dirty="0">
              <a:solidFill>
                <a:srgbClr val="FDD903"/>
              </a:solidFill>
              <a:latin typeface="Frutiger LT Std 45 Light" panose="020B0402020204020204" pitchFamily="34" charset="0"/>
            </a:endParaRPr>
          </a:p>
          <a:p>
            <a:pPr eaLnBrk="1" hangingPunct="1"/>
            <a:r>
              <a:rPr lang="en-US" altLang="nl-NL" sz="2500" dirty="0" err="1">
                <a:latin typeface="Frutiger LT Std 45 Light" panose="020B0402020204020204" pitchFamily="34" charset="0"/>
              </a:rPr>
              <a:t>Situationele</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werkinteresses</a:t>
            </a:r>
            <a:r>
              <a:rPr lang="en-US" altLang="nl-NL" sz="2500" dirty="0">
                <a:latin typeface="Frutiger LT Std 45 Light" panose="020B0402020204020204" pitchFamily="34" charset="0"/>
              </a:rPr>
              <a:t> (5 t/m 8)</a:t>
            </a:r>
          </a:p>
          <a:p>
            <a:pPr eaLnBrk="1" hangingPunct="1"/>
            <a:r>
              <a:rPr lang="en-US" altLang="nl-NL" sz="2500" dirty="0">
                <a:latin typeface="Frutiger LT Std 45 Light" panose="020B0402020204020204" pitchFamily="34" charset="0"/>
              </a:rPr>
              <a:t>“</a:t>
            </a:r>
            <a:r>
              <a:rPr lang="en-US" altLang="nl-NL" sz="2500" dirty="0" err="1">
                <a:latin typeface="Frutiger LT Std 45 Light" panose="020B0402020204020204" pitchFamily="34" charset="0"/>
              </a:rPr>
              <a:t>Verdraagbaar</a:t>
            </a:r>
            <a:r>
              <a:rPr lang="en-US" altLang="nl-NL" sz="2500" dirty="0">
                <a:latin typeface="Frutiger LT Std 45 Light" panose="020B0402020204020204" pitchFamily="34" charset="0"/>
              </a:rPr>
              <a:t> maar </a:t>
            </a:r>
            <a:r>
              <a:rPr lang="en-US" altLang="nl-NL" sz="2500" dirty="0" err="1">
                <a:latin typeface="Frutiger LT Std 45 Light" panose="020B0402020204020204" pitchFamily="34" charset="0"/>
              </a:rPr>
              <a:t>niet</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altijd</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plezierig</a:t>
            </a:r>
            <a:r>
              <a:rPr lang="en-US" altLang="nl-NL" sz="2500" dirty="0">
                <a:latin typeface="Frutiger LT Std 45 Light" panose="020B0402020204020204" pitchFamily="34" charset="0"/>
              </a:rPr>
              <a:t>”</a:t>
            </a:r>
          </a:p>
          <a:p>
            <a:pPr eaLnBrk="1" hangingPunct="1"/>
            <a:endParaRPr lang="en-US" altLang="nl-NL" sz="2500" b="1" dirty="0">
              <a:solidFill>
                <a:srgbClr val="FF0000"/>
              </a:solidFill>
              <a:latin typeface="Frutiger LT Std 45 Light" panose="020B0402020204020204" pitchFamily="34" charset="0"/>
            </a:endParaRPr>
          </a:p>
          <a:p>
            <a:pPr eaLnBrk="1" hangingPunct="1"/>
            <a:r>
              <a:rPr lang="en-US" altLang="nl-NL" sz="2500" b="1" dirty="0">
                <a:solidFill>
                  <a:srgbClr val="FF0000"/>
                </a:solidFill>
                <a:latin typeface="Frutiger LT Std 45 Light" panose="020B0402020204020204" pitchFamily="34" charset="0"/>
              </a:rPr>
              <a:t>Rood</a:t>
            </a:r>
            <a:endParaRPr lang="en-US" altLang="nl-NL" sz="2500" dirty="0">
              <a:solidFill>
                <a:srgbClr val="FF0000"/>
              </a:solidFill>
              <a:latin typeface="Frutiger LT Std 45 Light" panose="020B0402020204020204" pitchFamily="34" charset="0"/>
            </a:endParaRPr>
          </a:p>
          <a:p>
            <a:pPr eaLnBrk="1" hangingPunct="1"/>
            <a:r>
              <a:rPr lang="en-US" altLang="nl-NL" sz="2500" dirty="0" err="1">
                <a:latin typeface="Frutiger LT Std 45 Light" panose="020B0402020204020204" pitchFamily="34" charset="0"/>
              </a:rPr>
              <a:t>Laagste</a:t>
            </a:r>
            <a:r>
              <a:rPr lang="en-US" altLang="nl-NL" sz="2500" dirty="0">
                <a:latin typeface="Frutiger LT Std 45 Light" panose="020B0402020204020204" pitchFamily="34" charset="0"/>
              </a:rPr>
              <a:t> </a:t>
            </a:r>
            <a:r>
              <a:rPr lang="en-US" altLang="nl-NL" sz="2500" dirty="0" err="1">
                <a:latin typeface="Frutiger LT Std 45 Light" panose="020B0402020204020204" pitchFamily="34" charset="0"/>
              </a:rPr>
              <a:t>werkinteresses</a:t>
            </a:r>
            <a:r>
              <a:rPr lang="en-US" altLang="nl-NL" sz="2500" dirty="0">
                <a:latin typeface="Frutiger LT Std 45 Light" panose="020B0402020204020204" pitchFamily="34" charset="0"/>
              </a:rPr>
              <a:t> (12 t/m 9)</a:t>
            </a:r>
          </a:p>
          <a:p>
            <a:pPr eaLnBrk="1" hangingPunct="1"/>
            <a:r>
              <a:rPr lang="en-US" altLang="nl-NL" sz="2500" dirty="0">
                <a:latin typeface="Frutiger LT Std 45 Light" panose="020B0402020204020204" pitchFamily="34" charset="0"/>
              </a:rPr>
              <a:t>De </a:t>
            </a:r>
            <a:r>
              <a:rPr lang="en-US" altLang="nl-NL" sz="2500" dirty="0" err="1">
                <a:latin typeface="Frutiger LT Std 45 Light" panose="020B0402020204020204" pitchFamily="34" charset="0"/>
              </a:rPr>
              <a:t>desinteresses</a:t>
            </a:r>
            <a:endParaRPr lang="en-US" altLang="nl-NL" sz="2500" dirty="0">
              <a:latin typeface="Frutiger LT Std 45 Light" panose="020B0402020204020204" pitchFamily="34" charset="0"/>
            </a:endParaRPr>
          </a:p>
        </p:txBody>
      </p:sp>
    </p:spTree>
    <p:extLst>
      <p:ext uri="{BB962C8B-B14F-4D97-AF65-F5344CB8AC3E}">
        <p14:creationId xmlns:p14="http://schemas.microsoft.com/office/powerpoint/2010/main" val="1068674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F6307216-3713-4B91-A8B5-F6416C325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6594" y="1178718"/>
            <a:ext cx="4109883" cy="500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Tekstvak 2">
            <a:extLst>
              <a:ext uri="{FF2B5EF4-FFF2-40B4-BE49-F238E27FC236}">
                <a16:creationId xmlns:a16="http://schemas.microsoft.com/office/drawing/2014/main" id="{45B9ADA2-DE52-4D8A-BAAF-B3A6A55DFD1A}"/>
              </a:ext>
            </a:extLst>
          </p:cNvPr>
          <p:cNvSpPr txBox="1">
            <a:spLocks noChangeArrowheads="1"/>
          </p:cNvSpPr>
          <p:nvPr/>
        </p:nvSpPr>
        <p:spPr bwMode="auto">
          <a:xfrm>
            <a:off x="3810001" y="357189"/>
            <a:ext cx="43704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nl-NL" sz="4400" b="1" dirty="0" err="1">
                <a:solidFill>
                  <a:schemeClr val="accent6">
                    <a:lumMod val="75000"/>
                  </a:schemeClr>
                </a:solidFill>
                <a:latin typeface="Frutiger LT Std 45 Light" panose="020B0402020204020204" pitchFamily="34" charset="0"/>
              </a:rPr>
              <a:t>Werkinteresses</a:t>
            </a:r>
            <a:endParaRPr lang="nl-NL" altLang="nl-NL" sz="4400" b="1" dirty="0">
              <a:solidFill>
                <a:schemeClr val="accent6">
                  <a:lumMod val="75000"/>
                </a:schemeClr>
              </a:solidFill>
              <a:latin typeface="Frutiger LT Std 45 Light" panose="020B0402020204020204" pitchFamily="34" charset="0"/>
            </a:endParaRPr>
          </a:p>
        </p:txBody>
      </p:sp>
    </p:spTree>
    <p:extLst>
      <p:ext uri="{BB962C8B-B14F-4D97-AF65-F5344CB8AC3E}">
        <p14:creationId xmlns:p14="http://schemas.microsoft.com/office/powerpoint/2010/main" val="2133277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el 1">
            <a:extLst>
              <a:ext uri="{FF2B5EF4-FFF2-40B4-BE49-F238E27FC236}">
                <a16:creationId xmlns:a16="http://schemas.microsoft.com/office/drawing/2014/main" id="{A0440275-DC80-4AAD-88CA-F67A29B90871}"/>
              </a:ext>
            </a:extLst>
          </p:cNvPr>
          <p:cNvSpPr>
            <a:spLocks noGrp="1"/>
          </p:cNvSpPr>
          <p:nvPr>
            <p:ph type="title"/>
          </p:nvPr>
        </p:nvSpPr>
        <p:spPr>
          <a:xfrm>
            <a:off x="2024063" y="571501"/>
            <a:ext cx="8183562" cy="588963"/>
          </a:xfrm>
        </p:spPr>
        <p:txBody>
          <a:bodyPr/>
          <a:lstStyle/>
          <a:p>
            <a:pPr eaLnBrk="1" hangingPunct="1">
              <a:defRPr/>
            </a:pPr>
            <a:r>
              <a:rPr lang="en-US" b="1" dirty="0" err="1">
                <a:solidFill>
                  <a:schemeClr val="accent6">
                    <a:lumMod val="75000"/>
                  </a:schemeClr>
                </a:solidFill>
                <a:latin typeface="Frutiger LT Std 45 Light" panose="020B0402020204020204" pitchFamily="34" charset="0"/>
              </a:rPr>
              <a:t>Werk</a:t>
            </a:r>
            <a:r>
              <a:rPr lang="en-US" b="1" dirty="0">
                <a:solidFill>
                  <a:schemeClr val="accent6">
                    <a:lumMod val="75000"/>
                  </a:schemeClr>
                </a:solidFill>
                <a:latin typeface="Frutiger LT Std 45 Light" panose="020B0402020204020204" pitchFamily="34" charset="0"/>
              </a:rPr>
              <a:t>- versus </a:t>
            </a:r>
            <a:r>
              <a:rPr lang="en-US" b="1" dirty="0" err="1">
                <a:solidFill>
                  <a:schemeClr val="accent6">
                    <a:lumMod val="75000"/>
                  </a:schemeClr>
                </a:solidFill>
                <a:latin typeface="Frutiger LT Std 45 Light" panose="020B0402020204020204" pitchFamily="34" charset="0"/>
              </a:rPr>
              <a:t>Privé</a:t>
            </a:r>
            <a:r>
              <a:rPr lang="en-US" b="1" dirty="0">
                <a:solidFill>
                  <a:schemeClr val="accent6">
                    <a:lumMod val="75000"/>
                  </a:schemeClr>
                </a:solidFill>
                <a:latin typeface="Frutiger LT Std 45 Light" panose="020B0402020204020204" pitchFamily="34" charset="0"/>
              </a:rPr>
              <a:t> interesses</a:t>
            </a:r>
            <a:endParaRPr lang="nl-NL" b="1" dirty="0">
              <a:solidFill>
                <a:schemeClr val="accent6">
                  <a:lumMod val="75000"/>
                </a:schemeClr>
              </a:solidFill>
              <a:latin typeface="Frutiger LT Std 45 Light" panose="020B0402020204020204" pitchFamily="34" charset="0"/>
            </a:endParaRPr>
          </a:p>
        </p:txBody>
      </p:sp>
      <p:sp>
        <p:nvSpPr>
          <p:cNvPr id="14339" name="Tijdelijke aanduiding voor inhoud 2">
            <a:extLst>
              <a:ext uri="{FF2B5EF4-FFF2-40B4-BE49-F238E27FC236}">
                <a16:creationId xmlns:a16="http://schemas.microsoft.com/office/drawing/2014/main" id="{82A6165A-9F23-4B78-AF22-E3B41308122D}"/>
              </a:ext>
            </a:extLst>
          </p:cNvPr>
          <p:cNvSpPr>
            <a:spLocks noGrp="1"/>
          </p:cNvSpPr>
          <p:nvPr>
            <p:ph idx="1"/>
          </p:nvPr>
        </p:nvSpPr>
        <p:spPr>
          <a:xfrm>
            <a:off x="2024063" y="1285876"/>
            <a:ext cx="8183562" cy="4187825"/>
          </a:xfrm>
        </p:spPr>
        <p:txBody>
          <a:bodyPr/>
          <a:lstStyle/>
          <a:p>
            <a:pPr eaLnBrk="1" hangingPunct="1">
              <a:buFont typeface="Arial" panose="020B0604020202020204" pitchFamily="34" charset="0"/>
              <a:buNone/>
            </a:pPr>
            <a:endParaRPr lang="en-US" altLang="nl-NL" sz="2400" b="1" dirty="0">
              <a:latin typeface="Frutiger LT Std 45 Light" panose="020B0402020204020204" pitchFamily="34" charset="0"/>
            </a:endParaRPr>
          </a:p>
          <a:p>
            <a:pPr eaLnBrk="1" hangingPunct="1">
              <a:buFont typeface="Arial" panose="020B0604020202020204" pitchFamily="34" charset="0"/>
              <a:buNone/>
            </a:pPr>
            <a:endParaRPr lang="nl-NL" altLang="nl-NL" sz="2400" b="1" dirty="0">
              <a:latin typeface="Frutiger LT Std 45 Light" panose="020B0402020204020204" pitchFamily="34" charset="0"/>
            </a:endParaRPr>
          </a:p>
          <a:p>
            <a:pPr eaLnBrk="1" hangingPunct="1">
              <a:buFont typeface="Arial" panose="020B0604020202020204" pitchFamily="34" charset="0"/>
              <a:buNone/>
            </a:pPr>
            <a:endParaRPr lang="nl-NL" altLang="nl-NL" sz="2000" b="1" dirty="0">
              <a:latin typeface="Frutiger LT Std 45 Light" panose="020B0402020204020204" pitchFamily="34" charset="0"/>
            </a:endParaRPr>
          </a:p>
          <a:p>
            <a:pPr eaLnBrk="1" hangingPunct="1">
              <a:buFont typeface="Arial" panose="020B0604020202020204" pitchFamily="34" charset="0"/>
              <a:buNone/>
            </a:pPr>
            <a:r>
              <a:rPr lang="nl-NL" altLang="nl-NL" sz="2200" b="1" dirty="0">
                <a:latin typeface="Frutiger LT Std 45 Light" panose="020B0402020204020204" pitchFamily="34" charset="0"/>
              </a:rPr>
              <a:t>Match, Neutraal en Mismatch</a:t>
            </a:r>
          </a:p>
          <a:p>
            <a:pPr eaLnBrk="1" hangingPunct="1"/>
            <a:r>
              <a:rPr lang="nl-NL" altLang="nl-NL" sz="2200" dirty="0">
                <a:latin typeface="Frutiger LT Std 45 Light" panose="020B0402020204020204" pitchFamily="34" charset="0"/>
              </a:rPr>
              <a:t>Indien er een </a:t>
            </a:r>
            <a:r>
              <a:rPr lang="nl-NL" altLang="nl-NL" sz="2200" b="1" dirty="0">
                <a:solidFill>
                  <a:srgbClr val="00B5F1"/>
                </a:solidFill>
                <a:latin typeface="Frutiger LT Std 45 Light" panose="020B0402020204020204" pitchFamily="34" charset="0"/>
              </a:rPr>
              <a:t>Match</a:t>
            </a:r>
            <a:r>
              <a:rPr lang="nl-NL" altLang="nl-NL" sz="2200" dirty="0">
                <a:latin typeface="Frutiger LT Std 45 Light" panose="020B0402020204020204" pitchFamily="34" charset="0"/>
              </a:rPr>
              <a:t> is, wil dat zeggen dat uw werk- en privé-interesse gelijk is.  </a:t>
            </a:r>
          </a:p>
          <a:p>
            <a:pPr eaLnBrk="1" hangingPunct="1"/>
            <a:r>
              <a:rPr lang="nl-NL" altLang="nl-NL" sz="2200" dirty="0">
                <a:latin typeface="Frutiger LT Std 45 Light" panose="020B0402020204020204" pitchFamily="34" charset="0"/>
              </a:rPr>
              <a:t>Bij zowel </a:t>
            </a:r>
            <a:r>
              <a:rPr lang="nl-NL" altLang="nl-NL" sz="2200" b="1" dirty="0">
                <a:solidFill>
                  <a:srgbClr val="00B5F1"/>
                </a:solidFill>
                <a:latin typeface="Frutiger LT Std 45 Light" panose="020B0402020204020204" pitchFamily="34" charset="0"/>
              </a:rPr>
              <a:t>Neutraal</a:t>
            </a:r>
            <a:r>
              <a:rPr lang="nl-NL" altLang="nl-NL" sz="2200" dirty="0">
                <a:latin typeface="Frutiger LT Std 45 Light" panose="020B0402020204020204" pitchFamily="34" charset="0"/>
              </a:rPr>
              <a:t> als </a:t>
            </a:r>
            <a:r>
              <a:rPr lang="nl-NL" altLang="nl-NL" sz="2200" b="1" dirty="0">
                <a:solidFill>
                  <a:srgbClr val="00B5F1"/>
                </a:solidFill>
                <a:latin typeface="Frutiger LT Std 45 Light" panose="020B0402020204020204" pitchFamily="34" charset="0"/>
              </a:rPr>
              <a:t>Mismatch</a:t>
            </a:r>
            <a:r>
              <a:rPr lang="nl-NL" altLang="nl-NL" sz="2200" dirty="0">
                <a:latin typeface="Frutiger LT Std 45 Light" panose="020B0402020204020204" pitchFamily="34" charset="0"/>
              </a:rPr>
              <a:t> is er een verschil tussen uw privé- en werkinteresses.</a:t>
            </a:r>
          </a:p>
          <a:p>
            <a:pPr eaLnBrk="1" hangingPunct="1"/>
            <a:r>
              <a:rPr lang="nl-NL" altLang="nl-NL" sz="2200" dirty="0">
                <a:latin typeface="Frutiger LT Std 45 Light" panose="020B0402020204020204" pitchFamily="34" charset="0"/>
              </a:rPr>
              <a:t>Bij </a:t>
            </a:r>
            <a:r>
              <a:rPr lang="nl-NL" altLang="nl-NL" sz="2200" b="1" dirty="0">
                <a:solidFill>
                  <a:srgbClr val="00B5F1"/>
                </a:solidFill>
                <a:latin typeface="Frutiger LT Std 45 Light" panose="020B0402020204020204" pitchFamily="34" charset="0"/>
              </a:rPr>
              <a:t>Neutraal</a:t>
            </a:r>
            <a:r>
              <a:rPr lang="nl-NL" altLang="nl-NL" sz="2200" dirty="0">
                <a:latin typeface="Frutiger LT Std 45 Light" panose="020B0402020204020204" pitchFamily="34" charset="0"/>
              </a:rPr>
              <a:t> is het verschil minimaal en bij een </a:t>
            </a:r>
            <a:r>
              <a:rPr lang="nl-NL" altLang="nl-NL" sz="2200" b="1" dirty="0">
                <a:solidFill>
                  <a:srgbClr val="00B5F1"/>
                </a:solidFill>
                <a:latin typeface="Frutiger LT Std 45 Light" panose="020B0402020204020204" pitchFamily="34" charset="0"/>
              </a:rPr>
              <a:t>Mismatch</a:t>
            </a:r>
            <a:r>
              <a:rPr lang="nl-NL" altLang="nl-NL" sz="2200" dirty="0">
                <a:latin typeface="Frutiger LT Std 45 Light" panose="020B0402020204020204" pitchFamily="34" charset="0"/>
              </a:rPr>
              <a:t> is dat verschil groot </a:t>
            </a:r>
          </a:p>
        </p:txBody>
      </p:sp>
      <p:pic>
        <p:nvPicPr>
          <p:cNvPr id="46082" name="Picture 2">
            <a:extLst>
              <a:ext uri="{FF2B5EF4-FFF2-40B4-BE49-F238E27FC236}">
                <a16:creationId xmlns:a16="http://schemas.microsoft.com/office/drawing/2014/main" id="{18E3DC0E-B081-4197-A853-A8D58573309D}"/>
              </a:ext>
            </a:extLst>
          </p:cNvPr>
          <p:cNvPicPr>
            <a:picLocks noChangeAspect="1" noChangeArrowheads="1"/>
          </p:cNvPicPr>
          <p:nvPr/>
        </p:nvPicPr>
        <p:blipFill>
          <a:blip r:embed="rId2" cstate="print"/>
          <a:srcRect/>
          <a:stretch>
            <a:fillRect/>
          </a:stretch>
        </p:blipFill>
        <p:spPr bwMode="auto">
          <a:xfrm>
            <a:off x="2166910" y="1571612"/>
            <a:ext cx="4267200" cy="514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1844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CAEEA9EF-EA09-412D-A7A1-DA335382D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974" y="983072"/>
            <a:ext cx="4961153" cy="5162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kstvak 2">
            <a:extLst>
              <a:ext uri="{FF2B5EF4-FFF2-40B4-BE49-F238E27FC236}">
                <a16:creationId xmlns:a16="http://schemas.microsoft.com/office/drawing/2014/main" id="{6AB4FE91-EA03-43C7-923C-C8D852A2FA62}"/>
              </a:ext>
            </a:extLst>
          </p:cNvPr>
          <p:cNvSpPr txBox="1">
            <a:spLocks noChangeArrowheads="1"/>
          </p:cNvSpPr>
          <p:nvPr/>
        </p:nvSpPr>
        <p:spPr bwMode="auto">
          <a:xfrm>
            <a:off x="0" y="285750"/>
            <a:ext cx="12192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nl-NL" altLang="nl-NL" sz="4400" b="1" dirty="0">
                <a:solidFill>
                  <a:schemeClr val="accent6">
                    <a:lumMod val="75000"/>
                  </a:schemeClr>
                </a:solidFill>
                <a:latin typeface="Frutiger LT Std 45 Light" panose="020B0402020204020204" pitchFamily="34" charset="0"/>
              </a:rPr>
              <a:t>Privé-omgeving - werkomgeving interesses </a:t>
            </a:r>
          </a:p>
        </p:txBody>
      </p:sp>
    </p:spTree>
    <p:extLst>
      <p:ext uri="{BB962C8B-B14F-4D97-AF65-F5344CB8AC3E}">
        <p14:creationId xmlns:p14="http://schemas.microsoft.com/office/powerpoint/2010/main" val="3995590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87B67C-B80A-45DF-97CC-E6CD2D6343E6}"/>
              </a:ext>
            </a:extLst>
          </p:cNvPr>
          <p:cNvSpPr>
            <a:spLocks noGrp="1"/>
          </p:cNvSpPr>
          <p:nvPr>
            <p:ph type="title"/>
          </p:nvPr>
        </p:nvSpPr>
        <p:spPr/>
        <p:txBody>
          <a:bodyPr/>
          <a:lstStyle/>
          <a:p>
            <a:r>
              <a:rPr lang="nl-NL" b="1" dirty="0">
                <a:solidFill>
                  <a:schemeClr val="accent6">
                    <a:lumMod val="75000"/>
                  </a:schemeClr>
                </a:solidFill>
                <a:latin typeface="Frutiger LT Std 45 Light" panose="020B0402020204020204" pitchFamily="34" charset="0"/>
              </a:rPr>
              <a:t>Motivatie model</a:t>
            </a:r>
          </a:p>
        </p:txBody>
      </p:sp>
      <p:graphicFrame>
        <p:nvGraphicFramePr>
          <p:cNvPr id="4" name="Tijdelijke aanduiding voor inhoud 3">
            <a:extLst>
              <a:ext uri="{FF2B5EF4-FFF2-40B4-BE49-F238E27FC236}">
                <a16:creationId xmlns:a16="http://schemas.microsoft.com/office/drawing/2014/main" id="{58CBF544-2239-4CDE-92BE-BA2DFDB1DC34}"/>
              </a:ext>
            </a:extLst>
          </p:cNvPr>
          <p:cNvGraphicFramePr>
            <a:graphicFrameLocks noGrp="1"/>
          </p:cNvGraphicFramePr>
          <p:nvPr>
            <p:ph idx="1"/>
            <p:extLst>
              <p:ext uri="{D42A27DB-BD31-4B8C-83A1-F6EECF244321}">
                <p14:modId xmlns:p14="http://schemas.microsoft.com/office/powerpoint/2010/main" val="1009348842"/>
              </p:ext>
            </p:extLst>
          </p:nvPr>
        </p:nvGraphicFramePr>
        <p:xfrm>
          <a:off x="609600" y="1315065"/>
          <a:ext cx="10972800" cy="4879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7067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8E465E-4CC0-4B9E-BC38-989302B91CC2}"/>
              </a:ext>
            </a:extLst>
          </p:cNvPr>
          <p:cNvSpPr>
            <a:spLocks noGrp="1"/>
          </p:cNvSpPr>
          <p:nvPr>
            <p:ph type="title"/>
          </p:nvPr>
        </p:nvSpPr>
        <p:spPr/>
        <p:txBody>
          <a:bodyPr/>
          <a:lstStyle/>
          <a:p>
            <a:r>
              <a:rPr lang="nl-NL" dirty="0">
                <a:solidFill>
                  <a:schemeClr val="accent6">
                    <a:lumMod val="75000"/>
                  </a:schemeClr>
                </a:solidFill>
                <a:latin typeface="Frutiger LT Std 45 Light" panose="020B0402020204020204" pitchFamily="34" charset="0"/>
              </a:rPr>
              <a:t>De 3 centrale motivatie principes</a:t>
            </a:r>
          </a:p>
        </p:txBody>
      </p:sp>
      <p:sp>
        <p:nvSpPr>
          <p:cNvPr id="3" name="Tijdelijke aanduiding voor inhoud 2">
            <a:extLst>
              <a:ext uri="{FF2B5EF4-FFF2-40B4-BE49-F238E27FC236}">
                <a16:creationId xmlns:a16="http://schemas.microsoft.com/office/drawing/2014/main" id="{790CF705-5797-4EEF-BE9E-46B432183716}"/>
              </a:ext>
            </a:extLst>
          </p:cNvPr>
          <p:cNvSpPr>
            <a:spLocks noGrp="1"/>
          </p:cNvSpPr>
          <p:nvPr>
            <p:ph idx="1"/>
          </p:nvPr>
        </p:nvSpPr>
        <p:spPr>
          <a:xfrm>
            <a:off x="1312606" y="1417638"/>
            <a:ext cx="9729020" cy="4751436"/>
          </a:xfrm>
        </p:spPr>
        <p:txBody>
          <a:bodyPr/>
          <a:lstStyle/>
          <a:p>
            <a:pPr marL="0" indent="0">
              <a:buNone/>
            </a:pPr>
            <a:r>
              <a:rPr lang="nl-NL" sz="2200" b="1" dirty="0">
                <a:latin typeface="Frutiger LT Std 45 Light" panose="020B0402020204020204" pitchFamily="34" charset="0"/>
              </a:rPr>
              <a:t>Werk Stijl</a:t>
            </a:r>
          </a:p>
          <a:p>
            <a:r>
              <a:rPr lang="nl-NL" sz="2200" dirty="0">
                <a:latin typeface="Frutiger LT Std 45 Light" panose="020B0402020204020204" pitchFamily="34" charset="0"/>
              </a:rPr>
              <a:t>HOE we werken wordt grotendeels gevormd door wat voor ons natuurlijk, gewoon of comfortabel is om te doen. Onze Persoonlijke Stijl (DISC).</a:t>
            </a:r>
          </a:p>
          <a:p>
            <a:pPr marL="0" indent="0">
              <a:buNone/>
            </a:pPr>
            <a:endParaRPr lang="nl-NL" sz="2200" dirty="0">
              <a:latin typeface="Frutiger LT Std 45 Light" panose="020B0402020204020204" pitchFamily="34" charset="0"/>
            </a:endParaRPr>
          </a:p>
          <a:p>
            <a:pPr marL="0" indent="0">
              <a:buNone/>
            </a:pPr>
            <a:r>
              <a:rPr lang="nl-NL" sz="2200" b="1" dirty="0">
                <a:latin typeface="Frutiger LT Std 45 Light" panose="020B0402020204020204" pitchFamily="34" charset="0"/>
              </a:rPr>
              <a:t>Werk Waarden</a:t>
            </a:r>
          </a:p>
          <a:p>
            <a:r>
              <a:rPr lang="nl-NL" sz="2200" dirty="0">
                <a:latin typeface="Frutiger LT Std 45 Light" panose="020B0402020204020204" pitchFamily="34" charset="0"/>
              </a:rPr>
              <a:t>Onze mate van duidelijkheid en betrokkenheid waar wij in geloven. Onze Waarden bepalen wat wij denken te </a:t>
            </a:r>
            <a:r>
              <a:rPr lang="nl-NL" sz="2200" i="1" dirty="0">
                <a:latin typeface="Frutiger LT Std 45 Light" panose="020B0402020204020204" pitchFamily="34" charset="0"/>
              </a:rPr>
              <a:t>zouden moeten </a:t>
            </a:r>
            <a:r>
              <a:rPr lang="nl-NL" sz="2200" dirty="0">
                <a:latin typeface="Frutiger LT Std 45 Light" panose="020B0402020204020204" pitchFamily="34" charset="0"/>
              </a:rPr>
              <a:t>doen op het werk (of elders).</a:t>
            </a:r>
          </a:p>
          <a:p>
            <a:pPr marL="0" indent="0">
              <a:buNone/>
            </a:pPr>
            <a:endParaRPr lang="nl-NL" sz="2200" dirty="0">
              <a:latin typeface="Frutiger LT Std 45 Light" panose="020B0402020204020204" pitchFamily="34" charset="0"/>
            </a:endParaRPr>
          </a:p>
          <a:p>
            <a:pPr marL="0" indent="0">
              <a:buNone/>
            </a:pPr>
            <a:r>
              <a:rPr lang="nl-NL" sz="2200" b="1" dirty="0">
                <a:latin typeface="Frutiger LT Std 45 Light" panose="020B0402020204020204" pitchFamily="34" charset="0"/>
              </a:rPr>
              <a:t>Werk Interesses </a:t>
            </a:r>
          </a:p>
          <a:p>
            <a:r>
              <a:rPr lang="nl-NL" sz="2200" dirty="0">
                <a:latin typeface="Frutiger LT Std 45 Light" panose="020B0402020204020204" pitchFamily="34" charset="0"/>
              </a:rPr>
              <a:t>Wij zijn gemotiveerd om dat type werk te doen welke onze interesse of aantrekkingskracht heeft. </a:t>
            </a:r>
          </a:p>
        </p:txBody>
      </p:sp>
    </p:spTree>
    <p:extLst>
      <p:ext uri="{BB962C8B-B14F-4D97-AF65-F5344CB8AC3E}">
        <p14:creationId xmlns:p14="http://schemas.microsoft.com/office/powerpoint/2010/main" val="2905464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17AFC0-CFD0-42F6-BA5D-1E2FDE3EF98C}"/>
              </a:ext>
            </a:extLst>
          </p:cNvPr>
          <p:cNvSpPr>
            <a:spLocks noGrp="1"/>
          </p:cNvSpPr>
          <p:nvPr>
            <p:ph type="title"/>
          </p:nvPr>
        </p:nvSpPr>
        <p:spPr/>
        <p:txBody>
          <a:bodyPr/>
          <a:lstStyle/>
          <a:p>
            <a:r>
              <a:rPr lang="nl-NL" dirty="0">
                <a:solidFill>
                  <a:schemeClr val="accent6">
                    <a:lumMod val="75000"/>
                  </a:schemeClr>
                </a:solidFill>
                <a:latin typeface="Frutiger LT Std 45 Light" panose="020B0402020204020204" pitchFamily="34" charset="0"/>
              </a:rPr>
              <a:t>Motivatie factoren</a:t>
            </a:r>
          </a:p>
        </p:txBody>
      </p:sp>
      <p:sp>
        <p:nvSpPr>
          <p:cNvPr id="3" name="Tijdelijke aanduiding voor inhoud 2">
            <a:extLst>
              <a:ext uri="{FF2B5EF4-FFF2-40B4-BE49-F238E27FC236}">
                <a16:creationId xmlns:a16="http://schemas.microsoft.com/office/drawing/2014/main" id="{5E39AA72-7BD6-4D37-A7C7-8A6577CEADD1}"/>
              </a:ext>
            </a:extLst>
          </p:cNvPr>
          <p:cNvSpPr>
            <a:spLocks noGrp="1"/>
          </p:cNvSpPr>
          <p:nvPr>
            <p:ph idx="1"/>
          </p:nvPr>
        </p:nvSpPr>
        <p:spPr/>
        <p:txBody>
          <a:bodyPr/>
          <a:lstStyle/>
          <a:p>
            <a:pPr marL="0" indent="0">
              <a:buNone/>
            </a:pPr>
            <a:endParaRPr lang="nl-NL" b="1" dirty="0">
              <a:latin typeface="Frutiger LT Std 45 Light" panose="020B0402020204020204" pitchFamily="34" charset="0"/>
            </a:endParaRPr>
          </a:p>
          <a:p>
            <a:pPr marL="0" indent="0" algn="ctr">
              <a:buNone/>
            </a:pPr>
            <a:r>
              <a:rPr lang="nl-NL" b="1" dirty="0">
                <a:latin typeface="Frutiger LT Std 45 Light" panose="020B0402020204020204" pitchFamily="34" charset="0"/>
              </a:rPr>
              <a:t>Voorbeeld</a:t>
            </a:r>
            <a:r>
              <a:rPr lang="nl-NL" dirty="0">
                <a:latin typeface="Frutiger LT Std 45 Light" panose="020B0402020204020204" pitchFamily="34" charset="0"/>
              </a:rPr>
              <a:t> </a:t>
            </a:r>
          </a:p>
          <a:p>
            <a:pPr marL="0" indent="0" algn="ctr">
              <a:buNone/>
            </a:pPr>
            <a:r>
              <a:rPr lang="nl-NL" dirty="0">
                <a:latin typeface="Frutiger LT Std 45 Light" panose="020B0402020204020204" pitchFamily="34" charset="0"/>
              </a:rPr>
              <a:t>Verkoper / Sales Manager </a:t>
            </a:r>
          </a:p>
          <a:p>
            <a:pPr marL="0" indent="0" algn="ctr">
              <a:buNone/>
            </a:pPr>
            <a:r>
              <a:rPr lang="nl-NL" dirty="0">
                <a:latin typeface="Frutiger LT Std 45 Light" panose="020B0402020204020204" pitchFamily="34" charset="0"/>
              </a:rPr>
              <a:t>Taken verwachtingen werk Motivatie Profiel</a:t>
            </a:r>
          </a:p>
          <a:p>
            <a:endParaRPr lang="nl-NL" dirty="0"/>
          </a:p>
        </p:txBody>
      </p:sp>
    </p:spTree>
    <p:extLst>
      <p:ext uri="{BB962C8B-B14F-4D97-AF65-F5344CB8AC3E}">
        <p14:creationId xmlns:p14="http://schemas.microsoft.com/office/powerpoint/2010/main" val="2584614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8E465E-4CC0-4B9E-BC38-989302B91CC2}"/>
              </a:ext>
            </a:extLst>
          </p:cNvPr>
          <p:cNvSpPr>
            <a:spLocks noGrp="1"/>
          </p:cNvSpPr>
          <p:nvPr>
            <p:ph type="title"/>
          </p:nvPr>
        </p:nvSpPr>
        <p:spPr/>
        <p:txBody>
          <a:bodyPr/>
          <a:lstStyle/>
          <a:p>
            <a:r>
              <a:rPr lang="nl-NL" dirty="0">
                <a:solidFill>
                  <a:schemeClr val="accent6">
                    <a:lumMod val="75000"/>
                  </a:schemeClr>
                </a:solidFill>
                <a:latin typeface="Frutiger LT Std 45 Light" panose="020B0402020204020204" pitchFamily="34" charset="0"/>
              </a:rPr>
              <a:t>Motivatie factoren</a:t>
            </a:r>
          </a:p>
        </p:txBody>
      </p:sp>
      <p:graphicFrame>
        <p:nvGraphicFramePr>
          <p:cNvPr id="7" name="Tijdelijke aanduiding voor inhoud 6">
            <a:extLst>
              <a:ext uri="{FF2B5EF4-FFF2-40B4-BE49-F238E27FC236}">
                <a16:creationId xmlns:a16="http://schemas.microsoft.com/office/drawing/2014/main" id="{A8E8A7EF-A309-4CAC-92A3-4F7BF9AC168E}"/>
              </a:ext>
            </a:extLst>
          </p:cNvPr>
          <p:cNvGraphicFramePr>
            <a:graphicFrameLocks noGrp="1"/>
          </p:cNvGraphicFramePr>
          <p:nvPr>
            <p:ph idx="1"/>
            <p:extLst>
              <p:ext uri="{D42A27DB-BD31-4B8C-83A1-F6EECF244321}">
                <p14:modId xmlns:p14="http://schemas.microsoft.com/office/powerpoint/2010/main" val="3649882537"/>
              </p:ext>
            </p:extLst>
          </p:nvPr>
        </p:nvGraphicFramePr>
        <p:xfrm>
          <a:off x="609600" y="2094271"/>
          <a:ext cx="11130116" cy="4021393"/>
        </p:xfrm>
        <a:graphic>
          <a:graphicData uri="http://schemas.openxmlformats.org/drawingml/2006/table">
            <a:tbl>
              <a:tblPr firstRow="1" firstCol="1" bandRow="1">
                <a:tableStyleId>{5C22544A-7EE6-4342-B048-85BDC9FD1C3A}</a:tableStyleId>
              </a:tblPr>
              <a:tblGrid>
                <a:gridCol w="5547623">
                  <a:extLst>
                    <a:ext uri="{9D8B030D-6E8A-4147-A177-3AD203B41FA5}">
                      <a16:colId xmlns:a16="http://schemas.microsoft.com/office/drawing/2014/main" val="1659557367"/>
                    </a:ext>
                  </a:extLst>
                </a:gridCol>
                <a:gridCol w="5582493">
                  <a:extLst>
                    <a:ext uri="{9D8B030D-6E8A-4147-A177-3AD203B41FA5}">
                      <a16:colId xmlns:a16="http://schemas.microsoft.com/office/drawing/2014/main" val="983804853"/>
                    </a:ext>
                  </a:extLst>
                </a:gridCol>
              </a:tblGrid>
              <a:tr h="1242129">
                <a:tc>
                  <a:txBody>
                    <a:bodyPr/>
                    <a:lstStyle/>
                    <a:p>
                      <a:pPr>
                        <a:lnSpc>
                          <a:spcPct val="107000"/>
                        </a:lnSpc>
                        <a:spcAft>
                          <a:spcPts val="0"/>
                        </a:spcAft>
                      </a:pPr>
                      <a:r>
                        <a:rPr lang="nl-NL" sz="1600" dirty="0">
                          <a:effectLst/>
                          <a:latin typeface="Frutiger LT Std 45 Light" panose="020B0402020204020204" pitchFamily="34" charset="0"/>
                        </a:rPr>
                        <a:t>Factor WERK STIJL (DISC) </a:t>
                      </a:r>
                    </a:p>
                    <a:p>
                      <a:pPr>
                        <a:lnSpc>
                          <a:spcPct val="107000"/>
                        </a:lnSpc>
                        <a:spcAft>
                          <a:spcPts val="0"/>
                        </a:spcAft>
                      </a:pPr>
                      <a:r>
                        <a:rPr lang="nl-NL" sz="1600" b="0" dirty="0">
                          <a:effectLst/>
                          <a:latin typeface="Frutiger LT Std 45 Light" panose="020B0402020204020204" pitchFamily="34" charset="0"/>
                        </a:rPr>
                        <a:t>De manier hoe mensen hun werk doen</a:t>
                      </a:r>
                    </a:p>
                    <a:p>
                      <a:pPr>
                        <a:lnSpc>
                          <a:spcPct val="107000"/>
                        </a:lnSpc>
                        <a:spcAft>
                          <a:spcPts val="0"/>
                        </a:spcAft>
                      </a:pPr>
                      <a:r>
                        <a:rPr lang="nl-NL" sz="1600" b="0" dirty="0">
                          <a:effectLst/>
                          <a:latin typeface="Frutiger LT Std 45 Light" panose="020B0402020204020204" pitchFamily="34" charset="0"/>
                        </a:rPr>
                        <a:t>(niet de effectiviteit)</a:t>
                      </a:r>
                      <a:endParaRPr lang="nl-NL" sz="1600" b="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nchor="ctr">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 </a:t>
                      </a:r>
                      <a:endParaRPr lang="nl-NL" sz="160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solidFill>
                      <a:srgbClr val="00B0F0"/>
                    </a:solidFill>
                  </a:tcPr>
                </a:tc>
                <a:extLst>
                  <a:ext uri="{0D108BD9-81ED-4DB2-BD59-A6C34878D82A}">
                    <a16:rowId xmlns:a16="http://schemas.microsoft.com/office/drawing/2014/main" val="2018993372"/>
                  </a:ext>
                </a:extLst>
              </a:tr>
              <a:tr h="627114">
                <a:tc>
                  <a:txBody>
                    <a:bodyPr/>
                    <a:lstStyle/>
                    <a:p>
                      <a:pPr>
                        <a:lnSpc>
                          <a:spcPct val="107000"/>
                        </a:lnSpc>
                        <a:spcAft>
                          <a:spcPts val="0"/>
                        </a:spcAft>
                      </a:pPr>
                      <a:r>
                        <a:rPr lang="nl-NL" sz="1600" dirty="0">
                          <a:effectLst/>
                          <a:latin typeface="Frutiger LT Std 45 Light" panose="020B0402020204020204" pitchFamily="34" charset="0"/>
                        </a:rPr>
                        <a:t>Het Dominante temperament </a:t>
                      </a:r>
                    </a:p>
                    <a:p>
                      <a:pPr>
                        <a:lnSpc>
                          <a:spcPct val="107000"/>
                        </a:lnSpc>
                        <a:spcAft>
                          <a:spcPts val="0"/>
                        </a:spcAft>
                      </a:pPr>
                      <a:r>
                        <a:rPr lang="nl-NL" sz="1600" b="0" dirty="0">
                          <a:effectLst/>
                          <a:latin typeface="Frutiger LT Std 45 Light" panose="020B0402020204020204" pitchFamily="34" charset="0"/>
                        </a:rPr>
                        <a:t>direct, controlerend, taakgericht</a:t>
                      </a:r>
                      <a:endParaRPr lang="nl-NL" sz="1600" b="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solidFill>
                      <a:srgbClr val="00B0F0"/>
                    </a:solidFill>
                  </a:tcPr>
                </a:tc>
                <a:tc>
                  <a:txBody>
                    <a:bodyPr/>
                    <a:lstStyle/>
                    <a:p>
                      <a:pPr>
                        <a:lnSpc>
                          <a:spcPct val="107000"/>
                        </a:lnSpc>
                        <a:spcAft>
                          <a:spcPts val="0"/>
                        </a:spcAft>
                      </a:pPr>
                      <a:r>
                        <a:rPr lang="nl-NL" sz="1600">
                          <a:effectLst/>
                          <a:latin typeface="Frutiger LT Std 45 Light" panose="020B0402020204020204" pitchFamily="34" charset="0"/>
                        </a:rPr>
                        <a:t>Streeft naar het bereiken en bij voorkeur overtreffen van de targets </a:t>
                      </a:r>
                      <a:endParaRPr lang="nl-NL" sz="160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379307729"/>
                  </a:ext>
                </a:extLst>
              </a:tr>
              <a:tr h="607252">
                <a:tc>
                  <a:txBody>
                    <a:bodyPr/>
                    <a:lstStyle/>
                    <a:p>
                      <a:pPr>
                        <a:lnSpc>
                          <a:spcPct val="107000"/>
                        </a:lnSpc>
                        <a:spcAft>
                          <a:spcPts val="0"/>
                        </a:spcAft>
                      </a:pPr>
                      <a:r>
                        <a:rPr lang="nl-NL" sz="1600" dirty="0">
                          <a:effectLst/>
                          <a:latin typeface="Frutiger LT Std 45 Light" panose="020B0402020204020204" pitchFamily="34" charset="0"/>
                        </a:rPr>
                        <a:t>Het Interactieve temperament</a:t>
                      </a:r>
                    </a:p>
                    <a:p>
                      <a:pPr>
                        <a:lnSpc>
                          <a:spcPct val="107000"/>
                        </a:lnSpc>
                        <a:spcAft>
                          <a:spcPts val="0"/>
                        </a:spcAft>
                      </a:pPr>
                      <a:r>
                        <a:rPr lang="nl-NL" sz="1600" b="0" dirty="0">
                          <a:effectLst/>
                          <a:latin typeface="Frutiger LT Std 45 Light" panose="020B0402020204020204" pitchFamily="34" charset="0"/>
                        </a:rPr>
                        <a:t>direct, ondersteunend, mensgericht</a:t>
                      </a:r>
                      <a:endParaRPr lang="nl-NL" sz="1600" b="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naar het verkrijgen van de goedkeuring van anderen en erkend te worden als een verkoper van aanzien</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432926481"/>
                  </a:ext>
                </a:extLst>
              </a:tr>
              <a:tr h="607252">
                <a:tc>
                  <a:txBody>
                    <a:bodyPr/>
                    <a:lstStyle/>
                    <a:p>
                      <a:pPr>
                        <a:lnSpc>
                          <a:spcPct val="107000"/>
                        </a:lnSpc>
                        <a:spcAft>
                          <a:spcPts val="0"/>
                        </a:spcAft>
                      </a:pPr>
                      <a:r>
                        <a:rPr lang="nl-NL" sz="1600" dirty="0">
                          <a:effectLst/>
                          <a:latin typeface="Frutiger LT Std 45 Light" panose="020B0402020204020204" pitchFamily="34" charset="0"/>
                        </a:rPr>
                        <a:t>Het Stabiele temperament</a:t>
                      </a:r>
                    </a:p>
                    <a:p>
                      <a:pPr>
                        <a:lnSpc>
                          <a:spcPct val="107000"/>
                        </a:lnSpc>
                        <a:spcAft>
                          <a:spcPts val="0"/>
                        </a:spcAft>
                      </a:pPr>
                      <a:r>
                        <a:rPr lang="nl-NL" sz="1600" b="0" dirty="0">
                          <a:effectLst/>
                          <a:latin typeface="Frutiger LT Std 45 Light" panose="020B0402020204020204" pitchFamily="34" charset="0"/>
                        </a:rPr>
                        <a:t>indirect, ondersteunend, mensgericht</a:t>
                      </a:r>
                      <a:endParaRPr lang="nl-NL" sz="1600" b="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ernaar om klanten van dienst te zijn en op een  voorspelbare wijze samen te werken (met iedereen)</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522040792"/>
                  </a:ext>
                </a:extLst>
              </a:tr>
              <a:tr h="937646">
                <a:tc>
                  <a:txBody>
                    <a:bodyPr/>
                    <a:lstStyle/>
                    <a:p>
                      <a:pPr>
                        <a:lnSpc>
                          <a:spcPct val="107000"/>
                        </a:lnSpc>
                        <a:spcAft>
                          <a:spcPts val="0"/>
                        </a:spcAft>
                      </a:pPr>
                      <a:r>
                        <a:rPr lang="nl-NL" sz="1600" dirty="0">
                          <a:effectLst/>
                          <a:latin typeface="Frutiger LT Std 45 Light" panose="020B0402020204020204" pitchFamily="34" charset="0"/>
                        </a:rPr>
                        <a:t>Het Consciëntieuze temperament</a:t>
                      </a:r>
                    </a:p>
                    <a:p>
                      <a:pPr>
                        <a:lnSpc>
                          <a:spcPct val="107000"/>
                        </a:lnSpc>
                        <a:spcAft>
                          <a:spcPts val="0"/>
                        </a:spcAft>
                      </a:pPr>
                      <a:r>
                        <a:rPr lang="nl-NL" sz="1600" b="0" dirty="0">
                          <a:effectLst/>
                          <a:latin typeface="Frutiger LT Std 45 Light" panose="020B0402020204020204" pitchFamily="34" charset="0"/>
                        </a:rPr>
                        <a:t>indirect, controlerend, taakgericht</a:t>
                      </a:r>
                      <a:endParaRPr lang="nl-NL" sz="1600" b="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ernaar om te voldoen aan de verwachte omzet/verkoop standaarden en deze te behalen met minimale problemen en betrokkenheid van/met anderen</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639764654"/>
                  </a:ext>
                </a:extLst>
              </a:tr>
            </a:tbl>
          </a:graphicData>
        </a:graphic>
      </p:graphicFrame>
      <p:sp>
        <p:nvSpPr>
          <p:cNvPr id="8" name="Rechthoek 7">
            <a:extLst>
              <a:ext uri="{FF2B5EF4-FFF2-40B4-BE49-F238E27FC236}">
                <a16:creationId xmlns:a16="http://schemas.microsoft.com/office/drawing/2014/main" id="{3FEF5233-C359-447B-8378-10BFCA7A5D5C}"/>
              </a:ext>
            </a:extLst>
          </p:cNvPr>
          <p:cNvSpPr/>
          <p:nvPr/>
        </p:nvSpPr>
        <p:spPr>
          <a:xfrm>
            <a:off x="3619984" y="1435429"/>
            <a:ext cx="5109347" cy="369332"/>
          </a:xfrm>
          <a:prstGeom prst="rect">
            <a:avLst/>
          </a:prstGeom>
        </p:spPr>
        <p:txBody>
          <a:bodyPr wrap="none">
            <a:spAutoFit/>
          </a:bodyPr>
          <a:lstStyle/>
          <a:p>
            <a:r>
              <a:rPr lang="nl-NL" b="1" dirty="0">
                <a:latin typeface="Frutiger LT Std 45 Light" panose="020B0402020204020204" pitchFamily="34" charset="0"/>
              </a:rPr>
              <a:t>Voorbeeld functie: Verkoper / Sales Manager </a:t>
            </a:r>
          </a:p>
        </p:txBody>
      </p:sp>
    </p:spTree>
    <p:extLst>
      <p:ext uri="{BB962C8B-B14F-4D97-AF65-F5344CB8AC3E}">
        <p14:creationId xmlns:p14="http://schemas.microsoft.com/office/powerpoint/2010/main" val="1382963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8E465E-4CC0-4B9E-BC38-989302B91CC2}"/>
              </a:ext>
            </a:extLst>
          </p:cNvPr>
          <p:cNvSpPr>
            <a:spLocks noGrp="1"/>
          </p:cNvSpPr>
          <p:nvPr>
            <p:ph type="title"/>
          </p:nvPr>
        </p:nvSpPr>
        <p:spPr>
          <a:xfrm>
            <a:off x="609600" y="274638"/>
            <a:ext cx="10972800" cy="419066"/>
          </a:xfrm>
        </p:spPr>
        <p:txBody>
          <a:bodyPr/>
          <a:lstStyle/>
          <a:p>
            <a:r>
              <a:rPr lang="nl-NL" sz="2800" dirty="0">
                <a:solidFill>
                  <a:schemeClr val="accent6">
                    <a:lumMod val="75000"/>
                  </a:schemeClr>
                </a:solidFill>
                <a:latin typeface="Frutiger LT Std 45 Light" panose="020B0402020204020204" pitchFamily="34" charset="0"/>
              </a:rPr>
              <a:t>Motivatie factoren - vervolg</a:t>
            </a:r>
          </a:p>
        </p:txBody>
      </p:sp>
      <p:graphicFrame>
        <p:nvGraphicFramePr>
          <p:cNvPr id="6" name="Tijdelijke aanduiding voor inhoud 5">
            <a:extLst>
              <a:ext uri="{FF2B5EF4-FFF2-40B4-BE49-F238E27FC236}">
                <a16:creationId xmlns:a16="http://schemas.microsoft.com/office/drawing/2014/main" id="{9B621AF7-0FA2-4817-9B93-53E5206199AA}"/>
              </a:ext>
            </a:extLst>
          </p:cNvPr>
          <p:cNvGraphicFramePr>
            <a:graphicFrameLocks noGrp="1"/>
          </p:cNvGraphicFramePr>
          <p:nvPr>
            <p:ph idx="1"/>
            <p:extLst>
              <p:ext uri="{D42A27DB-BD31-4B8C-83A1-F6EECF244321}">
                <p14:modId xmlns:p14="http://schemas.microsoft.com/office/powerpoint/2010/main" val="2621211165"/>
              </p:ext>
            </p:extLst>
          </p:nvPr>
        </p:nvGraphicFramePr>
        <p:xfrm>
          <a:off x="609600" y="1162000"/>
          <a:ext cx="11120284" cy="4907144"/>
        </p:xfrm>
        <a:graphic>
          <a:graphicData uri="http://schemas.openxmlformats.org/drawingml/2006/table">
            <a:tbl>
              <a:tblPr firstRow="1" firstCol="1" bandRow="1">
                <a:tableStyleId>{5C22544A-7EE6-4342-B048-85BDC9FD1C3A}</a:tableStyleId>
              </a:tblPr>
              <a:tblGrid>
                <a:gridCol w="5542722">
                  <a:extLst>
                    <a:ext uri="{9D8B030D-6E8A-4147-A177-3AD203B41FA5}">
                      <a16:colId xmlns:a16="http://schemas.microsoft.com/office/drawing/2014/main" val="3694817931"/>
                    </a:ext>
                  </a:extLst>
                </a:gridCol>
                <a:gridCol w="5577562">
                  <a:extLst>
                    <a:ext uri="{9D8B030D-6E8A-4147-A177-3AD203B41FA5}">
                      <a16:colId xmlns:a16="http://schemas.microsoft.com/office/drawing/2014/main" val="9961386"/>
                    </a:ext>
                  </a:extLst>
                </a:gridCol>
              </a:tblGrid>
              <a:tr h="1227239">
                <a:tc>
                  <a:txBody>
                    <a:bodyPr/>
                    <a:lstStyle/>
                    <a:p>
                      <a:pPr>
                        <a:lnSpc>
                          <a:spcPct val="107000"/>
                        </a:lnSpc>
                        <a:spcAft>
                          <a:spcPts val="0"/>
                        </a:spcAft>
                      </a:pPr>
                      <a:endParaRPr lang="nl-NL" sz="1600" dirty="0">
                        <a:effectLst/>
                        <a:latin typeface="Frutiger LT Std 45 Light" panose="020B0402020204020204" pitchFamily="34" charset="0"/>
                      </a:endParaRPr>
                    </a:p>
                    <a:p>
                      <a:pPr>
                        <a:lnSpc>
                          <a:spcPct val="107000"/>
                        </a:lnSpc>
                        <a:spcAft>
                          <a:spcPts val="0"/>
                        </a:spcAft>
                      </a:pPr>
                      <a:r>
                        <a:rPr lang="nl-NL" sz="1600" dirty="0">
                          <a:effectLst/>
                          <a:latin typeface="Frutiger LT Std 45 Light" panose="020B0402020204020204" pitchFamily="34" charset="0"/>
                        </a:rPr>
                        <a:t>Factor WERK WAARDEN</a:t>
                      </a:r>
                    </a:p>
                    <a:p>
                      <a:pPr>
                        <a:lnSpc>
                          <a:spcPct val="107000"/>
                        </a:lnSpc>
                        <a:spcAft>
                          <a:spcPts val="0"/>
                        </a:spcAft>
                      </a:pPr>
                      <a:r>
                        <a:rPr lang="nl-NL" sz="1600" b="0" dirty="0">
                          <a:effectLst/>
                          <a:latin typeface="Frutiger LT Std 45 Light" panose="020B0402020204020204" pitchFamily="34" charset="0"/>
                        </a:rPr>
                        <a:t>Waarom mensen werken, hoe men beslist wat ze ‘zouden moeten’ doen. Hoe men bepaalt wat </a:t>
                      </a:r>
                      <a:r>
                        <a:rPr lang="nl-NL" sz="1600" b="0" i="1" dirty="0">
                          <a:effectLst/>
                          <a:latin typeface="Frutiger LT Std 45 Light" panose="020B0402020204020204" pitchFamily="34" charset="0"/>
                        </a:rPr>
                        <a:t>goed</a:t>
                      </a:r>
                      <a:r>
                        <a:rPr lang="nl-NL" sz="1600" b="0" dirty="0">
                          <a:effectLst/>
                          <a:latin typeface="Frutiger LT Std 45 Light" panose="020B0402020204020204" pitchFamily="34" charset="0"/>
                        </a:rPr>
                        <a:t> versus </a:t>
                      </a:r>
                      <a:r>
                        <a:rPr lang="nl-NL" sz="1600" b="0" i="1" dirty="0">
                          <a:effectLst/>
                          <a:latin typeface="Frutiger LT Std 45 Light" panose="020B0402020204020204" pitchFamily="34" charset="0"/>
                        </a:rPr>
                        <a:t>fout</a:t>
                      </a:r>
                      <a:r>
                        <a:rPr lang="nl-NL" sz="1600" b="0" dirty="0">
                          <a:effectLst/>
                          <a:latin typeface="Frutiger LT Std 45 Light" panose="020B0402020204020204" pitchFamily="34" charset="0"/>
                        </a:rPr>
                        <a:t> is</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 </a:t>
                      </a:r>
                      <a:endParaRPr lang="nl-NL" sz="160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8580" marR="68580" marT="0" marB="0">
                    <a:solidFill>
                      <a:srgbClr val="00B0F0"/>
                    </a:solidFill>
                  </a:tcPr>
                </a:tc>
                <a:extLst>
                  <a:ext uri="{0D108BD9-81ED-4DB2-BD59-A6C34878D82A}">
                    <a16:rowId xmlns:a16="http://schemas.microsoft.com/office/drawing/2014/main" val="2273031272"/>
                  </a:ext>
                </a:extLst>
              </a:tr>
              <a:tr h="847868">
                <a:tc>
                  <a:txBody>
                    <a:bodyPr/>
                    <a:lstStyle/>
                    <a:p>
                      <a:pPr>
                        <a:lnSpc>
                          <a:spcPct val="107000"/>
                        </a:lnSpc>
                        <a:spcAft>
                          <a:spcPts val="0"/>
                        </a:spcAft>
                      </a:pPr>
                      <a:r>
                        <a:rPr lang="nl-NL" sz="1600" dirty="0">
                          <a:effectLst/>
                          <a:latin typeface="Frutiger LT Std 45 Light" panose="020B0402020204020204" pitchFamily="34" charset="0"/>
                        </a:rPr>
                        <a:t>Type I </a:t>
                      </a:r>
                      <a:r>
                        <a:rPr lang="nl-NL" sz="1600" b="0" dirty="0">
                          <a:effectLst/>
                          <a:latin typeface="Frutiger LT Std 45 Light" panose="020B0402020204020204" pitchFamily="34" charset="0"/>
                        </a:rPr>
                        <a:t>- vereist dat zij vanuit hun eigen prioriteiten op een controlerende manier werken; een individualistische bijdrager </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ernaar om eigen persoonlijke verkoopdoelstellingen te bereiken zonder beperkingen of rekening te houden met doelstellingen van anderen</a:t>
                      </a:r>
                      <a:endParaRPr lang="nl-NL" sz="1600" dirty="0">
                        <a:effectLst/>
                        <a:latin typeface="Frutiger LT Std 45 Light" panose="020B0402020204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2971253"/>
                  </a:ext>
                </a:extLst>
              </a:tr>
              <a:tr h="708243">
                <a:tc>
                  <a:txBody>
                    <a:bodyPr/>
                    <a:lstStyle/>
                    <a:p>
                      <a:pPr>
                        <a:lnSpc>
                          <a:spcPct val="107000"/>
                        </a:lnSpc>
                        <a:spcAft>
                          <a:spcPts val="0"/>
                        </a:spcAft>
                      </a:pPr>
                      <a:r>
                        <a:rPr lang="nl-NL" sz="1600" dirty="0">
                          <a:effectLst/>
                          <a:latin typeface="Frutiger LT Std 45 Light" panose="020B0402020204020204" pitchFamily="34" charset="0"/>
                        </a:rPr>
                        <a:t>Type II </a:t>
                      </a:r>
                      <a:r>
                        <a:rPr lang="nl-NL" sz="1600" b="0" dirty="0">
                          <a:effectLst/>
                          <a:latin typeface="Frutiger LT Std 45 Light" panose="020B0402020204020204" pitchFamily="34" charset="0"/>
                        </a:rPr>
                        <a:t>- vereist samenwerking met anderen met de macht of invloed op een ondersteunende manier; een gematigd individualistische bijdrager</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ernaar om persoonlijke verkoopdoelstellingen te bereiken op een manier die zowel hen als anderen gelukkig maakt</a:t>
                      </a:r>
                      <a:endParaRPr lang="nl-NL" sz="1600" dirty="0">
                        <a:effectLst/>
                        <a:latin typeface="Frutiger LT Std 45 Light" panose="020B0402020204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4486405"/>
                  </a:ext>
                </a:extLst>
              </a:tr>
              <a:tr h="920210">
                <a:tc>
                  <a:txBody>
                    <a:bodyPr/>
                    <a:lstStyle/>
                    <a:p>
                      <a:pPr>
                        <a:lnSpc>
                          <a:spcPct val="107000"/>
                        </a:lnSpc>
                        <a:spcAft>
                          <a:spcPts val="0"/>
                        </a:spcAft>
                      </a:pPr>
                      <a:r>
                        <a:rPr lang="nl-NL" sz="1600" dirty="0">
                          <a:effectLst/>
                          <a:latin typeface="Frutiger LT Std 45 Light" panose="020B0402020204020204" pitchFamily="34" charset="0"/>
                        </a:rPr>
                        <a:t>Type III </a:t>
                      </a:r>
                      <a:r>
                        <a:rPr lang="nl-NL" sz="1600" b="0" dirty="0">
                          <a:effectLst/>
                          <a:latin typeface="Frutiger LT Std 45 Light" panose="020B0402020204020204" pitchFamily="34" charset="0"/>
                        </a:rPr>
                        <a:t>- vereist dat op een controlerende manier wordt gewerkt om aan de verwachte verantwoordelijkheden ten opzichte van anderen te voldoen; een conventionele, groepsgerichte bijdrager</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naar het bereiken van de aan hen toegewezen verkoopdoelstellingen, in lijn met de conventionele verkoop- en organisatiewerkwijzen en beleidsregels</a:t>
                      </a:r>
                      <a:endParaRPr lang="nl-NL" sz="1600" dirty="0">
                        <a:effectLst/>
                        <a:latin typeface="Frutiger LT Std 45 Light" panose="020B0402020204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752372"/>
                  </a:ext>
                </a:extLst>
              </a:tr>
              <a:tr h="928810">
                <a:tc>
                  <a:txBody>
                    <a:bodyPr/>
                    <a:lstStyle/>
                    <a:p>
                      <a:pPr>
                        <a:lnSpc>
                          <a:spcPct val="107000"/>
                        </a:lnSpc>
                        <a:spcAft>
                          <a:spcPts val="0"/>
                        </a:spcAft>
                      </a:pPr>
                      <a:r>
                        <a:rPr lang="nl-NL" sz="1600" dirty="0">
                          <a:effectLst/>
                          <a:latin typeface="Frutiger LT Std 45 Light" panose="020B0402020204020204" pitchFamily="34" charset="0"/>
                        </a:rPr>
                        <a:t>Type IV </a:t>
                      </a:r>
                      <a:r>
                        <a:rPr lang="nl-NL" sz="1600" b="0" i="0" dirty="0">
                          <a:effectLst/>
                          <a:latin typeface="Frutiger LT Std 45 Light" panose="020B0402020204020204" pitchFamily="34" charset="0"/>
                        </a:rPr>
                        <a:t>- vereist werken waarbij kan worden voldaan aan de verantwoordelijkheden ten opzichte van zichzelf en anderen via win-win werkwijzen; een principiële bijdrager, waar mogelijk op een conventionele wijze</a:t>
                      </a:r>
                      <a:endParaRPr lang="nl-NL" sz="1600" b="0" i="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Streeft naar het bereiken van de verwachte verkoop doelstellingen op een manier die resulteert in win-win voordelen voor alle partijen</a:t>
                      </a:r>
                      <a:endParaRPr lang="nl-NL" sz="1600" dirty="0">
                        <a:effectLst/>
                        <a:latin typeface="Frutiger LT Std 45 Light" panose="020B0402020204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7208031"/>
                  </a:ext>
                </a:extLst>
              </a:tr>
            </a:tbl>
          </a:graphicData>
        </a:graphic>
      </p:graphicFrame>
    </p:spTree>
    <p:extLst>
      <p:ext uri="{BB962C8B-B14F-4D97-AF65-F5344CB8AC3E}">
        <p14:creationId xmlns:p14="http://schemas.microsoft.com/office/powerpoint/2010/main" val="2734200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ijdelijke aanduiding voor inhoud 4">
            <a:extLst>
              <a:ext uri="{FF2B5EF4-FFF2-40B4-BE49-F238E27FC236}">
                <a16:creationId xmlns:a16="http://schemas.microsoft.com/office/drawing/2014/main" id="{792C4C6E-CD27-4226-8EBB-159A66996D2D}"/>
              </a:ext>
            </a:extLst>
          </p:cNvPr>
          <p:cNvGraphicFramePr>
            <a:graphicFrameLocks noGrp="1"/>
          </p:cNvGraphicFramePr>
          <p:nvPr>
            <p:ph idx="1"/>
            <p:extLst>
              <p:ext uri="{D42A27DB-BD31-4B8C-83A1-F6EECF244321}">
                <p14:modId xmlns:p14="http://schemas.microsoft.com/office/powerpoint/2010/main" val="3341419650"/>
              </p:ext>
            </p:extLst>
          </p:nvPr>
        </p:nvGraphicFramePr>
        <p:xfrm>
          <a:off x="609600" y="704709"/>
          <a:ext cx="11120284" cy="5460415"/>
        </p:xfrm>
        <a:graphic>
          <a:graphicData uri="http://schemas.openxmlformats.org/drawingml/2006/table">
            <a:tbl>
              <a:tblPr firstRow="1" firstCol="1" bandRow="1">
                <a:tableStyleId>{5C22544A-7EE6-4342-B048-85BDC9FD1C3A}</a:tableStyleId>
              </a:tblPr>
              <a:tblGrid>
                <a:gridCol w="5542722">
                  <a:extLst>
                    <a:ext uri="{9D8B030D-6E8A-4147-A177-3AD203B41FA5}">
                      <a16:colId xmlns:a16="http://schemas.microsoft.com/office/drawing/2014/main" val="3256170141"/>
                    </a:ext>
                  </a:extLst>
                </a:gridCol>
                <a:gridCol w="5577562">
                  <a:extLst>
                    <a:ext uri="{9D8B030D-6E8A-4147-A177-3AD203B41FA5}">
                      <a16:colId xmlns:a16="http://schemas.microsoft.com/office/drawing/2014/main" val="3509457927"/>
                    </a:ext>
                  </a:extLst>
                </a:gridCol>
              </a:tblGrid>
              <a:tr h="724834">
                <a:tc>
                  <a:txBody>
                    <a:bodyPr/>
                    <a:lstStyle/>
                    <a:p>
                      <a:pPr>
                        <a:lnSpc>
                          <a:spcPct val="107000"/>
                        </a:lnSpc>
                        <a:spcAft>
                          <a:spcPts val="0"/>
                        </a:spcAft>
                      </a:pPr>
                      <a:r>
                        <a:rPr lang="nl-NL" sz="1600" dirty="0">
                          <a:effectLst/>
                          <a:latin typeface="Frutiger LT Std 45 Light" panose="020B0402020204020204" pitchFamily="34" charset="0"/>
                        </a:rPr>
                        <a:t>Factor WERK INTERESSES</a:t>
                      </a:r>
                    </a:p>
                    <a:p>
                      <a:pPr>
                        <a:lnSpc>
                          <a:spcPct val="107000"/>
                        </a:lnSpc>
                        <a:spcAft>
                          <a:spcPts val="0"/>
                        </a:spcAft>
                      </a:pPr>
                      <a:r>
                        <a:rPr lang="nl-NL" sz="1600" b="0" dirty="0">
                          <a:effectLst/>
                          <a:latin typeface="Frutiger LT Std 45 Light" panose="020B0402020204020204" pitchFamily="34" charset="0"/>
                        </a:rPr>
                        <a:t>De soorten werk die het meest betekenisvol, interessant en motiverend zijn voor een persoon</a:t>
                      </a:r>
                      <a:endParaRPr lang="nl-NL" sz="1600" b="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6153" marR="66153" marT="0" marB="0" anchor="b">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 </a:t>
                      </a:r>
                      <a:endParaRPr lang="nl-NL" sz="1600" dirty="0">
                        <a:solidFill>
                          <a:srgbClr val="000000"/>
                        </a:solidFill>
                        <a:effectLst/>
                        <a:latin typeface="Frutiger LT Std 45 Light" panose="020B0402020204020204" pitchFamily="34" charset="0"/>
                        <a:ea typeface="Times New Roman" panose="02020603050405020304" pitchFamily="18" charset="0"/>
                        <a:cs typeface="Footlight MT Light" panose="0204060206030A020304" pitchFamily="18" charset="0"/>
                      </a:endParaRPr>
                    </a:p>
                  </a:txBody>
                  <a:tcPr marL="66153" marR="66153" marT="0" marB="0">
                    <a:solidFill>
                      <a:srgbClr val="00B0F0"/>
                    </a:solidFill>
                  </a:tcPr>
                </a:tc>
                <a:extLst>
                  <a:ext uri="{0D108BD9-81ED-4DB2-BD59-A6C34878D82A}">
                    <a16:rowId xmlns:a16="http://schemas.microsoft.com/office/drawing/2014/main" val="3463786400"/>
                  </a:ext>
                </a:extLst>
              </a:tr>
              <a:tr h="725852">
                <a:tc>
                  <a:txBody>
                    <a:bodyPr/>
                    <a:lstStyle/>
                    <a:p>
                      <a:pPr>
                        <a:lnSpc>
                          <a:spcPct val="107000"/>
                        </a:lnSpc>
                        <a:spcAft>
                          <a:spcPts val="0"/>
                        </a:spcAft>
                      </a:pPr>
                      <a:r>
                        <a:rPr lang="nl-NL" sz="1600" dirty="0">
                          <a:effectLst/>
                          <a:latin typeface="Frutiger LT Std 45 Light" panose="020B0402020204020204" pitchFamily="34" charset="0"/>
                        </a:rPr>
                        <a:t>Fysiek </a:t>
                      </a:r>
                      <a:r>
                        <a:rPr lang="nl-NL" sz="1600" b="0" dirty="0">
                          <a:effectLst/>
                          <a:latin typeface="Frutiger LT Std 45 Light" panose="020B0402020204020204" pitchFamily="34" charset="0"/>
                        </a:rPr>
                        <a:t>- werk dat lichaamsbeweging, recreatie of gezondheid met zich meebrengt</a:t>
                      </a:r>
                      <a:endParaRPr lang="nl-NL" sz="1600" b="0" dirty="0">
                        <a:effectLst/>
                        <a:latin typeface="Frutiger LT Std 45 Light" panose="020B0402020204020204" pitchFamily="34" charset="0"/>
                        <a:ea typeface="Times New Roman" panose="02020603050405020304" pitchFamily="18" charset="0"/>
                      </a:endParaRPr>
                    </a:p>
                  </a:txBody>
                  <a:tcPr marL="66153" marR="66153" marT="0" marB="0">
                    <a:solidFill>
                      <a:srgbClr val="00B0F0"/>
                    </a:solidFill>
                  </a:tcPr>
                </a:tc>
                <a:tc>
                  <a:txBody>
                    <a:bodyPr/>
                    <a:lstStyle/>
                    <a:p>
                      <a:pPr>
                        <a:lnSpc>
                          <a:spcPct val="107000"/>
                        </a:lnSpc>
                        <a:spcAft>
                          <a:spcPts val="0"/>
                        </a:spcAft>
                      </a:pPr>
                      <a:r>
                        <a:rPr lang="nl-NL" sz="1600">
                          <a:effectLst/>
                          <a:latin typeface="Frutiger LT Std 45 Light" panose="020B0402020204020204" pitchFamily="34" charset="0"/>
                        </a:rPr>
                        <a:t>Heeft een passie voor saleswerk waarbij fysieke activiteit en beweging een rol spelen, inclusief reizen, buiten het kantoor te zijn (buitendienst)</a:t>
                      </a:r>
                      <a:endParaRPr lang="nl-NL" sz="1600">
                        <a:effectLst/>
                        <a:latin typeface="Frutiger LT Std 45 Light" panose="020B0402020204020204" pitchFamily="34" charset="0"/>
                        <a:ea typeface="Times New Roman" panose="02020603050405020304" pitchFamily="18" charset="0"/>
                      </a:endParaRPr>
                    </a:p>
                  </a:txBody>
                  <a:tcPr marL="66153" marR="66153" marT="0" marB="0"/>
                </a:tc>
                <a:extLst>
                  <a:ext uri="{0D108BD9-81ED-4DB2-BD59-A6C34878D82A}">
                    <a16:rowId xmlns:a16="http://schemas.microsoft.com/office/drawing/2014/main" val="157523075"/>
                  </a:ext>
                </a:extLst>
              </a:tr>
              <a:tr h="725852">
                <a:tc>
                  <a:txBody>
                    <a:bodyPr/>
                    <a:lstStyle/>
                    <a:p>
                      <a:pPr>
                        <a:lnSpc>
                          <a:spcPct val="107000"/>
                        </a:lnSpc>
                        <a:spcAft>
                          <a:spcPts val="0"/>
                        </a:spcAft>
                      </a:pPr>
                      <a:r>
                        <a:rPr lang="nl-NL" sz="1600" dirty="0">
                          <a:effectLst/>
                          <a:latin typeface="Frutiger LT Std 45 Light" panose="020B0402020204020204" pitchFamily="34" charset="0"/>
                        </a:rPr>
                        <a:t>Technisch </a:t>
                      </a:r>
                      <a:r>
                        <a:rPr lang="nl-NL" sz="1600" b="0" dirty="0">
                          <a:effectLst/>
                          <a:latin typeface="Frutiger LT Std 45 Light" panose="020B0402020204020204" pitchFamily="34" charset="0"/>
                        </a:rPr>
                        <a:t>- werk dat zich met tastbare ‘dingen’ bezighoudt en gespecialiseerde kennis, vakbekwaamheid en ervaring vereist</a:t>
                      </a:r>
                      <a:endParaRPr lang="nl-NL" sz="1600" b="0" dirty="0">
                        <a:effectLst/>
                        <a:latin typeface="Frutiger LT Std 45 Light" panose="020B0402020204020204" pitchFamily="34" charset="0"/>
                        <a:ea typeface="Times New Roman" panose="02020603050405020304" pitchFamily="18" charset="0"/>
                      </a:endParaRPr>
                    </a:p>
                  </a:txBody>
                  <a:tcPr marL="66153" marR="66153" marT="0" marB="0">
                    <a:solidFill>
                      <a:srgbClr val="00B0F0"/>
                    </a:solidFill>
                  </a:tcPr>
                </a:tc>
                <a:tc>
                  <a:txBody>
                    <a:bodyPr/>
                    <a:lstStyle/>
                    <a:p>
                      <a:pPr>
                        <a:lnSpc>
                          <a:spcPct val="107000"/>
                        </a:lnSpc>
                        <a:spcAft>
                          <a:spcPts val="0"/>
                        </a:spcAft>
                      </a:pPr>
                      <a:r>
                        <a:rPr lang="nl-NL" sz="1600">
                          <a:effectLst/>
                          <a:latin typeface="Frutiger LT Std 45 Light" panose="020B0402020204020204" pitchFamily="34" charset="0"/>
                        </a:rPr>
                        <a:t>Heeft een passie voor een saleswerk waarbij uitgebreide kennis van het product of de dienst die wordt verkocht een belangrijke rol speelt</a:t>
                      </a:r>
                      <a:endParaRPr lang="nl-NL" sz="1600">
                        <a:effectLst/>
                        <a:latin typeface="Frutiger LT Std 45 Light" panose="020B0402020204020204" pitchFamily="34" charset="0"/>
                        <a:ea typeface="Times New Roman" panose="02020603050405020304" pitchFamily="18" charset="0"/>
                      </a:endParaRPr>
                    </a:p>
                  </a:txBody>
                  <a:tcPr marL="66153" marR="66153" marT="0" marB="0"/>
                </a:tc>
                <a:extLst>
                  <a:ext uri="{0D108BD9-81ED-4DB2-BD59-A6C34878D82A}">
                    <a16:rowId xmlns:a16="http://schemas.microsoft.com/office/drawing/2014/main" val="3436764650"/>
                  </a:ext>
                </a:extLst>
              </a:tr>
              <a:tr h="793486">
                <a:tc>
                  <a:txBody>
                    <a:bodyPr/>
                    <a:lstStyle/>
                    <a:p>
                      <a:pPr>
                        <a:lnSpc>
                          <a:spcPct val="107000"/>
                        </a:lnSpc>
                        <a:spcAft>
                          <a:spcPts val="0"/>
                        </a:spcAft>
                      </a:pPr>
                      <a:r>
                        <a:rPr lang="nl-NL" sz="1600" dirty="0">
                          <a:effectLst/>
                          <a:latin typeface="Frutiger LT Std 45 Light" panose="020B0402020204020204" pitchFamily="34" charset="0"/>
                        </a:rPr>
                        <a:t>Intellectueel </a:t>
                      </a:r>
                      <a:r>
                        <a:rPr lang="nl-NL" sz="1600" b="0" dirty="0">
                          <a:effectLst/>
                          <a:latin typeface="Frutiger LT Std 45 Light" panose="020B0402020204020204" pitchFamily="34" charset="0"/>
                        </a:rPr>
                        <a:t>- werk dat continu leren, onderzoeken en ‘denkwerk’ omvat</a:t>
                      </a:r>
                      <a:endParaRPr lang="nl-NL" sz="1600" b="0" dirty="0">
                        <a:effectLst/>
                        <a:latin typeface="Frutiger LT Std 45 Light" panose="020B0402020204020204" pitchFamily="34" charset="0"/>
                        <a:ea typeface="Times New Roman" panose="02020603050405020304" pitchFamily="18" charset="0"/>
                      </a:endParaRPr>
                    </a:p>
                  </a:txBody>
                  <a:tcPr marL="66153" marR="66153" marT="0" marB="0">
                    <a:solidFill>
                      <a:srgbClr val="00B0F0"/>
                    </a:solidFill>
                  </a:tcPr>
                </a:tc>
                <a:tc>
                  <a:txBody>
                    <a:bodyPr/>
                    <a:lstStyle/>
                    <a:p>
                      <a:pPr>
                        <a:lnSpc>
                          <a:spcPct val="107000"/>
                        </a:lnSpc>
                        <a:spcAft>
                          <a:spcPts val="0"/>
                        </a:spcAft>
                      </a:pPr>
                      <a:r>
                        <a:rPr lang="nl-NL" sz="1600">
                          <a:effectLst/>
                          <a:latin typeface="Frutiger LT Std 45 Light" panose="020B0402020204020204" pitchFamily="34" charset="0"/>
                        </a:rPr>
                        <a:t>Heeft een passie voor saleswerk dat hen in staat stelt om voortdurend te leren en op het snijvlak van nieuwe doorbraken, toepassingen en toepassingen te opereren </a:t>
                      </a:r>
                      <a:endParaRPr lang="nl-NL" sz="1600">
                        <a:effectLst/>
                        <a:latin typeface="Frutiger LT Std 45 Light" panose="020B0402020204020204" pitchFamily="34" charset="0"/>
                        <a:ea typeface="Times New Roman" panose="02020603050405020304" pitchFamily="18" charset="0"/>
                      </a:endParaRPr>
                    </a:p>
                  </a:txBody>
                  <a:tcPr marL="66153" marR="66153" marT="0" marB="0"/>
                </a:tc>
                <a:extLst>
                  <a:ext uri="{0D108BD9-81ED-4DB2-BD59-A6C34878D82A}">
                    <a16:rowId xmlns:a16="http://schemas.microsoft.com/office/drawing/2014/main" val="3334150424"/>
                  </a:ext>
                </a:extLst>
              </a:tr>
              <a:tr h="793486">
                <a:tc>
                  <a:txBody>
                    <a:bodyPr/>
                    <a:lstStyle/>
                    <a:p>
                      <a:pPr>
                        <a:lnSpc>
                          <a:spcPct val="107000"/>
                        </a:lnSpc>
                        <a:spcAft>
                          <a:spcPts val="0"/>
                        </a:spcAft>
                      </a:pPr>
                      <a:r>
                        <a:rPr lang="nl-NL" sz="1600" dirty="0">
                          <a:effectLst/>
                          <a:latin typeface="Frutiger LT Std 45 Light" panose="020B0402020204020204" pitchFamily="34" charset="0"/>
                        </a:rPr>
                        <a:t>Economisch </a:t>
                      </a:r>
                      <a:r>
                        <a:rPr lang="nl-NL" sz="1600" b="0" dirty="0">
                          <a:effectLst/>
                          <a:latin typeface="Frutiger LT Std 45 Light" panose="020B0402020204020204" pitchFamily="34" charset="0"/>
                        </a:rPr>
                        <a:t>- werk dat betrekking heeft op het bereiken, behouden of verdelen van rijkdom, middelen, goederen of investeringen</a:t>
                      </a:r>
                      <a:endParaRPr lang="nl-NL" sz="1600" b="0" dirty="0">
                        <a:effectLst/>
                        <a:latin typeface="Frutiger LT Std 45 Light" panose="020B0402020204020204" pitchFamily="34" charset="0"/>
                        <a:ea typeface="Times New Roman" panose="02020603050405020304" pitchFamily="18" charset="0"/>
                      </a:endParaRPr>
                    </a:p>
                  </a:txBody>
                  <a:tcPr marL="66153" marR="66153" marT="0" marB="0">
                    <a:solidFill>
                      <a:srgbClr val="00B0F0"/>
                    </a:solidFill>
                  </a:tcPr>
                </a:tc>
                <a:tc>
                  <a:txBody>
                    <a:bodyPr/>
                    <a:lstStyle/>
                    <a:p>
                      <a:pPr>
                        <a:lnSpc>
                          <a:spcPct val="107000"/>
                        </a:lnSpc>
                        <a:spcAft>
                          <a:spcPts val="0"/>
                        </a:spcAft>
                      </a:pPr>
                      <a:r>
                        <a:rPr lang="nl-NL" sz="1600">
                          <a:effectLst/>
                          <a:latin typeface="Frutiger LT Std 45 Light" panose="020B0402020204020204" pitchFamily="34" charset="0"/>
                        </a:rPr>
                        <a:t>Heeft een passie voor verkoopwerk dat hen in staat stelt om veel geld te verdienen, rijkdom te genereren (voor zichzelf of voor anderen)</a:t>
                      </a:r>
                      <a:endParaRPr lang="nl-NL" sz="1600">
                        <a:effectLst/>
                        <a:latin typeface="Frutiger LT Std 45 Light" panose="020B0402020204020204" pitchFamily="34" charset="0"/>
                        <a:ea typeface="Times New Roman" panose="02020603050405020304" pitchFamily="18" charset="0"/>
                      </a:endParaRPr>
                    </a:p>
                  </a:txBody>
                  <a:tcPr marL="66153" marR="66153" marT="0" marB="0"/>
                </a:tc>
                <a:extLst>
                  <a:ext uri="{0D108BD9-81ED-4DB2-BD59-A6C34878D82A}">
                    <a16:rowId xmlns:a16="http://schemas.microsoft.com/office/drawing/2014/main" val="3694688817"/>
                  </a:ext>
                </a:extLst>
              </a:tr>
              <a:tr h="592473">
                <a:tc>
                  <a:txBody>
                    <a:bodyPr/>
                    <a:lstStyle/>
                    <a:p>
                      <a:pPr>
                        <a:lnSpc>
                          <a:spcPct val="107000"/>
                        </a:lnSpc>
                        <a:spcAft>
                          <a:spcPts val="0"/>
                        </a:spcAft>
                      </a:pPr>
                      <a:r>
                        <a:rPr lang="nl-NL" sz="1600" dirty="0">
                          <a:effectLst/>
                          <a:latin typeface="Frutiger LT Std 45 Light" panose="020B0402020204020204" pitchFamily="34" charset="0"/>
                        </a:rPr>
                        <a:t>Routinematig </a:t>
                      </a:r>
                      <a:r>
                        <a:rPr lang="nl-NL" sz="1600" b="0" dirty="0">
                          <a:effectLst/>
                          <a:latin typeface="Frutiger LT Std 45 Light" panose="020B0402020204020204" pitchFamily="34" charset="0"/>
                        </a:rPr>
                        <a:t>- werk dat herhaling en praktische, vertrouwde activiteiten met zich meebrengt</a:t>
                      </a:r>
                      <a:endParaRPr lang="nl-NL" sz="1600" b="0" dirty="0">
                        <a:effectLst/>
                        <a:latin typeface="Frutiger LT Std 45 Light" panose="020B0402020204020204" pitchFamily="34" charset="0"/>
                        <a:ea typeface="Times New Roman" panose="02020603050405020304" pitchFamily="18" charset="0"/>
                      </a:endParaRPr>
                    </a:p>
                  </a:txBody>
                  <a:tcPr marL="66153" marR="66153"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Heeft een passie voor saleswerk welke dagelijks op dezelfde praktische, tastbare manier uitgevoerd moet worden</a:t>
                      </a:r>
                      <a:endParaRPr lang="nl-NL" sz="1600" dirty="0">
                        <a:effectLst/>
                        <a:latin typeface="Frutiger LT Std 45 Light" panose="020B0402020204020204" pitchFamily="34" charset="0"/>
                        <a:ea typeface="Times New Roman" panose="02020603050405020304" pitchFamily="18" charset="0"/>
                      </a:endParaRPr>
                    </a:p>
                  </a:txBody>
                  <a:tcPr marL="66153" marR="66153" marT="0" marB="0"/>
                </a:tc>
                <a:extLst>
                  <a:ext uri="{0D108BD9-81ED-4DB2-BD59-A6C34878D82A}">
                    <a16:rowId xmlns:a16="http://schemas.microsoft.com/office/drawing/2014/main" val="1926988238"/>
                  </a:ext>
                </a:extLst>
              </a:tr>
              <a:tr h="970775">
                <a:tc>
                  <a:txBody>
                    <a:bodyPr/>
                    <a:lstStyle/>
                    <a:p>
                      <a:pPr>
                        <a:lnSpc>
                          <a:spcPct val="107000"/>
                        </a:lnSpc>
                        <a:spcAft>
                          <a:spcPts val="0"/>
                        </a:spcAft>
                      </a:pPr>
                      <a:r>
                        <a:rPr lang="nl-NL" sz="1600" dirty="0">
                          <a:effectLst/>
                          <a:latin typeface="Frutiger LT Std 45 Light" panose="020B0402020204020204" pitchFamily="34" charset="0"/>
                        </a:rPr>
                        <a:t>Artistiek </a:t>
                      </a:r>
                      <a:r>
                        <a:rPr lang="nl-NL" sz="1600" b="0" dirty="0">
                          <a:effectLst/>
                          <a:latin typeface="Frutiger LT Std 45 Light" panose="020B0402020204020204" pitchFamily="34" charset="0"/>
                        </a:rPr>
                        <a:t>- werk dat de (creatieve) vrijheid met zich mee- brengt om eigen ideeën en interesses te kunnen uiten en na te leven, in staat zijn om eigen ontwerp/output te realiseren</a:t>
                      </a:r>
                      <a:endParaRPr lang="nl-NL" sz="1600" b="0" dirty="0">
                        <a:effectLst/>
                        <a:latin typeface="Frutiger LT Std 45 Light" panose="020B0402020204020204" pitchFamily="34" charset="0"/>
                        <a:ea typeface="Times New Roman" panose="02020603050405020304" pitchFamily="18" charset="0"/>
                      </a:endParaRPr>
                    </a:p>
                  </a:txBody>
                  <a:tcPr marL="66153" marR="66153"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Heeft een passie voor saleswerk dat de mogelijkheid biedt om creatief te zijn en om hun innovatieve talenten in het proces te kunnen tonen</a:t>
                      </a:r>
                      <a:endParaRPr lang="nl-NL" sz="1600" dirty="0">
                        <a:effectLst/>
                        <a:latin typeface="Frutiger LT Std 45 Light" panose="020B0402020204020204" pitchFamily="34" charset="0"/>
                        <a:ea typeface="Times New Roman" panose="02020603050405020304" pitchFamily="18" charset="0"/>
                      </a:endParaRPr>
                    </a:p>
                  </a:txBody>
                  <a:tcPr marL="66153" marR="66153" marT="0" marB="0"/>
                </a:tc>
                <a:extLst>
                  <a:ext uri="{0D108BD9-81ED-4DB2-BD59-A6C34878D82A}">
                    <a16:rowId xmlns:a16="http://schemas.microsoft.com/office/drawing/2014/main" val="2169184528"/>
                  </a:ext>
                </a:extLst>
              </a:tr>
            </a:tbl>
          </a:graphicData>
        </a:graphic>
      </p:graphicFrame>
      <p:sp>
        <p:nvSpPr>
          <p:cNvPr id="4" name="Titel 1">
            <a:extLst>
              <a:ext uri="{FF2B5EF4-FFF2-40B4-BE49-F238E27FC236}">
                <a16:creationId xmlns:a16="http://schemas.microsoft.com/office/drawing/2014/main" id="{A328B028-5721-48B9-98BA-FDB77F7FCECE}"/>
              </a:ext>
            </a:extLst>
          </p:cNvPr>
          <p:cNvSpPr>
            <a:spLocks noGrp="1"/>
          </p:cNvSpPr>
          <p:nvPr>
            <p:ph type="title"/>
          </p:nvPr>
        </p:nvSpPr>
        <p:spPr>
          <a:xfrm>
            <a:off x="609600" y="274638"/>
            <a:ext cx="10972800" cy="419066"/>
          </a:xfrm>
        </p:spPr>
        <p:txBody>
          <a:bodyPr/>
          <a:lstStyle/>
          <a:p>
            <a:r>
              <a:rPr lang="nl-NL" sz="2800" dirty="0">
                <a:solidFill>
                  <a:schemeClr val="accent6">
                    <a:lumMod val="75000"/>
                  </a:schemeClr>
                </a:solidFill>
                <a:latin typeface="Frutiger LT Std 45 Light" panose="020B0402020204020204" pitchFamily="34" charset="0"/>
              </a:rPr>
              <a:t>Motivatie factoren - vervolg</a:t>
            </a:r>
          </a:p>
        </p:txBody>
      </p:sp>
    </p:spTree>
    <p:extLst>
      <p:ext uri="{BB962C8B-B14F-4D97-AF65-F5344CB8AC3E}">
        <p14:creationId xmlns:p14="http://schemas.microsoft.com/office/powerpoint/2010/main" val="4087478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ijdelijke aanduiding voor inhoud 1">
            <a:extLst>
              <a:ext uri="{FF2B5EF4-FFF2-40B4-BE49-F238E27FC236}">
                <a16:creationId xmlns:a16="http://schemas.microsoft.com/office/drawing/2014/main" id="{36DA2F4B-B14E-418A-8271-5CA58C724DEE}"/>
              </a:ext>
            </a:extLst>
          </p:cNvPr>
          <p:cNvGraphicFramePr>
            <a:graphicFrameLocks noGrp="1"/>
          </p:cNvGraphicFramePr>
          <p:nvPr>
            <p:ph idx="1"/>
            <p:extLst>
              <p:ext uri="{D42A27DB-BD31-4B8C-83A1-F6EECF244321}">
                <p14:modId xmlns:p14="http://schemas.microsoft.com/office/powerpoint/2010/main" val="494100377"/>
              </p:ext>
            </p:extLst>
          </p:nvPr>
        </p:nvGraphicFramePr>
        <p:xfrm>
          <a:off x="609600" y="1071716"/>
          <a:ext cx="11110452" cy="5004624"/>
        </p:xfrm>
        <a:graphic>
          <a:graphicData uri="http://schemas.openxmlformats.org/drawingml/2006/table">
            <a:tbl>
              <a:tblPr firstRow="1" firstCol="1" bandRow="1">
                <a:tableStyleId>{5C22544A-7EE6-4342-B048-85BDC9FD1C3A}</a:tableStyleId>
              </a:tblPr>
              <a:tblGrid>
                <a:gridCol w="5537820">
                  <a:extLst>
                    <a:ext uri="{9D8B030D-6E8A-4147-A177-3AD203B41FA5}">
                      <a16:colId xmlns:a16="http://schemas.microsoft.com/office/drawing/2014/main" val="284386218"/>
                    </a:ext>
                  </a:extLst>
                </a:gridCol>
                <a:gridCol w="5572632">
                  <a:extLst>
                    <a:ext uri="{9D8B030D-6E8A-4147-A177-3AD203B41FA5}">
                      <a16:colId xmlns:a16="http://schemas.microsoft.com/office/drawing/2014/main" val="1075736339"/>
                    </a:ext>
                  </a:extLst>
                </a:gridCol>
              </a:tblGrid>
              <a:tr h="834104">
                <a:tc>
                  <a:txBody>
                    <a:bodyPr/>
                    <a:lstStyle/>
                    <a:p>
                      <a:pPr>
                        <a:lnSpc>
                          <a:spcPct val="107000"/>
                        </a:lnSpc>
                        <a:spcAft>
                          <a:spcPts val="0"/>
                        </a:spcAft>
                      </a:pPr>
                      <a:r>
                        <a:rPr lang="nl-NL" sz="1600" dirty="0">
                          <a:effectLst/>
                          <a:latin typeface="Frutiger LT Std 45 Light" panose="020B0402020204020204" pitchFamily="34" charset="0"/>
                        </a:rPr>
                        <a:t>Status </a:t>
                      </a:r>
                      <a:r>
                        <a:rPr lang="nl-NL" sz="1600" b="0" dirty="0">
                          <a:effectLst/>
                          <a:latin typeface="Frutiger LT Std 45 Light" panose="020B0402020204020204" pitchFamily="34" charset="0"/>
                        </a:rPr>
                        <a:t>- werk dat gericht is op het vermogen anderen te kunnen overtuigen door gebruik te maken van persoonlijke macht en invloed</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b="0" dirty="0">
                          <a:solidFill>
                            <a:schemeClr val="tx1"/>
                          </a:solidFill>
                          <a:effectLst/>
                          <a:latin typeface="Frutiger LT Std 45 Light" panose="020B0402020204020204" pitchFamily="34" charset="0"/>
                        </a:rPr>
                        <a:t>Heeft een passie voor saleswerk dat resulteert in persoonlijke erkenning als een VIP</a:t>
                      </a:r>
                      <a:endParaRPr lang="nl-NL" sz="1600" b="0" dirty="0">
                        <a:solidFill>
                          <a:schemeClr val="tx1"/>
                        </a:solidFill>
                        <a:effectLst/>
                        <a:latin typeface="Frutiger LT Std 45 Light" panose="020B0402020204020204" pitchFamily="34" charset="0"/>
                        <a:ea typeface="Times New Roman" panose="02020603050405020304" pitchFamily="18" charset="0"/>
                      </a:endParaRPr>
                    </a:p>
                  </a:txBody>
                  <a:tcPr marL="68580" marR="68580" marT="0" marB="0">
                    <a:solidFill>
                      <a:srgbClr val="E9EDF4"/>
                    </a:solidFill>
                  </a:tcPr>
                </a:tc>
                <a:extLst>
                  <a:ext uri="{0D108BD9-81ED-4DB2-BD59-A6C34878D82A}">
                    <a16:rowId xmlns:a16="http://schemas.microsoft.com/office/drawing/2014/main" val="316857883"/>
                  </a:ext>
                </a:extLst>
              </a:tr>
              <a:tr h="834104">
                <a:tc>
                  <a:txBody>
                    <a:bodyPr/>
                    <a:lstStyle/>
                    <a:p>
                      <a:pPr>
                        <a:lnSpc>
                          <a:spcPct val="107000"/>
                        </a:lnSpc>
                        <a:spcAft>
                          <a:spcPts val="0"/>
                        </a:spcAft>
                      </a:pPr>
                      <a:r>
                        <a:rPr lang="nl-NL" sz="1600" dirty="0">
                          <a:effectLst/>
                          <a:latin typeface="Frutiger LT Std 45 Light" panose="020B0402020204020204" pitchFamily="34" charset="0"/>
                        </a:rPr>
                        <a:t>Ondernemend </a:t>
                      </a:r>
                      <a:r>
                        <a:rPr lang="nl-NL" sz="1600" b="0" dirty="0">
                          <a:effectLst/>
                          <a:latin typeface="Frutiger LT Std 45 Light" panose="020B0402020204020204" pitchFamily="34" charset="0"/>
                        </a:rPr>
                        <a:t>- werk dat nieuwe, uitdagende of grensverleggende mogelijkheden met zich meebrengt, welke je persoonlijk kan vormgeven en beïnvloeden</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Heeft een passie voor saleswerk dat hen in staat stelt om voorop te lopen bij nieuwe kansen en uitdagingen</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132540091"/>
                  </a:ext>
                </a:extLst>
              </a:tr>
              <a:tr h="834104">
                <a:tc>
                  <a:txBody>
                    <a:bodyPr/>
                    <a:lstStyle/>
                    <a:p>
                      <a:pPr>
                        <a:lnSpc>
                          <a:spcPct val="107000"/>
                        </a:lnSpc>
                        <a:spcAft>
                          <a:spcPts val="0"/>
                        </a:spcAft>
                      </a:pPr>
                      <a:r>
                        <a:rPr lang="nl-NL" sz="1600" dirty="0">
                          <a:effectLst/>
                          <a:latin typeface="Frutiger LT Std 45 Light" panose="020B0402020204020204" pitchFamily="34" charset="0"/>
                        </a:rPr>
                        <a:t>Autoriteit </a:t>
                      </a:r>
                      <a:r>
                        <a:rPr lang="nl-NL" sz="1600" b="0" dirty="0">
                          <a:effectLst/>
                          <a:latin typeface="Frutiger LT Std 45 Light" panose="020B0402020204020204" pitchFamily="34" charset="0"/>
                        </a:rPr>
                        <a:t>- werk waarbij iemand de positionele macht heeft om anderen aansprakelijk en verantwoordelijk te kunnen houden</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Heeft een passie voor saleswerk dat hen in staat stelt om hun positionele macht en autoriteit over anderen uit te oefenen</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solidFill>
                      <a:srgbClr val="E9EDF4"/>
                    </a:solidFill>
                  </a:tcPr>
                </a:tc>
                <a:extLst>
                  <a:ext uri="{0D108BD9-81ED-4DB2-BD59-A6C34878D82A}">
                    <a16:rowId xmlns:a16="http://schemas.microsoft.com/office/drawing/2014/main" val="1948652353"/>
                  </a:ext>
                </a:extLst>
              </a:tr>
              <a:tr h="834104">
                <a:tc>
                  <a:txBody>
                    <a:bodyPr/>
                    <a:lstStyle/>
                    <a:p>
                      <a:pPr>
                        <a:lnSpc>
                          <a:spcPct val="107000"/>
                        </a:lnSpc>
                        <a:spcAft>
                          <a:spcPts val="0"/>
                        </a:spcAft>
                      </a:pPr>
                      <a:r>
                        <a:rPr lang="nl-NL" sz="1600" dirty="0">
                          <a:effectLst/>
                          <a:latin typeface="Frutiger LT Std 45 Light" panose="020B0402020204020204" pitchFamily="34" charset="0"/>
                        </a:rPr>
                        <a:t>Relationeel </a:t>
                      </a:r>
                      <a:r>
                        <a:rPr lang="nl-NL" sz="1600" b="0" dirty="0">
                          <a:effectLst/>
                          <a:latin typeface="Frutiger LT Std 45 Light" panose="020B0402020204020204" pitchFamily="34" charset="0"/>
                        </a:rPr>
                        <a:t>- werk dat zich richt op relaties met anderen of interactie met anderen</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a:effectLst/>
                          <a:latin typeface="Frutiger LT Std 45 Light" panose="020B0402020204020204" pitchFamily="34" charset="0"/>
                        </a:rPr>
                        <a:t>Heeft een passie voor saleswerk dat hen in staat stelt om een langdurige, plezierige relatie met anderen op te bouwen</a:t>
                      </a:r>
                      <a:endParaRPr lang="nl-NL" sz="160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368299240"/>
                  </a:ext>
                </a:extLst>
              </a:tr>
              <a:tr h="834104">
                <a:tc>
                  <a:txBody>
                    <a:bodyPr/>
                    <a:lstStyle/>
                    <a:p>
                      <a:pPr>
                        <a:lnSpc>
                          <a:spcPct val="107000"/>
                        </a:lnSpc>
                        <a:spcAft>
                          <a:spcPts val="0"/>
                        </a:spcAft>
                      </a:pPr>
                      <a:r>
                        <a:rPr lang="nl-NL" sz="1600" dirty="0">
                          <a:effectLst/>
                          <a:latin typeface="Frutiger LT Std 45 Light" panose="020B0402020204020204" pitchFamily="34" charset="0"/>
                        </a:rPr>
                        <a:t>Helpen </a:t>
                      </a:r>
                      <a:r>
                        <a:rPr lang="nl-NL" sz="1600" b="0" dirty="0">
                          <a:effectLst/>
                          <a:latin typeface="Frutiger LT Std 45 Light" panose="020B0402020204020204" pitchFamily="34" charset="0"/>
                        </a:rPr>
                        <a:t>- werk dat zich bezighoudt met het helpen, dienen of ondersteunen van anderen</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Heeft een passie voor saleswerk dat anderen helpt door het leveren van producten/diensten die voldoen aan de behoeften of wensen van anderen</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3733348087"/>
                  </a:ext>
                </a:extLst>
              </a:tr>
              <a:tr h="834104">
                <a:tc>
                  <a:txBody>
                    <a:bodyPr/>
                    <a:lstStyle/>
                    <a:p>
                      <a:pPr>
                        <a:lnSpc>
                          <a:spcPct val="107000"/>
                        </a:lnSpc>
                        <a:spcAft>
                          <a:spcPts val="0"/>
                        </a:spcAft>
                      </a:pPr>
                      <a:r>
                        <a:rPr lang="nl-NL" sz="1600" dirty="0">
                          <a:effectLst/>
                          <a:latin typeface="Frutiger LT Std 45 Light" panose="020B0402020204020204" pitchFamily="34" charset="0"/>
                        </a:rPr>
                        <a:t>Humanitair </a:t>
                      </a:r>
                      <a:r>
                        <a:rPr lang="nl-NL" sz="1600" b="0" dirty="0">
                          <a:effectLst/>
                          <a:latin typeface="Frutiger LT Std 45 Light" panose="020B0402020204020204" pitchFamily="34" charset="0"/>
                        </a:rPr>
                        <a:t>- werk dat gericht is op het leveren van een bijdrage aan een zinvolle zaak om het leven van anderen of de wereld op een bepaalde manier te verbeteren</a:t>
                      </a:r>
                      <a:endParaRPr lang="nl-NL" sz="1600" b="0" dirty="0">
                        <a:effectLst/>
                        <a:latin typeface="Frutiger LT Std 45 Light" panose="020B0402020204020204" pitchFamily="34" charset="0"/>
                        <a:ea typeface="Times New Roman" panose="02020603050405020304" pitchFamily="18" charset="0"/>
                      </a:endParaRPr>
                    </a:p>
                  </a:txBody>
                  <a:tcPr marL="68580" marR="68580" marT="0" marB="0">
                    <a:solidFill>
                      <a:srgbClr val="00B0F0"/>
                    </a:solidFill>
                  </a:tcPr>
                </a:tc>
                <a:tc>
                  <a:txBody>
                    <a:bodyPr/>
                    <a:lstStyle/>
                    <a:p>
                      <a:pPr>
                        <a:lnSpc>
                          <a:spcPct val="107000"/>
                        </a:lnSpc>
                        <a:spcAft>
                          <a:spcPts val="0"/>
                        </a:spcAft>
                      </a:pPr>
                      <a:r>
                        <a:rPr lang="nl-NL" sz="1600" dirty="0">
                          <a:effectLst/>
                          <a:latin typeface="Frutiger LT Std 45 Light" panose="020B0402020204020204" pitchFamily="34" charset="0"/>
                        </a:rPr>
                        <a:t>Heeft een passie voor saleswerk dat hen in staat stelt om bij te dragen aan een zinvol doel om de wereld op een of andere manier te verbeteren, direct of indirect</a:t>
                      </a:r>
                      <a:endParaRPr lang="nl-NL" sz="1600" dirty="0">
                        <a:effectLst/>
                        <a:latin typeface="Frutiger LT Std 45 Light" panose="020B0402020204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3983575250"/>
                  </a:ext>
                </a:extLst>
              </a:tr>
            </a:tbl>
          </a:graphicData>
        </a:graphic>
      </p:graphicFrame>
      <p:sp>
        <p:nvSpPr>
          <p:cNvPr id="4" name="Titel 1">
            <a:extLst>
              <a:ext uri="{FF2B5EF4-FFF2-40B4-BE49-F238E27FC236}">
                <a16:creationId xmlns:a16="http://schemas.microsoft.com/office/drawing/2014/main" id="{A328B028-5721-48B9-98BA-FDB77F7FCECE}"/>
              </a:ext>
            </a:extLst>
          </p:cNvPr>
          <p:cNvSpPr>
            <a:spLocks noGrp="1"/>
          </p:cNvSpPr>
          <p:nvPr>
            <p:ph type="title"/>
          </p:nvPr>
        </p:nvSpPr>
        <p:spPr>
          <a:xfrm>
            <a:off x="609600" y="274638"/>
            <a:ext cx="10972800" cy="419066"/>
          </a:xfrm>
        </p:spPr>
        <p:txBody>
          <a:bodyPr/>
          <a:lstStyle/>
          <a:p>
            <a:r>
              <a:rPr lang="nl-NL" sz="2800" dirty="0">
                <a:solidFill>
                  <a:schemeClr val="accent6">
                    <a:lumMod val="75000"/>
                  </a:schemeClr>
                </a:solidFill>
                <a:latin typeface="Frutiger LT Std 45 Light" panose="020B0402020204020204" pitchFamily="34" charset="0"/>
              </a:rPr>
              <a:t>Motivatie factoren - vervolg</a:t>
            </a:r>
          </a:p>
        </p:txBody>
      </p:sp>
    </p:spTree>
    <p:extLst>
      <p:ext uri="{BB962C8B-B14F-4D97-AF65-F5344CB8AC3E}">
        <p14:creationId xmlns:p14="http://schemas.microsoft.com/office/powerpoint/2010/main" val="3688940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1DC5D5-535B-4734-BE4B-76E3B4BF88AB}"/>
              </a:ext>
            </a:extLst>
          </p:cNvPr>
          <p:cNvSpPr>
            <a:spLocks noGrp="1"/>
          </p:cNvSpPr>
          <p:nvPr>
            <p:ph type="title"/>
          </p:nvPr>
        </p:nvSpPr>
        <p:spPr>
          <a:xfrm>
            <a:off x="609600" y="1179205"/>
            <a:ext cx="10972800" cy="1143000"/>
          </a:xfrm>
        </p:spPr>
        <p:txBody>
          <a:bodyPr/>
          <a:lstStyle/>
          <a:p>
            <a:r>
              <a:rPr lang="nl-NL" sz="7200" dirty="0">
                <a:solidFill>
                  <a:schemeClr val="accent6">
                    <a:lumMod val="75000"/>
                  </a:schemeClr>
                </a:solidFill>
                <a:latin typeface="Frutiger LT Std 45 Light" panose="020B0402020204020204" pitchFamily="34" charset="0"/>
              </a:rPr>
              <a:t>Het Concept</a:t>
            </a:r>
          </a:p>
        </p:txBody>
      </p:sp>
    </p:spTree>
    <p:extLst>
      <p:ext uri="{BB962C8B-B14F-4D97-AF65-F5344CB8AC3E}">
        <p14:creationId xmlns:p14="http://schemas.microsoft.com/office/powerpoint/2010/main" val="1633922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4C5CDC61-9622-4474-AE01-99D41D6A3B1A}"/>
              </a:ext>
            </a:extLst>
          </p:cNvPr>
          <p:cNvSpPr>
            <a:spLocks noGrp="1"/>
          </p:cNvSpPr>
          <p:nvPr>
            <p:ph idx="1"/>
          </p:nvPr>
        </p:nvSpPr>
        <p:spPr/>
        <p:txBody>
          <a:bodyPr/>
          <a:lstStyle/>
          <a:p>
            <a:pPr algn="ctr" eaLnBrk="1" hangingPunct="1">
              <a:buFont typeface="Arial" panose="020B0604020202020204" pitchFamily="34" charset="0"/>
              <a:buNone/>
            </a:pPr>
            <a:endParaRPr lang="nl-NL" altLang="nl-NL" b="1" dirty="0">
              <a:solidFill>
                <a:srgbClr val="C00000"/>
              </a:solidFill>
              <a:latin typeface="Frutiger LT Std 45 Light" panose="020B0402020204020204" pitchFamily="34" charset="0"/>
              <a:cs typeface="Arial" panose="020B0604020202020204" pitchFamily="34" charset="0"/>
            </a:endParaRPr>
          </a:p>
          <a:p>
            <a:pPr algn="ctr" eaLnBrk="1" hangingPunct="1">
              <a:buFont typeface="Arial" panose="020B0604020202020204" pitchFamily="34" charset="0"/>
              <a:buNone/>
            </a:pPr>
            <a:r>
              <a:rPr lang="nl-NL" altLang="nl-NL" sz="3600" b="1" dirty="0">
                <a:solidFill>
                  <a:schemeClr val="accent6">
                    <a:lumMod val="75000"/>
                  </a:schemeClr>
                </a:solidFill>
                <a:latin typeface="Frutiger LT Std 45 Light" panose="020B0402020204020204" pitchFamily="34" charset="0"/>
                <a:cs typeface="Arial" panose="020B0604020202020204" pitchFamily="34" charset="0"/>
              </a:rPr>
              <a:t>Persoonlijke Interesses</a:t>
            </a:r>
          </a:p>
          <a:p>
            <a:pPr algn="ctr" eaLnBrk="1" hangingPunct="1">
              <a:buFont typeface="Arial" panose="020B0604020202020204" pitchFamily="34" charset="0"/>
              <a:buNone/>
            </a:pPr>
            <a:endParaRPr lang="nl-NL" altLang="nl-NL" sz="3600" dirty="0">
              <a:solidFill>
                <a:srgbClr val="7F7F7F"/>
              </a:solidFill>
              <a:latin typeface="Frutiger LT Std 45 Light" panose="020B0402020204020204" pitchFamily="34" charset="0"/>
              <a:cs typeface="Arial" panose="020B0604020202020204" pitchFamily="34" charset="0"/>
            </a:endParaRPr>
          </a:p>
          <a:p>
            <a:pPr algn="ctr" eaLnBrk="1" hangingPunct="1">
              <a:buFont typeface="Arial" panose="020B0604020202020204" pitchFamily="34" charset="0"/>
              <a:buNone/>
            </a:pPr>
            <a:r>
              <a:rPr lang="nl-NL" altLang="nl-NL" sz="3600" dirty="0">
                <a:solidFill>
                  <a:srgbClr val="7F7F7F"/>
                </a:solidFill>
                <a:latin typeface="Frutiger LT Std 45 Light" panose="020B0402020204020204" pitchFamily="34" charset="0"/>
                <a:cs typeface="Arial" panose="020B0604020202020204" pitchFamily="34" charset="0"/>
              </a:rPr>
              <a:t>‘Maak de zinnen compleet’</a:t>
            </a:r>
          </a:p>
        </p:txBody>
      </p:sp>
    </p:spTree>
    <p:extLst>
      <p:ext uri="{BB962C8B-B14F-4D97-AF65-F5344CB8AC3E}">
        <p14:creationId xmlns:p14="http://schemas.microsoft.com/office/powerpoint/2010/main" val="3351504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el 1">
            <a:extLst>
              <a:ext uri="{FF2B5EF4-FFF2-40B4-BE49-F238E27FC236}">
                <a16:creationId xmlns:a16="http://schemas.microsoft.com/office/drawing/2014/main" id="{F61D486B-43B7-4BED-AAE9-BBF90E043AE4}"/>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Onze Attituden &amp; Interesses</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4099" name="Tijdelijke aanduiding voor inhoud 2">
            <a:extLst>
              <a:ext uri="{FF2B5EF4-FFF2-40B4-BE49-F238E27FC236}">
                <a16:creationId xmlns:a16="http://schemas.microsoft.com/office/drawing/2014/main" id="{938EF57E-C632-43EB-8DA8-34F764B0F173}"/>
              </a:ext>
            </a:extLst>
          </p:cNvPr>
          <p:cNvSpPr>
            <a:spLocks noGrp="1"/>
          </p:cNvSpPr>
          <p:nvPr>
            <p:ph idx="1"/>
          </p:nvPr>
        </p:nvSpPr>
        <p:spPr>
          <a:xfrm>
            <a:off x="609600" y="1102518"/>
            <a:ext cx="10972800" cy="4950620"/>
          </a:xfrm>
        </p:spPr>
        <p:txBody>
          <a:bodyPr/>
          <a:lstStyle/>
          <a:p>
            <a:pPr marL="514350" indent="-514350" eaLnBrk="1" hangingPunct="1">
              <a:buNone/>
            </a:pPr>
            <a:r>
              <a:rPr lang="nl-NL" altLang="nl-NL" sz="1800" dirty="0">
                <a:solidFill>
                  <a:srgbClr val="7F7F7F"/>
                </a:solidFill>
                <a:latin typeface="Frutiger LT Std 45 Light" panose="020B0402020204020204" pitchFamily="34" charset="0"/>
                <a:cs typeface="Arial" panose="020B0604020202020204" pitchFamily="34" charset="0"/>
              </a:rPr>
              <a:t> </a:t>
            </a: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Onze preferenties en dat waar we een afkeer van hebben vormen onze persoonlijke voorkeuren die ook worden gezien als onze                                    .</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Deze voorkeuren kunnen gerelateerd zijn aan wat ons comfortabel maakt gebaseerd op onze innerlijke persoonlijke                                                  of wat ons meer voldoening geeft gebaseerd op onze innerlijke persoonlijke</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Deze voorkeuren of attituden worden ook gezien als onze persoonlijke</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Wat ons interesseert wordt door deze innerlijke motivaties gedreven en welke ons energie geven, niet door                krachten. </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Onze interesses beschrijven het type van innerlijke persoonlijke passie of de drijvende kracht dat ons stuurt in de richting die wij aangenaam vinden te doen als             en/of als daarbuiten (privé).</a:t>
            </a:r>
          </a:p>
          <a:p>
            <a:pPr marL="514350" indent="-514350" eaLnBrk="1" hangingPunct="1">
              <a:buNone/>
            </a:pPr>
            <a:endParaRPr lang="nl-NL" altLang="nl-NL" sz="1800" dirty="0">
              <a:solidFill>
                <a:srgbClr val="7F7F7F"/>
              </a:solidFill>
              <a:latin typeface="Frutiger LT Std 45 Light" panose="020B0402020204020204" pitchFamily="34" charset="0"/>
              <a:cs typeface="Arial" panose="020B0604020202020204" pitchFamily="34" charset="0"/>
            </a:endParaRPr>
          </a:p>
        </p:txBody>
      </p:sp>
      <p:sp>
        <p:nvSpPr>
          <p:cNvPr id="20" name="Tekstvak 19">
            <a:extLst>
              <a:ext uri="{FF2B5EF4-FFF2-40B4-BE49-F238E27FC236}">
                <a16:creationId xmlns:a16="http://schemas.microsoft.com/office/drawing/2014/main" id="{63F7350B-35B5-4772-B471-A96ED3058757}"/>
              </a:ext>
            </a:extLst>
          </p:cNvPr>
          <p:cNvSpPr txBox="1">
            <a:spLocks noChangeArrowheads="1"/>
          </p:cNvSpPr>
          <p:nvPr/>
        </p:nvSpPr>
        <p:spPr bwMode="auto">
          <a:xfrm>
            <a:off x="3533084" y="1683474"/>
            <a:ext cx="23574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opvattingen/attitudes</a:t>
            </a:r>
            <a:endParaRPr lang="nl-NL" altLang="nl-NL" dirty="0">
              <a:latin typeface="Frutiger LT Std 45 Light" panose="020B0402020204020204" pitchFamily="34" charset="0"/>
            </a:endParaRPr>
          </a:p>
        </p:txBody>
      </p:sp>
      <p:sp>
        <p:nvSpPr>
          <p:cNvPr id="22" name="Tekstvak 21">
            <a:extLst>
              <a:ext uri="{FF2B5EF4-FFF2-40B4-BE49-F238E27FC236}">
                <a16:creationId xmlns:a16="http://schemas.microsoft.com/office/drawing/2014/main" id="{527380E2-D4D9-4BB5-9DC6-AC2BE210A049}"/>
              </a:ext>
            </a:extLst>
          </p:cNvPr>
          <p:cNvSpPr txBox="1">
            <a:spLocks noChangeArrowheads="1"/>
          </p:cNvSpPr>
          <p:nvPr/>
        </p:nvSpPr>
        <p:spPr bwMode="auto">
          <a:xfrm>
            <a:off x="2381250" y="2631043"/>
            <a:ext cx="3286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behoeften gedreven motivatie</a:t>
            </a:r>
            <a:endParaRPr lang="nl-NL" altLang="nl-NL" dirty="0">
              <a:latin typeface="Frutiger LT Std 45 Light" panose="020B0402020204020204" pitchFamily="34" charset="0"/>
            </a:endParaRPr>
          </a:p>
        </p:txBody>
      </p:sp>
      <p:sp>
        <p:nvSpPr>
          <p:cNvPr id="23" name="Tekstvak 22">
            <a:extLst>
              <a:ext uri="{FF2B5EF4-FFF2-40B4-BE49-F238E27FC236}">
                <a16:creationId xmlns:a16="http://schemas.microsoft.com/office/drawing/2014/main" id="{76A11B61-6174-44B4-BCA9-9993B71C5F8B}"/>
              </a:ext>
            </a:extLst>
          </p:cNvPr>
          <p:cNvSpPr txBox="1">
            <a:spLocks noChangeArrowheads="1"/>
          </p:cNvSpPr>
          <p:nvPr/>
        </p:nvSpPr>
        <p:spPr bwMode="auto">
          <a:xfrm>
            <a:off x="3330371" y="2914085"/>
            <a:ext cx="44371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waarden gedreven motivatie.</a:t>
            </a:r>
            <a:endParaRPr lang="nl-NL" altLang="nl-NL" dirty="0">
              <a:latin typeface="Frutiger LT Std 45 Light" panose="020B0402020204020204" pitchFamily="34" charset="0"/>
            </a:endParaRPr>
          </a:p>
        </p:txBody>
      </p:sp>
      <p:sp>
        <p:nvSpPr>
          <p:cNvPr id="24" name="Tekstvak 23">
            <a:extLst>
              <a:ext uri="{FF2B5EF4-FFF2-40B4-BE49-F238E27FC236}">
                <a16:creationId xmlns:a16="http://schemas.microsoft.com/office/drawing/2014/main" id="{CCDDEE9E-86E3-4FC3-8592-F12AA2C4F776}"/>
              </a:ext>
            </a:extLst>
          </p:cNvPr>
          <p:cNvSpPr txBox="1">
            <a:spLocks noChangeArrowheads="1"/>
          </p:cNvSpPr>
          <p:nvPr/>
        </p:nvSpPr>
        <p:spPr bwMode="auto">
          <a:xfrm>
            <a:off x="8157088" y="3568765"/>
            <a:ext cx="1285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interesses.</a:t>
            </a:r>
            <a:endParaRPr lang="nl-NL" altLang="nl-NL" dirty="0">
              <a:latin typeface="Frutiger LT Std 45 Light" panose="020B0402020204020204" pitchFamily="34" charset="0"/>
            </a:endParaRPr>
          </a:p>
        </p:txBody>
      </p:sp>
      <p:sp>
        <p:nvSpPr>
          <p:cNvPr id="25" name="Tekstvak 24">
            <a:extLst>
              <a:ext uri="{FF2B5EF4-FFF2-40B4-BE49-F238E27FC236}">
                <a16:creationId xmlns:a16="http://schemas.microsoft.com/office/drawing/2014/main" id="{6519970C-7F61-4E30-8FB4-219A96D6C9C5}"/>
              </a:ext>
            </a:extLst>
          </p:cNvPr>
          <p:cNvSpPr txBox="1">
            <a:spLocks noChangeArrowheads="1"/>
          </p:cNvSpPr>
          <p:nvPr/>
        </p:nvSpPr>
        <p:spPr bwMode="auto">
          <a:xfrm>
            <a:off x="1683467" y="4535284"/>
            <a:ext cx="928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externe</a:t>
            </a:r>
            <a:endParaRPr lang="nl-NL" altLang="nl-NL" dirty="0">
              <a:latin typeface="Frutiger LT Std 45 Light" panose="020B0402020204020204" pitchFamily="34" charset="0"/>
            </a:endParaRPr>
          </a:p>
        </p:txBody>
      </p:sp>
      <p:sp>
        <p:nvSpPr>
          <p:cNvPr id="26" name="Tekstvak 25">
            <a:extLst>
              <a:ext uri="{FF2B5EF4-FFF2-40B4-BE49-F238E27FC236}">
                <a16:creationId xmlns:a16="http://schemas.microsoft.com/office/drawing/2014/main" id="{012A588F-3E82-4FDB-B63C-EF84DA031F21}"/>
              </a:ext>
            </a:extLst>
          </p:cNvPr>
          <p:cNvSpPr txBox="1">
            <a:spLocks noChangeArrowheads="1"/>
          </p:cNvSpPr>
          <p:nvPr/>
        </p:nvSpPr>
        <p:spPr bwMode="auto">
          <a:xfrm>
            <a:off x="6899481" y="5418105"/>
            <a:ext cx="714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werk</a:t>
            </a:r>
            <a:endParaRPr lang="nl-NL" altLang="nl-NL" dirty="0">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P spid="24" grpId="0"/>
      <p:bldP spid="25" grpId="0"/>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4E21B9DA-2C72-41B9-9155-F0D7C8EC9E0E}"/>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Vervolg</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5123" name="Tijdelijke aanduiding voor inhoud 2">
            <a:extLst>
              <a:ext uri="{FF2B5EF4-FFF2-40B4-BE49-F238E27FC236}">
                <a16:creationId xmlns:a16="http://schemas.microsoft.com/office/drawing/2014/main" id="{78711443-5BE0-4C6C-93E0-ADDA7EB34427}"/>
              </a:ext>
            </a:extLst>
          </p:cNvPr>
          <p:cNvSpPr>
            <a:spLocks noGrp="1"/>
          </p:cNvSpPr>
          <p:nvPr>
            <p:ph idx="1"/>
          </p:nvPr>
        </p:nvSpPr>
        <p:spPr>
          <a:xfrm>
            <a:off x="609600" y="1600204"/>
            <a:ext cx="10972800" cy="3542068"/>
          </a:xfrm>
        </p:spPr>
        <p:txBody>
          <a:bodyPr/>
          <a:lstStyle/>
          <a:p>
            <a:pPr marL="514350" indent="-514350" eaLnBrk="1" hangingPunct="1">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Net zoals onze interesses beschrijven waar we gepassioneerd van zijn waar onze voorkeur naar uitgaat om te doen, zo zeggen onze                           waar we niet van houden en weerstand tegen bieden of vermijden.</a:t>
            </a:r>
          </a:p>
          <a:p>
            <a:pPr marL="514350" indent="-514350" eaLnBrk="1" hangingPunct="1">
              <a:buFont typeface="Calibri" panose="020F0502020204030204" pitchFamily="34" charset="0"/>
              <a:buAutoNum type="arabicPeriod" startAt="6"/>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Wanneer we positief gemotiveerd zijn worden we gedreven door onze persoonlijke </a:t>
            </a:r>
            <a:r>
              <a:rPr lang="nl-NL" altLang="nl-NL" sz="1800" dirty="0">
                <a:solidFill>
                  <a:schemeClr val="bg1"/>
                </a:solidFill>
                <a:latin typeface="Frutiger LT Std 45 Light" panose="020B0402020204020204" pitchFamily="34" charset="0"/>
                <a:cs typeface="Arial" panose="020B0604020202020204" pitchFamily="34" charset="0"/>
              </a:rPr>
              <a:t>x</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dit in tegenstelling tot wanneer we negatief worden beïnvloed dan richten we ons meer op onze</a:t>
            </a:r>
          </a:p>
          <a:p>
            <a:pPr marL="514350" indent="-514350" eaLnBrk="1" hangingPunct="1">
              <a:buFont typeface="Calibri" panose="020F0502020204030204" pitchFamily="34" charset="0"/>
              <a:buAutoNum type="arabicPeriod" startAt="6"/>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Samenvattend, mensen worden gemotiveerd door een of meer van de drie bronnen: onze behoeften, onze waarden en onze</a:t>
            </a:r>
          </a:p>
          <a:p>
            <a:pPr marL="514350" indent="-514350" eaLnBrk="1" hangingPunct="1">
              <a:buNone/>
            </a:pPr>
            <a:endParaRPr lang="nl-NL" altLang="nl-NL" sz="1800" dirty="0">
              <a:solidFill>
                <a:srgbClr val="7F7F7F"/>
              </a:solidFill>
              <a:latin typeface="Frutiger LT Std 45 Light" panose="020B0402020204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98301ABD-AB4F-4E7F-A61A-D6C569345C77}"/>
              </a:ext>
            </a:extLst>
          </p:cNvPr>
          <p:cNvSpPr txBox="1">
            <a:spLocks noChangeArrowheads="1"/>
          </p:cNvSpPr>
          <p:nvPr/>
        </p:nvSpPr>
        <p:spPr bwMode="auto">
          <a:xfrm>
            <a:off x="4139228" y="1878748"/>
            <a:ext cx="15716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desinteresses</a:t>
            </a:r>
            <a:endParaRPr lang="nl-NL" altLang="nl-NL"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B148A26F-2510-479A-8772-A18264ADAD08}"/>
              </a:ext>
            </a:extLst>
          </p:cNvPr>
          <p:cNvSpPr txBox="1">
            <a:spLocks noChangeArrowheads="1"/>
          </p:cNvSpPr>
          <p:nvPr/>
        </p:nvSpPr>
        <p:spPr bwMode="auto">
          <a:xfrm>
            <a:off x="9357544" y="2805113"/>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interesses</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A7FA8FE0-EA9F-45F3-B27D-37B6382877AD}"/>
              </a:ext>
            </a:extLst>
          </p:cNvPr>
          <p:cNvSpPr txBox="1">
            <a:spLocks noChangeArrowheads="1"/>
          </p:cNvSpPr>
          <p:nvPr/>
        </p:nvSpPr>
        <p:spPr bwMode="auto">
          <a:xfrm>
            <a:off x="10082211" y="3063355"/>
            <a:ext cx="17558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desinteresses</a:t>
            </a:r>
            <a:r>
              <a:rPr lang="nl-NL" altLang="nl-NL" dirty="0">
                <a:solidFill>
                  <a:srgbClr val="7F7F7F"/>
                </a:solidFill>
                <a:latin typeface="Frutiger LT Std 45 Light" panose="020B0402020204020204" pitchFamily="34" charset="0"/>
                <a:cs typeface="Arial" panose="020B0604020202020204" pitchFamily="34" charset="0"/>
              </a:rPr>
              <a:t>.</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8C47F397-5678-4F8F-BFCC-7FB442CC4160}"/>
              </a:ext>
            </a:extLst>
          </p:cNvPr>
          <p:cNvSpPr txBox="1">
            <a:spLocks noChangeArrowheads="1"/>
          </p:cNvSpPr>
          <p:nvPr/>
        </p:nvSpPr>
        <p:spPr bwMode="auto">
          <a:xfrm>
            <a:off x="3426082" y="4002421"/>
            <a:ext cx="12144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solidFill>
                  <a:srgbClr val="C00000"/>
                </a:solidFill>
                <a:latin typeface="Frutiger LT Std 45 Light" panose="020B0402020204020204" pitchFamily="34" charset="0"/>
                <a:cs typeface="Arial" panose="020B0604020202020204" pitchFamily="34" charset="0"/>
              </a:rPr>
              <a:t>interesses</a:t>
            </a:r>
            <a:r>
              <a:rPr lang="nl-NL" altLang="nl-NL">
                <a:solidFill>
                  <a:srgbClr val="7F7F7F"/>
                </a:solidFill>
                <a:latin typeface="Frutiger LT Std 45 Light" panose="020B0402020204020204" pitchFamily="34" charset="0"/>
                <a:cs typeface="Arial" panose="020B0604020202020204" pitchFamily="34" charset="0"/>
              </a:rPr>
              <a:t>.</a:t>
            </a:r>
            <a:endParaRPr lang="nl-NL" altLang="nl-NL">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el 1">
            <a:extLst>
              <a:ext uri="{FF2B5EF4-FFF2-40B4-BE49-F238E27FC236}">
                <a16:creationId xmlns:a16="http://schemas.microsoft.com/office/drawing/2014/main" id="{0DEC83A6-C4DD-4EE3-A41F-4FF763EE13D9}"/>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II:</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Het Interesses model</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6147" name="Tijdelijke aanduiding voor inhoud 2">
            <a:extLst>
              <a:ext uri="{FF2B5EF4-FFF2-40B4-BE49-F238E27FC236}">
                <a16:creationId xmlns:a16="http://schemas.microsoft.com/office/drawing/2014/main" id="{B25CAD47-E95E-4810-BE84-0122991D468F}"/>
              </a:ext>
            </a:extLst>
          </p:cNvPr>
          <p:cNvSpPr>
            <a:spLocks noGrp="1"/>
          </p:cNvSpPr>
          <p:nvPr>
            <p:ph idx="1"/>
          </p:nvPr>
        </p:nvSpPr>
        <p:spPr/>
        <p:txBody>
          <a:bodyPr/>
          <a:lstStyle/>
          <a:p>
            <a:pPr marL="514350" indent="-514350" eaLnBrk="1" hangingPunct="1">
              <a:lnSpc>
                <a:spcPct val="90000"/>
              </a:lnSpc>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Het interesse model beschrijft zowel onze positieve als onze negatieve                 ten opzichte van zowel werk als privé activiteiten met betrekking tot onze tevredenheid en ongenoegen. </a:t>
            </a:r>
          </a:p>
          <a:p>
            <a:pPr marL="514350" indent="-514350" eaLnBrk="1" hangingPunct="1">
              <a:lnSpc>
                <a:spcPct val="90000"/>
              </a:lnSpc>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De sterkte van onze interesses en desinteresse stellen de mate van                  vast die ons drijven naar onze weerstand tegen verschillende activiteiten of de interesses in ons leven.</a:t>
            </a:r>
          </a:p>
          <a:p>
            <a:pPr marL="514350" indent="-514350" eaLnBrk="1" hangingPunct="1">
              <a:lnSpc>
                <a:spcPct val="90000"/>
              </a:lnSpc>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De twee                              interesses en desinteresse zijn diegene die het meest waarschijnlijk beschrijven wat een persoon wel of niet wil doen.</a:t>
            </a:r>
          </a:p>
          <a:p>
            <a:pPr marL="514350" indent="-514350" eaLnBrk="1" hangingPunct="1">
              <a:lnSpc>
                <a:spcPct val="90000"/>
              </a:lnSpc>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Deze interesses die zich in de ‘neutrale zone’ bevinden zitten tussen onze hoge, intensere interesses en de desinteresse zijn waarschijnlijk diegene die zich     </a:t>
            </a:r>
            <a:r>
              <a:rPr lang="nl-NL" altLang="nl-NL" sz="1800" dirty="0">
                <a:solidFill>
                  <a:schemeClr val="bg1"/>
                </a:solidFill>
                <a:latin typeface="Frutiger LT Std 45 Light" panose="020B0402020204020204" pitchFamily="34" charset="0"/>
                <a:cs typeface="Arial" panose="020B0604020202020204" pitchFamily="34" charset="0"/>
              </a:rPr>
              <a:t>x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   voordoen. </a:t>
            </a:r>
          </a:p>
          <a:p>
            <a:pPr marL="514350" indent="-514350" eaLnBrk="1" hangingPunct="1">
              <a:lnSpc>
                <a:spcPct val="90000"/>
              </a:lnSpc>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Het is belangrijk om ons te realiseren dat onze interesses beschrijven wat ons motiveert en wat ons demotiveert, maar niet per definitie onze                         .</a:t>
            </a:r>
          </a:p>
        </p:txBody>
      </p:sp>
      <p:sp>
        <p:nvSpPr>
          <p:cNvPr id="6" name="Tekstvak 5">
            <a:extLst>
              <a:ext uri="{FF2B5EF4-FFF2-40B4-BE49-F238E27FC236}">
                <a16:creationId xmlns:a16="http://schemas.microsoft.com/office/drawing/2014/main" id="{6597D451-9752-46F5-B42D-8F1B6C4270E1}"/>
              </a:ext>
            </a:extLst>
          </p:cNvPr>
          <p:cNvSpPr txBox="1">
            <a:spLocks noChangeArrowheads="1"/>
          </p:cNvSpPr>
          <p:nvPr/>
        </p:nvSpPr>
        <p:spPr bwMode="auto">
          <a:xfrm>
            <a:off x="8098093" y="1531979"/>
            <a:ext cx="928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energie</a:t>
            </a:r>
            <a:endParaRPr lang="nl-NL" altLang="nl-NL" sz="1600"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1610455F-05B4-4371-8F33-D1F79857D573}"/>
              </a:ext>
            </a:extLst>
          </p:cNvPr>
          <p:cNvSpPr txBox="1">
            <a:spLocks noChangeArrowheads="1"/>
          </p:cNvSpPr>
          <p:nvPr/>
        </p:nvSpPr>
        <p:spPr bwMode="auto">
          <a:xfrm>
            <a:off x="7595267" y="2402681"/>
            <a:ext cx="1144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intensiteit</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2960751D-8FF6-4587-8AA9-2BA16B829029}"/>
              </a:ext>
            </a:extLst>
          </p:cNvPr>
          <p:cNvSpPr txBox="1">
            <a:spLocks noChangeArrowheads="1"/>
          </p:cNvSpPr>
          <p:nvPr/>
        </p:nvSpPr>
        <p:spPr bwMode="auto">
          <a:xfrm>
            <a:off x="2045418" y="3272390"/>
            <a:ext cx="20289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7F7F7F"/>
                </a:solidFill>
                <a:latin typeface="Frutiger LT Std 45 Light" panose="020B0402020204020204" pitchFamily="34" charset="0"/>
                <a:cs typeface="Arial" panose="020B0604020202020204" pitchFamily="34" charset="0"/>
              </a:rPr>
              <a:t> </a:t>
            </a:r>
            <a:r>
              <a:rPr lang="nl-NL" altLang="nl-NL" dirty="0">
                <a:solidFill>
                  <a:srgbClr val="C00000"/>
                </a:solidFill>
                <a:latin typeface="Frutiger LT Std 45 Light" panose="020B0402020204020204" pitchFamily="34" charset="0"/>
                <a:cs typeface="Arial" panose="020B0604020202020204" pitchFamily="34" charset="0"/>
              </a:rPr>
              <a:t>hoogste/sterkste</a:t>
            </a:r>
            <a:r>
              <a:rPr lang="nl-NL" altLang="nl-NL" dirty="0">
                <a:solidFill>
                  <a:srgbClr val="7F7F7F"/>
                </a:solidFill>
                <a:latin typeface="Frutiger LT Std 45 Light" panose="020B0402020204020204" pitchFamily="34" charset="0"/>
                <a:cs typeface="Arial" panose="020B0604020202020204" pitchFamily="34" charset="0"/>
              </a:rPr>
              <a:t> </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93A177C0-3707-4DBF-9FB2-FDF493CCC8C8}"/>
              </a:ext>
            </a:extLst>
          </p:cNvPr>
          <p:cNvSpPr txBox="1">
            <a:spLocks noChangeArrowheads="1"/>
          </p:cNvSpPr>
          <p:nvPr/>
        </p:nvSpPr>
        <p:spPr bwMode="auto">
          <a:xfrm>
            <a:off x="6096000" y="4376737"/>
            <a:ext cx="133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situationeel</a:t>
            </a:r>
            <a:endParaRPr lang="nl-NL" altLang="nl-NL" dirty="0">
              <a:latin typeface="Frutiger LT Std 45 Light" panose="020B0402020204020204" pitchFamily="34" charset="0"/>
            </a:endParaRPr>
          </a:p>
        </p:txBody>
      </p:sp>
      <p:sp>
        <p:nvSpPr>
          <p:cNvPr id="10" name="Tekstvak 9">
            <a:extLst>
              <a:ext uri="{FF2B5EF4-FFF2-40B4-BE49-F238E27FC236}">
                <a16:creationId xmlns:a16="http://schemas.microsoft.com/office/drawing/2014/main" id="{0AF8D883-D8BE-451F-9213-E77C8199F682}"/>
              </a:ext>
            </a:extLst>
          </p:cNvPr>
          <p:cNvSpPr txBox="1">
            <a:spLocks noChangeArrowheads="1"/>
          </p:cNvSpPr>
          <p:nvPr/>
        </p:nvSpPr>
        <p:spPr bwMode="auto">
          <a:xfrm>
            <a:off x="5264406" y="5211411"/>
            <a:ext cx="1628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vaardigheden</a:t>
            </a:r>
            <a:endParaRPr lang="nl-NL" altLang="nl-NL" dirty="0">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el 1">
            <a:extLst>
              <a:ext uri="{FF2B5EF4-FFF2-40B4-BE49-F238E27FC236}">
                <a16:creationId xmlns:a16="http://schemas.microsoft.com/office/drawing/2014/main" id="{1D5FCEAE-0A60-4CF6-9BDE-A7A62EBDD7C4}"/>
              </a:ext>
            </a:extLst>
          </p:cNvPr>
          <p:cNvSpPr>
            <a:spLocks noGrp="1"/>
          </p:cNvSpPr>
          <p:nvPr>
            <p:ph type="title"/>
          </p:nvPr>
        </p:nvSpPr>
        <p:spPr/>
        <p:txBody>
          <a:bodyPr/>
          <a:lstStyle/>
          <a:p>
            <a:pPr algn="l" eaLnBrk="1" hangingPunct="1"/>
            <a:r>
              <a:rPr lang="nl-NL" altLang="nl-NL" sz="2000" b="1" dirty="0">
                <a:solidFill>
                  <a:srgbClr val="7F7F7F"/>
                </a:solidFill>
                <a:latin typeface="Frutiger LT Std 45 Light" panose="020B0402020204020204" pitchFamily="34" charset="0"/>
                <a:cs typeface="Arial" panose="020B0604020202020204" pitchFamily="34" charset="0"/>
              </a:rPr>
              <a:t>Concept II:</a:t>
            </a:r>
            <a:br>
              <a:rPr lang="nl-NL" altLang="nl-NL" sz="2000" b="1" dirty="0">
                <a:solidFill>
                  <a:srgbClr val="7F7F7F"/>
                </a:solidFill>
                <a:latin typeface="Frutiger LT Std 45 Light" panose="020B0402020204020204" pitchFamily="34" charset="0"/>
                <a:cs typeface="Arial" panose="020B0604020202020204" pitchFamily="34" charset="0"/>
              </a:rPr>
            </a:br>
            <a:r>
              <a:rPr lang="nl-NL" altLang="nl-NL" sz="2000" b="1" dirty="0">
                <a:solidFill>
                  <a:srgbClr val="7F7F7F"/>
                </a:solidFill>
                <a:latin typeface="Frutiger LT Std 45 Light" panose="020B0402020204020204" pitchFamily="34" charset="0"/>
                <a:cs typeface="Arial" panose="020B0604020202020204" pitchFamily="34" charset="0"/>
              </a:rPr>
              <a:t>Vervolg</a:t>
            </a:r>
            <a:br>
              <a:rPr lang="nl-NL" altLang="nl-NL" sz="2000" b="1" dirty="0">
                <a:solidFill>
                  <a:srgbClr val="7F7F7F"/>
                </a:solidFill>
                <a:latin typeface="Frutiger LT Std 45 Light" panose="020B0402020204020204" pitchFamily="34" charset="0"/>
                <a:cs typeface="Arial" panose="020B0604020202020204" pitchFamily="34" charset="0"/>
              </a:rPr>
            </a:br>
            <a:endParaRPr lang="nl-NL" altLang="nl-NL" sz="2000" b="1" dirty="0">
              <a:solidFill>
                <a:srgbClr val="7F7F7F"/>
              </a:solidFill>
              <a:latin typeface="Frutiger LT Std 45 Light" panose="020B0402020204020204" pitchFamily="34" charset="0"/>
              <a:cs typeface="Arial" panose="020B0604020202020204" pitchFamily="34" charset="0"/>
            </a:endParaRPr>
          </a:p>
        </p:txBody>
      </p:sp>
      <p:sp>
        <p:nvSpPr>
          <p:cNvPr id="7171" name="Tijdelijke aanduiding voor inhoud 2">
            <a:extLst>
              <a:ext uri="{FF2B5EF4-FFF2-40B4-BE49-F238E27FC236}">
                <a16:creationId xmlns:a16="http://schemas.microsoft.com/office/drawing/2014/main" id="{04FD1E1C-9AF7-4EB3-A953-3B227837A227}"/>
              </a:ext>
            </a:extLst>
          </p:cNvPr>
          <p:cNvSpPr>
            <a:spLocks noGrp="1"/>
          </p:cNvSpPr>
          <p:nvPr>
            <p:ph idx="1"/>
          </p:nvPr>
        </p:nvSpPr>
        <p:spPr>
          <a:xfrm>
            <a:off x="609600" y="1428751"/>
            <a:ext cx="10972800" cy="4697413"/>
          </a:xfrm>
        </p:spPr>
        <p:txBody>
          <a:bodyPr/>
          <a:lstStyle/>
          <a:p>
            <a:pPr marL="514350" indent="-514350" eaLnBrk="1" hangingPunct="1">
              <a:lnSpc>
                <a:spcPct val="90000"/>
              </a:lnSpc>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Mensen waarderen hoogstwaarschijnlijk die mensen die van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interesses en activiteiten houden, vooral als zij niet hoeven te wedijveren tegen deze andere persoon.</a:t>
            </a:r>
          </a:p>
          <a:p>
            <a:pPr marL="514350" indent="-514350" eaLnBrk="1" hangingPunct="1">
              <a:lnSpc>
                <a:spcPct val="90000"/>
              </a:lnSpc>
              <a:buFont typeface="Calibri" panose="020F0502020204030204" pitchFamily="34" charset="0"/>
              <a:buAutoNum type="arabicPeriod" startAt="6"/>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We worden                                              wanneer we niet kunnen doen wat ons interesseert en </a:t>
            </a:r>
          </a:p>
          <a:p>
            <a:pPr marL="0" indent="0" eaLnBrk="1" hangingPunct="1">
              <a:lnSpc>
                <a:spcPct val="90000"/>
              </a:lnSpc>
              <a:buNone/>
            </a:pPr>
            <a:r>
              <a:rPr lang="nl-NL" altLang="nl-NL" sz="1800" dirty="0">
                <a:solidFill>
                  <a:srgbClr val="7F7F7F"/>
                </a:solidFill>
                <a:latin typeface="Frutiger LT Std 45 Light" panose="020B0402020204020204" pitchFamily="34" charset="0"/>
                <a:cs typeface="Arial" panose="020B0604020202020204" pitchFamily="34" charset="0"/>
              </a:rPr>
              <a:t>	 krijgen                als we dingen kunnen doen die wel onze interesse hebben.</a:t>
            </a:r>
          </a:p>
          <a:p>
            <a:pPr marL="514350" indent="-514350" eaLnBrk="1" hangingPunct="1">
              <a:lnSpc>
                <a:spcPct val="90000"/>
              </a:lnSpc>
              <a:buFont typeface="Calibri" panose="020F0502020204030204" pitchFamily="34" charset="0"/>
              <a:buAutoNum type="arabicPeriod" startAt="6"/>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Het interesse profiel geeft ons de mogelijkheid om de verschillen en gelijkenissen tussen wat mensen interesseert te begrijpen en te vergelijken met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factoren (of vectoren).</a:t>
            </a:r>
          </a:p>
          <a:p>
            <a:pPr marL="514350" indent="-514350" eaLnBrk="1" hangingPunct="1">
              <a:lnSpc>
                <a:spcPct val="90000"/>
              </a:lnSpc>
              <a:buFont typeface="Calibri" panose="020F0502020204030204" pitchFamily="34" charset="0"/>
              <a:buAutoNum type="arabicPeriod" startAt="6"/>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De eerste factor om gelijkenissen en verschillen van onze interesses vast te leggen tussen wat mensen interesseert (en niet interesseert) zijn primair gericht op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of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a:t>
            </a:r>
          </a:p>
          <a:p>
            <a:pPr marL="514350" indent="-514350" eaLnBrk="1" hangingPunct="1">
              <a:lnSpc>
                <a:spcPct val="90000"/>
              </a:lnSpc>
              <a:buFont typeface="Calibri" panose="020F0502020204030204" pitchFamily="34" charset="0"/>
              <a:buAutoNum type="arabicPeriod" startAt="6"/>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lnSpc>
                <a:spcPct val="90000"/>
              </a:lnSpc>
              <a:buFont typeface="Calibri" panose="020F0502020204030204" pitchFamily="34" charset="0"/>
              <a:buAutoNum type="arabicPeriod" startAt="6"/>
            </a:pPr>
            <a:r>
              <a:rPr lang="nl-NL" altLang="nl-NL" sz="1800" dirty="0">
                <a:solidFill>
                  <a:srgbClr val="7F7F7F"/>
                </a:solidFill>
                <a:latin typeface="Frutiger LT Std 45 Light" panose="020B0402020204020204" pitchFamily="34" charset="0"/>
                <a:cs typeface="Arial" panose="020B0604020202020204" pitchFamily="34" charset="0"/>
              </a:rPr>
              <a:t>De tweede factor om gelijkenissen en verschillen van onze interesses vast te leggen en betrekking heeft op de interesses en activiteiten die we het meest (en minst) prefereren zijn die </a:t>
            </a:r>
          </a:p>
          <a:p>
            <a:pPr marL="0" indent="0" eaLnBrk="1" hangingPunct="1">
              <a:lnSpc>
                <a:spcPct val="90000"/>
              </a:lnSpc>
              <a:buNone/>
            </a:pPr>
            <a:r>
              <a:rPr lang="nl-NL" altLang="nl-NL" sz="1800" dirty="0">
                <a:solidFill>
                  <a:srgbClr val="7F7F7F"/>
                </a:solidFill>
                <a:latin typeface="Frutiger LT Std 45 Light" panose="020B0402020204020204" pitchFamily="34" charset="0"/>
                <a:cs typeface="Arial" panose="020B0604020202020204" pitchFamily="34" charset="0"/>
              </a:rPr>
              <a:t>	 van                  of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a:t>
            </a:r>
          </a:p>
        </p:txBody>
      </p:sp>
      <p:sp>
        <p:nvSpPr>
          <p:cNvPr id="6" name="Tekstvak 5">
            <a:extLst>
              <a:ext uri="{FF2B5EF4-FFF2-40B4-BE49-F238E27FC236}">
                <a16:creationId xmlns:a16="http://schemas.microsoft.com/office/drawing/2014/main" id="{4E33B21E-CAEE-4397-A0BF-C53F349027A1}"/>
              </a:ext>
            </a:extLst>
          </p:cNvPr>
          <p:cNvSpPr txBox="1">
            <a:spLocks noChangeArrowheads="1"/>
          </p:cNvSpPr>
          <p:nvPr/>
        </p:nvSpPr>
        <p:spPr bwMode="auto">
          <a:xfrm>
            <a:off x="7120247" y="1367609"/>
            <a:ext cx="12765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dezelfde</a:t>
            </a:r>
            <a:endParaRPr lang="nl-NL" altLang="nl-NL"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BFA63137-B259-42DC-ABD7-4A5D8633F62A}"/>
              </a:ext>
            </a:extLst>
          </p:cNvPr>
          <p:cNvSpPr txBox="1">
            <a:spLocks noChangeArrowheads="1"/>
          </p:cNvSpPr>
          <p:nvPr/>
        </p:nvSpPr>
        <p:spPr bwMode="auto">
          <a:xfrm>
            <a:off x="2351679" y="2238138"/>
            <a:ext cx="28870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ontevreden/gedemotiveerd</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7DEE3859-998A-4113-9F50-D1D586BFD6FF}"/>
              </a:ext>
            </a:extLst>
          </p:cNvPr>
          <p:cNvSpPr txBox="1">
            <a:spLocks noChangeArrowheads="1"/>
          </p:cNvSpPr>
          <p:nvPr/>
        </p:nvSpPr>
        <p:spPr bwMode="auto">
          <a:xfrm>
            <a:off x="1887335" y="2556250"/>
            <a:ext cx="9286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energie</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19571890-61CD-44EF-B582-5CE579169E2F}"/>
              </a:ext>
            </a:extLst>
          </p:cNvPr>
          <p:cNvSpPr txBox="1">
            <a:spLocks noChangeArrowheads="1"/>
          </p:cNvSpPr>
          <p:nvPr/>
        </p:nvSpPr>
        <p:spPr bwMode="auto">
          <a:xfrm>
            <a:off x="5705323" y="3408125"/>
            <a:ext cx="7308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twee</a:t>
            </a:r>
            <a:endParaRPr lang="nl-NL" altLang="nl-NL" dirty="0">
              <a:latin typeface="Frutiger LT Std 45 Light" panose="020B0402020204020204" pitchFamily="34" charset="0"/>
            </a:endParaRPr>
          </a:p>
        </p:txBody>
      </p:sp>
      <p:sp>
        <p:nvSpPr>
          <p:cNvPr id="10" name="Tekstvak 9">
            <a:extLst>
              <a:ext uri="{FF2B5EF4-FFF2-40B4-BE49-F238E27FC236}">
                <a16:creationId xmlns:a16="http://schemas.microsoft.com/office/drawing/2014/main" id="{B67CC53C-601F-4177-BD49-2E7732167187}"/>
              </a:ext>
            </a:extLst>
          </p:cNvPr>
          <p:cNvSpPr txBox="1">
            <a:spLocks noChangeArrowheads="1"/>
          </p:cNvSpPr>
          <p:nvPr/>
        </p:nvSpPr>
        <p:spPr bwMode="auto">
          <a:xfrm>
            <a:off x="6530772" y="4255017"/>
            <a:ext cx="1000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mensen</a:t>
            </a:r>
            <a:endParaRPr lang="nl-NL" altLang="nl-NL" sz="1600" dirty="0">
              <a:latin typeface="Frutiger LT Std 45 Light" panose="020B0402020204020204" pitchFamily="34" charset="0"/>
            </a:endParaRPr>
          </a:p>
        </p:txBody>
      </p:sp>
      <p:sp>
        <p:nvSpPr>
          <p:cNvPr id="11" name="Tekstvak 10">
            <a:extLst>
              <a:ext uri="{FF2B5EF4-FFF2-40B4-BE49-F238E27FC236}">
                <a16:creationId xmlns:a16="http://schemas.microsoft.com/office/drawing/2014/main" id="{1F59CF6F-DD5D-4CAE-951B-A83BF27D1C0E}"/>
              </a:ext>
            </a:extLst>
          </p:cNvPr>
          <p:cNvSpPr txBox="1">
            <a:spLocks noChangeArrowheads="1"/>
          </p:cNvSpPr>
          <p:nvPr/>
        </p:nvSpPr>
        <p:spPr bwMode="auto">
          <a:xfrm>
            <a:off x="7758498" y="4255017"/>
            <a:ext cx="9286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dingen</a:t>
            </a:r>
            <a:endParaRPr lang="nl-NL" altLang="nl-NL" dirty="0">
              <a:latin typeface="Frutiger LT Std 45 Light" panose="020B0402020204020204" pitchFamily="34" charset="0"/>
            </a:endParaRPr>
          </a:p>
        </p:txBody>
      </p:sp>
      <p:sp>
        <p:nvSpPr>
          <p:cNvPr id="12" name="Tekstvak 11">
            <a:extLst>
              <a:ext uri="{FF2B5EF4-FFF2-40B4-BE49-F238E27FC236}">
                <a16:creationId xmlns:a16="http://schemas.microsoft.com/office/drawing/2014/main" id="{E3D575BD-F1AD-4D20-BB4C-36AF9EE70BD7}"/>
              </a:ext>
            </a:extLst>
          </p:cNvPr>
          <p:cNvSpPr txBox="1">
            <a:spLocks noChangeArrowheads="1"/>
          </p:cNvSpPr>
          <p:nvPr/>
        </p:nvSpPr>
        <p:spPr bwMode="auto">
          <a:xfrm>
            <a:off x="1618637" y="5417107"/>
            <a:ext cx="11973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praktisch</a:t>
            </a:r>
            <a:endParaRPr lang="nl-NL" altLang="nl-NL" dirty="0">
              <a:latin typeface="Frutiger LT Std 45 Light" panose="020B0402020204020204" pitchFamily="34" charset="0"/>
            </a:endParaRPr>
          </a:p>
        </p:txBody>
      </p:sp>
      <p:sp>
        <p:nvSpPr>
          <p:cNvPr id="13" name="Tekstvak 12">
            <a:extLst>
              <a:ext uri="{FF2B5EF4-FFF2-40B4-BE49-F238E27FC236}">
                <a16:creationId xmlns:a16="http://schemas.microsoft.com/office/drawing/2014/main" id="{2EFF1600-138E-4042-8E85-0A2D3B14A23C}"/>
              </a:ext>
            </a:extLst>
          </p:cNvPr>
          <p:cNvSpPr txBox="1">
            <a:spLocks noChangeArrowheads="1"/>
          </p:cNvSpPr>
          <p:nvPr/>
        </p:nvSpPr>
        <p:spPr bwMode="auto">
          <a:xfrm>
            <a:off x="2910962" y="5417107"/>
            <a:ext cx="11973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abstract</a:t>
            </a:r>
            <a:endParaRPr lang="nl-NL" altLang="nl-NL" dirty="0">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a:extLst>
              <a:ext uri="{FF2B5EF4-FFF2-40B4-BE49-F238E27FC236}">
                <a16:creationId xmlns:a16="http://schemas.microsoft.com/office/drawing/2014/main" id="{FF4EE91B-6770-4B87-AC75-2E66F9AAA236}"/>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III:</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Onze werk &amp; privé Interesses</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8195" name="Tijdelijke aanduiding voor inhoud 2">
            <a:extLst>
              <a:ext uri="{FF2B5EF4-FFF2-40B4-BE49-F238E27FC236}">
                <a16:creationId xmlns:a16="http://schemas.microsoft.com/office/drawing/2014/main" id="{9F1DB5A1-67D6-4A4D-814D-F6ACA8525B1B}"/>
              </a:ext>
            </a:extLst>
          </p:cNvPr>
          <p:cNvSpPr>
            <a:spLocks noGrp="1"/>
          </p:cNvSpPr>
          <p:nvPr>
            <p:ph idx="1"/>
          </p:nvPr>
        </p:nvSpPr>
        <p:spPr/>
        <p:txBody>
          <a:bodyPr/>
          <a:lstStyle/>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Indien personen meerdere dezelfde werk en privé interesses hebben is het waarschijnlijk mogelijk vast te stellen dat zij worden gedreven door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motieven in beide omgevingen (werk en privé).</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Indien personen verschillende werk en privé interesses weergeven kan er naar aller waarschijnlijkheid worden vastgesteld dat zij door                       motieven worden gedreven in deze omgevingen. Zij kunnen bijvoorbeeld meer behoeften gedreven zijn in de ene omgeving en meer                                in hun andere (leef)omgeving.</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Personen met vergelijkbare interesses en desinteresses in zowel hun werk als privé zijn hoogstwaarschijnlijk mensen die sneller op                        en meer                zijn dan personen met zeer verschillende interesses.</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Verschillende onderzoekers hebben een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verband gevonden tussen persoonlijke interesses en de soort functie die mensen uitoefenen, uit welke werknemers de meeste voldoening (of </a:t>
            </a:r>
          </a:p>
          <a:p>
            <a:pPr marL="0" indent="0" eaLnBrk="1" hangingPunct="1">
              <a:buNone/>
            </a:pPr>
            <a:r>
              <a:rPr lang="nl-NL" altLang="nl-NL" sz="1800" dirty="0">
                <a:solidFill>
                  <a:srgbClr val="7F7F7F"/>
                </a:solidFill>
                <a:latin typeface="Frutiger LT Std 45 Light" panose="020B0402020204020204" pitchFamily="34" charset="0"/>
                <a:cs typeface="Arial" panose="020B0604020202020204" pitchFamily="34" charset="0"/>
              </a:rPr>
              <a:t>	 ontevredenheid) halen.</a:t>
            </a:r>
          </a:p>
        </p:txBody>
      </p:sp>
      <p:sp>
        <p:nvSpPr>
          <p:cNvPr id="6" name="Tekstvak 5">
            <a:extLst>
              <a:ext uri="{FF2B5EF4-FFF2-40B4-BE49-F238E27FC236}">
                <a16:creationId xmlns:a16="http://schemas.microsoft.com/office/drawing/2014/main" id="{E4102C14-3116-4707-84CF-5F07CB26CDEA}"/>
              </a:ext>
            </a:extLst>
          </p:cNvPr>
          <p:cNvSpPr txBox="1">
            <a:spLocks noChangeArrowheads="1"/>
          </p:cNvSpPr>
          <p:nvPr/>
        </p:nvSpPr>
        <p:spPr bwMode="auto">
          <a:xfrm>
            <a:off x="4751901" y="1885435"/>
            <a:ext cx="1108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dezelfde</a:t>
            </a:r>
            <a:endParaRPr lang="nl-NL" altLang="nl-NL"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A1E8A1A8-30FF-4B61-AAD0-9E8143E5952B}"/>
              </a:ext>
            </a:extLst>
          </p:cNvPr>
          <p:cNvSpPr txBox="1">
            <a:spLocks noChangeArrowheads="1"/>
          </p:cNvSpPr>
          <p:nvPr/>
        </p:nvSpPr>
        <p:spPr bwMode="auto">
          <a:xfrm>
            <a:off x="4301153" y="2793091"/>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verschillende</a:t>
            </a:r>
            <a:endParaRPr lang="nl-NL" altLang="nl-NL" sz="1600"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96CA60D6-B3AF-4F11-A4CA-7070A8191FC4}"/>
              </a:ext>
            </a:extLst>
          </p:cNvPr>
          <p:cNvSpPr txBox="1">
            <a:spLocks noChangeArrowheads="1"/>
          </p:cNvSpPr>
          <p:nvPr/>
        </p:nvSpPr>
        <p:spPr bwMode="auto">
          <a:xfrm>
            <a:off x="9093610" y="3090862"/>
            <a:ext cx="2071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waarden gedreven</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43142A13-4E2C-48A1-A8ED-BE6E2700A1D6}"/>
              </a:ext>
            </a:extLst>
          </p:cNvPr>
          <p:cNvSpPr txBox="1">
            <a:spLocks noChangeArrowheads="1"/>
          </p:cNvSpPr>
          <p:nvPr/>
        </p:nvSpPr>
        <p:spPr bwMode="auto">
          <a:xfrm>
            <a:off x="5381625" y="4274962"/>
            <a:ext cx="1500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één lijn zitten</a:t>
            </a:r>
            <a:endParaRPr lang="nl-NL" altLang="nl-NL" dirty="0">
              <a:latin typeface="Frutiger LT Std 45 Light" panose="020B0402020204020204" pitchFamily="34" charset="0"/>
            </a:endParaRPr>
          </a:p>
        </p:txBody>
      </p:sp>
      <p:sp>
        <p:nvSpPr>
          <p:cNvPr id="10" name="Tekstvak 9">
            <a:extLst>
              <a:ext uri="{FF2B5EF4-FFF2-40B4-BE49-F238E27FC236}">
                <a16:creationId xmlns:a16="http://schemas.microsoft.com/office/drawing/2014/main" id="{4ABB1D54-583C-43A8-95AC-DA00989122C3}"/>
              </a:ext>
            </a:extLst>
          </p:cNvPr>
          <p:cNvSpPr txBox="1">
            <a:spLocks noChangeArrowheads="1"/>
          </p:cNvSpPr>
          <p:nvPr/>
        </p:nvSpPr>
        <p:spPr bwMode="auto">
          <a:xfrm>
            <a:off x="7702193" y="4274962"/>
            <a:ext cx="10715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tevreden</a:t>
            </a:r>
            <a:endParaRPr lang="nl-NL" altLang="nl-NL" dirty="0">
              <a:latin typeface="Frutiger LT Std 45 Light" panose="020B0402020204020204" pitchFamily="34" charset="0"/>
            </a:endParaRPr>
          </a:p>
        </p:txBody>
      </p:sp>
      <p:sp>
        <p:nvSpPr>
          <p:cNvPr id="11" name="Tekstvak 10">
            <a:extLst>
              <a:ext uri="{FF2B5EF4-FFF2-40B4-BE49-F238E27FC236}">
                <a16:creationId xmlns:a16="http://schemas.microsoft.com/office/drawing/2014/main" id="{65E96EB4-4723-47A9-9C89-7B8639059A51}"/>
              </a:ext>
            </a:extLst>
          </p:cNvPr>
          <p:cNvSpPr txBox="1">
            <a:spLocks noChangeArrowheads="1"/>
          </p:cNvSpPr>
          <p:nvPr/>
        </p:nvSpPr>
        <p:spPr bwMode="auto">
          <a:xfrm>
            <a:off x="5086964" y="5241132"/>
            <a:ext cx="7730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solidFill>
                  <a:srgbClr val="C00000"/>
                </a:solidFill>
                <a:latin typeface="Frutiger LT Std 45 Light" panose="020B0402020204020204" pitchFamily="34" charset="0"/>
                <a:cs typeface="Arial" panose="020B0604020202020204" pitchFamily="34" charset="0"/>
              </a:rPr>
              <a:t>sterk</a:t>
            </a:r>
            <a:endParaRPr lang="nl-NL" altLang="nl-NL">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el 1">
            <a:extLst>
              <a:ext uri="{FF2B5EF4-FFF2-40B4-BE49-F238E27FC236}">
                <a16:creationId xmlns:a16="http://schemas.microsoft.com/office/drawing/2014/main" id="{42CA394E-5D97-47AA-B23C-51AFA083EBD6}"/>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III:</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Vervolg</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9219" name="Tijdelijke aanduiding voor inhoud 2">
            <a:extLst>
              <a:ext uri="{FF2B5EF4-FFF2-40B4-BE49-F238E27FC236}">
                <a16:creationId xmlns:a16="http://schemas.microsoft.com/office/drawing/2014/main" id="{5022E22C-DC34-4F3B-BD05-BCBE600D3630}"/>
              </a:ext>
            </a:extLst>
          </p:cNvPr>
          <p:cNvSpPr>
            <a:spLocks noGrp="1"/>
          </p:cNvSpPr>
          <p:nvPr>
            <p:ph idx="1"/>
          </p:nvPr>
        </p:nvSpPr>
        <p:spPr/>
        <p:txBody>
          <a:bodyPr/>
          <a:lstStyle/>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John </a:t>
            </a:r>
            <a:r>
              <a:rPr lang="nl-NL" altLang="nl-NL" sz="1800" dirty="0" err="1">
                <a:solidFill>
                  <a:srgbClr val="7F7F7F"/>
                </a:solidFill>
                <a:latin typeface="Frutiger LT Std 45 Light" panose="020B0402020204020204" pitchFamily="34" charset="0"/>
                <a:cs typeface="Arial" panose="020B0604020202020204" pitchFamily="34" charset="0"/>
              </a:rPr>
              <a:t>Holland’s</a:t>
            </a:r>
            <a:r>
              <a:rPr lang="nl-NL" altLang="nl-NL" sz="1800" dirty="0">
                <a:solidFill>
                  <a:srgbClr val="7F7F7F"/>
                </a:solidFill>
                <a:latin typeface="Frutiger LT Std 45 Light" panose="020B0402020204020204" pitchFamily="34" charset="0"/>
                <a:cs typeface="Arial" panose="020B0604020202020204" pitchFamily="34" charset="0"/>
              </a:rPr>
              <a:t> klassieke beroepskeuze onderzoek heeft uitgewezen dat beroepsgroepen duidelijk kunnen worden gesorteerd naar          primair interessetype.</a:t>
            </a:r>
          </a:p>
          <a:p>
            <a:pPr marL="514350" indent="-514350" eaLnBrk="1" hangingPunct="1">
              <a:buFont typeface="Calibri" panose="020F0502020204030204" pitchFamily="34" charset="0"/>
              <a:buAutoNum type="arabicPeriod" startAt="5"/>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John Holland klasseerde verschillende functies op basis van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of zes mogelijke typen werkinteresses – vastgesteld in zijn model welke al bekend werd in de jaren zeventig.</a:t>
            </a:r>
          </a:p>
          <a:p>
            <a:pPr marL="514350" indent="-514350" eaLnBrk="1" hangingPunct="1">
              <a:buFont typeface="Calibri" panose="020F0502020204030204" pitchFamily="34" charset="0"/>
              <a:buAutoNum type="arabicPeriod" startAt="5"/>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Onderzoeken als de bovengenoemde klasseert functies op basis van                      sterkteniveaus of intensiteit van de interesse voor dat type werk.</a:t>
            </a:r>
          </a:p>
          <a:p>
            <a:pPr marL="514350" indent="-514350" eaLnBrk="1" hangingPunct="1">
              <a:buFont typeface="Calibri" panose="020F0502020204030204" pitchFamily="34" charset="0"/>
              <a:buAutoNum type="arabicPeriod" startAt="5"/>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Effectieve loopbaanbegeleiding dat zich op de toekomstige loopbaan van een persoon richt, onderzoekt eerst de mate van “match” met hun persoonlijke </a:t>
            </a:r>
            <a:r>
              <a:rPr lang="nl-NL" altLang="nl-NL" sz="1800" dirty="0" err="1">
                <a:solidFill>
                  <a:schemeClr val="bg1"/>
                </a:solidFill>
                <a:latin typeface="Frutiger LT Std 45 Light" panose="020B0402020204020204" pitchFamily="34" charset="0"/>
                <a:cs typeface="Arial" panose="020B0604020202020204" pitchFamily="34" charset="0"/>
              </a:rPr>
              <a:t>xxxxxx</a:t>
            </a:r>
            <a:r>
              <a:rPr lang="nl-NL" altLang="nl-NL" sz="1800" dirty="0">
                <a:solidFill>
                  <a:schemeClr val="bg1"/>
                </a:solidFill>
                <a:latin typeface="Frutiger LT Std 45 Light" panose="020B0402020204020204" pitchFamily="34" charset="0"/>
                <a:cs typeface="Arial" panose="020B0604020202020204" pitchFamily="34" charset="0"/>
              </a:rPr>
              <a:t>  x</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en daarna de                       die vereist zijn om het succesvol te maken.</a:t>
            </a:r>
          </a:p>
        </p:txBody>
      </p:sp>
      <p:sp>
        <p:nvSpPr>
          <p:cNvPr id="6" name="Tekstvak 5">
            <a:extLst>
              <a:ext uri="{FF2B5EF4-FFF2-40B4-BE49-F238E27FC236}">
                <a16:creationId xmlns:a16="http://schemas.microsoft.com/office/drawing/2014/main" id="{643A5F58-C457-40BB-8481-F34CB7E5DF8F}"/>
              </a:ext>
            </a:extLst>
          </p:cNvPr>
          <p:cNvSpPr txBox="1">
            <a:spLocks noChangeArrowheads="1"/>
          </p:cNvSpPr>
          <p:nvPr/>
        </p:nvSpPr>
        <p:spPr bwMode="auto">
          <a:xfrm>
            <a:off x="4376970" y="1923435"/>
            <a:ext cx="8322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één</a:t>
            </a:r>
            <a:endParaRPr lang="nl-NL" altLang="nl-NL"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774A7A87-1BF9-424C-ABDC-5EC3A3BE54C8}"/>
              </a:ext>
            </a:extLst>
          </p:cNvPr>
          <p:cNvSpPr txBox="1">
            <a:spLocks noChangeArrowheads="1"/>
          </p:cNvSpPr>
          <p:nvPr/>
        </p:nvSpPr>
        <p:spPr bwMode="auto">
          <a:xfrm>
            <a:off x="7002258" y="2574363"/>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drie</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F4AA7FF2-EB94-422A-933C-385A3614E8D2}"/>
              </a:ext>
            </a:extLst>
          </p:cNvPr>
          <p:cNvSpPr txBox="1">
            <a:spLocks noChangeArrowheads="1"/>
          </p:cNvSpPr>
          <p:nvPr/>
        </p:nvSpPr>
        <p:spPr bwMode="auto">
          <a:xfrm>
            <a:off x="7856895" y="3429000"/>
            <a:ext cx="1500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verschillende</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1057C137-E563-4FFC-968B-707671DBDD2A}"/>
              </a:ext>
            </a:extLst>
          </p:cNvPr>
          <p:cNvSpPr txBox="1">
            <a:spLocks noChangeArrowheads="1"/>
          </p:cNvSpPr>
          <p:nvPr/>
        </p:nvSpPr>
        <p:spPr bwMode="auto">
          <a:xfrm>
            <a:off x="5994912" y="4642644"/>
            <a:ext cx="12144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interesses</a:t>
            </a:r>
            <a:endParaRPr lang="nl-NL" altLang="nl-NL" dirty="0">
              <a:latin typeface="Frutiger LT Std 45 Light" panose="020B0402020204020204" pitchFamily="34" charset="0"/>
            </a:endParaRPr>
          </a:p>
        </p:txBody>
      </p:sp>
      <p:sp>
        <p:nvSpPr>
          <p:cNvPr id="10" name="Tekstvak 9">
            <a:extLst>
              <a:ext uri="{FF2B5EF4-FFF2-40B4-BE49-F238E27FC236}">
                <a16:creationId xmlns:a16="http://schemas.microsoft.com/office/drawing/2014/main" id="{CF76E8A8-28AD-431F-B39F-E62D8F325503}"/>
              </a:ext>
            </a:extLst>
          </p:cNvPr>
          <p:cNvSpPr txBox="1">
            <a:spLocks noChangeArrowheads="1"/>
          </p:cNvSpPr>
          <p:nvPr/>
        </p:nvSpPr>
        <p:spPr bwMode="auto">
          <a:xfrm>
            <a:off x="8381848" y="4642644"/>
            <a:ext cx="1533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vaardigheden</a:t>
            </a:r>
            <a:endParaRPr lang="nl-NL" altLang="nl-NL" dirty="0">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a:extLst>
              <a:ext uri="{FF2B5EF4-FFF2-40B4-BE49-F238E27FC236}">
                <a16:creationId xmlns:a16="http://schemas.microsoft.com/office/drawing/2014/main" id="{9A321284-4BD1-4680-B8C7-E09D410A7737}"/>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III:</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Vervolg</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10243" name="Tijdelijke aanduiding voor inhoud 2">
            <a:extLst>
              <a:ext uri="{FF2B5EF4-FFF2-40B4-BE49-F238E27FC236}">
                <a16:creationId xmlns:a16="http://schemas.microsoft.com/office/drawing/2014/main" id="{B665A4EA-0F7E-44F3-840A-0D9CB38624F0}"/>
              </a:ext>
            </a:extLst>
          </p:cNvPr>
          <p:cNvSpPr>
            <a:spLocks noGrp="1"/>
          </p:cNvSpPr>
          <p:nvPr>
            <p:ph idx="1"/>
          </p:nvPr>
        </p:nvSpPr>
        <p:spPr/>
        <p:txBody>
          <a:bodyPr/>
          <a:lstStyle/>
          <a:p>
            <a:pPr marL="514350" indent="-514350" eaLnBrk="1" hangingPunct="1">
              <a:buFont typeface="Calibri" panose="020F0502020204030204" pitchFamily="34" charset="0"/>
              <a:buAutoNum type="arabicPeriod" startAt="9"/>
            </a:pPr>
            <a:r>
              <a:rPr lang="nl-NL" altLang="nl-NL" sz="1800" dirty="0">
                <a:solidFill>
                  <a:srgbClr val="7F7F7F"/>
                </a:solidFill>
                <a:latin typeface="Frutiger LT Std 45 Light" panose="020B0402020204020204" pitchFamily="34" charset="0"/>
                <a:cs typeface="Arial" panose="020B0604020202020204" pitchFamily="34" charset="0"/>
              </a:rPr>
              <a:t>Het primaire verschil tussen werk versus privé coachen is dat privé coachen alleen is gericht op                    en niet op iemands                       .</a:t>
            </a:r>
          </a:p>
          <a:p>
            <a:pPr marL="514350" indent="-514350" eaLnBrk="1" hangingPunct="1">
              <a:buFont typeface="Calibri" panose="020F0502020204030204" pitchFamily="34" charset="0"/>
              <a:buAutoNum type="arabicPeriod" startAt="9"/>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9"/>
            </a:pPr>
            <a:r>
              <a:rPr lang="nl-NL" altLang="nl-NL" sz="1800" dirty="0">
                <a:solidFill>
                  <a:srgbClr val="7F7F7F"/>
                </a:solidFill>
                <a:latin typeface="Frutiger LT Std 45 Light" panose="020B0402020204020204" pitchFamily="34" charset="0"/>
                <a:cs typeface="Arial" panose="020B0604020202020204" pitchFamily="34" charset="0"/>
              </a:rPr>
              <a:t>Het is belangrijk om te onthouden dat er één belangrijke overeenkomst is tussen onze werk- en privé-interesses en die is dat de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van onze interesses in een grote mate een verband heeft met de hoogte van onze persoonlijke tevredenheid.</a:t>
            </a:r>
          </a:p>
        </p:txBody>
      </p:sp>
      <p:sp>
        <p:nvSpPr>
          <p:cNvPr id="6" name="Tekstvak 5">
            <a:extLst>
              <a:ext uri="{FF2B5EF4-FFF2-40B4-BE49-F238E27FC236}">
                <a16:creationId xmlns:a16="http://schemas.microsoft.com/office/drawing/2014/main" id="{3D240153-B3AC-4466-AD1B-147FCB6264E2}"/>
              </a:ext>
            </a:extLst>
          </p:cNvPr>
          <p:cNvSpPr txBox="1">
            <a:spLocks noChangeArrowheads="1"/>
          </p:cNvSpPr>
          <p:nvPr/>
        </p:nvSpPr>
        <p:spPr bwMode="auto">
          <a:xfrm>
            <a:off x="10439400" y="1599281"/>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interesses</a:t>
            </a:r>
            <a:endParaRPr lang="nl-NL" altLang="nl-NL" sz="1600"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9FD4FA4A-9399-4E2A-A03F-869952E5E7B1}"/>
              </a:ext>
            </a:extLst>
          </p:cNvPr>
          <p:cNvSpPr txBox="1">
            <a:spLocks noChangeArrowheads="1"/>
          </p:cNvSpPr>
          <p:nvPr/>
        </p:nvSpPr>
        <p:spPr bwMode="auto">
          <a:xfrm>
            <a:off x="3115444" y="1876118"/>
            <a:ext cx="16826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vaardigheden</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E882229F-50DF-40CE-BC95-0CFDE8381473}"/>
              </a:ext>
            </a:extLst>
          </p:cNvPr>
          <p:cNvSpPr txBox="1">
            <a:spLocks noChangeArrowheads="1"/>
          </p:cNvSpPr>
          <p:nvPr/>
        </p:nvSpPr>
        <p:spPr bwMode="auto">
          <a:xfrm>
            <a:off x="3752543" y="2812257"/>
            <a:ext cx="9374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sterkte</a:t>
            </a:r>
            <a:endParaRPr lang="nl-NL" altLang="nl-NL" dirty="0">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a:extLst>
              <a:ext uri="{FF2B5EF4-FFF2-40B4-BE49-F238E27FC236}">
                <a16:creationId xmlns:a16="http://schemas.microsoft.com/office/drawing/2014/main" id="{A2E8E054-DB8C-4B9A-8369-BBEFAD8D7E24}"/>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IV:</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De 12 Interesse gebieden</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11267" name="Tijdelijke aanduiding voor inhoud 2">
            <a:extLst>
              <a:ext uri="{FF2B5EF4-FFF2-40B4-BE49-F238E27FC236}">
                <a16:creationId xmlns:a16="http://schemas.microsoft.com/office/drawing/2014/main" id="{83E27F73-86A1-4F02-A7DA-D6DFA12F42B3}"/>
              </a:ext>
            </a:extLst>
          </p:cNvPr>
          <p:cNvSpPr>
            <a:spLocks noGrp="1"/>
          </p:cNvSpPr>
          <p:nvPr>
            <p:ph idx="1"/>
          </p:nvPr>
        </p:nvSpPr>
        <p:spPr/>
        <p:txBody>
          <a:bodyPr/>
          <a:lstStyle/>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Het interesse model bestaat uit             verschillende typen van persoonlijke interesses.</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Onze interesses kunnen eenvoudiger worden begrepen door zowel de              </a:t>
            </a:r>
            <a:r>
              <a:rPr lang="nl-NL" altLang="nl-NL" sz="1800" dirty="0">
                <a:solidFill>
                  <a:schemeClr val="bg1"/>
                </a:solidFill>
                <a:latin typeface="Frutiger LT Std 45 Light" panose="020B0402020204020204" pitchFamily="34" charset="0"/>
                <a:cs typeface="Arial" panose="020B0604020202020204" pitchFamily="34" charset="0"/>
              </a:rPr>
              <a:t> x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                         vast te stellen als de                           interesses die feitelijk onze desinteresse beschrijft.</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Mensen onderscheiden zich met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mogelijke verschillende interesses in mensen en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verschillende interesses in dingen.</a:t>
            </a:r>
          </a:p>
          <a:p>
            <a:pPr marL="514350" indent="-514350" eaLnBrk="1" hangingPunct="1">
              <a:buFont typeface="Calibri" panose="020F0502020204030204" pitchFamily="34" charset="0"/>
              <a:buAutoNum type="arabicPeriod"/>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a:pPr>
            <a:r>
              <a:rPr lang="nl-NL" altLang="nl-NL" sz="1800" dirty="0">
                <a:solidFill>
                  <a:srgbClr val="7F7F7F"/>
                </a:solidFill>
                <a:latin typeface="Frutiger LT Std 45 Light" panose="020B0402020204020204" pitchFamily="34" charset="0"/>
                <a:cs typeface="Arial" panose="020B0604020202020204" pitchFamily="34" charset="0"/>
              </a:rPr>
              <a:t>Mensen onderscheiden zich eveneens door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verschillende praktische interesses,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verschillende soorten abstracte interesses en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die een mix zijn van deze twee soorten interesses.</a:t>
            </a:r>
          </a:p>
        </p:txBody>
      </p:sp>
      <p:sp>
        <p:nvSpPr>
          <p:cNvPr id="6" name="Tekstvak 5">
            <a:extLst>
              <a:ext uri="{FF2B5EF4-FFF2-40B4-BE49-F238E27FC236}">
                <a16:creationId xmlns:a16="http://schemas.microsoft.com/office/drawing/2014/main" id="{92D8AECB-A895-4C60-814F-11FA766757FA}"/>
              </a:ext>
            </a:extLst>
          </p:cNvPr>
          <p:cNvSpPr txBox="1">
            <a:spLocks noChangeArrowheads="1"/>
          </p:cNvSpPr>
          <p:nvPr/>
        </p:nvSpPr>
        <p:spPr bwMode="auto">
          <a:xfrm>
            <a:off x="4221418" y="1589753"/>
            <a:ext cx="857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twaalf</a:t>
            </a:r>
            <a:endParaRPr lang="nl-NL" altLang="nl-NL" sz="1600"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00074801-0FF7-485D-A381-3B6375D9073F}"/>
              </a:ext>
            </a:extLst>
          </p:cNvPr>
          <p:cNvSpPr txBox="1">
            <a:spLocks noChangeArrowheads="1"/>
          </p:cNvSpPr>
          <p:nvPr/>
        </p:nvSpPr>
        <p:spPr bwMode="auto">
          <a:xfrm>
            <a:off x="8096250" y="2282919"/>
            <a:ext cx="1785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hoogste/sterkste</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CF34C1C6-4D1A-45B8-AC23-D6098D44EFC3}"/>
              </a:ext>
            </a:extLst>
          </p:cNvPr>
          <p:cNvSpPr txBox="1">
            <a:spLocks noChangeArrowheads="1"/>
          </p:cNvSpPr>
          <p:nvPr/>
        </p:nvSpPr>
        <p:spPr bwMode="auto">
          <a:xfrm>
            <a:off x="3292730" y="2532104"/>
            <a:ext cx="1785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laagste/minste</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BA588AD1-7681-4CDF-9BF6-B31B8055DCDF}"/>
              </a:ext>
            </a:extLst>
          </p:cNvPr>
          <p:cNvSpPr txBox="1">
            <a:spLocks noChangeArrowheads="1"/>
          </p:cNvSpPr>
          <p:nvPr/>
        </p:nvSpPr>
        <p:spPr bwMode="auto">
          <a:xfrm>
            <a:off x="4435730" y="3172289"/>
            <a:ext cx="642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zes</a:t>
            </a:r>
            <a:endParaRPr lang="nl-NL" altLang="nl-NL" dirty="0">
              <a:latin typeface="Frutiger LT Std 45 Light" panose="020B0402020204020204" pitchFamily="34" charset="0"/>
            </a:endParaRPr>
          </a:p>
        </p:txBody>
      </p:sp>
      <p:sp>
        <p:nvSpPr>
          <p:cNvPr id="10" name="Tekstvak 9">
            <a:extLst>
              <a:ext uri="{FF2B5EF4-FFF2-40B4-BE49-F238E27FC236}">
                <a16:creationId xmlns:a16="http://schemas.microsoft.com/office/drawing/2014/main" id="{D79C1154-0F06-455B-97CA-80FB93BF4D59}"/>
              </a:ext>
            </a:extLst>
          </p:cNvPr>
          <p:cNvSpPr txBox="1">
            <a:spLocks noChangeArrowheads="1"/>
          </p:cNvSpPr>
          <p:nvPr/>
        </p:nvSpPr>
        <p:spPr bwMode="auto">
          <a:xfrm>
            <a:off x="9596438" y="3211472"/>
            <a:ext cx="571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sz="1600" dirty="0">
                <a:solidFill>
                  <a:srgbClr val="C00000"/>
                </a:solidFill>
                <a:latin typeface="Frutiger LT Std 45 Light" panose="020B0402020204020204" pitchFamily="34" charset="0"/>
                <a:cs typeface="Arial" panose="020B0604020202020204" pitchFamily="34" charset="0"/>
              </a:rPr>
              <a:t>zes</a:t>
            </a:r>
            <a:endParaRPr lang="nl-NL" altLang="nl-NL" sz="1600" dirty="0">
              <a:latin typeface="Frutiger LT Std 45 Light" panose="020B0402020204020204" pitchFamily="34" charset="0"/>
            </a:endParaRPr>
          </a:p>
        </p:txBody>
      </p:sp>
      <p:sp>
        <p:nvSpPr>
          <p:cNvPr id="11" name="Tekstvak 10">
            <a:extLst>
              <a:ext uri="{FF2B5EF4-FFF2-40B4-BE49-F238E27FC236}">
                <a16:creationId xmlns:a16="http://schemas.microsoft.com/office/drawing/2014/main" id="{AAD678B4-B577-4DF7-95B5-88EC82B3D94C}"/>
              </a:ext>
            </a:extLst>
          </p:cNvPr>
          <p:cNvSpPr txBox="1">
            <a:spLocks noChangeArrowheads="1"/>
          </p:cNvSpPr>
          <p:nvPr/>
        </p:nvSpPr>
        <p:spPr bwMode="auto">
          <a:xfrm>
            <a:off x="5413580" y="4111883"/>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vier</a:t>
            </a:r>
            <a:endParaRPr lang="nl-NL" altLang="nl-NL" dirty="0">
              <a:latin typeface="Frutiger LT Std 45 Light" panose="020B0402020204020204" pitchFamily="34" charset="0"/>
            </a:endParaRPr>
          </a:p>
        </p:txBody>
      </p:sp>
      <p:sp>
        <p:nvSpPr>
          <p:cNvPr id="14" name="Tekstvak 13">
            <a:extLst>
              <a:ext uri="{FF2B5EF4-FFF2-40B4-BE49-F238E27FC236}">
                <a16:creationId xmlns:a16="http://schemas.microsoft.com/office/drawing/2014/main" id="{01F9E60F-663E-4231-81BC-7F02594B25B0}"/>
              </a:ext>
            </a:extLst>
          </p:cNvPr>
          <p:cNvSpPr txBox="1">
            <a:spLocks noChangeArrowheads="1"/>
          </p:cNvSpPr>
          <p:nvPr/>
        </p:nvSpPr>
        <p:spPr bwMode="auto">
          <a:xfrm>
            <a:off x="9310688" y="4126257"/>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vier</a:t>
            </a:r>
            <a:endParaRPr lang="nl-NL" altLang="nl-NL" dirty="0">
              <a:latin typeface="Frutiger LT Std 45 Light" panose="020B0402020204020204" pitchFamily="34" charset="0"/>
            </a:endParaRPr>
          </a:p>
        </p:txBody>
      </p:sp>
      <p:sp>
        <p:nvSpPr>
          <p:cNvPr id="16" name="Tekstvak 15">
            <a:extLst>
              <a:ext uri="{FF2B5EF4-FFF2-40B4-BE49-F238E27FC236}">
                <a16:creationId xmlns:a16="http://schemas.microsoft.com/office/drawing/2014/main" id="{9B2E4239-7EBB-459F-9824-F7CA812CB0F5}"/>
              </a:ext>
            </a:extLst>
          </p:cNvPr>
          <p:cNvSpPr txBox="1">
            <a:spLocks noChangeArrowheads="1"/>
          </p:cNvSpPr>
          <p:nvPr/>
        </p:nvSpPr>
        <p:spPr bwMode="auto">
          <a:xfrm>
            <a:off x="4221418" y="4442187"/>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vier</a:t>
            </a:r>
            <a:endParaRPr lang="nl-NL" altLang="nl-NL" dirty="0">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4" grpId="0"/>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el 1">
            <a:extLst>
              <a:ext uri="{FF2B5EF4-FFF2-40B4-BE49-F238E27FC236}">
                <a16:creationId xmlns:a16="http://schemas.microsoft.com/office/drawing/2014/main" id="{8A6473AF-BB0F-44F3-97A9-2EBEA056E0DB}"/>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IV:</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Vervolg</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12291" name="Tijdelijke aanduiding voor inhoud 2">
            <a:extLst>
              <a:ext uri="{FF2B5EF4-FFF2-40B4-BE49-F238E27FC236}">
                <a16:creationId xmlns:a16="http://schemas.microsoft.com/office/drawing/2014/main" id="{734714F9-63CA-437A-B21C-61A81123145E}"/>
              </a:ext>
            </a:extLst>
          </p:cNvPr>
          <p:cNvSpPr>
            <a:spLocks noGrp="1"/>
          </p:cNvSpPr>
          <p:nvPr>
            <p:ph idx="1"/>
          </p:nvPr>
        </p:nvSpPr>
        <p:spPr>
          <a:xfrm>
            <a:off x="609600" y="1500189"/>
            <a:ext cx="10972800" cy="4625975"/>
          </a:xfrm>
        </p:spPr>
        <p:txBody>
          <a:bodyPr/>
          <a:lstStyle/>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De twaalf types werk en privé interesses vertegenwoordigen zowel de soort van activiteiten die mensen voor honderden jaren hebben gemotiveerd als de meer </a:t>
            </a:r>
            <a:r>
              <a:rPr lang="nl-NL" altLang="nl-NL" sz="1800" dirty="0">
                <a:solidFill>
                  <a:schemeClr val="bg1"/>
                </a:solidFill>
                <a:latin typeface="Frutiger LT Std 45 Light" panose="020B0402020204020204" pitchFamily="34" charset="0"/>
                <a:cs typeface="Arial" panose="020B0604020202020204" pitchFamily="34" charset="0"/>
              </a:rPr>
              <a:t>x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interesses welke in onze moderne tijd een rol spelen.</a:t>
            </a:r>
          </a:p>
          <a:p>
            <a:pPr marL="514350" indent="-514350" eaLnBrk="1" hangingPunct="1">
              <a:buFont typeface="Calibri" panose="020F0502020204030204" pitchFamily="34" charset="0"/>
              <a:buAutoNum type="arabicPeriod" startAt="5"/>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Elke van deze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interesses worden gemotiveerd door verschillende persoonlijke passies maar worden ook gemotiveerd door                           </a:t>
            </a:r>
          </a:p>
          <a:p>
            <a:pPr marL="514350" indent="-514350" eaLnBrk="1" hangingPunct="1">
              <a:buFont typeface="Calibri" panose="020F0502020204030204" pitchFamily="34" charset="0"/>
              <a:buAutoNum type="arabicPeriod" startAt="5"/>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Het belang van interesses is te begrijpen dat twee personen even getalenteerd kunnen zijn voor het uitvoeren van een functie maar sterk kunnen verschillen in de mate van                                die zij hebben voor die functie wat waarschijnlijk veel invloed zal hebben op hun performance en de lange termijn continuïteit voor het uitvoeren van deze functie.</a:t>
            </a:r>
          </a:p>
          <a:p>
            <a:pPr marL="514350" indent="-514350" eaLnBrk="1" hangingPunct="1">
              <a:buFont typeface="Calibri" panose="020F0502020204030204" pitchFamily="34" charset="0"/>
              <a:buAutoNum type="arabicPeriod" startAt="5"/>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5"/>
            </a:pPr>
            <a:r>
              <a:rPr lang="nl-NL" altLang="nl-NL" sz="1800" dirty="0">
                <a:solidFill>
                  <a:srgbClr val="7F7F7F"/>
                </a:solidFill>
                <a:latin typeface="Frutiger LT Std 45 Light" panose="020B0402020204020204" pitchFamily="34" charset="0"/>
                <a:cs typeface="Arial" panose="020B0604020202020204" pitchFamily="34" charset="0"/>
              </a:rPr>
              <a:t>De overeenkomst tussen de Economische en Intellectuele werk interesse is dat beide primair gefocust zijn op               en het verschil tussen deze is dat Economische interesse meer                   is, terwijl Intellectuele interesses meer </a:t>
            </a:r>
            <a:r>
              <a:rPr lang="nl-NL" altLang="nl-NL" sz="1800" dirty="0">
                <a:solidFill>
                  <a:schemeClr val="bg1"/>
                </a:solidFill>
                <a:latin typeface="Frutiger LT Std 45 Light" panose="020B0402020204020204" pitchFamily="34" charset="0"/>
                <a:cs typeface="Arial" panose="020B0604020202020204" pitchFamily="34" charset="0"/>
              </a:rPr>
              <a:t>x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zijn.</a:t>
            </a:r>
          </a:p>
          <a:p>
            <a:pPr marL="514350" indent="-514350" eaLnBrk="1" hangingPunct="1">
              <a:buNone/>
            </a:pPr>
            <a:endParaRPr lang="nl-NL" altLang="nl-NL" sz="1800" dirty="0">
              <a:solidFill>
                <a:srgbClr val="7F7F7F"/>
              </a:solidFill>
              <a:latin typeface="Frutiger LT Std 45 Light" panose="020B0402020204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1988A613-7F38-44C1-8DD1-5D0D2E51C800}"/>
              </a:ext>
            </a:extLst>
          </p:cNvPr>
          <p:cNvSpPr txBox="1">
            <a:spLocks noChangeArrowheads="1"/>
          </p:cNvSpPr>
          <p:nvPr/>
        </p:nvSpPr>
        <p:spPr bwMode="auto">
          <a:xfrm>
            <a:off x="6604512" y="1804989"/>
            <a:ext cx="1500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hedendaagse</a:t>
            </a:r>
            <a:endParaRPr lang="nl-NL" altLang="nl-NL"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6AEADAFC-948B-4FB5-B3BD-8937BE96BB4E}"/>
              </a:ext>
            </a:extLst>
          </p:cNvPr>
          <p:cNvSpPr txBox="1">
            <a:spLocks noChangeArrowheads="1"/>
          </p:cNvSpPr>
          <p:nvPr/>
        </p:nvSpPr>
        <p:spPr bwMode="auto">
          <a:xfrm>
            <a:off x="2562379" y="2740819"/>
            <a:ext cx="928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twaalf</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0333D15D-4F06-4C7C-9360-520DD2B34957}"/>
              </a:ext>
            </a:extLst>
          </p:cNvPr>
          <p:cNvSpPr txBox="1">
            <a:spLocks noChangeArrowheads="1"/>
          </p:cNvSpPr>
          <p:nvPr/>
        </p:nvSpPr>
        <p:spPr bwMode="auto">
          <a:xfrm>
            <a:off x="4247766" y="3000375"/>
            <a:ext cx="19196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angst of nood</a:t>
            </a:r>
            <a:r>
              <a:rPr lang="nl-NL" altLang="nl-NL" dirty="0">
                <a:solidFill>
                  <a:srgbClr val="7F7F7F"/>
                </a:solidFill>
                <a:latin typeface="Frutiger LT Std 45 Light" panose="020B0402020204020204" pitchFamily="34" charset="0"/>
                <a:cs typeface="Arial" panose="020B0604020202020204" pitchFamily="34" charset="0"/>
              </a:rPr>
              <a:t>.</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487DB857-A58C-4596-A6B4-0E2D47AD6AA3}"/>
              </a:ext>
            </a:extLst>
          </p:cNvPr>
          <p:cNvSpPr txBox="1">
            <a:spLocks noChangeArrowheads="1"/>
          </p:cNvSpPr>
          <p:nvPr/>
        </p:nvSpPr>
        <p:spPr bwMode="auto">
          <a:xfrm>
            <a:off x="8201794" y="3914878"/>
            <a:ext cx="2000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motivatie of passie</a:t>
            </a:r>
            <a:endParaRPr lang="nl-NL" altLang="nl-NL" dirty="0">
              <a:latin typeface="Frutiger LT Std 45 Light" panose="020B0402020204020204" pitchFamily="34" charset="0"/>
            </a:endParaRPr>
          </a:p>
        </p:txBody>
      </p:sp>
      <p:sp>
        <p:nvSpPr>
          <p:cNvPr id="10" name="Tekstvak 9">
            <a:extLst>
              <a:ext uri="{FF2B5EF4-FFF2-40B4-BE49-F238E27FC236}">
                <a16:creationId xmlns:a16="http://schemas.microsoft.com/office/drawing/2014/main" id="{5EC3852A-C286-4F85-986E-8F3A9DF8FE8D}"/>
              </a:ext>
            </a:extLst>
          </p:cNvPr>
          <p:cNvSpPr txBox="1">
            <a:spLocks noChangeArrowheads="1"/>
          </p:cNvSpPr>
          <p:nvPr/>
        </p:nvSpPr>
        <p:spPr bwMode="auto">
          <a:xfrm>
            <a:off x="1531143" y="5398056"/>
            <a:ext cx="928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dingen</a:t>
            </a:r>
            <a:endParaRPr lang="nl-NL" altLang="nl-NL" dirty="0">
              <a:latin typeface="Frutiger LT Std 45 Light" panose="020B0402020204020204" pitchFamily="34" charset="0"/>
            </a:endParaRPr>
          </a:p>
        </p:txBody>
      </p:sp>
      <p:sp>
        <p:nvSpPr>
          <p:cNvPr id="11" name="Tekstvak 10">
            <a:extLst>
              <a:ext uri="{FF2B5EF4-FFF2-40B4-BE49-F238E27FC236}">
                <a16:creationId xmlns:a16="http://schemas.microsoft.com/office/drawing/2014/main" id="{3E435A7D-FB23-4E3D-9BDF-3BEF7599EF4F}"/>
              </a:ext>
            </a:extLst>
          </p:cNvPr>
          <p:cNvSpPr txBox="1">
            <a:spLocks noChangeArrowheads="1"/>
          </p:cNvSpPr>
          <p:nvPr/>
        </p:nvSpPr>
        <p:spPr bwMode="auto">
          <a:xfrm>
            <a:off x="8453897" y="5409732"/>
            <a:ext cx="12139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solidFill>
                  <a:srgbClr val="C00000"/>
                </a:solidFill>
                <a:latin typeface="Frutiger LT Std 45 Light" panose="020B0402020204020204" pitchFamily="34" charset="0"/>
                <a:cs typeface="Arial" panose="020B0604020202020204" pitchFamily="34" charset="0"/>
              </a:rPr>
              <a:t>praktisch</a:t>
            </a:r>
            <a:endParaRPr lang="nl-NL" altLang="nl-NL">
              <a:latin typeface="Frutiger LT Std 45 Light" panose="020B0402020204020204" pitchFamily="34" charset="0"/>
            </a:endParaRPr>
          </a:p>
        </p:txBody>
      </p:sp>
      <p:sp>
        <p:nvSpPr>
          <p:cNvPr id="12" name="Tekstvak 11">
            <a:extLst>
              <a:ext uri="{FF2B5EF4-FFF2-40B4-BE49-F238E27FC236}">
                <a16:creationId xmlns:a16="http://schemas.microsoft.com/office/drawing/2014/main" id="{6A784BD6-917F-445E-ADCF-4A5592ABD110}"/>
              </a:ext>
            </a:extLst>
          </p:cNvPr>
          <p:cNvSpPr txBox="1">
            <a:spLocks noChangeArrowheads="1"/>
          </p:cNvSpPr>
          <p:nvPr/>
        </p:nvSpPr>
        <p:spPr bwMode="auto">
          <a:xfrm>
            <a:off x="3979299" y="5715000"/>
            <a:ext cx="1103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solidFill>
                  <a:srgbClr val="C00000"/>
                </a:solidFill>
                <a:latin typeface="Frutiger LT Std 45 Light" panose="020B0402020204020204" pitchFamily="34" charset="0"/>
                <a:cs typeface="Arial" panose="020B0604020202020204" pitchFamily="34" charset="0"/>
              </a:rPr>
              <a:t>abstract</a:t>
            </a:r>
            <a:endParaRPr lang="nl-NL" altLang="nl-NL">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a:extLst>
              <a:ext uri="{FF2B5EF4-FFF2-40B4-BE49-F238E27FC236}">
                <a16:creationId xmlns:a16="http://schemas.microsoft.com/office/drawing/2014/main" id="{BD3738E6-B06F-489A-BEE0-D467F3B242CE}"/>
              </a:ext>
            </a:extLst>
          </p:cNvPr>
          <p:cNvSpPr>
            <a:spLocks noGrp="1"/>
          </p:cNvSpPr>
          <p:nvPr>
            <p:ph type="title"/>
          </p:nvPr>
        </p:nvSpPr>
        <p:spPr/>
        <p:txBody>
          <a:bodyPr/>
          <a:lstStyle/>
          <a:p>
            <a:pPr algn="l" eaLnBrk="1" hangingPunct="1"/>
            <a:r>
              <a:rPr lang="nl-NL" altLang="nl-NL" sz="2000" b="1">
                <a:solidFill>
                  <a:srgbClr val="7F7F7F"/>
                </a:solidFill>
                <a:latin typeface="Frutiger LT Std 45 Light" panose="020B0402020204020204" pitchFamily="34" charset="0"/>
                <a:cs typeface="Arial" panose="020B0604020202020204" pitchFamily="34" charset="0"/>
              </a:rPr>
              <a:t>Concept  IV:</a:t>
            </a:r>
            <a:br>
              <a:rPr lang="nl-NL" altLang="nl-NL" sz="2000" b="1">
                <a:solidFill>
                  <a:srgbClr val="7F7F7F"/>
                </a:solidFill>
                <a:latin typeface="Frutiger LT Std 45 Light" panose="020B0402020204020204" pitchFamily="34" charset="0"/>
                <a:cs typeface="Arial" panose="020B0604020202020204" pitchFamily="34" charset="0"/>
              </a:rPr>
            </a:br>
            <a:r>
              <a:rPr lang="nl-NL" altLang="nl-NL" sz="2000" b="1">
                <a:solidFill>
                  <a:srgbClr val="7F7F7F"/>
                </a:solidFill>
                <a:latin typeface="Frutiger LT Std 45 Light" panose="020B0402020204020204" pitchFamily="34" charset="0"/>
                <a:cs typeface="Arial" panose="020B0604020202020204" pitchFamily="34" charset="0"/>
              </a:rPr>
              <a:t>Vervolg</a:t>
            </a:r>
            <a:br>
              <a:rPr lang="nl-NL" altLang="nl-NL" sz="2000" b="1">
                <a:solidFill>
                  <a:srgbClr val="7F7F7F"/>
                </a:solidFill>
                <a:latin typeface="Frutiger LT Std 45 Light" panose="020B0402020204020204" pitchFamily="34" charset="0"/>
                <a:cs typeface="Arial" panose="020B0604020202020204" pitchFamily="34" charset="0"/>
              </a:rPr>
            </a:br>
            <a:endParaRPr lang="nl-NL" altLang="nl-NL" sz="2000" b="1">
              <a:solidFill>
                <a:srgbClr val="7F7F7F"/>
              </a:solidFill>
              <a:latin typeface="Frutiger LT Std 45 Light" panose="020B0402020204020204" pitchFamily="34" charset="0"/>
              <a:cs typeface="Arial" panose="020B0604020202020204" pitchFamily="34" charset="0"/>
            </a:endParaRPr>
          </a:p>
        </p:txBody>
      </p:sp>
      <p:sp>
        <p:nvSpPr>
          <p:cNvPr id="13315" name="Tijdelijke aanduiding voor inhoud 2">
            <a:extLst>
              <a:ext uri="{FF2B5EF4-FFF2-40B4-BE49-F238E27FC236}">
                <a16:creationId xmlns:a16="http://schemas.microsoft.com/office/drawing/2014/main" id="{0C562275-0BA9-4370-A699-A438C881DF52}"/>
              </a:ext>
            </a:extLst>
          </p:cNvPr>
          <p:cNvSpPr>
            <a:spLocks noGrp="1"/>
          </p:cNvSpPr>
          <p:nvPr>
            <p:ph idx="1"/>
          </p:nvPr>
        </p:nvSpPr>
        <p:spPr/>
        <p:txBody>
          <a:bodyPr/>
          <a:lstStyle/>
          <a:p>
            <a:pPr marL="514350" indent="-514350" eaLnBrk="1" hangingPunct="1">
              <a:buFont typeface="Calibri" panose="020F0502020204030204" pitchFamily="34" charset="0"/>
              <a:buAutoNum type="arabicPeriod" startAt="9"/>
            </a:pPr>
            <a:r>
              <a:rPr lang="nl-NL" altLang="nl-NL" sz="1800" dirty="0">
                <a:solidFill>
                  <a:srgbClr val="7F7F7F"/>
                </a:solidFill>
                <a:latin typeface="Frutiger LT Std 45 Light" panose="020B0402020204020204" pitchFamily="34" charset="0"/>
                <a:cs typeface="Arial" panose="020B0604020202020204" pitchFamily="34" charset="0"/>
              </a:rPr>
              <a:t>De overeenkomst tussen de Relationeel en de Autoriteit interesse is dat beide primair gefocust zijn op                     en het verschil tussen deze is dat Relationele interesse meer                  is, terwijl de Autoriteit interesse meer                 is.</a:t>
            </a:r>
          </a:p>
          <a:p>
            <a:pPr marL="514350" indent="-514350" eaLnBrk="1" hangingPunct="1">
              <a:buFont typeface="Calibri" panose="020F0502020204030204" pitchFamily="34" charset="0"/>
              <a:buAutoNum type="arabicPeriod" startAt="9"/>
            </a:pPr>
            <a:endParaRPr lang="nl-NL" altLang="nl-NL" sz="1800" dirty="0">
              <a:solidFill>
                <a:srgbClr val="7F7F7F"/>
              </a:solidFill>
              <a:latin typeface="Frutiger LT Std 45 Light" panose="020B0402020204020204" pitchFamily="34" charset="0"/>
              <a:cs typeface="Arial" panose="020B0604020202020204" pitchFamily="34" charset="0"/>
            </a:endParaRPr>
          </a:p>
          <a:p>
            <a:pPr marL="514350" indent="-514350" eaLnBrk="1" hangingPunct="1">
              <a:buFont typeface="Calibri" panose="020F0502020204030204" pitchFamily="34" charset="0"/>
              <a:buAutoNum type="arabicPeriod" startAt="9"/>
            </a:pPr>
            <a:r>
              <a:rPr lang="nl-NL" altLang="nl-NL" sz="1800" dirty="0">
                <a:solidFill>
                  <a:srgbClr val="7F7F7F"/>
                </a:solidFill>
                <a:latin typeface="Frutiger LT Std 45 Light" panose="020B0402020204020204" pitchFamily="34" charset="0"/>
                <a:cs typeface="Arial" panose="020B0604020202020204" pitchFamily="34" charset="0"/>
              </a:rPr>
              <a:t>Terwijl zowel de Artistieke en Humanitaire interesse meer abstracte soorten van interesse zijn, verschillen zij doordat de Artistieke interesse meer gericht is op  </a:t>
            </a:r>
            <a:r>
              <a:rPr lang="nl-NL" altLang="nl-NL" sz="1800" dirty="0">
                <a:solidFill>
                  <a:schemeClr val="bg1"/>
                </a:solidFill>
                <a:latin typeface="Frutiger LT Std 45 Light" panose="020B0402020204020204" pitchFamily="34" charset="0"/>
                <a:cs typeface="Arial" panose="020B0604020202020204" pitchFamily="34" charset="0"/>
              </a:rPr>
              <a:t>x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chemeClr val="bg1"/>
                </a:solidFill>
                <a:latin typeface="Frutiger LT Std 45 Light" panose="020B0402020204020204" pitchFamily="34" charset="0"/>
                <a:cs typeface="Arial" panose="020B0604020202020204" pitchFamily="34" charset="0"/>
              </a:rPr>
              <a:t> </a:t>
            </a:r>
            <a:r>
              <a:rPr lang="nl-NL" altLang="nl-NL" sz="1800" dirty="0" err="1">
                <a:solidFill>
                  <a:schemeClr val="bg1"/>
                </a:solidFill>
                <a:latin typeface="Frutiger LT Std 45 Light" panose="020B0402020204020204" pitchFamily="34" charset="0"/>
                <a:cs typeface="Arial" panose="020B0604020202020204" pitchFamily="34" charset="0"/>
              </a:rPr>
              <a:t>x</a:t>
            </a:r>
            <a:r>
              <a:rPr lang="nl-NL" altLang="nl-NL" sz="1800" dirty="0">
                <a:solidFill>
                  <a:srgbClr val="7F7F7F"/>
                </a:solidFill>
                <a:latin typeface="Frutiger LT Std 45 Light" panose="020B0402020204020204" pitchFamily="34" charset="0"/>
                <a:cs typeface="Arial" panose="020B0604020202020204" pitchFamily="34" charset="0"/>
              </a:rPr>
              <a:t>  en de Humanitaire meer op </a:t>
            </a:r>
            <a:r>
              <a:rPr lang="nl-NL" altLang="nl-NL" sz="1800" dirty="0">
                <a:solidFill>
                  <a:srgbClr val="C00000"/>
                </a:solidFill>
                <a:latin typeface="Frutiger LT Std 45 Light" panose="020B0402020204020204" pitchFamily="34" charset="0"/>
                <a:cs typeface="Arial" panose="020B0604020202020204" pitchFamily="34" charset="0"/>
              </a:rPr>
              <a:t>                </a:t>
            </a:r>
            <a:r>
              <a:rPr lang="nl-NL" altLang="nl-NL" sz="1800" dirty="0">
                <a:solidFill>
                  <a:srgbClr val="7F7F7F"/>
                </a:solidFill>
                <a:latin typeface="Frutiger LT Std 45 Light" panose="020B0402020204020204" pitchFamily="34" charset="0"/>
                <a:cs typeface="Arial" panose="020B0604020202020204" pitchFamily="34" charset="0"/>
              </a:rPr>
              <a:t>.</a:t>
            </a:r>
          </a:p>
        </p:txBody>
      </p:sp>
      <p:sp>
        <p:nvSpPr>
          <p:cNvPr id="6" name="Tekstvak 5">
            <a:extLst>
              <a:ext uri="{FF2B5EF4-FFF2-40B4-BE49-F238E27FC236}">
                <a16:creationId xmlns:a16="http://schemas.microsoft.com/office/drawing/2014/main" id="{D94A31C2-EC2C-476E-8DD3-FBDB1F158C78}"/>
              </a:ext>
            </a:extLst>
          </p:cNvPr>
          <p:cNvSpPr txBox="1">
            <a:spLocks noChangeArrowheads="1"/>
          </p:cNvSpPr>
          <p:nvPr/>
        </p:nvSpPr>
        <p:spPr bwMode="auto">
          <a:xfrm>
            <a:off x="11082337" y="1600203"/>
            <a:ext cx="1000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mensen</a:t>
            </a:r>
            <a:endParaRPr lang="nl-NL" altLang="nl-NL" dirty="0">
              <a:latin typeface="Frutiger LT Std 45 Light" panose="020B0402020204020204" pitchFamily="34" charset="0"/>
            </a:endParaRPr>
          </a:p>
        </p:txBody>
      </p:sp>
      <p:sp>
        <p:nvSpPr>
          <p:cNvPr id="7" name="Tekstvak 6">
            <a:extLst>
              <a:ext uri="{FF2B5EF4-FFF2-40B4-BE49-F238E27FC236}">
                <a16:creationId xmlns:a16="http://schemas.microsoft.com/office/drawing/2014/main" id="{40873460-8A99-49D1-A339-B88D61C1874D}"/>
              </a:ext>
            </a:extLst>
          </p:cNvPr>
          <p:cNvSpPr txBox="1">
            <a:spLocks noChangeArrowheads="1"/>
          </p:cNvSpPr>
          <p:nvPr/>
        </p:nvSpPr>
        <p:spPr bwMode="auto">
          <a:xfrm>
            <a:off x="7030373" y="1902620"/>
            <a:ext cx="11795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praktisch</a:t>
            </a:r>
            <a:endParaRPr lang="nl-NL" altLang="nl-NL" dirty="0">
              <a:latin typeface="Frutiger LT Std 45 Light" panose="020B0402020204020204" pitchFamily="34" charset="0"/>
            </a:endParaRPr>
          </a:p>
        </p:txBody>
      </p:sp>
      <p:sp>
        <p:nvSpPr>
          <p:cNvPr id="8" name="Tekstvak 7">
            <a:extLst>
              <a:ext uri="{FF2B5EF4-FFF2-40B4-BE49-F238E27FC236}">
                <a16:creationId xmlns:a16="http://schemas.microsoft.com/office/drawing/2014/main" id="{C3DFCB1B-9C5A-4AB8-A011-3A817677DB01}"/>
              </a:ext>
            </a:extLst>
          </p:cNvPr>
          <p:cNvSpPr txBox="1">
            <a:spLocks noChangeArrowheads="1"/>
          </p:cNvSpPr>
          <p:nvPr/>
        </p:nvSpPr>
        <p:spPr bwMode="auto">
          <a:xfrm>
            <a:off x="1781945" y="2198042"/>
            <a:ext cx="1000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dirty="0">
                <a:solidFill>
                  <a:srgbClr val="C00000"/>
                </a:solidFill>
                <a:latin typeface="Frutiger LT Std 45 Light" panose="020B0402020204020204" pitchFamily="34" charset="0"/>
                <a:cs typeface="Arial" panose="020B0604020202020204" pitchFamily="34" charset="0"/>
              </a:rPr>
              <a:t>abstract</a:t>
            </a:r>
            <a:endParaRPr lang="nl-NL" altLang="nl-NL" dirty="0">
              <a:latin typeface="Frutiger LT Std 45 Light" panose="020B0402020204020204" pitchFamily="34" charset="0"/>
            </a:endParaRPr>
          </a:p>
        </p:txBody>
      </p:sp>
      <p:sp>
        <p:nvSpPr>
          <p:cNvPr id="9" name="Tekstvak 8">
            <a:extLst>
              <a:ext uri="{FF2B5EF4-FFF2-40B4-BE49-F238E27FC236}">
                <a16:creationId xmlns:a16="http://schemas.microsoft.com/office/drawing/2014/main" id="{9E3C1630-4671-4F82-92AC-43DE2CCFEEAE}"/>
              </a:ext>
            </a:extLst>
          </p:cNvPr>
          <p:cNvSpPr txBox="1">
            <a:spLocks noChangeArrowheads="1"/>
          </p:cNvSpPr>
          <p:nvPr/>
        </p:nvSpPr>
        <p:spPr bwMode="auto">
          <a:xfrm>
            <a:off x="6260383" y="3107454"/>
            <a:ext cx="928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solidFill>
                  <a:srgbClr val="C00000"/>
                </a:solidFill>
                <a:latin typeface="Frutiger LT Std 45 Light" panose="020B0402020204020204" pitchFamily="34" charset="0"/>
                <a:cs typeface="Arial" panose="020B0604020202020204" pitchFamily="34" charset="0"/>
              </a:rPr>
              <a:t>dingen</a:t>
            </a:r>
            <a:endParaRPr lang="nl-NL" altLang="nl-NL">
              <a:latin typeface="Frutiger LT Std 45 Light" panose="020B0402020204020204" pitchFamily="34" charset="0"/>
            </a:endParaRPr>
          </a:p>
        </p:txBody>
      </p:sp>
      <p:sp>
        <p:nvSpPr>
          <p:cNvPr id="10" name="Tekstvak 9">
            <a:extLst>
              <a:ext uri="{FF2B5EF4-FFF2-40B4-BE49-F238E27FC236}">
                <a16:creationId xmlns:a16="http://schemas.microsoft.com/office/drawing/2014/main" id="{DB90097B-2F9D-44E3-B0FD-CC3A8707E8C3}"/>
              </a:ext>
            </a:extLst>
          </p:cNvPr>
          <p:cNvSpPr txBox="1">
            <a:spLocks noChangeArrowheads="1"/>
          </p:cNvSpPr>
          <p:nvPr/>
        </p:nvSpPr>
        <p:spPr bwMode="auto">
          <a:xfrm>
            <a:off x="9873586" y="3123051"/>
            <a:ext cx="9620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a:solidFill>
                  <a:srgbClr val="C00000"/>
                </a:solidFill>
                <a:latin typeface="Frutiger LT Std 45 Light" panose="020B0402020204020204" pitchFamily="34" charset="0"/>
                <a:cs typeface="Arial" panose="020B0604020202020204" pitchFamily="34" charset="0"/>
              </a:rPr>
              <a:t>mensen</a:t>
            </a:r>
            <a:endParaRPr lang="nl-NL" altLang="nl-NL">
              <a:latin typeface="Frutiger LT Std 45 Light" panose="020B0402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el 1">
            <a:extLst>
              <a:ext uri="{FF2B5EF4-FFF2-40B4-BE49-F238E27FC236}">
                <a16:creationId xmlns:a16="http://schemas.microsoft.com/office/drawing/2014/main" id="{2BE312F2-4F43-4A67-90B3-9CC7AE93340A}"/>
              </a:ext>
            </a:extLst>
          </p:cNvPr>
          <p:cNvSpPr>
            <a:spLocks noGrp="1"/>
          </p:cNvSpPr>
          <p:nvPr>
            <p:ph type="ctrTitle"/>
          </p:nvPr>
        </p:nvSpPr>
        <p:spPr/>
        <p:txBody>
          <a:bodyPr/>
          <a:lstStyle/>
          <a:p>
            <a:pPr eaLnBrk="1" hangingPunct="1"/>
            <a:r>
              <a:rPr lang="nl-NL" altLang="nl-NL" dirty="0">
                <a:solidFill>
                  <a:schemeClr val="accent6">
                    <a:lumMod val="75000"/>
                  </a:schemeClr>
                </a:solidFill>
                <a:latin typeface="Frutiger LT Std 45 Light" panose="020B0402020204020204" pitchFamily="34" charset="0"/>
              </a:rPr>
              <a:t>E i n d 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IJL-RECHTS 5">
            <a:extLst>
              <a:ext uri="{FF2B5EF4-FFF2-40B4-BE49-F238E27FC236}">
                <a16:creationId xmlns:a16="http://schemas.microsoft.com/office/drawing/2014/main" id="{BAA9B36B-0B15-4E29-A215-FC6EEF6C3891}"/>
              </a:ext>
            </a:extLst>
          </p:cNvPr>
          <p:cNvSpPr/>
          <p:nvPr/>
        </p:nvSpPr>
        <p:spPr>
          <a:xfrm rot="16200000">
            <a:off x="5574586" y="-863323"/>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dirty="0">
              <a:solidFill>
                <a:srgbClr val="FFFFFF"/>
              </a:solidFill>
              <a:latin typeface="Frutiger LT Std 45 Light" panose="020B0402020204020204" pitchFamily="34" charset="0"/>
            </a:endParaRPr>
          </a:p>
        </p:txBody>
      </p:sp>
      <p:graphicFrame>
        <p:nvGraphicFramePr>
          <p:cNvPr id="2" name="Tabel 1">
            <a:extLst>
              <a:ext uri="{FF2B5EF4-FFF2-40B4-BE49-F238E27FC236}">
                <a16:creationId xmlns:a16="http://schemas.microsoft.com/office/drawing/2014/main" id="{70105A5F-D0F6-4FF4-9B8A-21E62FC1BB7B}"/>
              </a:ext>
            </a:extLst>
          </p:cNvPr>
          <p:cNvGraphicFramePr>
            <a:graphicFrameLocks noGrp="1"/>
          </p:cNvGraphicFramePr>
          <p:nvPr>
            <p:extLst>
              <p:ext uri="{D42A27DB-BD31-4B8C-83A1-F6EECF244321}">
                <p14:modId xmlns:p14="http://schemas.microsoft.com/office/powerpoint/2010/main" val="4011695310"/>
              </p:ext>
            </p:extLst>
          </p:nvPr>
        </p:nvGraphicFramePr>
        <p:xfrm>
          <a:off x="1927120" y="1571153"/>
          <a:ext cx="8337756" cy="3930007"/>
        </p:xfrm>
        <a:graphic>
          <a:graphicData uri="http://schemas.openxmlformats.org/drawingml/2006/table">
            <a:tbl>
              <a:tblPr firstRow="1" bandRow="1">
                <a:tableStyleId>{5940675A-B579-460E-94D1-54222C63F5DA}</a:tableStyleId>
              </a:tblPr>
              <a:tblGrid>
                <a:gridCol w="687652">
                  <a:extLst>
                    <a:ext uri="{9D8B030D-6E8A-4147-A177-3AD203B41FA5}">
                      <a16:colId xmlns:a16="http://schemas.microsoft.com/office/drawing/2014/main" val="20000"/>
                    </a:ext>
                  </a:extLst>
                </a:gridCol>
                <a:gridCol w="2320819">
                  <a:extLst>
                    <a:ext uri="{9D8B030D-6E8A-4147-A177-3AD203B41FA5}">
                      <a16:colId xmlns:a16="http://schemas.microsoft.com/office/drawing/2014/main" val="20001"/>
                    </a:ext>
                  </a:extLst>
                </a:gridCol>
                <a:gridCol w="2395723">
                  <a:extLst>
                    <a:ext uri="{9D8B030D-6E8A-4147-A177-3AD203B41FA5}">
                      <a16:colId xmlns:a16="http://schemas.microsoft.com/office/drawing/2014/main" val="20002"/>
                    </a:ext>
                  </a:extLst>
                </a:gridCol>
                <a:gridCol w="2215397">
                  <a:extLst>
                    <a:ext uri="{9D8B030D-6E8A-4147-A177-3AD203B41FA5}">
                      <a16:colId xmlns:a16="http://schemas.microsoft.com/office/drawing/2014/main" val="20003"/>
                    </a:ext>
                  </a:extLst>
                </a:gridCol>
                <a:gridCol w="718165">
                  <a:extLst>
                    <a:ext uri="{9D8B030D-6E8A-4147-A177-3AD203B41FA5}">
                      <a16:colId xmlns:a16="http://schemas.microsoft.com/office/drawing/2014/main" val="20004"/>
                    </a:ext>
                  </a:extLst>
                </a:gridCol>
              </a:tblGrid>
              <a:tr h="307702">
                <a:tc>
                  <a:txBody>
                    <a:bodyPr/>
                    <a:lstStyle/>
                    <a:p>
                      <a:endParaRPr lang="nl-NL" dirty="0"/>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endParaRPr lang="en-US" sz="3200" b="1" dirty="0">
                        <a:solidFill>
                          <a:srgbClr val="0070C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nl-NL" dirty="0"/>
                    </a:p>
                  </a:txBody>
                  <a:tcPr/>
                </a:tc>
                <a:tc hMerge="1">
                  <a:txBody>
                    <a:bodyPr/>
                    <a:lstStyle/>
                    <a:p>
                      <a:endParaRPr lang="nl-NL" dirty="0"/>
                    </a:p>
                  </a:txBody>
                  <a:tcPr/>
                </a:tc>
                <a:tc>
                  <a:txBody>
                    <a:bodyPr/>
                    <a:lstStyle/>
                    <a:p>
                      <a:endParaRPr lang="nl-NL" sz="1900" dirty="0"/>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53528">
                <a:tc rowSpan="4">
                  <a:txBody>
                    <a:bodyPr/>
                    <a:lstStyle/>
                    <a:p>
                      <a:endParaRPr lang="nl-NL" sz="2400" b="1" dirty="0">
                        <a:solidFill>
                          <a:srgbClr val="0070C0"/>
                        </a:solidFill>
                      </a:endParaRPr>
                    </a:p>
                  </a:txBody>
                  <a:tcPr vert="vert" anchor="ctr" anchorCtr="1">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a:solidFill>
                            <a:schemeClr val="tx1"/>
                          </a:solidFill>
                        </a:rPr>
                        <a:t>Fysiek</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DBEEF4">
                        <a:alpha val="50196"/>
                      </a:srgbClr>
                    </a:solidFill>
                  </a:tcPr>
                </a:tc>
                <a:tc>
                  <a:txBody>
                    <a:bodyPr/>
                    <a:lstStyle/>
                    <a:p>
                      <a:pPr algn="ctr"/>
                      <a:r>
                        <a:rPr lang="en-US" sz="2400" b="1" dirty="0" err="1">
                          <a:solidFill>
                            <a:schemeClr val="tx1"/>
                          </a:solidFill>
                        </a:rPr>
                        <a:t>Technisch</a:t>
                      </a:r>
                      <a:endParaRPr lang="nl-NL" sz="2400" b="1" dirty="0">
                        <a:solidFill>
                          <a:schemeClr val="tx1"/>
                        </a:solidFill>
                      </a:endParaRPr>
                    </a:p>
                  </a:txBody>
                  <a:tcPr anchor="ctr">
                    <a:lnT w="12700" cap="flat" cmpd="sng" algn="ctr">
                      <a:solidFill>
                        <a:schemeClr val="tx1"/>
                      </a:solidFill>
                      <a:prstDash val="solid"/>
                      <a:round/>
                      <a:headEnd type="none" w="med" len="med"/>
                      <a:tailEnd type="none" w="med" len="med"/>
                    </a:lnT>
                    <a:solidFill>
                      <a:srgbClr val="DBEEF4">
                        <a:alpha val="50196"/>
                      </a:srgbClr>
                    </a:solidFill>
                  </a:tcPr>
                </a:tc>
                <a:tc>
                  <a:txBody>
                    <a:bodyPr/>
                    <a:lstStyle/>
                    <a:p>
                      <a:pPr algn="ctr"/>
                      <a:r>
                        <a:rPr lang="en-US" sz="2400" b="1" dirty="0" err="1">
                          <a:solidFill>
                            <a:schemeClr val="tx1"/>
                          </a:solidFill>
                        </a:rPr>
                        <a:t>Intellectueel</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DBEEF4">
                        <a:alpha val="50196"/>
                      </a:srgbClr>
                    </a:solidFill>
                  </a:tcPr>
                </a:tc>
                <a:tc rowSpan="4">
                  <a:txBody>
                    <a:bodyPr/>
                    <a:lstStyle/>
                    <a:p>
                      <a:r>
                        <a:rPr lang="en-US" sz="2400" b="1" baseline="0" dirty="0"/>
                        <a:t> </a:t>
                      </a:r>
                      <a:endParaRPr lang="nl-NL" sz="2400" b="1" dirty="0"/>
                    </a:p>
                  </a:txBody>
                  <a:tcPr vert="vert" anchor="ctr" anchorCtr="1">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53528">
                <a:tc vMerge="1">
                  <a:txBody>
                    <a:bodyPr/>
                    <a:lstStyle/>
                    <a:p>
                      <a:endParaRPr lang="nl-NL" dirty="0"/>
                    </a:p>
                  </a:txBody>
                  <a:tcPr/>
                </a:tc>
                <a:tc>
                  <a:txBody>
                    <a:bodyPr/>
                    <a:lstStyle/>
                    <a:p>
                      <a:pPr algn="ctr"/>
                      <a:r>
                        <a:rPr lang="en-US" sz="2400" b="1" dirty="0" err="1">
                          <a:solidFill>
                            <a:schemeClr val="tx1"/>
                          </a:solidFill>
                        </a:rPr>
                        <a:t>Economisch</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noFill/>
                  </a:tcPr>
                </a:tc>
                <a:tc>
                  <a:txBody>
                    <a:bodyPr/>
                    <a:lstStyle/>
                    <a:p>
                      <a:pPr algn="ctr"/>
                      <a:r>
                        <a:rPr lang="en-US" sz="2400" b="1" dirty="0" err="1">
                          <a:solidFill>
                            <a:schemeClr val="tx1"/>
                          </a:solidFill>
                        </a:rPr>
                        <a:t>Routinematig</a:t>
                      </a:r>
                      <a:endParaRPr lang="nl-NL" sz="2400" b="1" dirty="0">
                        <a:solidFill>
                          <a:schemeClr val="tx1"/>
                        </a:solidFill>
                      </a:endParaRPr>
                    </a:p>
                  </a:txBody>
                  <a:tcPr anchor="ctr">
                    <a:noFill/>
                  </a:tcPr>
                </a:tc>
                <a:tc>
                  <a:txBody>
                    <a:bodyPr/>
                    <a:lstStyle/>
                    <a:p>
                      <a:pPr algn="ctr"/>
                      <a:r>
                        <a:rPr lang="en-US" sz="2400" b="1" dirty="0" err="1">
                          <a:solidFill>
                            <a:schemeClr val="tx1"/>
                          </a:solidFill>
                        </a:rPr>
                        <a:t>Artistiek</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noFill/>
                  </a:tcPr>
                </a:tc>
                <a:tc vMerge="1">
                  <a:txBody>
                    <a:bodyPr/>
                    <a:lstStyle/>
                    <a:p>
                      <a:endParaRPr lang="nl-NL" dirty="0"/>
                    </a:p>
                  </a:txBody>
                  <a:tcPr/>
                </a:tc>
                <a:extLst>
                  <a:ext uri="{0D108BD9-81ED-4DB2-BD59-A6C34878D82A}">
                    <a16:rowId xmlns:a16="http://schemas.microsoft.com/office/drawing/2014/main" val="10002"/>
                  </a:ext>
                </a:extLst>
              </a:tr>
              <a:tr h="701446">
                <a:tc vMerge="1">
                  <a:txBody>
                    <a:bodyPr/>
                    <a:lstStyle/>
                    <a:p>
                      <a:endParaRPr lang="nl-NL" dirty="0"/>
                    </a:p>
                  </a:txBody>
                  <a:tcPr/>
                </a:tc>
                <a:tc>
                  <a:txBody>
                    <a:bodyPr/>
                    <a:lstStyle/>
                    <a:p>
                      <a:pPr algn="ctr"/>
                      <a:r>
                        <a:rPr lang="en-US" sz="2400" b="1" dirty="0">
                          <a:solidFill>
                            <a:schemeClr val="tx1"/>
                          </a:solidFill>
                        </a:rPr>
                        <a:t>Status</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solidFill>
                      <a:srgbClr val="DBEEF4">
                        <a:alpha val="50196"/>
                      </a:srgbClr>
                    </a:solidFill>
                  </a:tcPr>
                </a:tc>
                <a:tc>
                  <a:txBody>
                    <a:bodyPr/>
                    <a:lstStyle/>
                    <a:p>
                      <a:pPr algn="ctr"/>
                      <a:r>
                        <a:rPr lang="en-US" sz="2400" b="1" dirty="0" err="1">
                          <a:solidFill>
                            <a:schemeClr val="tx1"/>
                          </a:solidFill>
                        </a:rPr>
                        <a:t>Ondernemer-schap</a:t>
                      </a:r>
                      <a:endParaRPr lang="en-US" sz="2400" b="1" dirty="0">
                        <a:solidFill>
                          <a:schemeClr val="tx1"/>
                        </a:solidFill>
                      </a:endParaRPr>
                    </a:p>
                  </a:txBody>
                  <a:tcPr anchor="ctr">
                    <a:solidFill>
                      <a:srgbClr val="DBEEF4">
                        <a:alpha val="50196"/>
                      </a:srgbClr>
                    </a:solidFill>
                  </a:tcPr>
                </a:tc>
                <a:tc>
                  <a:txBody>
                    <a:bodyPr/>
                    <a:lstStyle/>
                    <a:p>
                      <a:pPr algn="ctr"/>
                      <a:r>
                        <a:rPr lang="en-US" sz="2400" b="1" dirty="0" err="1">
                          <a:solidFill>
                            <a:schemeClr val="tx1"/>
                          </a:solidFill>
                        </a:rPr>
                        <a:t>Autoriteit</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solidFill>
                      <a:srgbClr val="DBEEF4">
                        <a:alpha val="50196"/>
                      </a:srgbClr>
                    </a:solidFill>
                  </a:tcPr>
                </a:tc>
                <a:tc vMerge="1">
                  <a:txBody>
                    <a:bodyPr/>
                    <a:lstStyle/>
                    <a:p>
                      <a:endParaRPr lang="nl-NL" dirty="0"/>
                    </a:p>
                  </a:txBody>
                  <a:tcPr/>
                </a:tc>
                <a:extLst>
                  <a:ext uri="{0D108BD9-81ED-4DB2-BD59-A6C34878D82A}">
                    <a16:rowId xmlns:a16="http://schemas.microsoft.com/office/drawing/2014/main" val="10003"/>
                  </a:ext>
                </a:extLst>
              </a:tr>
              <a:tr h="641751">
                <a:tc vMerge="1">
                  <a:txBody>
                    <a:bodyPr/>
                    <a:lstStyle/>
                    <a:p>
                      <a:endParaRPr lang="nl-NL" dirty="0"/>
                    </a:p>
                  </a:txBody>
                  <a:tcPr/>
                </a:tc>
                <a:tc>
                  <a:txBody>
                    <a:bodyPr/>
                    <a:lstStyle/>
                    <a:p>
                      <a:pPr algn="ctr"/>
                      <a:r>
                        <a:rPr lang="en-US" sz="2400" b="1" dirty="0" err="1">
                          <a:solidFill>
                            <a:schemeClr val="tx1"/>
                          </a:solidFill>
                        </a:rPr>
                        <a:t>Relationeel</a:t>
                      </a:r>
                      <a:endParaRPr lang="nl-NL" sz="2400" b="1"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r>
                        <a:rPr lang="en-US" sz="2400" b="1" dirty="0" err="1">
                          <a:solidFill>
                            <a:schemeClr val="tx1"/>
                          </a:solidFill>
                        </a:rPr>
                        <a:t>Helpend</a:t>
                      </a:r>
                      <a:endParaRPr lang="nl-NL" sz="2400" b="1" dirty="0">
                        <a:solidFill>
                          <a:schemeClr val="tx1"/>
                        </a:solidFill>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sz="2400" b="1" dirty="0" err="1">
                          <a:solidFill>
                            <a:schemeClr val="tx1"/>
                          </a:solidFill>
                        </a:rPr>
                        <a:t>Humanitair</a:t>
                      </a:r>
                      <a:endParaRPr lang="nl-NL" sz="2400" b="1" dirty="0">
                        <a:solidFill>
                          <a:schemeClr val="tx1"/>
                        </a:solidFill>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vMerge="1">
                  <a:txBody>
                    <a:bodyPr/>
                    <a:lstStyle/>
                    <a:p>
                      <a:endParaRPr lang="nl-NL" dirty="0"/>
                    </a:p>
                  </a:txBody>
                  <a:tcPr/>
                </a:tc>
                <a:extLst>
                  <a:ext uri="{0D108BD9-81ED-4DB2-BD59-A6C34878D82A}">
                    <a16:rowId xmlns:a16="http://schemas.microsoft.com/office/drawing/2014/main" val="10004"/>
                  </a:ext>
                </a:extLst>
              </a:tr>
              <a:tr h="408388">
                <a:tc>
                  <a:txBody>
                    <a:bodyPr/>
                    <a:lstStyle/>
                    <a:p>
                      <a:endParaRPr lang="nl-NL" sz="2400" dirty="0"/>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3">
                  <a:txBody>
                    <a:bodyPr/>
                    <a:lstStyle/>
                    <a:p>
                      <a:pPr algn="ctr"/>
                      <a:endParaRPr lang="nl-NL" sz="3200" b="1" dirty="0">
                        <a:solidFill>
                          <a:srgbClr val="0070C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nl-NL" dirty="0"/>
                    </a:p>
                  </a:txBody>
                  <a:tcPr/>
                </a:tc>
                <a:tc hMerge="1">
                  <a:txBody>
                    <a:bodyPr/>
                    <a:lstStyle/>
                    <a:p>
                      <a:endParaRPr lang="nl-NL" dirty="0"/>
                    </a:p>
                  </a:txBody>
                  <a:tcPr/>
                </a:tc>
                <a:tc>
                  <a:txBody>
                    <a:bodyPr/>
                    <a:lstStyle/>
                    <a:p>
                      <a:endParaRPr lang="nl-NL" sz="2400" dirty="0"/>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6" name="PIJL-RECHTS 5">
            <a:extLst>
              <a:ext uri="{FF2B5EF4-FFF2-40B4-BE49-F238E27FC236}">
                <a16:creationId xmlns:a16="http://schemas.microsoft.com/office/drawing/2014/main" id="{62EA3C50-15DF-4D4E-923C-21BC62B94225}"/>
              </a:ext>
            </a:extLst>
          </p:cNvPr>
          <p:cNvSpPr/>
          <p:nvPr/>
        </p:nvSpPr>
        <p:spPr>
          <a:xfrm rot="5400000">
            <a:off x="5574586" y="3185347"/>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latin typeface="Frutiger LT Std 45 Light" panose="020B0402020204020204" pitchFamily="34" charset="0"/>
            </a:endParaRPr>
          </a:p>
        </p:txBody>
      </p:sp>
      <p:sp>
        <p:nvSpPr>
          <p:cNvPr id="11271" name="Tekstvak 7">
            <a:extLst>
              <a:ext uri="{FF2B5EF4-FFF2-40B4-BE49-F238E27FC236}">
                <a16:creationId xmlns:a16="http://schemas.microsoft.com/office/drawing/2014/main" id="{EF823C4F-440E-4BAD-83C9-28941CF3D884}"/>
              </a:ext>
            </a:extLst>
          </p:cNvPr>
          <p:cNvSpPr txBox="1">
            <a:spLocks noChangeArrowheads="1"/>
          </p:cNvSpPr>
          <p:nvPr/>
        </p:nvSpPr>
        <p:spPr bwMode="auto">
          <a:xfrm>
            <a:off x="2409440" y="173618"/>
            <a:ext cx="744455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nl-NL" sz="4400" b="1" dirty="0">
                <a:solidFill>
                  <a:schemeClr val="accent6">
                    <a:lumMod val="75000"/>
                  </a:schemeClr>
                </a:solidFill>
                <a:latin typeface="Frutiger LT Std 45 Light" panose="020B0402020204020204" pitchFamily="34" charset="0"/>
              </a:rPr>
              <a:t>De Interesses </a:t>
            </a:r>
            <a:r>
              <a:rPr lang="en-US" altLang="nl-NL" sz="4400" b="1" dirty="0" err="1">
                <a:solidFill>
                  <a:schemeClr val="accent6">
                    <a:lumMod val="75000"/>
                  </a:schemeClr>
                </a:solidFill>
                <a:latin typeface="Frutiger LT Std 45 Light" panose="020B0402020204020204" pitchFamily="34" charset="0"/>
              </a:rPr>
              <a:t>gebieden</a:t>
            </a:r>
            <a:endParaRPr lang="nl-NL" altLang="nl-NL" sz="4400" b="1" dirty="0">
              <a:solidFill>
                <a:schemeClr val="accent6">
                  <a:lumMod val="75000"/>
                </a:schemeClr>
              </a:solidFill>
              <a:latin typeface="Frutiger LT Std 45 Light" panose="020B0402020204020204" pitchFamily="34" charset="0"/>
            </a:endParaRPr>
          </a:p>
        </p:txBody>
      </p:sp>
      <p:sp>
        <p:nvSpPr>
          <p:cNvPr id="3" name="Tekstvak 2">
            <a:extLst>
              <a:ext uri="{FF2B5EF4-FFF2-40B4-BE49-F238E27FC236}">
                <a16:creationId xmlns:a16="http://schemas.microsoft.com/office/drawing/2014/main" id="{A29A08CF-6F7A-4829-BF71-103CAF0CF19A}"/>
              </a:ext>
            </a:extLst>
          </p:cNvPr>
          <p:cNvSpPr txBox="1"/>
          <p:nvPr/>
        </p:nvSpPr>
        <p:spPr>
          <a:xfrm>
            <a:off x="5428364" y="1340321"/>
            <a:ext cx="1442116"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DINGEN</a:t>
            </a:r>
          </a:p>
        </p:txBody>
      </p:sp>
      <p:sp>
        <p:nvSpPr>
          <p:cNvPr id="10" name="Tekstvak 9">
            <a:extLst>
              <a:ext uri="{FF2B5EF4-FFF2-40B4-BE49-F238E27FC236}">
                <a16:creationId xmlns:a16="http://schemas.microsoft.com/office/drawing/2014/main" id="{28416E4E-F803-4BC5-8CA3-CE6C4EA13A73}"/>
              </a:ext>
            </a:extLst>
          </p:cNvPr>
          <p:cNvSpPr txBox="1"/>
          <p:nvPr/>
        </p:nvSpPr>
        <p:spPr>
          <a:xfrm rot="5400000">
            <a:off x="9299393" y="3301982"/>
            <a:ext cx="1930965"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ABSTRACT</a:t>
            </a:r>
          </a:p>
        </p:txBody>
      </p:sp>
      <p:sp>
        <p:nvSpPr>
          <p:cNvPr id="11" name="Tekstvak 10">
            <a:extLst>
              <a:ext uri="{FF2B5EF4-FFF2-40B4-BE49-F238E27FC236}">
                <a16:creationId xmlns:a16="http://schemas.microsoft.com/office/drawing/2014/main" id="{BA61AA7F-2ED2-426B-9D1C-FF581551F3C1}"/>
              </a:ext>
            </a:extLst>
          </p:cNvPr>
          <p:cNvSpPr txBox="1"/>
          <p:nvPr/>
        </p:nvSpPr>
        <p:spPr>
          <a:xfrm rot="16200000">
            <a:off x="836605" y="3301981"/>
            <a:ext cx="2181030"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PRAKTISCH</a:t>
            </a:r>
          </a:p>
        </p:txBody>
      </p:sp>
      <p:sp>
        <p:nvSpPr>
          <p:cNvPr id="12" name="Tekstvak 11">
            <a:extLst>
              <a:ext uri="{FF2B5EF4-FFF2-40B4-BE49-F238E27FC236}">
                <a16:creationId xmlns:a16="http://schemas.microsoft.com/office/drawing/2014/main" id="{F6AB9183-92F8-4E95-AAB5-F40BEE840AA5}"/>
              </a:ext>
            </a:extLst>
          </p:cNvPr>
          <p:cNvSpPr txBox="1"/>
          <p:nvPr/>
        </p:nvSpPr>
        <p:spPr>
          <a:xfrm>
            <a:off x="5402050" y="5270327"/>
            <a:ext cx="1494745" cy="461665"/>
          </a:xfrm>
          <a:prstGeom prst="rect">
            <a:avLst/>
          </a:prstGeom>
          <a:noFill/>
        </p:spPr>
        <p:txBody>
          <a:bodyPr wrap="square" rtlCol="0">
            <a:spAutoFit/>
          </a:bodyPr>
          <a:lstStyle/>
          <a:p>
            <a:pPr algn="ctr"/>
            <a:r>
              <a:rPr lang="nl-NL" sz="2400" b="1" dirty="0">
                <a:solidFill>
                  <a:srgbClr val="0070C0"/>
                </a:solidFill>
                <a:latin typeface="Frutiger LT Std 45 Light" panose="020B0402020204020204" pitchFamily="34" charset="0"/>
              </a:rPr>
              <a:t>MENSEN</a:t>
            </a:r>
          </a:p>
        </p:txBody>
      </p:sp>
      <p:sp>
        <p:nvSpPr>
          <p:cNvPr id="13" name="PIJL-RECHTS 5">
            <a:extLst>
              <a:ext uri="{FF2B5EF4-FFF2-40B4-BE49-F238E27FC236}">
                <a16:creationId xmlns:a16="http://schemas.microsoft.com/office/drawing/2014/main" id="{FBEF406E-9245-4F1C-AF7E-ECD1CEB5477E}"/>
              </a:ext>
            </a:extLst>
          </p:cNvPr>
          <p:cNvSpPr/>
          <p:nvPr/>
        </p:nvSpPr>
        <p:spPr>
          <a:xfrm rot="10800000">
            <a:off x="1332039" y="1157672"/>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latin typeface="Frutiger LT Std 45 Light" panose="020B0402020204020204" pitchFamily="34" charset="0"/>
            </a:endParaRPr>
          </a:p>
        </p:txBody>
      </p:sp>
      <p:sp>
        <p:nvSpPr>
          <p:cNvPr id="14" name="PIJL-RECHTS 5">
            <a:extLst>
              <a:ext uri="{FF2B5EF4-FFF2-40B4-BE49-F238E27FC236}">
                <a16:creationId xmlns:a16="http://schemas.microsoft.com/office/drawing/2014/main" id="{5475117C-A5F7-4BD5-80BD-019A58A88BBA}"/>
              </a:ext>
            </a:extLst>
          </p:cNvPr>
          <p:cNvSpPr/>
          <p:nvPr/>
        </p:nvSpPr>
        <p:spPr>
          <a:xfrm>
            <a:off x="9670912" y="1157671"/>
            <a:ext cx="1149674" cy="4750289"/>
          </a:xfrm>
          <a:prstGeom prst="rightArrow">
            <a:avLst/>
          </a:prstGeom>
          <a:solidFill>
            <a:schemeClr val="accent5">
              <a:lumMod val="60000"/>
              <a:lumOff val="40000"/>
              <a:alpha val="2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dirty="0">
              <a:solidFill>
                <a:srgbClr val="FFFFFF"/>
              </a:solidFill>
              <a:latin typeface="Frutiger LT Std 45 Light" panose="020B0402020204020204" pitchFamily="34" charset="0"/>
            </a:endParaRPr>
          </a:p>
        </p:txBody>
      </p:sp>
    </p:spTree>
    <p:extLst>
      <p:ext uri="{BB962C8B-B14F-4D97-AF65-F5344CB8AC3E}">
        <p14:creationId xmlns:p14="http://schemas.microsoft.com/office/powerpoint/2010/main" val="1057444753"/>
      </p:ext>
    </p:extLst>
  </p:cSld>
  <p:clrMapOvr>
    <a:masterClrMapping/>
  </p:clrMapOvr>
</p:sld>
</file>

<file path=ppt/theme/theme1.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1A214CF83129499F539B9E0D2446B2" ma:contentTypeVersion="15" ma:contentTypeDescription="Een nieuw document maken." ma:contentTypeScope="" ma:versionID="e7a221e668f31085ab7b97e247a9834c">
  <xsd:schema xmlns:xsd="http://www.w3.org/2001/XMLSchema" xmlns:xs="http://www.w3.org/2001/XMLSchema" xmlns:p="http://schemas.microsoft.com/office/2006/metadata/properties" xmlns:ns2="8f95cdd7-bc29-4130-ba57-ef5e40e3d34e" xmlns:ns3="0a0f74be-33c5-4028-86d9-bdaebd367145" targetNamespace="http://schemas.microsoft.com/office/2006/metadata/properties" ma:root="true" ma:fieldsID="ef01a8d8e7f2e0b978bf1740e0dfcb74" ns2:_="" ns3:_="">
    <xsd:import namespace="8f95cdd7-bc29-4130-ba57-ef5e40e3d34e"/>
    <xsd:import namespace="0a0f74be-33c5-4028-86d9-bdaebd36714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95cdd7-bc29-4130-ba57-ef5e40e3d3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Afbeeldingtags" ma:readOnly="false" ma:fieldId="{5cf76f15-5ced-4ddc-b409-7134ff3c332f}" ma:taxonomyMulti="true" ma:sspId="6afdf36e-21d3-4951-b01c-1206b7286ffb"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a0f74be-33c5-4028-86d9-bdaebd36714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a58dc274-af21-4ad9-88cd-a80d1c14fe4e}" ma:internalName="TaxCatchAll" ma:showField="CatchAllData" ma:web="0a0f74be-33c5-4028-86d9-bdaebd36714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f95cdd7-bc29-4130-ba57-ef5e40e3d34e">
      <Terms xmlns="http://schemas.microsoft.com/office/infopath/2007/PartnerControls"/>
    </lcf76f155ced4ddcb4097134ff3c332f>
    <TaxCatchAll xmlns="0a0f74be-33c5-4028-86d9-bdaebd367145" xsi:nil="true"/>
  </documentManagement>
</p:properties>
</file>

<file path=customXml/itemProps1.xml><?xml version="1.0" encoding="utf-8"?>
<ds:datastoreItem xmlns:ds="http://schemas.openxmlformats.org/officeDocument/2006/customXml" ds:itemID="{A78E0994-5990-4CC5-8930-44FF0D7675A7}"/>
</file>

<file path=customXml/itemProps2.xml><?xml version="1.0" encoding="utf-8"?>
<ds:datastoreItem xmlns:ds="http://schemas.openxmlformats.org/officeDocument/2006/customXml" ds:itemID="{AD63056A-B5FF-4F8C-9B89-9D3DBC83CA74}"/>
</file>

<file path=customXml/itemProps3.xml><?xml version="1.0" encoding="utf-8"?>
<ds:datastoreItem xmlns:ds="http://schemas.openxmlformats.org/officeDocument/2006/customXml" ds:itemID="{4126BCAC-55D4-4916-8F27-81D6C18C99E0}"/>
</file>

<file path=docProps/app.xml><?xml version="1.0" encoding="utf-8"?>
<Properties xmlns="http://schemas.openxmlformats.org/officeDocument/2006/extended-properties" xmlns:vt="http://schemas.openxmlformats.org/officeDocument/2006/docPropsVTypes">
  <TotalTime>19434</TotalTime>
  <Words>2716</Words>
  <Application>Microsoft Office PowerPoint</Application>
  <PresentationFormat>Breedbeeld</PresentationFormat>
  <Paragraphs>408</Paragraphs>
  <Slides>47</Slides>
  <Notes>3</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47</vt:i4>
      </vt:variant>
    </vt:vector>
  </HeadingPairs>
  <TitlesOfParts>
    <vt:vector size="52" baseType="lpstr">
      <vt:lpstr>Arial</vt:lpstr>
      <vt:lpstr>Bradley Hand ITC</vt:lpstr>
      <vt:lpstr>Calibri</vt:lpstr>
      <vt:lpstr>Frutiger LT Std 45 Light</vt:lpstr>
      <vt:lpstr>Office-thema</vt:lpstr>
      <vt:lpstr>PowerPoint-presentatie</vt:lpstr>
      <vt:lpstr>PowerPoint-presentatie</vt:lpstr>
      <vt:lpstr>Agenda</vt:lpstr>
      <vt:lpstr>Interesses herkennen</vt:lpstr>
      <vt:lpstr>Feiten over Interesses</vt:lpstr>
      <vt:lpstr>Dingen versus Mensen</vt:lpstr>
      <vt:lpstr>Praktisch versus Abstract</vt:lpstr>
      <vt:lpstr>PowerPoint-presentatie</vt:lpstr>
      <vt:lpstr>De 12 verschillende typen</vt:lpstr>
      <vt:lpstr>Fysiek</vt:lpstr>
      <vt:lpstr>Technisch</vt:lpstr>
      <vt:lpstr>Intellectueel</vt:lpstr>
      <vt:lpstr>Economisch</vt:lpstr>
      <vt:lpstr>Routinematig</vt:lpstr>
      <vt:lpstr>Artistiek</vt:lpstr>
      <vt:lpstr>Status</vt:lpstr>
      <vt:lpstr>Ondernemerschap</vt:lpstr>
      <vt:lpstr>Autoriteit</vt:lpstr>
      <vt:lpstr>Relationeel</vt:lpstr>
      <vt:lpstr>Helpend</vt:lpstr>
      <vt:lpstr>Humanitair</vt:lpstr>
      <vt:lpstr>PowerPoint-presentatie</vt:lpstr>
      <vt:lpstr>Werk Interesses uitkomsten</vt:lpstr>
      <vt:lpstr>PowerPoint-presentatie</vt:lpstr>
      <vt:lpstr>Werk- versus Privé interesses</vt:lpstr>
      <vt:lpstr>PowerPoint-presentatie</vt:lpstr>
      <vt:lpstr>Motivatie model</vt:lpstr>
      <vt:lpstr>De 3 centrale motivatie principes</vt:lpstr>
      <vt:lpstr>Motivatie factoren</vt:lpstr>
      <vt:lpstr>Motivatie factoren</vt:lpstr>
      <vt:lpstr>Motivatie factoren - vervolg</vt:lpstr>
      <vt:lpstr>Motivatie factoren - vervolg</vt:lpstr>
      <vt:lpstr>Motivatie factoren - vervolg</vt:lpstr>
      <vt:lpstr>Het Concept</vt:lpstr>
      <vt:lpstr>PowerPoint-presentatie</vt:lpstr>
      <vt:lpstr>Concept I: Onze Attituden &amp; Interesses </vt:lpstr>
      <vt:lpstr>Concept I: Vervolg </vt:lpstr>
      <vt:lpstr>Concept II: Het Interesses model </vt:lpstr>
      <vt:lpstr>Concept II: Vervolg </vt:lpstr>
      <vt:lpstr>Concept III: Onze werk &amp; privé Interesses </vt:lpstr>
      <vt:lpstr>Concept III: Vervolg </vt:lpstr>
      <vt:lpstr>Concept III: Vervolg </vt:lpstr>
      <vt:lpstr>Concept IV: De 12 Interesse gebieden </vt:lpstr>
      <vt:lpstr>Concept  IV: Vervolg </vt:lpstr>
      <vt:lpstr>Concept  IV: Vervolg </vt:lpstr>
      <vt:lpstr>E i n d e</vt:lpstr>
      <vt:lpstr>PowerPoint-presentatie</vt:lpstr>
    </vt:vector>
  </TitlesOfParts>
  <Company>Q4 Profiles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info@q4profiles.com</dc:creator>
  <cp:lastModifiedBy>Erwin Kruk  - Q4Profiles</cp:lastModifiedBy>
  <cp:revision>487</cp:revision>
  <cp:lastPrinted>2019-09-06T06:59:24Z</cp:lastPrinted>
  <dcterms:created xsi:type="dcterms:W3CDTF">2012-12-19T13:07:49Z</dcterms:created>
  <dcterms:modified xsi:type="dcterms:W3CDTF">2023-03-28T15:30:35Z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0x010100D21A214CF83129499F539B9E0D2446B2</vt:lpwstr>
  </property>
</Properties>
</file>