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notesSlides/notesSlide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ppt/revisionInfo.xml" ContentType="application/vnd.ms-powerpoint.revisioninfo+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9"/>
  </p:notesMasterIdLst>
  <p:handoutMasterIdLst>
    <p:handoutMasterId r:id="rId70"/>
  </p:handoutMasterIdLst>
  <p:sldIdLst>
    <p:sldId id="256" r:id="rId2"/>
    <p:sldId id="296" r:id="rId3"/>
    <p:sldId id="470" r:id="rId4"/>
    <p:sldId id="471" r:id="rId5"/>
    <p:sldId id="603" r:id="rId6"/>
    <p:sldId id="683" r:id="rId7"/>
    <p:sldId id="258" r:id="rId8"/>
    <p:sldId id="625" r:id="rId9"/>
    <p:sldId id="626" r:id="rId10"/>
    <p:sldId id="627" r:id="rId11"/>
    <p:sldId id="628" r:id="rId12"/>
    <p:sldId id="629" r:id="rId13"/>
    <p:sldId id="630" r:id="rId14"/>
    <p:sldId id="631" r:id="rId15"/>
    <p:sldId id="632" r:id="rId16"/>
    <p:sldId id="633" r:id="rId17"/>
    <p:sldId id="634" r:id="rId18"/>
    <p:sldId id="635" r:id="rId19"/>
    <p:sldId id="685" r:id="rId20"/>
    <p:sldId id="636" r:id="rId21"/>
    <p:sldId id="637" r:id="rId22"/>
    <p:sldId id="638" r:id="rId23"/>
    <p:sldId id="639" r:id="rId24"/>
    <p:sldId id="640" r:id="rId25"/>
    <p:sldId id="686" r:id="rId26"/>
    <p:sldId id="641" r:id="rId27"/>
    <p:sldId id="642" r:id="rId28"/>
    <p:sldId id="643" r:id="rId29"/>
    <p:sldId id="644" r:id="rId30"/>
    <p:sldId id="645" r:id="rId31"/>
    <p:sldId id="646" r:id="rId32"/>
    <p:sldId id="647" r:id="rId33"/>
    <p:sldId id="648" r:id="rId34"/>
    <p:sldId id="649" r:id="rId35"/>
    <p:sldId id="650" r:id="rId36"/>
    <p:sldId id="651" r:id="rId37"/>
    <p:sldId id="652" r:id="rId38"/>
    <p:sldId id="653" r:id="rId39"/>
    <p:sldId id="654" r:id="rId40"/>
    <p:sldId id="655" r:id="rId41"/>
    <p:sldId id="656" r:id="rId42"/>
    <p:sldId id="657" r:id="rId43"/>
    <p:sldId id="658" r:id="rId44"/>
    <p:sldId id="684" r:id="rId45"/>
    <p:sldId id="670" r:id="rId46"/>
    <p:sldId id="669" r:id="rId47"/>
    <p:sldId id="659" r:id="rId48"/>
    <p:sldId id="660" r:id="rId49"/>
    <p:sldId id="661" r:id="rId50"/>
    <p:sldId id="662" r:id="rId51"/>
    <p:sldId id="663" r:id="rId52"/>
    <p:sldId id="664" r:id="rId53"/>
    <p:sldId id="665" r:id="rId54"/>
    <p:sldId id="666" r:id="rId55"/>
    <p:sldId id="667" r:id="rId56"/>
    <p:sldId id="668" r:id="rId57"/>
    <p:sldId id="671" r:id="rId58"/>
    <p:sldId id="672" r:id="rId59"/>
    <p:sldId id="673" r:id="rId60"/>
    <p:sldId id="674" r:id="rId61"/>
    <p:sldId id="687" r:id="rId62"/>
    <p:sldId id="622" r:id="rId63"/>
    <p:sldId id="573" r:id="rId64"/>
    <p:sldId id="623" r:id="rId65"/>
    <p:sldId id="286" r:id="rId66"/>
    <p:sldId id="677" r:id="rId67"/>
    <p:sldId id="678" r:id="rId68"/>
  </p:sldIdLst>
  <p:sldSz cx="12192000" cy="6858000"/>
  <p:notesSz cx="9926638" cy="6797675"/>
  <p:defaultTextStyle>
    <a:defPPr>
      <a:defRPr lang="nl-NL"/>
    </a:defPPr>
    <a:lvl1pPr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383E"/>
    <a:srgbClr val="000000"/>
    <a:srgbClr val="009900"/>
    <a:srgbClr val="FFFF00"/>
    <a:srgbClr val="0000CC"/>
    <a:srgbClr val="FF0000"/>
    <a:srgbClr val="339933"/>
    <a:srgbClr val="30AC33"/>
    <a:srgbClr val="848484"/>
    <a:srgbClr val="25212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67A8A2-9C57-4E3C-86C5-1130837C7C6D}" v="11" dt="2019-05-14T09:30:25.018"/>
    <p1510:client id="{E9B66C6D-2BCC-4978-B4FD-9D9D43B7E706}" v="120" dt="2019-05-14T13:16:09.858"/>
    <p1510:client id="{EF5B43EC-8B41-4842-B9B8-56302E4F7649}" v="47" dt="2019-05-14T09:25:12.1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76" autoAdjust="0"/>
    <p:restoredTop sz="95040" autoAdjust="0"/>
  </p:normalViewPr>
  <p:slideViewPr>
    <p:cSldViewPr snapToGrid="0" snapToObjects="1">
      <p:cViewPr varScale="1">
        <p:scale>
          <a:sx n="96" d="100"/>
          <a:sy n="96" d="100"/>
        </p:scale>
        <p:origin x="102" y="414"/>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74" d="100"/>
          <a:sy n="74" d="100"/>
        </p:scale>
        <p:origin x="2598"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77"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78"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ustomXml" Target="../customXml/item1.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FAAAEE-9F7E-456D-A1F5-F2009A591522}" type="doc">
      <dgm:prSet loTypeId="urn:microsoft.com/office/officeart/2005/8/layout/cycle1" loCatId="cycle" qsTypeId="urn:microsoft.com/office/officeart/2005/8/quickstyle/simple1" qsCatId="simple" csTypeId="urn:microsoft.com/office/officeart/2005/8/colors/accent1_2" csCatId="accent1"/>
      <dgm:spPr/>
    </dgm:pt>
    <dgm:pt modelId="{97803154-4271-44E0-BC1E-5DFA65A29CE9}">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nl-NL" b="0" i="0" u="none" strike="noStrike" cap="none" normalizeH="0" baseline="0">
              <a:ln>
                <a:noFill/>
              </a:ln>
              <a:solidFill>
                <a:schemeClr val="tx1"/>
              </a:solidFill>
              <a:effectLst/>
              <a:latin typeface="Arial" panose="020B0604020202020204" pitchFamily="34" charset="0"/>
            </a:rPr>
            <a:t>   </a:t>
          </a:r>
        </a:p>
      </dgm:t>
    </dgm:pt>
    <dgm:pt modelId="{274BF58A-2843-451A-A920-8E640158BCC2}" type="parTrans" cxnId="{3864BDD3-C8B5-4C65-B16B-937B8A470F47}">
      <dgm:prSet/>
      <dgm:spPr/>
      <dgm:t>
        <a:bodyPr/>
        <a:lstStyle/>
        <a:p>
          <a:endParaRPr lang="nl-NL"/>
        </a:p>
      </dgm:t>
    </dgm:pt>
    <dgm:pt modelId="{EF07C57B-CFD7-4ED7-8FC1-6CE07DBFCA65}" type="sibTrans" cxnId="{3864BDD3-C8B5-4C65-B16B-937B8A470F47}">
      <dgm:prSet/>
      <dgm:spPr/>
      <dgm:t>
        <a:bodyPr/>
        <a:lstStyle/>
        <a:p>
          <a:endParaRPr lang="nl-NL"/>
        </a:p>
      </dgm:t>
    </dgm:pt>
    <dgm:pt modelId="{9532878E-D0CD-4404-AD93-BC620175A102}">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nl-NL" b="0" i="0" u="none" strike="noStrike" cap="none" normalizeH="0" baseline="0">
              <a:ln>
                <a:noFill/>
              </a:ln>
              <a:solidFill>
                <a:schemeClr val="tx1"/>
              </a:solidFill>
              <a:effectLst/>
              <a:latin typeface="Arial" panose="020B0604020202020204" pitchFamily="34" charset="0"/>
            </a:rPr>
            <a:t> </a:t>
          </a:r>
        </a:p>
      </dgm:t>
    </dgm:pt>
    <dgm:pt modelId="{A2E2C1EB-3B34-4866-B0DE-F164C56CCA16}" type="parTrans" cxnId="{90D40745-143A-479B-8090-2539576AE039}">
      <dgm:prSet/>
      <dgm:spPr/>
      <dgm:t>
        <a:bodyPr/>
        <a:lstStyle/>
        <a:p>
          <a:endParaRPr lang="nl-NL"/>
        </a:p>
      </dgm:t>
    </dgm:pt>
    <dgm:pt modelId="{ABDA3ADC-95A8-433B-A6C7-32CBBBEE8EE9}" type="sibTrans" cxnId="{90D40745-143A-479B-8090-2539576AE039}">
      <dgm:prSet/>
      <dgm:spPr/>
      <dgm:t>
        <a:bodyPr/>
        <a:lstStyle/>
        <a:p>
          <a:endParaRPr lang="nl-NL"/>
        </a:p>
      </dgm:t>
    </dgm:pt>
    <dgm:pt modelId="{4AFEF986-65DC-4E63-A989-AFC31A1FFF51}">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nl-NL" b="0" i="0" u="none" strike="noStrike" cap="none" normalizeH="0" baseline="0">
              <a:ln>
                <a:noFill/>
              </a:ln>
              <a:solidFill>
                <a:schemeClr val="tx1"/>
              </a:solidFill>
              <a:effectLst/>
              <a:latin typeface="Arial" panose="020B0604020202020204" pitchFamily="34" charset="0"/>
            </a:rPr>
            <a:t> </a:t>
          </a:r>
        </a:p>
      </dgm:t>
    </dgm:pt>
    <dgm:pt modelId="{6BC3B339-CD3F-4648-8156-EB9D93C88BCE}" type="parTrans" cxnId="{A67AC660-A825-40B9-9427-153686673D69}">
      <dgm:prSet/>
      <dgm:spPr/>
      <dgm:t>
        <a:bodyPr/>
        <a:lstStyle/>
        <a:p>
          <a:endParaRPr lang="nl-NL"/>
        </a:p>
      </dgm:t>
    </dgm:pt>
    <dgm:pt modelId="{C858207A-0061-47B2-B33C-C82C5A1007B8}" type="sibTrans" cxnId="{A67AC660-A825-40B9-9427-153686673D69}">
      <dgm:prSet/>
      <dgm:spPr/>
      <dgm:t>
        <a:bodyPr/>
        <a:lstStyle/>
        <a:p>
          <a:endParaRPr lang="nl-NL"/>
        </a:p>
      </dgm:t>
    </dgm:pt>
    <dgm:pt modelId="{0758653A-23CD-4B72-B9FE-59563D43230A}" type="pres">
      <dgm:prSet presAssocID="{10FAAAEE-9F7E-456D-A1F5-F2009A591522}" presName="cycle" presStyleCnt="0">
        <dgm:presLayoutVars>
          <dgm:dir/>
          <dgm:resizeHandles val="exact"/>
        </dgm:presLayoutVars>
      </dgm:prSet>
      <dgm:spPr/>
    </dgm:pt>
    <dgm:pt modelId="{B03AD2F5-CF79-4D31-88DB-C00A097ACC6D}" type="pres">
      <dgm:prSet presAssocID="{97803154-4271-44E0-BC1E-5DFA65A29CE9}" presName="dummy" presStyleCnt="0"/>
      <dgm:spPr/>
    </dgm:pt>
    <dgm:pt modelId="{9A3114B4-2871-486E-B943-8D7FF9B4291E}" type="pres">
      <dgm:prSet presAssocID="{97803154-4271-44E0-BC1E-5DFA65A29CE9}" presName="node" presStyleLbl="revTx" presStyleIdx="0" presStyleCnt="3">
        <dgm:presLayoutVars>
          <dgm:bulletEnabled val="1"/>
        </dgm:presLayoutVars>
      </dgm:prSet>
      <dgm:spPr/>
    </dgm:pt>
    <dgm:pt modelId="{84E03E54-E402-47D8-88D1-7105597AC8D5}" type="pres">
      <dgm:prSet presAssocID="{EF07C57B-CFD7-4ED7-8FC1-6CE07DBFCA65}" presName="sibTrans" presStyleLbl="node1" presStyleIdx="0" presStyleCnt="3"/>
      <dgm:spPr/>
    </dgm:pt>
    <dgm:pt modelId="{1056D111-A413-44BE-AB92-D7BA10B348B3}" type="pres">
      <dgm:prSet presAssocID="{9532878E-D0CD-4404-AD93-BC620175A102}" presName="dummy" presStyleCnt="0"/>
      <dgm:spPr/>
    </dgm:pt>
    <dgm:pt modelId="{7F274C59-2D54-4278-9157-14AF50115E39}" type="pres">
      <dgm:prSet presAssocID="{9532878E-D0CD-4404-AD93-BC620175A102}" presName="node" presStyleLbl="revTx" presStyleIdx="1" presStyleCnt="3">
        <dgm:presLayoutVars>
          <dgm:bulletEnabled val="1"/>
        </dgm:presLayoutVars>
      </dgm:prSet>
      <dgm:spPr/>
    </dgm:pt>
    <dgm:pt modelId="{ED0EC06C-4441-4799-9546-0BFF36A4088C}" type="pres">
      <dgm:prSet presAssocID="{ABDA3ADC-95A8-433B-A6C7-32CBBBEE8EE9}" presName="sibTrans" presStyleLbl="node1" presStyleIdx="1" presStyleCnt="3" custLinFactNeighborX="0" custLinFactNeighborY="3718"/>
      <dgm:spPr/>
    </dgm:pt>
    <dgm:pt modelId="{6CEBB703-0989-44B5-97CE-907DE844390D}" type="pres">
      <dgm:prSet presAssocID="{4AFEF986-65DC-4E63-A989-AFC31A1FFF51}" presName="dummy" presStyleCnt="0"/>
      <dgm:spPr/>
    </dgm:pt>
    <dgm:pt modelId="{A9406C41-054A-47C3-B85D-D958BE3E3871}" type="pres">
      <dgm:prSet presAssocID="{4AFEF986-65DC-4E63-A989-AFC31A1FFF51}" presName="node" presStyleLbl="revTx" presStyleIdx="2" presStyleCnt="3">
        <dgm:presLayoutVars>
          <dgm:bulletEnabled val="1"/>
        </dgm:presLayoutVars>
      </dgm:prSet>
      <dgm:spPr/>
    </dgm:pt>
    <dgm:pt modelId="{9E5BF894-DB0D-4C87-BDDB-46E921D301EA}" type="pres">
      <dgm:prSet presAssocID="{C858207A-0061-47B2-B33C-C82C5A1007B8}" presName="sibTrans" presStyleLbl="node1" presStyleIdx="2" presStyleCnt="3"/>
      <dgm:spPr/>
    </dgm:pt>
  </dgm:ptLst>
  <dgm:cxnLst>
    <dgm:cxn modelId="{10A93207-BC0E-4670-8070-A02C493B33FB}" type="presOf" srcId="{10FAAAEE-9F7E-456D-A1F5-F2009A591522}" destId="{0758653A-23CD-4B72-B9FE-59563D43230A}" srcOrd="0" destOrd="0" presId="urn:microsoft.com/office/officeart/2005/8/layout/cycle1"/>
    <dgm:cxn modelId="{4F3EA11B-85E6-421A-AD1D-5E025FDEA0B0}" type="presOf" srcId="{ABDA3ADC-95A8-433B-A6C7-32CBBBEE8EE9}" destId="{ED0EC06C-4441-4799-9546-0BFF36A4088C}" srcOrd="0" destOrd="0" presId="urn:microsoft.com/office/officeart/2005/8/layout/cycle1"/>
    <dgm:cxn modelId="{A67AC660-A825-40B9-9427-153686673D69}" srcId="{10FAAAEE-9F7E-456D-A1F5-F2009A591522}" destId="{4AFEF986-65DC-4E63-A989-AFC31A1FFF51}" srcOrd="2" destOrd="0" parTransId="{6BC3B339-CD3F-4648-8156-EB9D93C88BCE}" sibTransId="{C858207A-0061-47B2-B33C-C82C5A1007B8}"/>
    <dgm:cxn modelId="{90D40745-143A-479B-8090-2539576AE039}" srcId="{10FAAAEE-9F7E-456D-A1F5-F2009A591522}" destId="{9532878E-D0CD-4404-AD93-BC620175A102}" srcOrd="1" destOrd="0" parTransId="{A2E2C1EB-3B34-4866-B0DE-F164C56CCA16}" sibTransId="{ABDA3ADC-95A8-433B-A6C7-32CBBBEE8EE9}"/>
    <dgm:cxn modelId="{6DE7EA4A-A25A-4994-A39D-ECAF5654C7F1}" type="presOf" srcId="{9532878E-D0CD-4404-AD93-BC620175A102}" destId="{7F274C59-2D54-4278-9157-14AF50115E39}" srcOrd="0" destOrd="0" presId="urn:microsoft.com/office/officeart/2005/8/layout/cycle1"/>
    <dgm:cxn modelId="{F39403A0-700E-4D5F-8516-92CFE5536C49}" type="presOf" srcId="{4AFEF986-65DC-4E63-A989-AFC31A1FFF51}" destId="{A9406C41-054A-47C3-B85D-D958BE3E3871}" srcOrd="0" destOrd="0" presId="urn:microsoft.com/office/officeart/2005/8/layout/cycle1"/>
    <dgm:cxn modelId="{3891DCA1-63C7-48FD-B35A-536A6D1527D4}" type="presOf" srcId="{C858207A-0061-47B2-B33C-C82C5A1007B8}" destId="{9E5BF894-DB0D-4C87-BDDB-46E921D301EA}" srcOrd="0" destOrd="0" presId="urn:microsoft.com/office/officeart/2005/8/layout/cycle1"/>
    <dgm:cxn modelId="{3ADA1DB5-9CB5-4B90-96FE-91727455EF32}" type="presOf" srcId="{97803154-4271-44E0-BC1E-5DFA65A29CE9}" destId="{9A3114B4-2871-486E-B943-8D7FF9B4291E}" srcOrd="0" destOrd="0" presId="urn:microsoft.com/office/officeart/2005/8/layout/cycle1"/>
    <dgm:cxn modelId="{352DA2B6-A1FB-498F-8937-9E87F7B54E2E}" type="presOf" srcId="{EF07C57B-CFD7-4ED7-8FC1-6CE07DBFCA65}" destId="{84E03E54-E402-47D8-88D1-7105597AC8D5}" srcOrd="0" destOrd="0" presId="urn:microsoft.com/office/officeart/2005/8/layout/cycle1"/>
    <dgm:cxn modelId="{3864BDD3-C8B5-4C65-B16B-937B8A470F47}" srcId="{10FAAAEE-9F7E-456D-A1F5-F2009A591522}" destId="{97803154-4271-44E0-BC1E-5DFA65A29CE9}" srcOrd="0" destOrd="0" parTransId="{274BF58A-2843-451A-A920-8E640158BCC2}" sibTransId="{EF07C57B-CFD7-4ED7-8FC1-6CE07DBFCA65}"/>
    <dgm:cxn modelId="{21449F0D-0564-4172-9212-E2A085C3ABF3}" type="presParOf" srcId="{0758653A-23CD-4B72-B9FE-59563D43230A}" destId="{B03AD2F5-CF79-4D31-88DB-C00A097ACC6D}" srcOrd="0" destOrd="0" presId="urn:microsoft.com/office/officeart/2005/8/layout/cycle1"/>
    <dgm:cxn modelId="{8A3FA1C1-C557-4C84-B9F5-20A009CA34F5}" type="presParOf" srcId="{0758653A-23CD-4B72-B9FE-59563D43230A}" destId="{9A3114B4-2871-486E-B943-8D7FF9B4291E}" srcOrd="1" destOrd="0" presId="urn:microsoft.com/office/officeart/2005/8/layout/cycle1"/>
    <dgm:cxn modelId="{4347F466-50A3-43B7-B713-73D396B7A618}" type="presParOf" srcId="{0758653A-23CD-4B72-B9FE-59563D43230A}" destId="{84E03E54-E402-47D8-88D1-7105597AC8D5}" srcOrd="2" destOrd="0" presId="urn:microsoft.com/office/officeart/2005/8/layout/cycle1"/>
    <dgm:cxn modelId="{0DF7C2CC-9523-4E1D-B6BC-9332DC0895FE}" type="presParOf" srcId="{0758653A-23CD-4B72-B9FE-59563D43230A}" destId="{1056D111-A413-44BE-AB92-D7BA10B348B3}" srcOrd="3" destOrd="0" presId="urn:microsoft.com/office/officeart/2005/8/layout/cycle1"/>
    <dgm:cxn modelId="{8776BE1A-21C3-4707-AB0D-69D5FE0C00E7}" type="presParOf" srcId="{0758653A-23CD-4B72-B9FE-59563D43230A}" destId="{7F274C59-2D54-4278-9157-14AF50115E39}" srcOrd="4" destOrd="0" presId="urn:microsoft.com/office/officeart/2005/8/layout/cycle1"/>
    <dgm:cxn modelId="{677F3C27-F014-44AB-8188-F451918D03D8}" type="presParOf" srcId="{0758653A-23CD-4B72-B9FE-59563D43230A}" destId="{ED0EC06C-4441-4799-9546-0BFF36A4088C}" srcOrd="5" destOrd="0" presId="urn:microsoft.com/office/officeart/2005/8/layout/cycle1"/>
    <dgm:cxn modelId="{ED757A1A-02D1-4443-BA4A-0C177746DF3B}" type="presParOf" srcId="{0758653A-23CD-4B72-B9FE-59563D43230A}" destId="{6CEBB703-0989-44B5-97CE-907DE844390D}" srcOrd="6" destOrd="0" presId="urn:microsoft.com/office/officeart/2005/8/layout/cycle1"/>
    <dgm:cxn modelId="{63714760-9A5B-4218-8060-AFC623F2BE5A}" type="presParOf" srcId="{0758653A-23CD-4B72-B9FE-59563D43230A}" destId="{A9406C41-054A-47C3-B85D-D958BE3E3871}" srcOrd="7" destOrd="0" presId="urn:microsoft.com/office/officeart/2005/8/layout/cycle1"/>
    <dgm:cxn modelId="{99311462-86BC-4EEE-8A2E-CA99A33B6863}" type="presParOf" srcId="{0758653A-23CD-4B72-B9FE-59563D43230A}" destId="{9E5BF894-DB0D-4C87-BDDB-46E921D301EA}" srcOrd="8"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3114B4-2871-486E-B943-8D7FF9B4291E}">
      <dsp:nvSpPr>
        <dsp:cNvPr id="0" name=""/>
        <dsp:cNvSpPr/>
      </dsp:nvSpPr>
      <dsp:spPr>
        <a:xfrm>
          <a:off x="4695402" y="333237"/>
          <a:ext cx="1707802" cy="1707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0" tIns="82550" rIns="82550" bIns="825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nl-NL" sz="6500" b="0" i="0" u="none" strike="noStrike" kern="1200" cap="none" normalizeH="0" baseline="0">
              <a:ln>
                <a:noFill/>
              </a:ln>
              <a:solidFill>
                <a:schemeClr val="tx1"/>
              </a:solidFill>
              <a:effectLst/>
              <a:latin typeface="Arial" panose="020B0604020202020204" pitchFamily="34" charset="0"/>
            </a:rPr>
            <a:t>   </a:t>
          </a:r>
        </a:p>
      </dsp:txBody>
      <dsp:txXfrm>
        <a:off x="4695402" y="333237"/>
        <a:ext cx="1707802" cy="1707802"/>
      </dsp:txXfrm>
    </dsp:sp>
    <dsp:sp modelId="{84E03E54-E402-47D8-88D1-7105597AC8D5}">
      <dsp:nvSpPr>
        <dsp:cNvPr id="0" name=""/>
        <dsp:cNvSpPr/>
      </dsp:nvSpPr>
      <dsp:spPr>
        <a:xfrm>
          <a:off x="2097603" y="-1846"/>
          <a:ext cx="4034392" cy="4034392"/>
        </a:xfrm>
        <a:prstGeom prst="circularArrow">
          <a:avLst>
            <a:gd name="adj1" fmla="val 8255"/>
            <a:gd name="adj2" fmla="val 576638"/>
            <a:gd name="adj3" fmla="val 2961472"/>
            <a:gd name="adj4" fmla="val 53319"/>
            <a:gd name="adj5" fmla="val 963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274C59-2D54-4278-9157-14AF50115E39}">
      <dsp:nvSpPr>
        <dsp:cNvPr id="0" name=""/>
        <dsp:cNvSpPr/>
      </dsp:nvSpPr>
      <dsp:spPr>
        <a:xfrm>
          <a:off x="3260898" y="2817871"/>
          <a:ext cx="1707802" cy="1707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0" tIns="82550" rIns="82550" bIns="825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nl-NL" sz="6500" b="0" i="0" u="none" strike="noStrike" kern="1200" cap="none" normalizeH="0" baseline="0">
              <a:ln>
                <a:noFill/>
              </a:ln>
              <a:solidFill>
                <a:schemeClr val="tx1"/>
              </a:solidFill>
              <a:effectLst/>
              <a:latin typeface="Arial" panose="020B0604020202020204" pitchFamily="34" charset="0"/>
            </a:rPr>
            <a:t> </a:t>
          </a:r>
        </a:p>
      </dsp:txBody>
      <dsp:txXfrm>
        <a:off x="3260898" y="2817871"/>
        <a:ext cx="1707802" cy="1707802"/>
      </dsp:txXfrm>
    </dsp:sp>
    <dsp:sp modelId="{ED0EC06C-4441-4799-9546-0BFF36A4088C}">
      <dsp:nvSpPr>
        <dsp:cNvPr id="0" name=""/>
        <dsp:cNvSpPr/>
      </dsp:nvSpPr>
      <dsp:spPr>
        <a:xfrm>
          <a:off x="2097603" y="148152"/>
          <a:ext cx="4034392" cy="4034392"/>
        </a:xfrm>
        <a:prstGeom prst="circularArrow">
          <a:avLst>
            <a:gd name="adj1" fmla="val 8255"/>
            <a:gd name="adj2" fmla="val 576638"/>
            <a:gd name="adj3" fmla="val 10170043"/>
            <a:gd name="adj4" fmla="val 7261890"/>
            <a:gd name="adj5" fmla="val 963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406C41-054A-47C3-B85D-D958BE3E3871}">
      <dsp:nvSpPr>
        <dsp:cNvPr id="0" name=""/>
        <dsp:cNvSpPr/>
      </dsp:nvSpPr>
      <dsp:spPr>
        <a:xfrm>
          <a:off x="1826394" y="333237"/>
          <a:ext cx="1707802" cy="1707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0" tIns="82550" rIns="82550" bIns="825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nl-NL" sz="6500" b="0" i="0" u="none" strike="noStrike" kern="1200" cap="none" normalizeH="0" baseline="0">
              <a:ln>
                <a:noFill/>
              </a:ln>
              <a:solidFill>
                <a:schemeClr val="tx1"/>
              </a:solidFill>
              <a:effectLst/>
              <a:latin typeface="Arial" panose="020B0604020202020204" pitchFamily="34" charset="0"/>
            </a:rPr>
            <a:t> </a:t>
          </a:r>
        </a:p>
      </dsp:txBody>
      <dsp:txXfrm>
        <a:off x="1826394" y="333237"/>
        <a:ext cx="1707802" cy="1707802"/>
      </dsp:txXfrm>
    </dsp:sp>
    <dsp:sp modelId="{9E5BF894-DB0D-4C87-BDDB-46E921D301EA}">
      <dsp:nvSpPr>
        <dsp:cNvPr id="0" name=""/>
        <dsp:cNvSpPr/>
      </dsp:nvSpPr>
      <dsp:spPr>
        <a:xfrm>
          <a:off x="2097603" y="-1846"/>
          <a:ext cx="4034392" cy="4034392"/>
        </a:xfrm>
        <a:prstGeom prst="circularArrow">
          <a:avLst>
            <a:gd name="adj1" fmla="val 8255"/>
            <a:gd name="adj2" fmla="val 576638"/>
            <a:gd name="adj3" fmla="val 16854496"/>
            <a:gd name="adj4" fmla="val 14968867"/>
            <a:gd name="adj5" fmla="val 963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301543" cy="339884"/>
          </a:xfrm>
          <a:prstGeom prst="rect">
            <a:avLst/>
          </a:prstGeom>
        </p:spPr>
        <p:txBody>
          <a:bodyPr vert="horz" lIns="95562" tIns="47781" rIns="95562" bIns="47781" rtlCol="0"/>
          <a:lstStyle>
            <a:lvl1pPr algn="l">
              <a:defRPr sz="1300"/>
            </a:lvl1pPr>
          </a:lstStyle>
          <a:p>
            <a:endParaRPr lang="en-US"/>
          </a:p>
        </p:txBody>
      </p:sp>
      <p:sp>
        <p:nvSpPr>
          <p:cNvPr id="3" name="Date Placeholder 2"/>
          <p:cNvSpPr>
            <a:spLocks noGrp="1"/>
          </p:cNvSpPr>
          <p:nvPr>
            <p:ph type="dt" sz="quarter" idx="1"/>
          </p:nvPr>
        </p:nvSpPr>
        <p:spPr>
          <a:xfrm>
            <a:off x="5622799" y="1"/>
            <a:ext cx="4301543" cy="339884"/>
          </a:xfrm>
          <a:prstGeom prst="rect">
            <a:avLst/>
          </a:prstGeom>
        </p:spPr>
        <p:txBody>
          <a:bodyPr vert="horz" lIns="95562" tIns="47781" rIns="95562" bIns="47781" rtlCol="0"/>
          <a:lstStyle>
            <a:lvl1pPr algn="r">
              <a:defRPr sz="1300"/>
            </a:lvl1pPr>
          </a:lstStyle>
          <a:p>
            <a:endParaRPr lang="en-US"/>
          </a:p>
        </p:txBody>
      </p:sp>
      <p:sp>
        <p:nvSpPr>
          <p:cNvPr id="4" name="Footer Placeholder 3"/>
          <p:cNvSpPr>
            <a:spLocks noGrp="1"/>
          </p:cNvSpPr>
          <p:nvPr>
            <p:ph type="ftr" sz="quarter" idx="2"/>
          </p:nvPr>
        </p:nvSpPr>
        <p:spPr>
          <a:xfrm>
            <a:off x="1" y="6456612"/>
            <a:ext cx="4301543" cy="339884"/>
          </a:xfrm>
          <a:prstGeom prst="rect">
            <a:avLst/>
          </a:prstGeom>
        </p:spPr>
        <p:txBody>
          <a:bodyPr vert="horz" lIns="95562" tIns="47781" rIns="95562" bIns="47781" rtlCol="0" anchor="b"/>
          <a:lstStyle>
            <a:lvl1pPr algn="l">
              <a:defRPr sz="1300"/>
            </a:lvl1pPr>
          </a:lstStyle>
          <a:p>
            <a:r>
              <a:rPr lang="en-US"/>
              <a:t>© 2019 Q4 Profiles</a:t>
            </a:r>
          </a:p>
        </p:txBody>
      </p:sp>
      <p:sp>
        <p:nvSpPr>
          <p:cNvPr id="5" name="Slide Number Placeholder 4"/>
          <p:cNvSpPr>
            <a:spLocks noGrp="1"/>
          </p:cNvSpPr>
          <p:nvPr>
            <p:ph type="sldNum" sz="quarter" idx="3"/>
          </p:nvPr>
        </p:nvSpPr>
        <p:spPr>
          <a:xfrm>
            <a:off x="5622799" y="6456612"/>
            <a:ext cx="4301543" cy="339884"/>
          </a:xfrm>
          <a:prstGeom prst="rect">
            <a:avLst/>
          </a:prstGeom>
        </p:spPr>
        <p:txBody>
          <a:bodyPr vert="horz" lIns="95562" tIns="47781" rIns="95562" bIns="47781" rtlCol="0" anchor="b"/>
          <a:lstStyle>
            <a:lvl1pPr algn="r">
              <a:defRPr sz="1300"/>
            </a:lvl1pPr>
          </a:lstStyle>
          <a:p>
            <a:fld id="{C36C0C7F-1C1D-BD45-8662-55066B1F8E7A}" type="slidenum">
              <a:rPr lang="en-US" smtClean="0"/>
              <a:pPr/>
              <a:t>‹nr.›</a:t>
            </a:fld>
            <a:endParaRPr lang="en-US"/>
          </a:p>
        </p:txBody>
      </p:sp>
    </p:spTree>
    <p:extLst>
      <p:ext uri="{BB962C8B-B14F-4D97-AF65-F5344CB8AC3E}">
        <p14:creationId xmlns:p14="http://schemas.microsoft.com/office/powerpoint/2010/main" val="321653745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301543" cy="339884"/>
          </a:xfrm>
          <a:prstGeom prst="rect">
            <a:avLst/>
          </a:prstGeom>
        </p:spPr>
        <p:txBody>
          <a:bodyPr vert="horz" wrap="square" lIns="95562" tIns="47781" rIns="95562" bIns="47781" numCol="1" anchor="t" anchorCtr="0" compatLnSpc="1">
            <a:prstTxWarp prst="textNoShape">
              <a:avLst/>
            </a:prstTxWarp>
          </a:bodyPr>
          <a:lstStyle>
            <a:lvl1pPr>
              <a:defRPr sz="1300">
                <a:latin typeface="Calibri" charset="0"/>
                <a:cs typeface="Arial" charset="0"/>
              </a:defRPr>
            </a:lvl1pPr>
          </a:lstStyle>
          <a:p>
            <a:pPr>
              <a:defRPr/>
            </a:pPr>
            <a:endParaRPr lang="en-US"/>
          </a:p>
        </p:txBody>
      </p:sp>
      <p:sp>
        <p:nvSpPr>
          <p:cNvPr id="3" name="Date Placeholder 2"/>
          <p:cNvSpPr>
            <a:spLocks noGrp="1"/>
          </p:cNvSpPr>
          <p:nvPr>
            <p:ph type="dt" idx="1"/>
          </p:nvPr>
        </p:nvSpPr>
        <p:spPr>
          <a:xfrm>
            <a:off x="5622799" y="1"/>
            <a:ext cx="4301543" cy="339884"/>
          </a:xfrm>
          <a:prstGeom prst="rect">
            <a:avLst/>
          </a:prstGeom>
        </p:spPr>
        <p:txBody>
          <a:bodyPr vert="horz" wrap="square" lIns="95562" tIns="47781" rIns="95562" bIns="47781" numCol="1" anchor="t" anchorCtr="0" compatLnSpc="1">
            <a:prstTxWarp prst="textNoShape">
              <a:avLst/>
            </a:prstTxWarp>
          </a:bodyPr>
          <a:lstStyle>
            <a:lvl1pPr algn="r">
              <a:defRPr sz="1300">
                <a:latin typeface="Calibri" charset="0"/>
                <a:cs typeface="Arial" charset="0"/>
              </a:defRPr>
            </a:lvl1pPr>
          </a:lstStyle>
          <a:p>
            <a:pPr>
              <a:defRPr/>
            </a:pPr>
            <a:endParaRPr lang="nl-NL"/>
          </a:p>
        </p:txBody>
      </p:sp>
      <p:sp>
        <p:nvSpPr>
          <p:cNvPr id="4" name="Slide Image Placeholder 3"/>
          <p:cNvSpPr>
            <a:spLocks noGrp="1" noRot="1" noChangeAspect="1"/>
          </p:cNvSpPr>
          <p:nvPr>
            <p:ph type="sldImg" idx="2"/>
          </p:nvPr>
        </p:nvSpPr>
        <p:spPr>
          <a:xfrm>
            <a:off x="2697163" y="509588"/>
            <a:ext cx="4532312" cy="2549525"/>
          </a:xfrm>
          <a:prstGeom prst="rect">
            <a:avLst/>
          </a:prstGeom>
          <a:noFill/>
          <a:ln w="12700">
            <a:solidFill>
              <a:prstClr val="black"/>
            </a:solidFill>
          </a:ln>
        </p:spPr>
        <p:txBody>
          <a:bodyPr vert="horz" lIns="95562" tIns="47781" rIns="95562" bIns="47781" rtlCol="0" anchor="ctr"/>
          <a:lstStyle/>
          <a:p>
            <a:pPr lvl="0"/>
            <a:endParaRPr lang="nl-NL" noProof="0"/>
          </a:p>
        </p:txBody>
      </p:sp>
      <p:sp>
        <p:nvSpPr>
          <p:cNvPr id="5" name="Notes Placeholder 4"/>
          <p:cNvSpPr>
            <a:spLocks noGrp="1"/>
          </p:cNvSpPr>
          <p:nvPr>
            <p:ph type="body" sz="quarter" idx="3"/>
          </p:nvPr>
        </p:nvSpPr>
        <p:spPr>
          <a:xfrm>
            <a:off x="992665" y="3228896"/>
            <a:ext cx="7941310" cy="3058954"/>
          </a:xfrm>
          <a:prstGeom prst="rect">
            <a:avLst/>
          </a:prstGeom>
        </p:spPr>
        <p:txBody>
          <a:bodyPr vert="horz" wrap="square" lIns="95562" tIns="47781" rIns="95562" bIns="47781"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nl-NL" noProof="0"/>
          </a:p>
        </p:txBody>
      </p:sp>
      <p:sp>
        <p:nvSpPr>
          <p:cNvPr id="6" name="Footer Placeholder 5"/>
          <p:cNvSpPr>
            <a:spLocks noGrp="1"/>
          </p:cNvSpPr>
          <p:nvPr>
            <p:ph type="ftr" sz="quarter" idx="4"/>
          </p:nvPr>
        </p:nvSpPr>
        <p:spPr>
          <a:xfrm>
            <a:off x="1" y="6456612"/>
            <a:ext cx="4301543" cy="339884"/>
          </a:xfrm>
          <a:prstGeom prst="rect">
            <a:avLst/>
          </a:prstGeom>
        </p:spPr>
        <p:txBody>
          <a:bodyPr vert="horz" wrap="square" lIns="95562" tIns="47781" rIns="95562" bIns="47781" numCol="1" anchor="b" anchorCtr="0" compatLnSpc="1">
            <a:prstTxWarp prst="textNoShape">
              <a:avLst/>
            </a:prstTxWarp>
          </a:bodyPr>
          <a:lstStyle>
            <a:lvl1pPr>
              <a:defRPr sz="1300">
                <a:latin typeface="Calibri" charset="0"/>
                <a:cs typeface="Arial" charset="0"/>
              </a:defRPr>
            </a:lvl1pPr>
          </a:lstStyle>
          <a:p>
            <a:pPr>
              <a:defRPr/>
            </a:pPr>
            <a:r>
              <a:rPr lang="en-US"/>
              <a:t>© 2019 Q4 Profiles</a:t>
            </a:r>
            <a:endParaRPr lang="en-US" dirty="0"/>
          </a:p>
        </p:txBody>
      </p:sp>
      <p:sp>
        <p:nvSpPr>
          <p:cNvPr id="7" name="Slide Number Placeholder 6"/>
          <p:cNvSpPr>
            <a:spLocks noGrp="1"/>
          </p:cNvSpPr>
          <p:nvPr>
            <p:ph type="sldNum" sz="quarter" idx="5"/>
          </p:nvPr>
        </p:nvSpPr>
        <p:spPr>
          <a:xfrm>
            <a:off x="5622799" y="6456612"/>
            <a:ext cx="4301543" cy="339884"/>
          </a:xfrm>
          <a:prstGeom prst="rect">
            <a:avLst/>
          </a:prstGeom>
        </p:spPr>
        <p:txBody>
          <a:bodyPr vert="horz" wrap="square" lIns="95562" tIns="47781" rIns="95562" bIns="47781" numCol="1" anchor="b" anchorCtr="0" compatLnSpc="1">
            <a:prstTxWarp prst="textNoShape">
              <a:avLst/>
            </a:prstTxWarp>
          </a:bodyPr>
          <a:lstStyle>
            <a:lvl1pPr algn="r">
              <a:defRPr sz="1300">
                <a:latin typeface="Calibri" charset="0"/>
                <a:cs typeface="Arial" charset="0"/>
              </a:defRPr>
            </a:lvl1pPr>
          </a:lstStyle>
          <a:p>
            <a:pPr>
              <a:defRPr/>
            </a:pPr>
            <a:fld id="{4DF5B407-0C7B-3F45-891E-996990709523}" type="slidenum">
              <a:rPr lang="nl-NL"/>
              <a:pPr>
                <a:defRPr/>
              </a:pPr>
              <a:t>‹nr.›</a:t>
            </a:fld>
            <a:endParaRPr lang="nl-NL"/>
          </a:p>
        </p:txBody>
      </p:sp>
    </p:spTree>
    <p:extLst>
      <p:ext uri="{BB962C8B-B14F-4D97-AF65-F5344CB8AC3E}">
        <p14:creationId xmlns:p14="http://schemas.microsoft.com/office/powerpoint/2010/main" val="945036281"/>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11" name="Tijdelijke aanduiding voor voettekst 10">
            <a:extLst>
              <a:ext uri="{FF2B5EF4-FFF2-40B4-BE49-F238E27FC236}">
                <a16:creationId xmlns:a16="http://schemas.microsoft.com/office/drawing/2014/main" id="{4DAA070A-039A-4C1B-9C8A-91B1E4252B7F}"/>
              </a:ext>
            </a:extLst>
          </p:cNvPr>
          <p:cNvSpPr>
            <a:spLocks noGrp="1"/>
          </p:cNvSpPr>
          <p:nvPr>
            <p:ph type="ftr" sz="quarter" idx="4"/>
          </p:nvPr>
        </p:nvSpPr>
        <p:spPr/>
        <p:txBody>
          <a:bodyPr/>
          <a:lstStyle/>
          <a:p>
            <a:pPr>
              <a:defRPr/>
            </a:pPr>
            <a:r>
              <a:rPr lang="en-US"/>
              <a:t>© 2019 Q4 Profiles</a:t>
            </a:r>
            <a:endParaRPr lang="en-US" dirty="0"/>
          </a:p>
        </p:txBody>
      </p:sp>
      <p:sp>
        <p:nvSpPr>
          <p:cNvPr id="17" name="Tijdelijke aanduiding voor dianummer 16">
            <a:extLst>
              <a:ext uri="{FF2B5EF4-FFF2-40B4-BE49-F238E27FC236}">
                <a16:creationId xmlns:a16="http://schemas.microsoft.com/office/drawing/2014/main" id="{61BD8C16-4A94-4545-8979-853AD9666247}"/>
              </a:ext>
            </a:extLst>
          </p:cNvPr>
          <p:cNvSpPr>
            <a:spLocks noGrp="1"/>
          </p:cNvSpPr>
          <p:nvPr>
            <p:ph type="sldNum" sz="quarter" idx="5"/>
          </p:nvPr>
        </p:nvSpPr>
        <p:spPr/>
        <p:txBody>
          <a:bodyPr/>
          <a:lstStyle/>
          <a:p>
            <a:pPr>
              <a:defRPr/>
            </a:pPr>
            <a:fld id="{4DF5B407-0C7B-3F45-891E-996990709523}" type="slidenum">
              <a:rPr lang="nl-NL" smtClean="0"/>
              <a:pPr>
                <a:defRPr/>
              </a:pPr>
              <a:t>1</a:t>
            </a:fld>
            <a:endParaRPr lang="nl-NL"/>
          </a:p>
        </p:txBody>
      </p:sp>
    </p:spTree>
    <p:extLst>
      <p:ext uri="{BB962C8B-B14F-4D97-AF65-F5344CB8AC3E}">
        <p14:creationId xmlns:p14="http://schemas.microsoft.com/office/powerpoint/2010/main" val="4272052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jdelijke aanduiding voor dia-afbeelding 1"/>
          <p:cNvSpPr>
            <a:spLocks noGrp="1" noRot="1" noChangeAspect="1" noTextEdit="1"/>
          </p:cNvSpPr>
          <p:nvPr>
            <p:ph type="sldImg"/>
          </p:nvPr>
        </p:nvSpPr>
        <p:spPr bwMode="auto">
          <a:xfrm>
            <a:off x="2697163" y="509588"/>
            <a:ext cx="4532312" cy="2549525"/>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0482" name="Tijdelijke aanduiding voor notities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spcBef>
                <a:spcPct val="0"/>
              </a:spcBef>
            </a:pPr>
            <a:endParaRPr lang="nl-NL">
              <a:latin typeface="Calibri" charset="0"/>
            </a:endParaRPr>
          </a:p>
        </p:txBody>
      </p:sp>
      <p:sp>
        <p:nvSpPr>
          <p:cNvPr id="9" name="Tijdelijke aanduiding voor voettekst 8">
            <a:extLst>
              <a:ext uri="{FF2B5EF4-FFF2-40B4-BE49-F238E27FC236}">
                <a16:creationId xmlns:a16="http://schemas.microsoft.com/office/drawing/2014/main" id="{51741301-3297-40F2-83AE-C487B49D3984}"/>
              </a:ext>
            </a:extLst>
          </p:cNvPr>
          <p:cNvSpPr>
            <a:spLocks noGrp="1"/>
          </p:cNvSpPr>
          <p:nvPr>
            <p:ph type="ftr" sz="quarter" idx="4"/>
          </p:nvPr>
        </p:nvSpPr>
        <p:spPr/>
        <p:txBody>
          <a:bodyPr/>
          <a:lstStyle/>
          <a:p>
            <a:pPr>
              <a:defRPr/>
            </a:pPr>
            <a:r>
              <a:rPr lang="en-US"/>
              <a:t>© 2019 Q4 Profiles</a:t>
            </a:r>
            <a:endParaRPr lang="en-US" dirty="0"/>
          </a:p>
        </p:txBody>
      </p:sp>
      <p:sp>
        <p:nvSpPr>
          <p:cNvPr id="15" name="Tijdelijke aanduiding voor dianummer 14">
            <a:extLst>
              <a:ext uri="{FF2B5EF4-FFF2-40B4-BE49-F238E27FC236}">
                <a16:creationId xmlns:a16="http://schemas.microsoft.com/office/drawing/2014/main" id="{4F8C15DE-40B2-41F7-B4F5-67F6AEE6998A}"/>
              </a:ext>
            </a:extLst>
          </p:cNvPr>
          <p:cNvSpPr>
            <a:spLocks noGrp="1"/>
          </p:cNvSpPr>
          <p:nvPr>
            <p:ph type="sldNum" sz="quarter" idx="5"/>
          </p:nvPr>
        </p:nvSpPr>
        <p:spPr/>
        <p:txBody>
          <a:bodyPr/>
          <a:lstStyle/>
          <a:p>
            <a:pPr>
              <a:defRPr/>
            </a:pPr>
            <a:fld id="{4DF5B407-0C7B-3F45-891E-996990709523}" type="slidenum">
              <a:rPr lang="nl-NL" smtClean="0"/>
              <a:pPr>
                <a:defRPr/>
              </a:pPr>
              <a:t>2</a:t>
            </a:fld>
            <a:endParaRPr lang="nl-N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11" name="Tijdelijke aanduiding voor voettekst 10">
            <a:extLst>
              <a:ext uri="{FF2B5EF4-FFF2-40B4-BE49-F238E27FC236}">
                <a16:creationId xmlns:a16="http://schemas.microsoft.com/office/drawing/2014/main" id="{55C5334F-9D0E-4F71-902B-CBC38D7BC015}"/>
              </a:ext>
            </a:extLst>
          </p:cNvPr>
          <p:cNvSpPr>
            <a:spLocks noGrp="1"/>
          </p:cNvSpPr>
          <p:nvPr>
            <p:ph type="ftr" sz="quarter" idx="4"/>
          </p:nvPr>
        </p:nvSpPr>
        <p:spPr/>
        <p:txBody>
          <a:bodyPr/>
          <a:lstStyle/>
          <a:p>
            <a:pPr>
              <a:defRPr/>
            </a:pPr>
            <a:r>
              <a:rPr lang="en-US"/>
              <a:t>© 2019 Q4 Profiles</a:t>
            </a:r>
            <a:endParaRPr lang="en-US" dirty="0"/>
          </a:p>
        </p:txBody>
      </p:sp>
      <p:sp>
        <p:nvSpPr>
          <p:cNvPr id="17" name="Tijdelijke aanduiding voor dianummer 16">
            <a:extLst>
              <a:ext uri="{FF2B5EF4-FFF2-40B4-BE49-F238E27FC236}">
                <a16:creationId xmlns:a16="http://schemas.microsoft.com/office/drawing/2014/main" id="{68DB4A21-B40E-4414-A13E-7ED9F3C2CEB6}"/>
              </a:ext>
            </a:extLst>
          </p:cNvPr>
          <p:cNvSpPr>
            <a:spLocks noGrp="1"/>
          </p:cNvSpPr>
          <p:nvPr>
            <p:ph type="sldNum" sz="quarter" idx="5"/>
          </p:nvPr>
        </p:nvSpPr>
        <p:spPr/>
        <p:txBody>
          <a:bodyPr/>
          <a:lstStyle/>
          <a:p>
            <a:pPr>
              <a:defRPr/>
            </a:pPr>
            <a:fld id="{4DF5B407-0C7B-3F45-891E-996990709523}" type="slidenum">
              <a:rPr lang="nl-NL" smtClean="0"/>
              <a:pPr>
                <a:defRPr/>
              </a:pPr>
              <a:t>3</a:t>
            </a:fld>
            <a:endParaRPr lang="nl-NL"/>
          </a:p>
        </p:txBody>
      </p:sp>
    </p:spTree>
    <p:extLst>
      <p:ext uri="{BB962C8B-B14F-4D97-AF65-F5344CB8AC3E}">
        <p14:creationId xmlns:p14="http://schemas.microsoft.com/office/powerpoint/2010/main" val="139759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2697163" y="509588"/>
            <a:ext cx="4532312" cy="2549525"/>
          </a:xfrm>
        </p:spPr>
      </p:sp>
      <p:sp>
        <p:nvSpPr>
          <p:cNvPr id="3" name="Tijdelijke aanduiding voor notities 2"/>
          <p:cNvSpPr>
            <a:spLocks noGrp="1"/>
          </p:cNvSpPr>
          <p:nvPr>
            <p:ph type="body" idx="1"/>
          </p:nvPr>
        </p:nvSpPr>
        <p:spPr/>
        <p:txBody>
          <a:bodyPr/>
          <a:lstStyle/>
          <a:p>
            <a:endParaRPr lang="nl-NL" dirty="0"/>
          </a:p>
        </p:txBody>
      </p:sp>
      <p:sp>
        <p:nvSpPr>
          <p:cNvPr id="11" name="Tijdelijke aanduiding voor voettekst 10">
            <a:extLst>
              <a:ext uri="{FF2B5EF4-FFF2-40B4-BE49-F238E27FC236}">
                <a16:creationId xmlns:a16="http://schemas.microsoft.com/office/drawing/2014/main" id="{766380E5-C37F-43ED-AE74-F026B1AC1838}"/>
              </a:ext>
            </a:extLst>
          </p:cNvPr>
          <p:cNvSpPr>
            <a:spLocks noGrp="1"/>
          </p:cNvSpPr>
          <p:nvPr>
            <p:ph type="ftr" sz="quarter" idx="4"/>
          </p:nvPr>
        </p:nvSpPr>
        <p:spPr/>
        <p:txBody>
          <a:bodyPr/>
          <a:lstStyle/>
          <a:p>
            <a:pPr>
              <a:defRPr/>
            </a:pPr>
            <a:r>
              <a:rPr lang="en-US"/>
              <a:t>© 2019 Q4 Profiles</a:t>
            </a:r>
            <a:endParaRPr lang="en-US" dirty="0"/>
          </a:p>
        </p:txBody>
      </p:sp>
      <p:sp>
        <p:nvSpPr>
          <p:cNvPr id="17" name="Tijdelijke aanduiding voor dianummer 16">
            <a:extLst>
              <a:ext uri="{FF2B5EF4-FFF2-40B4-BE49-F238E27FC236}">
                <a16:creationId xmlns:a16="http://schemas.microsoft.com/office/drawing/2014/main" id="{71D61F28-2354-40DF-9A9C-5385C51FBF01}"/>
              </a:ext>
            </a:extLst>
          </p:cNvPr>
          <p:cNvSpPr>
            <a:spLocks noGrp="1"/>
          </p:cNvSpPr>
          <p:nvPr>
            <p:ph type="sldNum" sz="quarter" idx="5"/>
          </p:nvPr>
        </p:nvSpPr>
        <p:spPr/>
        <p:txBody>
          <a:bodyPr/>
          <a:lstStyle/>
          <a:p>
            <a:pPr>
              <a:defRPr/>
            </a:pPr>
            <a:fld id="{4DF5B407-0C7B-3F45-891E-996990709523}" type="slidenum">
              <a:rPr lang="nl-NL" smtClean="0"/>
              <a:pPr>
                <a:defRPr/>
              </a:pPr>
              <a:t>4</a:t>
            </a:fld>
            <a:endParaRPr lang="nl-NL"/>
          </a:p>
        </p:txBody>
      </p:sp>
    </p:spTree>
    <p:extLst>
      <p:ext uri="{BB962C8B-B14F-4D97-AF65-F5344CB8AC3E}">
        <p14:creationId xmlns:p14="http://schemas.microsoft.com/office/powerpoint/2010/main" val="241676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2697163" y="509588"/>
            <a:ext cx="4532312" cy="2549525"/>
          </a:xfrm>
        </p:spPr>
      </p:sp>
      <p:sp>
        <p:nvSpPr>
          <p:cNvPr id="3" name="Tijdelijke aanduiding voor notities 2"/>
          <p:cNvSpPr>
            <a:spLocks noGrp="1"/>
          </p:cNvSpPr>
          <p:nvPr>
            <p:ph type="body" idx="1"/>
          </p:nvPr>
        </p:nvSpPr>
        <p:spPr/>
        <p:txBody>
          <a:bodyPr/>
          <a:lstStyle/>
          <a:p>
            <a:r>
              <a:rPr lang="nl-NL" dirty="0"/>
              <a:t>Invulbladen</a:t>
            </a:r>
            <a:r>
              <a:rPr lang="nl-NL" baseline="0" dirty="0"/>
              <a:t> van de vijf concepten noemen</a:t>
            </a:r>
            <a:endParaRPr lang="nl-NL" dirty="0"/>
          </a:p>
        </p:txBody>
      </p:sp>
      <p:sp>
        <p:nvSpPr>
          <p:cNvPr id="11" name="Tijdelijke aanduiding voor voettekst 10">
            <a:extLst>
              <a:ext uri="{FF2B5EF4-FFF2-40B4-BE49-F238E27FC236}">
                <a16:creationId xmlns:a16="http://schemas.microsoft.com/office/drawing/2014/main" id="{A164691D-A85C-456F-8F1F-E9B714596120}"/>
              </a:ext>
            </a:extLst>
          </p:cNvPr>
          <p:cNvSpPr>
            <a:spLocks noGrp="1"/>
          </p:cNvSpPr>
          <p:nvPr>
            <p:ph type="ftr" sz="quarter" idx="4"/>
          </p:nvPr>
        </p:nvSpPr>
        <p:spPr/>
        <p:txBody>
          <a:bodyPr/>
          <a:lstStyle/>
          <a:p>
            <a:pPr>
              <a:defRPr/>
            </a:pPr>
            <a:r>
              <a:rPr lang="en-US"/>
              <a:t>© 2019 Q4 Profiles</a:t>
            </a:r>
            <a:endParaRPr lang="en-US" dirty="0"/>
          </a:p>
        </p:txBody>
      </p:sp>
      <p:sp>
        <p:nvSpPr>
          <p:cNvPr id="17" name="Tijdelijke aanduiding voor dianummer 16">
            <a:extLst>
              <a:ext uri="{FF2B5EF4-FFF2-40B4-BE49-F238E27FC236}">
                <a16:creationId xmlns:a16="http://schemas.microsoft.com/office/drawing/2014/main" id="{7A6FC59E-6D4E-4E1B-87B1-5A079E775C76}"/>
              </a:ext>
            </a:extLst>
          </p:cNvPr>
          <p:cNvSpPr>
            <a:spLocks noGrp="1"/>
          </p:cNvSpPr>
          <p:nvPr>
            <p:ph type="sldNum" sz="quarter" idx="5"/>
          </p:nvPr>
        </p:nvSpPr>
        <p:spPr/>
        <p:txBody>
          <a:bodyPr/>
          <a:lstStyle/>
          <a:p>
            <a:pPr>
              <a:defRPr/>
            </a:pPr>
            <a:fld id="{4DF5B407-0C7B-3F45-891E-996990709523}" type="slidenum">
              <a:rPr lang="nl-NL" smtClean="0"/>
              <a:pPr>
                <a:defRPr/>
              </a:pPr>
              <a:t>5</a:t>
            </a:fld>
            <a:endParaRPr lang="nl-NL"/>
          </a:p>
        </p:txBody>
      </p:sp>
    </p:spTree>
    <p:extLst>
      <p:ext uri="{BB962C8B-B14F-4D97-AF65-F5344CB8AC3E}">
        <p14:creationId xmlns:p14="http://schemas.microsoft.com/office/powerpoint/2010/main" val="4033794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2697163" y="509588"/>
            <a:ext cx="4532312" cy="2549525"/>
          </a:xfrm>
        </p:spPr>
      </p:sp>
      <p:sp>
        <p:nvSpPr>
          <p:cNvPr id="3" name="Tijdelijke aanduiding voor notities 2"/>
          <p:cNvSpPr>
            <a:spLocks noGrp="1"/>
          </p:cNvSpPr>
          <p:nvPr>
            <p:ph type="body" idx="1"/>
          </p:nvPr>
        </p:nvSpPr>
        <p:spPr/>
        <p:txBody>
          <a:bodyPr>
            <a:normAutofit fontScale="92500" lnSpcReduction="10000"/>
          </a:bodyPr>
          <a:lstStyle/>
          <a:p>
            <a:r>
              <a:rPr lang="nl-NL" dirty="0"/>
              <a:t>Mensen zijn gewoonte dieren</a:t>
            </a:r>
          </a:p>
          <a:p>
            <a:r>
              <a:rPr lang="nl-NL" dirty="0"/>
              <a:t>Gewoontes zijn vaak ons instinctieve of meer natuurlijk temperament</a:t>
            </a:r>
          </a:p>
          <a:p>
            <a:r>
              <a:rPr lang="nl-NL" dirty="0"/>
              <a:t>Gewoontes</a:t>
            </a:r>
            <a:r>
              <a:rPr lang="nl-NL" baseline="0" dirty="0"/>
              <a:t> zijn aangeleerd en gebaseerd op onze levenservaring</a:t>
            </a:r>
          </a:p>
          <a:p>
            <a:endParaRPr lang="nl-NL" baseline="0" dirty="0"/>
          </a:p>
          <a:p>
            <a:r>
              <a:rPr lang="nl-NL" baseline="0" dirty="0"/>
              <a:t>Als de omstandigheden minder gunstig zijn gaan we ons gewoontegedrag tonen</a:t>
            </a:r>
          </a:p>
          <a:p>
            <a:endParaRPr lang="nl-NL" dirty="0"/>
          </a:p>
          <a:p>
            <a:r>
              <a:rPr lang="nl-NL" dirty="0"/>
              <a:t>Motivatietheorie van Maslow - basisbehoefte</a:t>
            </a:r>
          </a:p>
          <a:p>
            <a:r>
              <a:rPr lang="nl-NL" dirty="0"/>
              <a:t>Invloed van leeftijd op gedrag</a:t>
            </a:r>
          </a:p>
          <a:p>
            <a:r>
              <a:rPr lang="nl-NL" dirty="0"/>
              <a:t>Werking van het brein</a:t>
            </a:r>
          </a:p>
          <a:p>
            <a:r>
              <a:rPr lang="nl-NL" dirty="0"/>
              <a:t>Referentiekader</a:t>
            </a:r>
          </a:p>
          <a:p>
            <a:r>
              <a:rPr lang="nl-NL" dirty="0"/>
              <a:t>Zelfkennis</a:t>
            </a:r>
          </a:p>
          <a:p>
            <a:r>
              <a:rPr lang="nl-NL" dirty="0"/>
              <a:t>Karakteristieken van onze</a:t>
            </a:r>
            <a:r>
              <a:rPr lang="nl-NL" baseline="0" dirty="0"/>
              <a:t> gewoontes</a:t>
            </a:r>
          </a:p>
          <a:p>
            <a:endParaRPr lang="nl-NL" baseline="0" dirty="0"/>
          </a:p>
          <a:p>
            <a:r>
              <a:rPr lang="nl-NL" baseline="0" dirty="0"/>
              <a:t>Invulconcept 1 in laten vullen na bespreken van deze theorie</a:t>
            </a:r>
            <a:endParaRPr lang="nl-NL" dirty="0"/>
          </a:p>
        </p:txBody>
      </p:sp>
      <p:sp>
        <p:nvSpPr>
          <p:cNvPr id="11" name="Tijdelijke aanduiding voor voettekst 10">
            <a:extLst>
              <a:ext uri="{FF2B5EF4-FFF2-40B4-BE49-F238E27FC236}">
                <a16:creationId xmlns:a16="http://schemas.microsoft.com/office/drawing/2014/main" id="{1955395B-31F8-4E9E-882E-488203A9B383}"/>
              </a:ext>
            </a:extLst>
          </p:cNvPr>
          <p:cNvSpPr>
            <a:spLocks noGrp="1"/>
          </p:cNvSpPr>
          <p:nvPr>
            <p:ph type="ftr" sz="quarter" idx="4"/>
          </p:nvPr>
        </p:nvSpPr>
        <p:spPr/>
        <p:txBody>
          <a:bodyPr/>
          <a:lstStyle/>
          <a:p>
            <a:pPr>
              <a:defRPr/>
            </a:pPr>
            <a:r>
              <a:rPr lang="en-US"/>
              <a:t>© 2019 Q4 Profiles</a:t>
            </a:r>
            <a:endParaRPr lang="en-US" dirty="0"/>
          </a:p>
        </p:txBody>
      </p:sp>
      <p:sp>
        <p:nvSpPr>
          <p:cNvPr id="17" name="Tijdelijke aanduiding voor dianummer 16">
            <a:extLst>
              <a:ext uri="{FF2B5EF4-FFF2-40B4-BE49-F238E27FC236}">
                <a16:creationId xmlns:a16="http://schemas.microsoft.com/office/drawing/2014/main" id="{544AD42F-946B-4BFB-8F9F-5FF5D9C510ED}"/>
              </a:ext>
            </a:extLst>
          </p:cNvPr>
          <p:cNvSpPr>
            <a:spLocks noGrp="1"/>
          </p:cNvSpPr>
          <p:nvPr>
            <p:ph type="sldNum" sz="quarter" idx="5"/>
          </p:nvPr>
        </p:nvSpPr>
        <p:spPr/>
        <p:txBody>
          <a:bodyPr/>
          <a:lstStyle/>
          <a:p>
            <a:pPr>
              <a:defRPr/>
            </a:pPr>
            <a:fld id="{4DF5B407-0C7B-3F45-891E-996990709523}" type="slidenum">
              <a:rPr lang="nl-NL" smtClean="0"/>
              <a:pPr>
                <a:defRPr/>
              </a:pPr>
              <a:t>7</a:t>
            </a:fld>
            <a:endParaRPr lang="nl-NL"/>
          </a:p>
        </p:txBody>
      </p:sp>
    </p:spTree>
    <p:extLst>
      <p:ext uri="{BB962C8B-B14F-4D97-AF65-F5344CB8AC3E}">
        <p14:creationId xmlns:p14="http://schemas.microsoft.com/office/powerpoint/2010/main" val="1052571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voettekst 3"/>
          <p:cNvSpPr>
            <a:spLocks noGrp="1"/>
          </p:cNvSpPr>
          <p:nvPr>
            <p:ph type="ftr" sz="quarter" idx="4"/>
          </p:nvPr>
        </p:nvSpPr>
        <p:spPr/>
        <p:txBody>
          <a:bodyPr/>
          <a:lstStyle/>
          <a:p>
            <a:pPr>
              <a:defRPr/>
            </a:pPr>
            <a:r>
              <a:rPr lang="en-US"/>
              <a:t>© 2019 Q4 Profiles</a:t>
            </a:r>
            <a:endParaRPr lang="en-US" dirty="0"/>
          </a:p>
        </p:txBody>
      </p:sp>
      <p:sp>
        <p:nvSpPr>
          <p:cNvPr id="5" name="Tijdelijke aanduiding voor dianummer 4"/>
          <p:cNvSpPr>
            <a:spLocks noGrp="1"/>
          </p:cNvSpPr>
          <p:nvPr>
            <p:ph type="sldNum" sz="quarter" idx="5"/>
          </p:nvPr>
        </p:nvSpPr>
        <p:spPr/>
        <p:txBody>
          <a:bodyPr/>
          <a:lstStyle/>
          <a:p>
            <a:pPr>
              <a:defRPr/>
            </a:pPr>
            <a:fld id="{4DF5B407-0C7B-3F45-891E-996990709523}" type="slidenum">
              <a:rPr lang="nl-NL" smtClean="0"/>
              <a:pPr>
                <a:defRPr/>
              </a:pPr>
              <a:t>57</a:t>
            </a:fld>
            <a:endParaRPr lang="nl-NL"/>
          </a:p>
        </p:txBody>
      </p:sp>
    </p:spTree>
    <p:extLst>
      <p:ext uri="{BB962C8B-B14F-4D97-AF65-F5344CB8AC3E}">
        <p14:creationId xmlns:p14="http://schemas.microsoft.com/office/powerpoint/2010/main" val="1854479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11" name="Tijdelijke aanduiding voor voettekst 10">
            <a:extLst>
              <a:ext uri="{FF2B5EF4-FFF2-40B4-BE49-F238E27FC236}">
                <a16:creationId xmlns:a16="http://schemas.microsoft.com/office/drawing/2014/main" id="{E37CBA95-1607-4BB7-911B-DEB6D5587812}"/>
              </a:ext>
            </a:extLst>
          </p:cNvPr>
          <p:cNvSpPr>
            <a:spLocks noGrp="1"/>
          </p:cNvSpPr>
          <p:nvPr>
            <p:ph type="ftr" sz="quarter" idx="4"/>
          </p:nvPr>
        </p:nvSpPr>
        <p:spPr/>
        <p:txBody>
          <a:bodyPr/>
          <a:lstStyle/>
          <a:p>
            <a:pPr>
              <a:defRPr/>
            </a:pPr>
            <a:r>
              <a:rPr lang="en-US"/>
              <a:t>© 2019 Q4 Profiles</a:t>
            </a:r>
            <a:endParaRPr lang="en-US" dirty="0"/>
          </a:p>
        </p:txBody>
      </p:sp>
      <p:sp>
        <p:nvSpPr>
          <p:cNvPr id="17" name="Tijdelijke aanduiding voor dianummer 16">
            <a:extLst>
              <a:ext uri="{FF2B5EF4-FFF2-40B4-BE49-F238E27FC236}">
                <a16:creationId xmlns:a16="http://schemas.microsoft.com/office/drawing/2014/main" id="{7CED107D-51E7-4C2E-830D-32AB1FDC1E07}"/>
              </a:ext>
            </a:extLst>
          </p:cNvPr>
          <p:cNvSpPr>
            <a:spLocks noGrp="1"/>
          </p:cNvSpPr>
          <p:nvPr>
            <p:ph type="sldNum" sz="quarter" idx="5"/>
          </p:nvPr>
        </p:nvSpPr>
        <p:spPr/>
        <p:txBody>
          <a:bodyPr/>
          <a:lstStyle/>
          <a:p>
            <a:pPr>
              <a:defRPr/>
            </a:pPr>
            <a:fld id="{4DF5B407-0C7B-3F45-891E-996990709523}" type="slidenum">
              <a:rPr lang="nl-NL" smtClean="0"/>
              <a:pPr>
                <a:defRPr/>
              </a:pPr>
              <a:t>62</a:t>
            </a:fld>
            <a:endParaRPr lang="nl-NL"/>
          </a:p>
        </p:txBody>
      </p:sp>
    </p:spTree>
    <p:extLst>
      <p:ext uri="{BB962C8B-B14F-4D97-AF65-F5344CB8AC3E}">
        <p14:creationId xmlns:p14="http://schemas.microsoft.com/office/powerpoint/2010/main" val="39543723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2697163" y="509588"/>
            <a:ext cx="4532312" cy="2549525"/>
          </a:xfrm>
        </p:spPr>
      </p:sp>
      <p:sp>
        <p:nvSpPr>
          <p:cNvPr id="3" name="Tijdelijke aanduiding voor notities 2"/>
          <p:cNvSpPr>
            <a:spLocks noGrp="1"/>
          </p:cNvSpPr>
          <p:nvPr>
            <p:ph type="body" idx="1"/>
          </p:nvPr>
        </p:nvSpPr>
        <p:spPr/>
        <p:txBody>
          <a:bodyPr>
            <a:normAutofit fontScale="55000" lnSpcReduction="20000"/>
          </a:bodyPr>
          <a:lstStyle/>
          <a:p>
            <a:r>
              <a:rPr lang="nl-NL" sz="1200" i="1" kern="1200" dirty="0">
                <a:solidFill>
                  <a:schemeClr val="tx1"/>
                </a:solidFill>
                <a:effectLst/>
                <a:latin typeface="+mn-lt"/>
                <a:ea typeface="ＭＳ Ｐゴシック" charset="0"/>
                <a:cs typeface="ＭＳ Ｐゴシック" charset="0"/>
              </a:rPr>
              <a:t>De vragenlijst invullen</a:t>
            </a:r>
            <a:endParaRPr lang="nl-NL" sz="1200" kern="1200" dirty="0">
              <a:solidFill>
                <a:schemeClr val="tx1"/>
              </a:solidFill>
              <a:effectLst/>
              <a:latin typeface="+mn-lt"/>
              <a:ea typeface="ＭＳ Ｐゴシック" charset="0"/>
              <a:cs typeface="ＭＳ Ｐゴシック" charset="0"/>
            </a:endParaRPr>
          </a:p>
          <a:p>
            <a:r>
              <a:rPr lang="nl-NL" sz="1200" kern="1200" dirty="0">
                <a:solidFill>
                  <a:schemeClr val="tx1"/>
                </a:solidFill>
                <a:effectLst/>
                <a:latin typeface="+mn-lt"/>
                <a:ea typeface="ＭＳ Ｐゴシック" charset="0"/>
                <a:cs typeface="ＭＳ Ｐゴシック" charset="0"/>
              </a:rPr>
              <a:t>Het is belangrijk dat de consultant vooraf goed uitlegt waar de respondent op moet letten als hij de vragenlijst invult. Benadruk hierbij vooral het volgende:</a:t>
            </a:r>
          </a:p>
          <a:p>
            <a:pPr lvl="0"/>
            <a:r>
              <a:rPr lang="nl-NL" sz="1200" kern="1200" dirty="0">
                <a:solidFill>
                  <a:schemeClr val="tx1"/>
                </a:solidFill>
                <a:effectLst/>
                <a:latin typeface="+mn-lt"/>
                <a:ea typeface="ＭＳ Ｐゴシック" charset="0"/>
                <a:cs typeface="ＭＳ Ｐゴシック" charset="0"/>
              </a:rPr>
              <a:t>Vul de vragenlijst in één keer in en zorg voor een volledige focus </a:t>
            </a:r>
          </a:p>
          <a:p>
            <a:pPr lvl="0"/>
            <a:r>
              <a:rPr lang="nl-NL" sz="1200" kern="1200" dirty="0">
                <a:solidFill>
                  <a:schemeClr val="tx1"/>
                </a:solidFill>
                <a:effectLst/>
                <a:latin typeface="+mn-lt"/>
                <a:ea typeface="ＭＳ Ｐゴシック" charset="0"/>
                <a:cs typeface="ＭＳ Ｐゴシック" charset="0"/>
              </a:rPr>
              <a:t>Zorg dat je 10 – 15 minuten ongestoord kunt werken en ga niet eten of drinken tijdens het invullen van de vragenlijst</a:t>
            </a:r>
          </a:p>
          <a:p>
            <a:r>
              <a:rPr lang="nl-NL" sz="1200" kern="1200" dirty="0">
                <a:solidFill>
                  <a:schemeClr val="tx1"/>
                </a:solidFill>
                <a:effectLst/>
                <a:latin typeface="+mn-lt"/>
                <a:ea typeface="ＭＳ Ｐゴシック" charset="0"/>
                <a:cs typeface="ＭＳ Ｐゴシック" charset="0"/>
              </a:rPr>
              <a:t>Benadruk voor het invullen van de vragenlijst dat het echt belangrijk is om een focus te hebben, deze gaat helpen om de vragenlijst nog duidelijker in te vullen. Met de duidelijke focus creëer je een context waarin je de antwoorden geeft , bijvoorbeeld je werk. Door die focus heel goed te pakken kan je straks ook wat zeggen over hoe je gedrag is ten opzichte van je werk en je kernpatroon. Als we die focus hebben dan bekijken we de stellingen vanuit die focus . Een stelling zou bijvoorbeeld kunnen zijn ‘Bent u joviaal op uw werk of bent u meer teruggetrokken’. Dan moet je kiezen, ben ik dat het MEEST of het MINST. </a:t>
            </a:r>
          </a:p>
          <a:p>
            <a:endParaRPr lang="nl-NL" sz="1200" kern="1200" dirty="0">
              <a:solidFill>
                <a:schemeClr val="tx1"/>
              </a:solidFill>
              <a:effectLst/>
              <a:latin typeface="+mn-lt"/>
              <a:ea typeface="ＭＳ Ｐゴシック" charset="0"/>
              <a:cs typeface="ＭＳ Ｐゴシック" charset="0"/>
            </a:endParaRPr>
          </a:p>
          <a:p>
            <a:r>
              <a:rPr lang="nl-NL" sz="1200" kern="1200" dirty="0">
                <a:solidFill>
                  <a:schemeClr val="tx1"/>
                </a:solidFill>
                <a:effectLst/>
                <a:latin typeface="+mn-lt"/>
                <a:ea typeface="ＭＳ Ｐゴシック" charset="0"/>
                <a:cs typeface="ＭＳ Ｐゴシック" charset="0"/>
              </a:rPr>
              <a:t>De MEEST keuzes geven aan dat je daar bewust van bent dat jij dat bent, dat is je bewuste gedrag en dus je neocortexaal gedrag,</a:t>
            </a:r>
            <a:r>
              <a:rPr lang="nl-NL" sz="1200" kern="1200" baseline="0" dirty="0">
                <a:solidFill>
                  <a:schemeClr val="tx1"/>
                </a:solidFill>
                <a:effectLst/>
                <a:latin typeface="+mn-lt"/>
                <a:ea typeface="ＭＳ Ｐゴシック" charset="0"/>
                <a:cs typeface="ＭＳ Ｐゴシック" charset="0"/>
              </a:rPr>
              <a:t> je gewenst patroon.</a:t>
            </a:r>
            <a:endParaRPr lang="nl-NL" sz="1200" kern="1200" dirty="0">
              <a:solidFill>
                <a:schemeClr val="tx1"/>
              </a:solidFill>
              <a:effectLst/>
              <a:latin typeface="+mn-lt"/>
              <a:ea typeface="ＭＳ Ｐゴシック" charset="0"/>
              <a:cs typeface="ＭＳ Ｐゴシック" charset="0"/>
            </a:endParaRPr>
          </a:p>
          <a:p>
            <a:r>
              <a:rPr lang="nl-NL" sz="1200" kern="1200" dirty="0">
                <a:solidFill>
                  <a:schemeClr val="tx1"/>
                </a:solidFill>
                <a:effectLst/>
                <a:latin typeface="+mn-lt"/>
                <a:ea typeface="ＭＳ Ｐゴシック" charset="0"/>
                <a:cs typeface="ＭＳ Ｐゴシック" charset="0"/>
              </a:rPr>
              <a:t>De MINST keuzes geven aan waar je minder bewust van bent. Deze meten je onderbewuste gedrag of je limbisch gedrag. Dat is je kernpatroon. </a:t>
            </a:r>
          </a:p>
          <a:p>
            <a:endParaRPr lang="nl-NL" sz="1200" kern="1200" dirty="0">
              <a:solidFill>
                <a:schemeClr val="tx1"/>
              </a:solidFill>
              <a:effectLst/>
              <a:latin typeface="+mn-lt"/>
              <a:ea typeface="ＭＳ Ｐゴシック" charset="0"/>
              <a:cs typeface="ＭＳ Ｐゴシック" charset="0"/>
            </a:endParaRPr>
          </a:p>
          <a:p>
            <a:r>
              <a:rPr lang="nl-NL" sz="1200" kern="1200" dirty="0">
                <a:solidFill>
                  <a:schemeClr val="tx1"/>
                </a:solidFill>
                <a:effectLst/>
                <a:latin typeface="+mn-lt"/>
                <a:ea typeface="ＭＳ Ｐゴシック" charset="0"/>
                <a:cs typeface="ＭＳ Ｐゴシック" charset="0"/>
              </a:rPr>
              <a:t>Het is belangrijk dat de respondent de vragenlijst in korte tijd invult omdat we willen voorkomen dat hij de vragen gaat analyseren. We willen het eerste antwoord hebben dat in hem opkomt. Dat ‘gevecht’ met je brein brengt je brein in ongunstige omstandigheden en op het moment dat je brein stress ervaart wil hij eigenlijk vanuit zijn intuïtie gaan werken. Ga je over analyseren dan ga je beredeneren en als je iets beredeneert dan kan je niet meer zuiver invullen, dan geef je niet meer het eerste antwoord dat in je op komt. Als je tijd hebt om na te denken ga je automatisch sociaal wenselijke antwoorden geven en wordt de kernpatroon niet meer nauwkeurig gemeten. </a:t>
            </a:r>
          </a:p>
          <a:p>
            <a:endParaRPr lang="nl-NL" sz="1200" kern="1200" dirty="0">
              <a:solidFill>
                <a:schemeClr val="tx1"/>
              </a:solidFill>
              <a:effectLst/>
              <a:latin typeface="+mn-lt"/>
              <a:ea typeface="ＭＳ Ｐゴシック" charset="0"/>
              <a:cs typeface="ＭＳ Ｐゴシック" charset="0"/>
            </a:endParaRPr>
          </a:p>
          <a:p>
            <a:r>
              <a:rPr lang="nl-NL" sz="1200" kern="1200" dirty="0">
                <a:solidFill>
                  <a:schemeClr val="tx1"/>
                </a:solidFill>
                <a:effectLst/>
                <a:latin typeface="+mn-lt"/>
                <a:ea typeface="ＭＳ Ｐゴシック" charset="0"/>
                <a:cs typeface="ＭＳ Ｐゴシック" charset="0"/>
              </a:rPr>
              <a:t>Wat meten we nu precies. In feite is DISC niet zo complex. Wat we doen is niets anders dan een patroonanalyse maken. We kijken naar de antwoorden die je gegeven hebt, die gaan we analyseren om te kijken of we daar een patroon in herkennen. Het patroon dat we willen herkennen is verdeeld in twee belangrijke assen. De ene as geeft aan of je wat meer indirect of meer direct bent. Ben je bij je antwoorden wat vaker direct dan indirect dan wordt daar een waarde aan gegeven. Dat noemen we een vector. Die waarde gaan we berekenen door te kijken hoe vaak je een bepaald antwoord hebt gegeven. Dus als je vaker directer antwoord geeft of als je vaker indirecter antwoorden geeft dan heeft dat invloed op waar je op die vector terecht komt. De tweede vector die we meten, of wel de continuüm zoals we die noemen, is hoe je besluitvormingsproces is. Neem je meer beslissingen op basis van taken of meer op basis van emoties. Ook daar zijn die vragen op geënt. Dan kijken we naar ben je meer taakgericht of ben je meer mensgericht. En door die twee punten naar elkaar te brengen in de grafiek dan ontstaat er een punt in de ruimte die dan zegt je bent een DS of je bent een IS of een CS. Dat is hoe we dat meten, het is echt niets meer of minder dan twee vectoren die haaks op elkaar staan en waarvan we de waarden van die vectoren plotten door je antwoorden te analyseren en daaruit ontstaat dan wat je voorkeur is. Dat is de eenvoud. De complexiteit zit hem in de algoritme die er zit, hoe ga je het bij elkaar brengen maar de meting op zich in vrij eenvoudig. </a:t>
            </a:r>
          </a:p>
          <a:p>
            <a:endParaRPr lang="nl-NL" sz="1200" kern="1200" dirty="0">
              <a:solidFill>
                <a:schemeClr val="tx1"/>
              </a:solidFill>
              <a:effectLst/>
              <a:latin typeface="+mn-lt"/>
              <a:ea typeface="ＭＳ Ｐゴシック" charset="0"/>
              <a:cs typeface="ＭＳ Ｐゴシック" charset="0"/>
            </a:endParaRPr>
          </a:p>
          <a:p>
            <a:r>
              <a:rPr lang="nl-NL" sz="1200" kern="1200" dirty="0">
                <a:solidFill>
                  <a:schemeClr val="tx1"/>
                </a:solidFill>
                <a:effectLst/>
                <a:latin typeface="+mn-lt"/>
                <a:ea typeface="ＭＳ Ｐゴシック" charset="0"/>
                <a:cs typeface="ＭＳ Ｐゴシック" charset="0"/>
              </a:rPr>
              <a:t>Respondenten zijn vaak verbaast hoe je met 24 vragen zoveel nauwkeurigheid kunt krijgen. Maar dat komt omdat er een heel simpele wetmatigheid is dat je limbische brein altijd de waarheid spreekt en je neocortex altijd antwoorden gaat geven op basis van wat er wordt verwacht. Door deze twee metingen met elkaar te combineren krijg je heel goed een beeld van hoe je gewenst gedrag is en wat je kernpatroon is. Daardoor is die nauwkeurigheid ook zo hoog.</a:t>
            </a:r>
          </a:p>
          <a:p>
            <a:endParaRPr lang="nl-NL" dirty="0"/>
          </a:p>
        </p:txBody>
      </p:sp>
      <p:sp>
        <p:nvSpPr>
          <p:cNvPr id="11" name="Tijdelijke aanduiding voor voettekst 10">
            <a:extLst>
              <a:ext uri="{FF2B5EF4-FFF2-40B4-BE49-F238E27FC236}">
                <a16:creationId xmlns:a16="http://schemas.microsoft.com/office/drawing/2014/main" id="{AEB72DEB-DDF1-4181-8275-61AF5A99C466}"/>
              </a:ext>
            </a:extLst>
          </p:cNvPr>
          <p:cNvSpPr>
            <a:spLocks noGrp="1"/>
          </p:cNvSpPr>
          <p:nvPr>
            <p:ph type="ftr" sz="quarter" idx="4"/>
          </p:nvPr>
        </p:nvSpPr>
        <p:spPr/>
        <p:txBody>
          <a:bodyPr/>
          <a:lstStyle/>
          <a:p>
            <a:pPr>
              <a:defRPr/>
            </a:pPr>
            <a:r>
              <a:rPr lang="en-US"/>
              <a:t>© 2019 Q4 Profiles</a:t>
            </a:r>
            <a:endParaRPr lang="en-US" dirty="0"/>
          </a:p>
        </p:txBody>
      </p:sp>
      <p:sp>
        <p:nvSpPr>
          <p:cNvPr id="17" name="Tijdelijke aanduiding voor dianummer 16">
            <a:extLst>
              <a:ext uri="{FF2B5EF4-FFF2-40B4-BE49-F238E27FC236}">
                <a16:creationId xmlns:a16="http://schemas.microsoft.com/office/drawing/2014/main" id="{A93EFE9A-7124-496E-80D5-E6F1E59D5CB6}"/>
              </a:ext>
            </a:extLst>
          </p:cNvPr>
          <p:cNvSpPr>
            <a:spLocks noGrp="1"/>
          </p:cNvSpPr>
          <p:nvPr>
            <p:ph type="sldNum" sz="quarter" idx="5"/>
          </p:nvPr>
        </p:nvSpPr>
        <p:spPr/>
        <p:txBody>
          <a:bodyPr/>
          <a:lstStyle/>
          <a:p>
            <a:pPr>
              <a:defRPr/>
            </a:pPr>
            <a:fld id="{4DF5B407-0C7B-3F45-891E-996990709523}" type="slidenum">
              <a:rPr lang="nl-NL" smtClean="0"/>
              <a:pPr>
                <a:defRPr/>
              </a:pPr>
              <a:t>63</a:t>
            </a:fld>
            <a:endParaRPr lang="nl-NL"/>
          </a:p>
        </p:txBody>
      </p:sp>
    </p:spTree>
    <p:extLst>
      <p:ext uri="{BB962C8B-B14F-4D97-AF65-F5344CB8AC3E}">
        <p14:creationId xmlns:p14="http://schemas.microsoft.com/office/powerpoint/2010/main" val="20819564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11" name="Tijdelijke aanduiding voor voettekst 10">
            <a:extLst>
              <a:ext uri="{FF2B5EF4-FFF2-40B4-BE49-F238E27FC236}">
                <a16:creationId xmlns:a16="http://schemas.microsoft.com/office/drawing/2014/main" id="{21EE43B9-9911-4C3E-B10D-49A2D9125284}"/>
              </a:ext>
            </a:extLst>
          </p:cNvPr>
          <p:cNvSpPr>
            <a:spLocks noGrp="1"/>
          </p:cNvSpPr>
          <p:nvPr>
            <p:ph type="ftr" sz="quarter" idx="4"/>
          </p:nvPr>
        </p:nvSpPr>
        <p:spPr/>
        <p:txBody>
          <a:bodyPr/>
          <a:lstStyle/>
          <a:p>
            <a:pPr>
              <a:defRPr/>
            </a:pPr>
            <a:r>
              <a:rPr lang="en-US"/>
              <a:t>© 2019 Q4 Profiles</a:t>
            </a:r>
            <a:endParaRPr lang="en-US" dirty="0"/>
          </a:p>
        </p:txBody>
      </p:sp>
      <p:sp>
        <p:nvSpPr>
          <p:cNvPr id="17" name="Tijdelijke aanduiding voor dianummer 16">
            <a:extLst>
              <a:ext uri="{FF2B5EF4-FFF2-40B4-BE49-F238E27FC236}">
                <a16:creationId xmlns:a16="http://schemas.microsoft.com/office/drawing/2014/main" id="{10B90051-2439-42A9-8522-1E0148F9D290}"/>
              </a:ext>
            </a:extLst>
          </p:cNvPr>
          <p:cNvSpPr>
            <a:spLocks noGrp="1"/>
          </p:cNvSpPr>
          <p:nvPr>
            <p:ph type="sldNum" sz="quarter" idx="5"/>
          </p:nvPr>
        </p:nvSpPr>
        <p:spPr/>
        <p:txBody>
          <a:bodyPr/>
          <a:lstStyle/>
          <a:p>
            <a:pPr>
              <a:defRPr/>
            </a:pPr>
            <a:fld id="{4DF5B407-0C7B-3F45-891E-996990709523}" type="slidenum">
              <a:rPr lang="nl-NL" smtClean="0"/>
              <a:pPr>
                <a:defRPr/>
              </a:pPr>
              <a:t>64</a:t>
            </a:fld>
            <a:endParaRPr lang="nl-NL"/>
          </a:p>
        </p:txBody>
      </p:sp>
    </p:spTree>
    <p:extLst>
      <p:ext uri="{BB962C8B-B14F-4D97-AF65-F5344CB8AC3E}">
        <p14:creationId xmlns:p14="http://schemas.microsoft.com/office/powerpoint/2010/main" val="389042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11" name="Tijdelijke aanduiding voor voettekst 10">
            <a:extLst>
              <a:ext uri="{FF2B5EF4-FFF2-40B4-BE49-F238E27FC236}">
                <a16:creationId xmlns:a16="http://schemas.microsoft.com/office/drawing/2014/main" id="{205AA744-6E62-4DDC-94B2-53662F9675E3}"/>
              </a:ext>
            </a:extLst>
          </p:cNvPr>
          <p:cNvSpPr>
            <a:spLocks noGrp="1"/>
          </p:cNvSpPr>
          <p:nvPr>
            <p:ph type="ftr" sz="quarter" idx="4"/>
          </p:nvPr>
        </p:nvSpPr>
        <p:spPr/>
        <p:txBody>
          <a:bodyPr/>
          <a:lstStyle/>
          <a:p>
            <a:pPr>
              <a:defRPr/>
            </a:pPr>
            <a:r>
              <a:rPr lang="en-US"/>
              <a:t>© 2019 Q4 Profiles</a:t>
            </a:r>
            <a:endParaRPr lang="en-US" dirty="0"/>
          </a:p>
        </p:txBody>
      </p:sp>
      <p:sp>
        <p:nvSpPr>
          <p:cNvPr id="17" name="Tijdelijke aanduiding voor dianummer 16">
            <a:extLst>
              <a:ext uri="{FF2B5EF4-FFF2-40B4-BE49-F238E27FC236}">
                <a16:creationId xmlns:a16="http://schemas.microsoft.com/office/drawing/2014/main" id="{EF05529E-80C4-4D2C-9410-89179BCA504A}"/>
              </a:ext>
            </a:extLst>
          </p:cNvPr>
          <p:cNvSpPr>
            <a:spLocks noGrp="1"/>
          </p:cNvSpPr>
          <p:nvPr>
            <p:ph type="sldNum" sz="quarter" idx="5"/>
          </p:nvPr>
        </p:nvSpPr>
        <p:spPr/>
        <p:txBody>
          <a:bodyPr/>
          <a:lstStyle/>
          <a:p>
            <a:pPr>
              <a:defRPr/>
            </a:pPr>
            <a:fld id="{4DF5B407-0C7B-3F45-891E-996990709523}" type="slidenum">
              <a:rPr lang="nl-NL" smtClean="0"/>
              <a:pPr>
                <a:defRPr/>
              </a:pPr>
              <a:t>65</a:t>
            </a:fld>
            <a:endParaRPr lang="nl-NL"/>
          </a:p>
        </p:txBody>
      </p:sp>
    </p:spTree>
    <p:extLst>
      <p:ext uri="{BB962C8B-B14F-4D97-AF65-F5344CB8AC3E}">
        <p14:creationId xmlns:p14="http://schemas.microsoft.com/office/powerpoint/2010/main" val="1689169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914400" y="2130428"/>
            <a:ext cx="10363200" cy="1470025"/>
          </a:xfrm>
        </p:spPr>
        <p:txBody>
          <a:bodyPr/>
          <a:lstStyle/>
          <a:p>
            <a:r>
              <a:rPr lang="nl-NL"/>
              <a:t>Titelstijl van model bewerken</a:t>
            </a:r>
          </a:p>
        </p:txBody>
      </p:sp>
      <p:sp>
        <p:nvSpPr>
          <p:cNvPr id="3" name="Subtitel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om de titelstijl van het model te bewerken</a:t>
            </a:r>
          </a:p>
        </p:txBody>
      </p:sp>
      <p:sp>
        <p:nvSpPr>
          <p:cNvPr id="4" name="Tijdelijke aanduiding voor datum 3"/>
          <p:cNvSpPr>
            <a:spLocks noGrp="1"/>
          </p:cNvSpPr>
          <p:nvPr>
            <p:ph type="dt" sz="half" idx="10"/>
          </p:nvPr>
        </p:nvSpPr>
        <p:spPr/>
        <p:txBody>
          <a:bodyPr/>
          <a:lstStyle>
            <a:lvl1pPr>
              <a:defRPr/>
            </a:lvl1pPr>
          </a:lstStyle>
          <a:p>
            <a:pPr>
              <a:defRPr/>
            </a:pPr>
            <a:endParaRPr lang="nl-NL"/>
          </a:p>
        </p:txBody>
      </p:sp>
      <p:sp>
        <p:nvSpPr>
          <p:cNvPr id="5" name="Tijdelijke aanduiding voor voettekst 4"/>
          <p:cNvSpPr>
            <a:spLocks noGrp="1"/>
          </p:cNvSpPr>
          <p:nvPr>
            <p:ph type="ftr" sz="quarter" idx="11"/>
          </p:nvPr>
        </p:nvSpPr>
        <p:spPr/>
        <p:txBody>
          <a:bodyPr/>
          <a:lstStyle>
            <a:lvl1pPr>
              <a:defRPr/>
            </a:lvl1pPr>
          </a:lstStyle>
          <a:p>
            <a:pPr>
              <a:defRPr/>
            </a:pPr>
            <a:r>
              <a:rPr lang="en-US"/>
              <a:t>© 2019 Q4 Profiles</a:t>
            </a:r>
          </a:p>
        </p:txBody>
      </p:sp>
      <p:sp>
        <p:nvSpPr>
          <p:cNvPr id="6" name="Tijdelijke aanduiding voor dianummer 5"/>
          <p:cNvSpPr>
            <a:spLocks noGrp="1"/>
          </p:cNvSpPr>
          <p:nvPr>
            <p:ph type="sldNum" sz="quarter" idx="12"/>
          </p:nvPr>
        </p:nvSpPr>
        <p:spPr/>
        <p:txBody>
          <a:bodyPr/>
          <a:lstStyle>
            <a:lvl1pPr>
              <a:defRPr/>
            </a:lvl1pPr>
          </a:lstStyle>
          <a:p>
            <a:pPr>
              <a:defRPr/>
            </a:pPr>
            <a:fld id="{A6319679-BC94-8C46-8A90-0E065F9A00FD}" type="slidenum">
              <a:rPr lang="nl-NL"/>
              <a:pPr>
                <a:defRPr/>
              </a:pPr>
              <a:t>‹nr.›</a:t>
            </a:fld>
            <a:endParaRPr lang="nl-NL"/>
          </a:p>
        </p:txBody>
      </p:sp>
    </p:spTree>
    <p:extLst>
      <p:ext uri="{BB962C8B-B14F-4D97-AF65-F5344CB8AC3E}">
        <p14:creationId xmlns:p14="http://schemas.microsoft.com/office/powerpoint/2010/main" val="4144905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idx="1"/>
          </p:nvPr>
        </p:nvSpPr>
        <p:spPr/>
        <p:txBody>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lvl1pPr>
              <a:defRPr/>
            </a:lvl1pPr>
          </a:lstStyle>
          <a:p>
            <a:pPr>
              <a:defRPr/>
            </a:pPr>
            <a:endParaRPr lang="nl-NL"/>
          </a:p>
        </p:txBody>
      </p:sp>
      <p:sp>
        <p:nvSpPr>
          <p:cNvPr id="5" name="Tijdelijke aanduiding voor voettekst 4"/>
          <p:cNvSpPr>
            <a:spLocks noGrp="1"/>
          </p:cNvSpPr>
          <p:nvPr>
            <p:ph type="ftr" sz="quarter" idx="11"/>
          </p:nvPr>
        </p:nvSpPr>
        <p:spPr/>
        <p:txBody>
          <a:bodyPr/>
          <a:lstStyle>
            <a:lvl1pPr>
              <a:defRPr/>
            </a:lvl1pPr>
          </a:lstStyle>
          <a:p>
            <a:pPr>
              <a:defRPr/>
            </a:pPr>
            <a:r>
              <a:rPr lang="en-US"/>
              <a:t>© 2019 Q4 Profiles</a:t>
            </a:r>
          </a:p>
        </p:txBody>
      </p:sp>
      <p:sp>
        <p:nvSpPr>
          <p:cNvPr id="6" name="Tijdelijke aanduiding voor dianummer 5"/>
          <p:cNvSpPr>
            <a:spLocks noGrp="1"/>
          </p:cNvSpPr>
          <p:nvPr>
            <p:ph type="sldNum" sz="quarter" idx="12"/>
          </p:nvPr>
        </p:nvSpPr>
        <p:spPr/>
        <p:txBody>
          <a:bodyPr/>
          <a:lstStyle>
            <a:lvl1pPr>
              <a:defRPr/>
            </a:lvl1pPr>
          </a:lstStyle>
          <a:p>
            <a:pPr>
              <a:defRPr/>
            </a:pPr>
            <a:fld id="{C4DF5E9C-E797-3C4B-9460-4077DEC31D23}" type="slidenum">
              <a:rPr lang="nl-NL"/>
              <a:pPr>
                <a:defRPr/>
              </a:pPr>
              <a:t>‹nr.›</a:t>
            </a:fld>
            <a:endParaRPr lang="nl-NL"/>
          </a:p>
        </p:txBody>
      </p:sp>
    </p:spTree>
    <p:extLst>
      <p:ext uri="{BB962C8B-B14F-4D97-AF65-F5344CB8AC3E}">
        <p14:creationId xmlns:p14="http://schemas.microsoft.com/office/powerpoint/2010/main" val="3644808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963084" y="4406901"/>
            <a:ext cx="10363200" cy="1362075"/>
          </a:xfrm>
        </p:spPr>
        <p:txBody>
          <a:bodyPr anchor="t"/>
          <a:lstStyle>
            <a:lvl1pPr algn="l">
              <a:defRPr sz="4000" b="1" cap="all"/>
            </a:lvl1pPr>
          </a:lstStyle>
          <a:p>
            <a:r>
              <a:rPr lang="nl-NL"/>
              <a:t>Titelstijl van model bewerken</a:t>
            </a:r>
          </a:p>
        </p:txBody>
      </p:sp>
      <p:sp>
        <p:nvSpPr>
          <p:cNvPr id="3" name="Tijdelijke aanduiding voor tekst 2"/>
          <p:cNvSpPr>
            <a:spLocks noGrp="1"/>
          </p:cNvSpPr>
          <p:nvPr>
            <p:ph type="body" idx="1"/>
          </p:nvPr>
        </p:nvSpPr>
        <p:spPr>
          <a:xfrm>
            <a:off x="963084" y="2906716"/>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a:t>Klik om de tekststijl van het model te bewerken</a:t>
            </a:r>
          </a:p>
        </p:txBody>
      </p:sp>
      <p:sp>
        <p:nvSpPr>
          <p:cNvPr id="4" name="Tijdelijke aanduiding voor datum 3"/>
          <p:cNvSpPr>
            <a:spLocks noGrp="1"/>
          </p:cNvSpPr>
          <p:nvPr>
            <p:ph type="dt" sz="half" idx="10"/>
          </p:nvPr>
        </p:nvSpPr>
        <p:spPr/>
        <p:txBody>
          <a:bodyPr/>
          <a:lstStyle>
            <a:lvl1pPr>
              <a:defRPr/>
            </a:lvl1pPr>
          </a:lstStyle>
          <a:p>
            <a:pPr>
              <a:defRPr/>
            </a:pPr>
            <a:endParaRPr lang="nl-NL"/>
          </a:p>
        </p:txBody>
      </p:sp>
      <p:sp>
        <p:nvSpPr>
          <p:cNvPr id="5" name="Tijdelijke aanduiding voor voettekst 4"/>
          <p:cNvSpPr>
            <a:spLocks noGrp="1"/>
          </p:cNvSpPr>
          <p:nvPr>
            <p:ph type="ftr" sz="quarter" idx="11"/>
          </p:nvPr>
        </p:nvSpPr>
        <p:spPr/>
        <p:txBody>
          <a:bodyPr/>
          <a:lstStyle>
            <a:lvl1pPr>
              <a:defRPr/>
            </a:lvl1pPr>
          </a:lstStyle>
          <a:p>
            <a:pPr>
              <a:defRPr/>
            </a:pPr>
            <a:r>
              <a:rPr lang="en-US"/>
              <a:t>© 2019 Q4 Profiles</a:t>
            </a:r>
          </a:p>
        </p:txBody>
      </p:sp>
      <p:sp>
        <p:nvSpPr>
          <p:cNvPr id="6" name="Tijdelijke aanduiding voor dianummer 5"/>
          <p:cNvSpPr>
            <a:spLocks noGrp="1"/>
          </p:cNvSpPr>
          <p:nvPr>
            <p:ph type="sldNum" sz="quarter" idx="12"/>
          </p:nvPr>
        </p:nvSpPr>
        <p:spPr/>
        <p:txBody>
          <a:bodyPr/>
          <a:lstStyle>
            <a:lvl1pPr>
              <a:defRPr/>
            </a:lvl1pPr>
          </a:lstStyle>
          <a:p>
            <a:pPr>
              <a:defRPr/>
            </a:pPr>
            <a:fld id="{FCFE96BA-62F2-574C-B7CC-1217AAFF8F7D}" type="slidenum">
              <a:rPr lang="nl-NL"/>
              <a:pPr>
                <a:defRPr/>
              </a:pPr>
              <a:t>‹nr.›</a:t>
            </a:fld>
            <a:endParaRPr lang="nl-NL"/>
          </a:p>
        </p:txBody>
      </p:sp>
    </p:spTree>
    <p:extLst>
      <p:ext uri="{BB962C8B-B14F-4D97-AF65-F5344CB8AC3E}">
        <p14:creationId xmlns:p14="http://schemas.microsoft.com/office/powerpoint/2010/main" val="946737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ee objecte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3"/>
          <p:cNvSpPr>
            <a:spLocks noGrp="1"/>
          </p:cNvSpPr>
          <p:nvPr>
            <p:ph type="dt" sz="half" idx="10"/>
          </p:nvPr>
        </p:nvSpPr>
        <p:spPr/>
        <p:txBody>
          <a:bodyPr/>
          <a:lstStyle>
            <a:lvl1pPr>
              <a:defRPr/>
            </a:lvl1pPr>
          </a:lstStyle>
          <a:p>
            <a:pPr>
              <a:defRPr/>
            </a:pPr>
            <a:endParaRPr lang="nl-NL"/>
          </a:p>
        </p:txBody>
      </p:sp>
      <p:sp>
        <p:nvSpPr>
          <p:cNvPr id="6" name="Tijdelijke aanduiding voor voettekst 4"/>
          <p:cNvSpPr>
            <a:spLocks noGrp="1"/>
          </p:cNvSpPr>
          <p:nvPr>
            <p:ph type="ftr" sz="quarter" idx="11"/>
          </p:nvPr>
        </p:nvSpPr>
        <p:spPr/>
        <p:txBody>
          <a:bodyPr/>
          <a:lstStyle>
            <a:lvl1pPr>
              <a:defRPr/>
            </a:lvl1pPr>
          </a:lstStyle>
          <a:p>
            <a:pPr>
              <a:defRPr/>
            </a:pPr>
            <a:r>
              <a:rPr lang="en-US"/>
              <a:t>© 2019 Q4 Profiles</a:t>
            </a:r>
          </a:p>
        </p:txBody>
      </p:sp>
      <p:sp>
        <p:nvSpPr>
          <p:cNvPr id="7" name="Tijdelijke aanduiding voor dianummer 5"/>
          <p:cNvSpPr>
            <a:spLocks noGrp="1"/>
          </p:cNvSpPr>
          <p:nvPr>
            <p:ph type="sldNum" sz="quarter" idx="12"/>
          </p:nvPr>
        </p:nvSpPr>
        <p:spPr/>
        <p:txBody>
          <a:bodyPr/>
          <a:lstStyle>
            <a:lvl1pPr>
              <a:defRPr/>
            </a:lvl1pPr>
          </a:lstStyle>
          <a:p>
            <a:pPr>
              <a:defRPr/>
            </a:pPr>
            <a:fld id="{FC6451BC-0D83-B847-BD2A-2750FEA7A36D}" type="slidenum">
              <a:rPr lang="nl-NL"/>
              <a:pPr>
                <a:defRPr/>
              </a:pPr>
              <a:t>‹nr.›</a:t>
            </a:fld>
            <a:endParaRPr lang="nl-NL"/>
          </a:p>
        </p:txBody>
      </p:sp>
    </p:spTree>
    <p:extLst>
      <p:ext uri="{BB962C8B-B14F-4D97-AF65-F5344CB8AC3E}">
        <p14:creationId xmlns:p14="http://schemas.microsoft.com/office/powerpoint/2010/main" val="359809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a:t>Titelstijl van model bewerken</a:t>
            </a:r>
          </a:p>
        </p:txBody>
      </p:sp>
      <p:sp>
        <p:nvSpPr>
          <p:cNvPr id="3" name="Tijdelijke aanduiding voor tekst 2"/>
          <p:cNvSpPr>
            <a:spLocks noGrp="1"/>
          </p:cNvSpPr>
          <p:nvPr>
            <p:ph type="body" idx="1"/>
          </p:nvPr>
        </p:nvSpPr>
        <p:spPr>
          <a:xfrm>
            <a:off x="609603"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tekststijl van het model te bewerken</a:t>
            </a:r>
          </a:p>
        </p:txBody>
      </p:sp>
      <p:sp>
        <p:nvSpPr>
          <p:cNvPr id="4" name="Tijdelijke aanduiding voor inhoud 3"/>
          <p:cNvSpPr>
            <a:spLocks noGrp="1"/>
          </p:cNvSpPr>
          <p:nvPr>
            <p:ph sz="half" idx="2"/>
          </p:nvPr>
        </p:nvSpPr>
        <p:spPr>
          <a:xfrm>
            <a:off x="609603"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tekststijl van het model te bewerken</a:t>
            </a:r>
          </a:p>
        </p:txBody>
      </p:sp>
      <p:sp>
        <p:nvSpPr>
          <p:cNvPr id="6" name="Tijdelijke aanduiding voor inhoud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3"/>
          <p:cNvSpPr>
            <a:spLocks noGrp="1"/>
          </p:cNvSpPr>
          <p:nvPr>
            <p:ph type="dt" sz="half" idx="10"/>
          </p:nvPr>
        </p:nvSpPr>
        <p:spPr/>
        <p:txBody>
          <a:bodyPr/>
          <a:lstStyle>
            <a:lvl1pPr>
              <a:defRPr/>
            </a:lvl1pPr>
          </a:lstStyle>
          <a:p>
            <a:pPr>
              <a:defRPr/>
            </a:pPr>
            <a:endParaRPr lang="nl-NL"/>
          </a:p>
        </p:txBody>
      </p:sp>
      <p:sp>
        <p:nvSpPr>
          <p:cNvPr id="8" name="Tijdelijke aanduiding voor voettekst 4"/>
          <p:cNvSpPr>
            <a:spLocks noGrp="1"/>
          </p:cNvSpPr>
          <p:nvPr>
            <p:ph type="ftr" sz="quarter" idx="11"/>
          </p:nvPr>
        </p:nvSpPr>
        <p:spPr/>
        <p:txBody>
          <a:bodyPr/>
          <a:lstStyle>
            <a:lvl1pPr>
              <a:defRPr/>
            </a:lvl1pPr>
          </a:lstStyle>
          <a:p>
            <a:pPr>
              <a:defRPr/>
            </a:pPr>
            <a:r>
              <a:rPr lang="en-US"/>
              <a:t>© 2019 Q4 Profiles</a:t>
            </a:r>
          </a:p>
        </p:txBody>
      </p:sp>
      <p:sp>
        <p:nvSpPr>
          <p:cNvPr id="9" name="Tijdelijke aanduiding voor dianummer 5"/>
          <p:cNvSpPr>
            <a:spLocks noGrp="1"/>
          </p:cNvSpPr>
          <p:nvPr>
            <p:ph type="sldNum" sz="quarter" idx="12"/>
          </p:nvPr>
        </p:nvSpPr>
        <p:spPr/>
        <p:txBody>
          <a:bodyPr/>
          <a:lstStyle>
            <a:lvl1pPr>
              <a:defRPr/>
            </a:lvl1pPr>
          </a:lstStyle>
          <a:p>
            <a:pPr>
              <a:defRPr/>
            </a:pPr>
            <a:fld id="{4FA43F62-804D-5240-9C20-54C68EE2893F}" type="slidenum">
              <a:rPr lang="nl-NL"/>
              <a:pPr>
                <a:defRPr/>
              </a:pPr>
              <a:t>‹nr.›</a:t>
            </a:fld>
            <a:endParaRPr lang="nl-NL"/>
          </a:p>
        </p:txBody>
      </p:sp>
    </p:spTree>
    <p:extLst>
      <p:ext uri="{BB962C8B-B14F-4D97-AF65-F5344CB8AC3E}">
        <p14:creationId xmlns:p14="http://schemas.microsoft.com/office/powerpoint/2010/main" val="1098941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datum 3"/>
          <p:cNvSpPr>
            <a:spLocks noGrp="1"/>
          </p:cNvSpPr>
          <p:nvPr>
            <p:ph type="dt" sz="half" idx="10"/>
          </p:nvPr>
        </p:nvSpPr>
        <p:spPr/>
        <p:txBody>
          <a:bodyPr/>
          <a:lstStyle>
            <a:lvl1pPr>
              <a:defRPr/>
            </a:lvl1pPr>
          </a:lstStyle>
          <a:p>
            <a:pPr>
              <a:defRPr/>
            </a:pPr>
            <a:endParaRPr lang="nl-NL"/>
          </a:p>
        </p:txBody>
      </p:sp>
      <p:sp>
        <p:nvSpPr>
          <p:cNvPr id="4" name="Tijdelijke aanduiding voor voettekst 4"/>
          <p:cNvSpPr>
            <a:spLocks noGrp="1"/>
          </p:cNvSpPr>
          <p:nvPr>
            <p:ph type="ftr" sz="quarter" idx="11"/>
          </p:nvPr>
        </p:nvSpPr>
        <p:spPr/>
        <p:txBody>
          <a:bodyPr/>
          <a:lstStyle>
            <a:lvl1pPr>
              <a:defRPr/>
            </a:lvl1pPr>
          </a:lstStyle>
          <a:p>
            <a:pPr>
              <a:defRPr/>
            </a:pPr>
            <a:r>
              <a:rPr lang="en-US"/>
              <a:t>© 2019 Q4 Profiles</a:t>
            </a:r>
          </a:p>
        </p:txBody>
      </p:sp>
      <p:sp>
        <p:nvSpPr>
          <p:cNvPr id="5" name="Tijdelijke aanduiding voor dianummer 5"/>
          <p:cNvSpPr>
            <a:spLocks noGrp="1"/>
          </p:cNvSpPr>
          <p:nvPr>
            <p:ph type="sldNum" sz="quarter" idx="12"/>
          </p:nvPr>
        </p:nvSpPr>
        <p:spPr/>
        <p:txBody>
          <a:bodyPr/>
          <a:lstStyle>
            <a:lvl1pPr>
              <a:defRPr/>
            </a:lvl1pPr>
          </a:lstStyle>
          <a:p>
            <a:pPr>
              <a:defRPr/>
            </a:pPr>
            <a:fld id="{48BC7640-FE66-A547-B300-F4E845B1EAFE}" type="slidenum">
              <a:rPr lang="nl-NL"/>
              <a:pPr>
                <a:defRPr/>
              </a:pPr>
              <a:t>‹nr.›</a:t>
            </a:fld>
            <a:endParaRPr lang="nl-NL"/>
          </a:p>
        </p:txBody>
      </p:sp>
    </p:spTree>
    <p:extLst>
      <p:ext uri="{BB962C8B-B14F-4D97-AF65-F5344CB8AC3E}">
        <p14:creationId xmlns:p14="http://schemas.microsoft.com/office/powerpoint/2010/main" val="3447854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3"/>
          <p:cNvSpPr>
            <a:spLocks noGrp="1"/>
          </p:cNvSpPr>
          <p:nvPr>
            <p:ph type="dt" sz="half" idx="10"/>
          </p:nvPr>
        </p:nvSpPr>
        <p:spPr/>
        <p:txBody>
          <a:bodyPr/>
          <a:lstStyle>
            <a:lvl1pPr>
              <a:defRPr/>
            </a:lvl1pPr>
          </a:lstStyle>
          <a:p>
            <a:pPr>
              <a:defRPr/>
            </a:pPr>
            <a:endParaRPr lang="nl-NL"/>
          </a:p>
        </p:txBody>
      </p:sp>
      <p:sp>
        <p:nvSpPr>
          <p:cNvPr id="3" name="Tijdelijke aanduiding voor voettekst 4"/>
          <p:cNvSpPr>
            <a:spLocks noGrp="1"/>
          </p:cNvSpPr>
          <p:nvPr>
            <p:ph type="ftr" sz="quarter" idx="11"/>
          </p:nvPr>
        </p:nvSpPr>
        <p:spPr/>
        <p:txBody>
          <a:bodyPr/>
          <a:lstStyle>
            <a:lvl1pPr>
              <a:defRPr/>
            </a:lvl1pPr>
          </a:lstStyle>
          <a:p>
            <a:pPr>
              <a:defRPr/>
            </a:pPr>
            <a:r>
              <a:rPr lang="en-US"/>
              <a:t>© 2019 Q4 Profiles</a:t>
            </a:r>
          </a:p>
        </p:txBody>
      </p:sp>
      <p:sp>
        <p:nvSpPr>
          <p:cNvPr id="4" name="Tijdelijke aanduiding voor dianummer 5"/>
          <p:cNvSpPr>
            <a:spLocks noGrp="1"/>
          </p:cNvSpPr>
          <p:nvPr>
            <p:ph type="sldNum" sz="quarter" idx="12"/>
          </p:nvPr>
        </p:nvSpPr>
        <p:spPr/>
        <p:txBody>
          <a:bodyPr/>
          <a:lstStyle>
            <a:lvl1pPr>
              <a:defRPr/>
            </a:lvl1pPr>
          </a:lstStyle>
          <a:p>
            <a:pPr>
              <a:defRPr/>
            </a:pPr>
            <a:fld id="{EA49DBE6-E832-C244-85C3-1A3F76120102}" type="slidenum">
              <a:rPr lang="nl-NL"/>
              <a:pPr>
                <a:defRPr/>
              </a:pPr>
              <a:t>‹nr.›</a:t>
            </a:fld>
            <a:endParaRPr lang="nl-NL"/>
          </a:p>
        </p:txBody>
      </p:sp>
    </p:spTree>
    <p:extLst>
      <p:ext uri="{BB962C8B-B14F-4D97-AF65-F5344CB8AC3E}">
        <p14:creationId xmlns:p14="http://schemas.microsoft.com/office/powerpoint/2010/main" val="3079729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609603" y="273050"/>
            <a:ext cx="4011084" cy="1162050"/>
          </a:xfrm>
        </p:spPr>
        <p:txBody>
          <a:bodyPr anchor="b"/>
          <a:lstStyle>
            <a:lvl1pPr algn="l">
              <a:defRPr sz="2000" b="1"/>
            </a:lvl1pPr>
          </a:lstStyle>
          <a:p>
            <a:r>
              <a:rPr lang="nl-NL"/>
              <a:t>Titelstijl van model bewerken</a:t>
            </a:r>
          </a:p>
        </p:txBody>
      </p:sp>
      <p:sp>
        <p:nvSpPr>
          <p:cNvPr id="3" name="Tijdelijke aanduiding voor inhoud 2"/>
          <p:cNvSpPr>
            <a:spLocks noGrp="1"/>
          </p:cNvSpPr>
          <p:nvPr>
            <p:ph idx="1"/>
          </p:nvPr>
        </p:nvSpPr>
        <p:spPr>
          <a:xfrm>
            <a:off x="4766735" y="273053"/>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tekststijl van het model te bewerken</a:t>
            </a:r>
          </a:p>
        </p:txBody>
      </p:sp>
      <p:sp>
        <p:nvSpPr>
          <p:cNvPr id="5" name="Tijdelijke aanduiding voor datum 3"/>
          <p:cNvSpPr>
            <a:spLocks noGrp="1"/>
          </p:cNvSpPr>
          <p:nvPr>
            <p:ph type="dt" sz="half" idx="10"/>
          </p:nvPr>
        </p:nvSpPr>
        <p:spPr/>
        <p:txBody>
          <a:bodyPr/>
          <a:lstStyle>
            <a:lvl1pPr>
              <a:defRPr/>
            </a:lvl1pPr>
          </a:lstStyle>
          <a:p>
            <a:pPr>
              <a:defRPr/>
            </a:pPr>
            <a:endParaRPr lang="nl-NL"/>
          </a:p>
        </p:txBody>
      </p:sp>
      <p:sp>
        <p:nvSpPr>
          <p:cNvPr id="6" name="Tijdelijke aanduiding voor voettekst 4"/>
          <p:cNvSpPr>
            <a:spLocks noGrp="1"/>
          </p:cNvSpPr>
          <p:nvPr>
            <p:ph type="ftr" sz="quarter" idx="11"/>
          </p:nvPr>
        </p:nvSpPr>
        <p:spPr/>
        <p:txBody>
          <a:bodyPr/>
          <a:lstStyle>
            <a:lvl1pPr>
              <a:defRPr/>
            </a:lvl1pPr>
          </a:lstStyle>
          <a:p>
            <a:pPr>
              <a:defRPr/>
            </a:pPr>
            <a:r>
              <a:rPr lang="en-US"/>
              <a:t>© 2019 Q4 Profiles</a:t>
            </a:r>
          </a:p>
        </p:txBody>
      </p:sp>
      <p:sp>
        <p:nvSpPr>
          <p:cNvPr id="7" name="Tijdelijke aanduiding voor dianummer 5"/>
          <p:cNvSpPr>
            <a:spLocks noGrp="1"/>
          </p:cNvSpPr>
          <p:nvPr>
            <p:ph type="sldNum" sz="quarter" idx="12"/>
          </p:nvPr>
        </p:nvSpPr>
        <p:spPr/>
        <p:txBody>
          <a:bodyPr/>
          <a:lstStyle>
            <a:lvl1pPr>
              <a:defRPr/>
            </a:lvl1pPr>
          </a:lstStyle>
          <a:p>
            <a:pPr>
              <a:defRPr/>
            </a:pPr>
            <a:fld id="{996F751F-2EEC-504D-8C60-CF3E1A6FB2CF}" type="slidenum">
              <a:rPr lang="nl-NL"/>
              <a:pPr>
                <a:defRPr/>
              </a:pPr>
              <a:t>‹nr.›</a:t>
            </a:fld>
            <a:endParaRPr lang="nl-NL"/>
          </a:p>
        </p:txBody>
      </p:sp>
    </p:spTree>
    <p:extLst>
      <p:ext uri="{BB962C8B-B14F-4D97-AF65-F5344CB8AC3E}">
        <p14:creationId xmlns:p14="http://schemas.microsoft.com/office/powerpoint/2010/main" val="1208399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2389717" y="4800601"/>
            <a:ext cx="7315200" cy="566738"/>
          </a:xfrm>
        </p:spPr>
        <p:txBody>
          <a:bodyPr anchor="b"/>
          <a:lstStyle>
            <a:lvl1pPr algn="l">
              <a:defRPr sz="2000" b="1"/>
            </a:lvl1pPr>
          </a:lstStyle>
          <a:p>
            <a:r>
              <a:rPr lang="nl-NL"/>
              <a:t>Titelstijl van model bewerken</a:t>
            </a:r>
          </a:p>
        </p:txBody>
      </p:sp>
      <p:sp>
        <p:nvSpPr>
          <p:cNvPr id="3" name="Tijdelijke aanduiding voor afbeelding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a:p>
        </p:txBody>
      </p:sp>
      <p:sp>
        <p:nvSpPr>
          <p:cNvPr id="4" name="Tijdelijke aanduiding voor tekst 3"/>
          <p:cNvSpPr>
            <a:spLocks noGrp="1"/>
          </p:cNvSpPr>
          <p:nvPr>
            <p:ph type="body" sz="half" idx="2"/>
          </p:nvPr>
        </p:nvSpPr>
        <p:spPr>
          <a:xfrm>
            <a:off x="2389717" y="5367339"/>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tekststijl van het model te bewerken</a:t>
            </a:r>
          </a:p>
        </p:txBody>
      </p:sp>
      <p:sp>
        <p:nvSpPr>
          <p:cNvPr id="5" name="Tijdelijke aanduiding voor datum 3"/>
          <p:cNvSpPr>
            <a:spLocks noGrp="1"/>
          </p:cNvSpPr>
          <p:nvPr>
            <p:ph type="dt" sz="half" idx="10"/>
          </p:nvPr>
        </p:nvSpPr>
        <p:spPr/>
        <p:txBody>
          <a:bodyPr/>
          <a:lstStyle>
            <a:lvl1pPr>
              <a:defRPr/>
            </a:lvl1pPr>
          </a:lstStyle>
          <a:p>
            <a:pPr>
              <a:defRPr/>
            </a:pPr>
            <a:endParaRPr lang="nl-NL"/>
          </a:p>
        </p:txBody>
      </p:sp>
      <p:sp>
        <p:nvSpPr>
          <p:cNvPr id="6" name="Tijdelijke aanduiding voor voettekst 4"/>
          <p:cNvSpPr>
            <a:spLocks noGrp="1"/>
          </p:cNvSpPr>
          <p:nvPr>
            <p:ph type="ftr" sz="quarter" idx="11"/>
          </p:nvPr>
        </p:nvSpPr>
        <p:spPr/>
        <p:txBody>
          <a:bodyPr/>
          <a:lstStyle>
            <a:lvl1pPr>
              <a:defRPr/>
            </a:lvl1pPr>
          </a:lstStyle>
          <a:p>
            <a:pPr>
              <a:defRPr/>
            </a:pPr>
            <a:r>
              <a:rPr lang="en-US"/>
              <a:t>© 2019 Q4 Profiles</a:t>
            </a:r>
          </a:p>
        </p:txBody>
      </p:sp>
      <p:sp>
        <p:nvSpPr>
          <p:cNvPr id="7" name="Tijdelijke aanduiding voor dianummer 5"/>
          <p:cNvSpPr>
            <a:spLocks noGrp="1"/>
          </p:cNvSpPr>
          <p:nvPr>
            <p:ph type="sldNum" sz="quarter" idx="12"/>
          </p:nvPr>
        </p:nvSpPr>
        <p:spPr/>
        <p:txBody>
          <a:bodyPr/>
          <a:lstStyle>
            <a:lvl1pPr>
              <a:defRPr/>
            </a:lvl1pPr>
          </a:lstStyle>
          <a:p>
            <a:pPr>
              <a:defRPr/>
            </a:pPr>
            <a:fld id="{E2513D60-52D0-9741-8BA4-6C90513C713A}" type="slidenum">
              <a:rPr lang="nl-NL"/>
              <a:pPr>
                <a:defRPr/>
              </a:pPr>
              <a:t>‹nr.›</a:t>
            </a:fld>
            <a:endParaRPr lang="nl-NL"/>
          </a:p>
        </p:txBody>
      </p:sp>
    </p:spTree>
    <p:extLst>
      <p:ext uri="{BB962C8B-B14F-4D97-AF65-F5344CB8AC3E}">
        <p14:creationId xmlns:p14="http://schemas.microsoft.com/office/powerpoint/2010/main" val="3470262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verticale tekst 2"/>
          <p:cNvSpPr>
            <a:spLocks noGrp="1"/>
          </p:cNvSpPr>
          <p:nvPr>
            <p:ph type="body" orient="vert" idx="1"/>
          </p:nvPr>
        </p:nvSpPr>
        <p:spPr/>
        <p:txBody>
          <a:bodyPr vert="eaVert"/>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lvl1pPr>
              <a:defRPr/>
            </a:lvl1pPr>
          </a:lstStyle>
          <a:p>
            <a:pPr>
              <a:defRPr/>
            </a:pPr>
            <a:endParaRPr lang="nl-NL"/>
          </a:p>
        </p:txBody>
      </p:sp>
      <p:sp>
        <p:nvSpPr>
          <p:cNvPr id="5" name="Tijdelijke aanduiding voor voettekst 4"/>
          <p:cNvSpPr>
            <a:spLocks noGrp="1"/>
          </p:cNvSpPr>
          <p:nvPr>
            <p:ph type="ftr" sz="quarter" idx="11"/>
          </p:nvPr>
        </p:nvSpPr>
        <p:spPr/>
        <p:txBody>
          <a:bodyPr/>
          <a:lstStyle>
            <a:lvl1pPr>
              <a:defRPr/>
            </a:lvl1pPr>
          </a:lstStyle>
          <a:p>
            <a:pPr>
              <a:defRPr/>
            </a:pPr>
            <a:r>
              <a:rPr lang="en-US"/>
              <a:t>© 2019 Q4 Profiles</a:t>
            </a:r>
          </a:p>
        </p:txBody>
      </p:sp>
      <p:sp>
        <p:nvSpPr>
          <p:cNvPr id="6" name="Tijdelijke aanduiding voor dianummer 5"/>
          <p:cNvSpPr>
            <a:spLocks noGrp="1"/>
          </p:cNvSpPr>
          <p:nvPr>
            <p:ph type="sldNum" sz="quarter" idx="12"/>
          </p:nvPr>
        </p:nvSpPr>
        <p:spPr/>
        <p:txBody>
          <a:bodyPr/>
          <a:lstStyle>
            <a:lvl1pPr>
              <a:defRPr/>
            </a:lvl1pPr>
          </a:lstStyle>
          <a:p>
            <a:pPr>
              <a:defRPr/>
            </a:pPr>
            <a:fld id="{49D75F54-EA4E-D14E-B22A-E83F753A6C6A}" type="slidenum">
              <a:rPr lang="nl-NL"/>
              <a:pPr>
                <a:defRPr/>
              </a:pPr>
              <a:t>‹nr.›</a:t>
            </a:fld>
            <a:endParaRPr lang="nl-NL"/>
          </a:p>
        </p:txBody>
      </p:sp>
    </p:spTree>
    <p:extLst>
      <p:ext uri="{BB962C8B-B14F-4D97-AF65-F5344CB8AC3E}">
        <p14:creationId xmlns:p14="http://schemas.microsoft.com/office/powerpoint/2010/main" val="2735076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839200" y="274641"/>
            <a:ext cx="2743200" cy="5851525"/>
          </a:xfrm>
        </p:spPr>
        <p:txBody>
          <a:bodyPr vert="eaVert"/>
          <a:lstStyle/>
          <a:p>
            <a:r>
              <a:rPr lang="nl-NL"/>
              <a:t>Titelstijl van model bewerken</a:t>
            </a:r>
          </a:p>
        </p:txBody>
      </p:sp>
      <p:sp>
        <p:nvSpPr>
          <p:cNvPr id="3" name="Tijdelijke aanduiding voor verticale tekst 2"/>
          <p:cNvSpPr>
            <a:spLocks noGrp="1"/>
          </p:cNvSpPr>
          <p:nvPr>
            <p:ph type="body" orient="vert" idx="1"/>
          </p:nvPr>
        </p:nvSpPr>
        <p:spPr>
          <a:xfrm>
            <a:off x="609600" y="274641"/>
            <a:ext cx="8026400" cy="5851525"/>
          </a:xfrm>
        </p:spPr>
        <p:txBody>
          <a:bodyPr vert="eaVert"/>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lvl1pPr>
              <a:defRPr/>
            </a:lvl1pPr>
          </a:lstStyle>
          <a:p>
            <a:pPr>
              <a:defRPr/>
            </a:pPr>
            <a:endParaRPr lang="nl-NL"/>
          </a:p>
        </p:txBody>
      </p:sp>
      <p:sp>
        <p:nvSpPr>
          <p:cNvPr id="5" name="Tijdelijke aanduiding voor voettekst 4"/>
          <p:cNvSpPr>
            <a:spLocks noGrp="1"/>
          </p:cNvSpPr>
          <p:nvPr>
            <p:ph type="ftr" sz="quarter" idx="11"/>
          </p:nvPr>
        </p:nvSpPr>
        <p:spPr/>
        <p:txBody>
          <a:bodyPr/>
          <a:lstStyle>
            <a:lvl1pPr>
              <a:defRPr/>
            </a:lvl1pPr>
          </a:lstStyle>
          <a:p>
            <a:pPr>
              <a:defRPr/>
            </a:pPr>
            <a:r>
              <a:rPr lang="en-US"/>
              <a:t>© 2019 Q4 Profiles</a:t>
            </a:r>
          </a:p>
        </p:txBody>
      </p:sp>
      <p:sp>
        <p:nvSpPr>
          <p:cNvPr id="6" name="Tijdelijke aanduiding voor dianummer 5"/>
          <p:cNvSpPr>
            <a:spLocks noGrp="1"/>
          </p:cNvSpPr>
          <p:nvPr>
            <p:ph type="sldNum" sz="quarter" idx="12"/>
          </p:nvPr>
        </p:nvSpPr>
        <p:spPr/>
        <p:txBody>
          <a:bodyPr/>
          <a:lstStyle>
            <a:lvl1pPr>
              <a:defRPr/>
            </a:lvl1pPr>
          </a:lstStyle>
          <a:p>
            <a:pPr>
              <a:defRPr/>
            </a:pPr>
            <a:fld id="{332FF4AC-A8D4-3F4D-B51C-86B83652D0E6}" type="slidenum">
              <a:rPr lang="nl-NL"/>
              <a:pPr>
                <a:defRPr/>
              </a:pPr>
              <a:t>‹nr.›</a:t>
            </a:fld>
            <a:endParaRPr lang="nl-NL"/>
          </a:p>
        </p:txBody>
      </p:sp>
    </p:spTree>
    <p:extLst>
      <p:ext uri="{BB962C8B-B14F-4D97-AF65-F5344CB8AC3E}">
        <p14:creationId xmlns:p14="http://schemas.microsoft.com/office/powerpoint/2010/main" val="2521163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a:stretch>
        </a:blipFill>
        <a:effectLst/>
      </p:bgPr>
    </p:bg>
    <p:spTree>
      <p:nvGrpSpPr>
        <p:cNvPr id="1" name=""/>
        <p:cNvGrpSpPr/>
        <p:nvPr/>
      </p:nvGrpSpPr>
      <p:grpSpPr>
        <a:xfrm>
          <a:off x="0" y="0"/>
          <a:ext cx="0" cy="0"/>
          <a:chOff x="0" y="0"/>
          <a:chExt cx="0" cy="0"/>
        </a:xfrm>
      </p:grpSpPr>
      <p:sp>
        <p:nvSpPr>
          <p:cNvPr id="1026" name="Tijdelijke aanduiding voor titel 1"/>
          <p:cNvSpPr>
            <a:spLocks noGrp="1"/>
          </p:cNvSpPr>
          <p:nvPr>
            <p:ph type="title"/>
          </p:nvPr>
        </p:nvSpPr>
        <p:spPr bwMode="auto">
          <a:xfrm>
            <a:off x="609600" y="274638"/>
            <a:ext cx="109728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nl-NL"/>
              <a:t>Titelstijl van model bewerken</a:t>
            </a:r>
          </a:p>
        </p:txBody>
      </p:sp>
      <p:sp>
        <p:nvSpPr>
          <p:cNvPr id="1027" name="Tijdelijke aanduiding voor tekst 2"/>
          <p:cNvSpPr>
            <a:spLocks noGrp="1"/>
          </p:cNvSpPr>
          <p:nvPr>
            <p:ph type="body" idx="1"/>
          </p:nvPr>
        </p:nvSpPr>
        <p:spPr bwMode="auto">
          <a:xfrm>
            <a:off x="609600" y="1600203"/>
            <a:ext cx="109728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charset="0"/>
                <a:cs typeface="Arial" charset="0"/>
              </a:defRPr>
            </a:lvl1pPr>
          </a:lstStyle>
          <a:p>
            <a:pPr>
              <a:defRPr/>
            </a:pPr>
            <a:endParaRPr lang="nl-NL"/>
          </a:p>
        </p:txBody>
      </p:sp>
      <p:sp>
        <p:nvSpPr>
          <p:cNvPr id="5" name="Tijdelijke aanduiding voor voettekst 4"/>
          <p:cNvSpPr>
            <a:spLocks noGrp="1"/>
          </p:cNvSpPr>
          <p:nvPr>
            <p:ph type="ftr" sz="quarter" idx="3"/>
          </p:nvPr>
        </p:nvSpPr>
        <p:spPr>
          <a:xfrm>
            <a:off x="4165600" y="6356353"/>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cs typeface="Arial" charset="0"/>
              </a:defRPr>
            </a:lvl1pPr>
          </a:lstStyle>
          <a:p>
            <a:pPr>
              <a:defRPr/>
            </a:pPr>
            <a:r>
              <a:rPr lang="en-US"/>
              <a:t>© 2019 Q4 Profiles</a:t>
            </a:r>
          </a:p>
        </p:txBody>
      </p:sp>
      <p:sp>
        <p:nvSpPr>
          <p:cNvPr id="6" name="Tijdelijke aanduiding voor dianumm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charset="0"/>
                <a:cs typeface="Arial" charset="0"/>
              </a:defRPr>
            </a:lvl1pPr>
          </a:lstStyle>
          <a:p>
            <a:pPr>
              <a:defRPr/>
            </a:pPr>
            <a:fld id="{6F2553A2-8246-0246-B24A-2EEE757805AB}" type="slidenum">
              <a:rPr lang="nl-NL"/>
              <a:pPr>
                <a:defRPr/>
              </a:pPr>
              <a:t>‹nr.›</a:t>
            </a:fld>
            <a:endParaRPr lang="nl-NL"/>
          </a:p>
        </p:txBody>
      </p:sp>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sldNum="0" hdr="0" ftr="0" dt="0"/>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www.fairview.nl/frame.php?itemId=95609"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hyperlink" Target="javascript:void(0);" TargetMode="External"/><Relationship Id="rId4" Type="http://schemas.openxmlformats.org/officeDocument/2006/relationships/image" Target="../media/image18.jpeg"/></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Erwin\Desktop\iStock_000016699392_Double (1024x683).jpg"/>
          <p:cNvPicPr>
            <a:picLocks noChangeAspect="1" noChangeArrowheads="1"/>
          </p:cNvPicPr>
          <p:nvPr/>
        </p:nvPicPr>
        <p:blipFill>
          <a:blip r:embed="rId3">
            <a:extLst>
              <a:ext uri="{28A0092B-C50C-407E-A947-70E740481C1C}">
                <a14:useLocalDpi xmlns:a14="http://schemas.microsoft.com/office/drawing/2010/main" val="0"/>
              </a:ext>
            </a:extLst>
          </a:blip>
          <a:srcRect r="5885"/>
          <a:stretch>
            <a:fillRect/>
          </a:stretch>
        </p:blipFill>
        <p:spPr bwMode="auto">
          <a:xfrm>
            <a:off x="4355181" y="58396"/>
            <a:ext cx="6156443" cy="4363585"/>
          </a:xfrm>
          <a:prstGeom prst="rect">
            <a:avLst/>
          </a:prstGeom>
          <a:noFill/>
          <a:ln>
            <a:noFill/>
          </a:ln>
          <a:effectLst>
            <a:outerShdw blurRad="63500" algn="tl" rotWithShape="0">
              <a:srgbClr val="000000">
                <a:alpha val="70000"/>
              </a:srgb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Titel 1"/>
          <p:cNvSpPr txBox="1">
            <a:spLocks/>
          </p:cNvSpPr>
          <p:nvPr/>
        </p:nvSpPr>
        <p:spPr bwMode="auto">
          <a:xfrm>
            <a:off x="1524003" y="4421981"/>
            <a:ext cx="8987621" cy="998538"/>
          </a:xfrm>
          <a:prstGeom prst="rect">
            <a:avLst/>
          </a:prstGeom>
          <a:noFill/>
          <a:ln w="9525">
            <a:noFill/>
            <a:miter lim="800000"/>
            <a:headEnd/>
            <a:tailEnd/>
          </a:ln>
        </p:spPr>
        <p:txBody>
          <a:bodyPr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r" eaLnBrk="1" hangingPunct="1">
              <a:defRPr/>
            </a:pPr>
            <a:r>
              <a:rPr lang="en-US" sz="4400"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rPr>
              <a:t>Persoonlijke </a:t>
            </a:r>
            <a:r>
              <a:rPr lang="en-US" sz="4400" b="1" i="1" spc="50" dirty="0" err="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rPr>
              <a:t>Waarden</a:t>
            </a:r>
            <a:endParaRPr lang="nl-NL" sz="4400"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endParaRPr>
          </a:p>
        </p:txBody>
      </p:sp>
      <p:sp>
        <p:nvSpPr>
          <p:cNvPr id="6" name="Ondertitel 2"/>
          <p:cNvSpPr>
            <a:spLocks noGrp="1"/>
          </p:cNvSpPr>
          <p:nvPr>
            <p:ph type="subTitle" idx="1"/>
          </p:nvPr>
        </p:nvSpPr>
        <p:spPr>
          <a:xfrm>
            <a:off x="1524003" y="5278438"/>
            <a:ext cx="8987621" cy="914400"/>
          </a:xfrm>
        </p:spPr>
        <p:txBody>
          <a:bodyPr/>
          <a:lstStyle/>
          <a:p>
            <a:pPr marL="36513" algn="r" eaLnBrk="1" hangingPunct="1">
              <a:spcBef>
                <a:spcPct val="0"/>
              </a:spcBef>
              <a:defRPr/>
            </a:pPr>
            <a:r>
              <a:rPr lang="nl-NL"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Frutiger LT Std 45 Light" panose="020B0402020204020204" pitchFamily="34" charset="0"/>
                <a:ea typeface="+mn-ea"/>
                <a:cs typeface="Arial" pitchFamily="34" charset="0"/>
              </a:rPr>
              <a:t>CERTIFICATIE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9820" y="237920"/>
            <a:ext cx="6036807" cy="5258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7"/>
          <p:cNvSpPr/>
          <p:nvPr/>
        </p:nvSpPr>
        <p:spPr>
          <a:xfrm>
            <a:off x="386705" y="3153550"/>
            <a:ext cx="5115582" cy="1446550"/>
          </a:xfrm>
          <a:prstGeom prst="rect">
            <a:avLst/>
          </a:prstGeom>
          <a:noFill/>
        </p:spPr>
        <p:txBody>
          <a:bodyPr wrap="square" anchor="t">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defRPr/>
            </a:pPr>
            <a:r>
              <a:rPr lang="en-US" sz="4400"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a:ea typeface="ＭＳ Ｐゴシック"/>
              </a:rPr>
              <a:t>Roy Ramdjanamsingh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63167"/>
            <a:ext cx="8229600" cy="869587"/>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rPr>
              <a:t>Agenda</a:t>
            </a:r>
          </a:p>
        </p:txBody>
      </p:sp>
      <p:sp>
        <p:nvSpPr>
          <p:cNvPr id="3" name="Content Placeholder 2"/>
          <p:cNvSpPr>
            <a:spLocks noGrp="1"/>
          </p:cNvSpPr>
          <p:nvPr>
            <p:ph idx="1"/>
          </p:nvPr>
        </p:nvSpPr>
        <p:spPr>
          <a:xfrm>
            <a:off x="1054167" y="1300803"/>
            <a:ext cx="8229600" cy="4256393"/>
          </a:xfrm>
        </p:spPr>
        <p:txBody>
          <a:bodyPr/>
          <a:lstStyle/>
          <a:p>
            <a:r>
              <a:rPr lang="en-US" sz="2800" dirty="0">
                <a:solidFill>
                  <a:srgbClr val="36383E"/>
                </a:solidFill>
                <a:latin typeface="Frutiger LT Std 45 Light"/>
              </a:rPr>
              <a:t>09.30</a:t>
            </a:r>
            <a:r>
              <a:rPr lang="en-US" sz="2800" baseline="30000" dirty="0">
                <a:solidFill>
                  <a:srgbClr val="36383E"/>
                </a:solidFill>
                <a:latin typeface="Frutiger LT Std 45 Light"/>
              </a:rPr>
              <a:t>	</a:t>
            </a:r>
            <a:r>
              <a:rPr lang="en-US" sz="2800" dirty="0" err="1">
                <a:solidFill>
                  <a:srgbClr val="36383E"/>
                </a:solidFill>
                <a:latin typeface="Frutiger LT Std 45 Light"/>
              </a:rPr>
              <a:t>Introductie</a:t>
            </a:r>
            <a:r>
              <a:rPr lang="en-US" sz="2800" dirty="0">
                <a:solidFill>
                  <a:srgbClr val="36383E"/>
                </a:solidFill>
                <a:latin typeface="Frutiger LT Std 45 Light"/>
              </a:rPr>
              <a:t> en </a:t>
            </a:r>
            <a:r>
              <a:rPr lang="en-US" sz="2800" dirty="0" err="1">
                <a:solidFill>
                  <a:srgbClr val="36383E"/>
                </a:solidFill>
                <a:latin typeface="Frutiger LT Std 45 Light"/>
              </a:rPr>
              <a:t>kennismaking</a:t>
            </a:r>
            <a:endParaRPr lang="en-US" sz="2800" dirty="0">
              <a:solidFill>
                <a:srgbClr val="36383E"/>
              </a:solidFill>
              <a:latin typeface="Frutiger LT Std 45 Light"/>
            </a:endParaRPr>
          </a:p>
          <a:p>
            <a:r>
              <a:rPr lang="en-US" sz="2800" dirty="0">
                <a:solidFill>
                  <a:srgbClr val="36383E"/>
                </a:solidFill>
                <a:latin typeface="Frutiger LT Std 45 Light"/>
              </a:rPr>
              <a:t>10.00	</a:t>
            </a:r>
            <a:r>
              <a:rPr lang="en-US" sz="2800" dirty="0" err="1">
                <a:solidFill>
                  <a:srgbClr val="36383E"/>
                </a:solidFill>
                <a:latin typeface="Frutiger LT Std 45 Light"/>
              </a:rPr>
              <a:t>Inleiding</a:t>
            </a:r>
            <a:r>
              <a:rPr lang="en-US" sz="2800" dirty="0">
                <a:solidFill>
                  <a:srgbClr val="36383E"/>
                </a:solidFill>
                <a:latin typeface="Frutiger LT Std 45 Light"/>
              </a:rPr>
              <a:t> </a:t>
            </a:r>
            <a:r>
              <a:rPr lang="en-US" sz="2800" dirty="0" err="1">
                <a:solidFill>
                  <a:srgbClr val="36383E"/>
                </a:solidFill>
                <a:latin typeface="Frutiger LT Std 45 Light"/>
              </a:rPr>
              <a:t>Theorie</a:t>
            </a:r>
            <a:r>
              <a:rPr lang="en-US" sz="2800" dirty="0">
                <a:solidFill>
                  <a:srgbClr val="36383E"/>
                </a:solidFill>
                <a:latin typeface="Frutiger LT Std 45 Light"/>
              </a:rPr>
              <a:t> </a:t>
            </a:r>
            <a:r>
              <a:rPr lang="en-US" sz="2800" dirty="0" err="1">
                <a:solidFill>
                  <a:srgbClr val="36383E"/>
                </a:solidFill>
                <a:latin typeface="Frutiger LT Std 45 Light"/>
              </a:rPr>
              <a:t>Waarden</a:t>
            </a:r>
            <a:r>
              <a:rPr lang="en-US" sz="2800" dirty="0">
                <a:solidFill>
                  <a:srgbClr val="36383E"/>
                </a:solidFill>
                <a:latin typeface="Frutiger LT Std 45 Light"/>
              </a:rPr>
              <a:t> concept 1 t/m 4</a:t>
            </a:r>
          </a:p>
          <a:p>
            <a:r>
              <a:rPr lang="en-US" sz="2800" dirty="0">
                <a:solidFill>
                  <a:srgbClr val="36383E"/>
                </a:solidFill>
                <a:latin typeface="Frutiger LT Std 45 Light"/>
              </a:rPr>
              <a:t>11.50	Korte break</a:t>
            </a:r>
          </a:p>
          <a:p>
            <a:r>
              <a:rPr lang="en-US" sz="2800" dirty="0">
                <a:solidFill>
                  <a:srgbClr val="36383E"/>
                </a:solidFill>
                <a:latin typeface="Frutiger LT Std 45 Light"/>
              </a:rPr>
              <a:t>12.00	Q4 Persoonlijke </a:t>
            </a:r>
            <a:r>
              <a:rPr lang="en-US" sz="2800" dirty="0" err="1">
                <a:solidFill>
                  <a:srgbClr val="36383E"/>
                </a:solidFill>
                <a:latin typeface="Frutiger LT Std 45 Light"/>
              </a:rPr>
              <a:t>Stijl</a:t>
            </a:r>
            <a:r>
              <a:rPr lang="en-US" sz="2800" dirty="0">
                <a:solidFill>
                  <a:srgbClr val="36383E"/>
                </a:solidFill>
                <a:latin typeface="Frutiger LT Std 45 Light"/>
              </a:rPr>
              <a:t> </a:t>
            </a:r>
            <a:r>
              <a:rPr lang="en-US" sz="2800" dirty="0" err="1">
                <a:solidFill>
                  <a:srgbClr val="36383E"/>
                </a:solidFill>
                <a:latin typeface="Frutiger LT Std 45 Light"/>
              </a:rPr>
              <a:t>Profiel</a:t>
            </a:r>
            <a:r>
              <a:rPr lang="en-US" sz="2800" dirty="0">
                <a:solidFill>
                  <a:srgbClr val="36383E"/>
                </a:solidFill>
                <a:latin typeface="Frutiger LT Std 45 Light"/>
              </a:rPr>
              <a:t> </a:t>
            </a:r>
          </a:p>
          <a:p>
            <a:pPr lvl="4"/>
            <a:r>
              <a:rPr lang="en-US" sz="2800" dirty="0">
                <a:solidFill>
                  <a:srgbClr val="36383E"/>
                </a:solidFill>
                <a:latin typeface="Frutiger LT Std 45 Light"/>
              </a:rPr>
              <a:t>De </a:t>
            </a:r>
            <a:r>
              <a:rPr lang="en-US" sz="2800" dirty="0" err="1">
                <a:solidFill>
                  <a:srgbClr val="36383E"/>
                </a:solidFill>
                <a:latin typeface="Frutiger LT Std 45 Light"/>
              </a:rPr>
              <a:t>hoofdstukken</a:t>
            </a:r>
            <a:endParaRPr lang="en-US" sz="2800" dirty="0">
              <a:solidFill>
                <a:srgbClr val="36383E"/>
              </a:solidFill>
              <a:latin typeface="Frutiger LT Std 45 Light"/>
            </a:endParaRPr>
          </a:p>
          <a:p>
            <a:pPr lvl="4"/>
            <a:r>
              <a:rPr lang="en-US" sz="2800" dirty="0" err="1">
                <a:solidFill>
                  <a:srgbClr val="36383E"/>
                </a:solidFill>
                <a:latin typeface="Frutiger LT Std 45 Light"/>
              </a:rPr>
              <a:t>Opbouw</a:t>
            </a:r>
            <a:r>
              <a:rPr lang="en-US" sz="2800" dirty="0">
                <a:solidFill>
                  <a:srgbClr val="36383E"/>
                </a:solidFill>
                <a:latin typeface="Frutiger LT Std 45 Light"/>
              </a:rPr>
              <a:t> </a:t>
            </a:r>
            <a:r>
              <a:rPr lang="en-US" sz="2800" dirty="0" err="1">
                <a:solidFill>
                  <a:srgbClr val="36383E"/>
                </a:solidFill>
                <a:latin typeface="Frutiger LT Std 45 Light"/>
              </a:rPr>
              <a:t>grafiek</a:t>
            </a:r>
            <a:endParaRPr lang="en-US" sz="2800" dirty="0">
              <a:solidFill>
                <a:srgbClr val="36383E"/>
              </a:solidFill>
              <a:latin typeface="Frutiger LT Std 45 Light"/>
            </a:endParaRPr>
          </a:p>
          <a:p>
            <a:pPr lvl="4"/>
            <a:r>
              <a:rPr lang="en-US" sz="2800" dirty="0" err="1">
                <a:solidFill>
                  <a:srgbClr val="36383E"/>
                </a:solidFill>
                <a:latin typeface="Frutiger LT Std 45 Light"/>
              </a:rPr>
              <a:t>Speciale</a:t>
            </a:r>
            <a:r>
              <a:rPr lang="en-US" sz="2800" dirty="0">
                <a:solidFill>
                  <a:srgbClr val="36383E"/>
                </a:solidFill>
                <a:latin typeface="Frutiger LT Std 45 Light"/>
              </a:rPr>
              <a:t> </a:t>
            </a:r>
            <a:r>
              <a:rPr lang="en-US" sz="2800" dirty="0" err="1">
                <a:solidFill>
                  <a:srgbClr val="36383E"/>
                </a:solidFill>
                <a:latin typeface="Frutiger LT Std 45 Light"/>
              </a:rPr>
              <a:t>grafieken</a:t>
            </a:r>
            <a:endParaRPr lang="en-US" sz="2800" dirty="0">
              <a:solidFill>
                <a:srgbClr val="36383E"/>
              </a:solidFill>
              <a:latin typeface="Frutiger LT Std 45 Light"/>
            </a:endParaRPr>
          </a:p>
          <a:p>
            <a:pPr lvl="4"/>
            <a:r>
              <a:rPr lang="en-US" sz="2800" dirty="0">
                <a:solidFill>
                  <a:srgbClr val="36383E"/>
                </a:solidFill>
                <a:latin typeface="Frutiger LT Std 45 Light"/>
              </a:rPr>
              <a:t>DISC </a:t>
            </a:r>
            <a:r>
              <a:rPr lang="en-US" sz="2800" dirty="0" err="1">
                <a:solidFill>
                  <a:srgbClr val="36383E"/>
                </a:solidFill>
                <a:latin typeface="Frutiger LT Std 45 Light"/>
              </a:rPr>
              <a:t>Hoog</a:t>
            </a:r>
            <a:r>
              <a:rPr lang="en-US" sz="2800" dirty="0">
                <a:solidFill>
                  <a:srgbClr val="36383E"/>
                </a:solidFill>
                <a:latin typeface="Frutiger LT Std 45 Light"/>
              </a:rPr>
              <a:t> </a:t>
            </a:r>
            <a:r>
              <a:rPr lang="en-US" sz="2800" dirty="0" err="1">
                <a:solidFill>
                  <a:srgbClr val="36383E"/>
                </a:solidFill>
                <a:latin typeface="Frutiger LT Std 45 Light"/>
              </a:rPr>
              <a:t>Laag</a:t>
            </a:r>
            <a:r>
              <a:rPr lang="en-US" sz="2800" dirty="0">
                <a:solidFill>
                  <a:srgbClr val="36383E"/>
                </a:solidFill>
                <a:latin typeface="Frutiger LT Std 45 Light"/>
              </a:rPr>
              <a:t> - </a:t>
            </a:r>
            <a:r>
              <a:rPr lang="en-US" sz="2800" dirty="0" err="1">
                <a:solidFill>
                  <a:srgbClr val="36383E"/>
                </a:solidFill>
                <a:latin typeface="Frutiger LT Std 45 Light"/>
              </a:rPr>
              <a:t>Grafiek</a:t>
            </a:r>
            <a:r>
              <a:rPr lang="en-US" sz="2800" dirty="0">
                <a:solidFill>
                  <a:srgbClr val="36383E"/>
                </a:solidFill>
                <a:latin typeface="Frutiger LT Std 45 Light"/>
              </a:rPr>
              <a:t> </a:t>
            </a:r>
            <a:r>
              <a:rPr lang="en-US" sz="2800" dirty="0">
                <a:solidFill>
                  <a:srgbClr val="36383E"/>
                </a:solidFill>
                <a:latin typeface="Frutiger LT Std 45 Light"/>
                <a:cs typeface="Times New Roman"/>
              </a:rPr>
              <a:t>I</a:t>
            </a:r>
            <a:r>
              <a:rPr lang="en-US" sz="2800" dirty="0">
                <a:solidFill>
                  <a:srgbClr val="36383E"/>
                </a:solidFill>
                <a:latin typeface="Frutiger LT Std 45 Light"/>
              </a:rPr>
              <a:t> en </a:t>
            </a:r>
            <a:r>
              <a:rPr lang="en-US" sz="2800" dirty="0">
                <a:solidFill>
                  <a:srgbClr val="36383E"/>
                </a:solidFill>
                <a:latin typeface="Frutiger LT Std 45 Light"/>
                <a:cs typeface="Times New Roman"/>
              </a:rPr>
              <a:t>II</a:t>
            </a:r>
            <a:endParaRPr lang="en-US" sz="2800" dirty="0">
              <a:solidFill>
                <a:srgbClr val="36383E"/>
              </a:solidFill>
              <a:latin typeface="Frutiger LT Std 45 Light"/>
            </a:endParaRPr>
          </a:p>
          <a:p>
            <a:r>
              <a:rPr lang="en-US" sz="2800" dirty="0">
                <a:solidFill>
                  <a:srgbClr val="36383E"/>
                </a:solidFill>
                <a:latin typeface="Frutiger LT Std 45 Light"/>
              </a:rPr>
              <a:t>13.00	Lunch</a:t>
            </a:r>
            <a:endParaRPr lang="en-US" dirty="0">
              <a:solidFill>
                <a:srgbClr val="36383E"/>
              </a:solidFill>
              <a:latin typeface="Bahnschrift Light" panose="020B0502040204020203" pitchFamily="34" charset="0"/>
            </a:endParaRPr>
          </a:p>
        </p:txBody>
      </p:sp>
    </p:spTree>
    <p:extLst>
      <p:ext uri="{BB962C8B-B14F-4D97-AF65-F5344CB8AC3E}">
        <p14:creationId xmlns:p14="http://schemas.microsoft.com/office/powerpoint/2010/main" val="240351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63167"/>
            <a:ext cx="8229600" cy="869587"/>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rPr>
              <a:t>Agenda</a:t>
            </a:r>
          </a:p>
        </p:txBody>
      </p:sp>
      <p:sp>
        <p:nvSpPr>
          <p:cNvPr id="3" name="Content Placeholder 2"/>
          <p:cNvSpPr>
            <a:spLocks noGrp="1"/>
          </p:cNvSpPr>
          <p:nvPr>
            <p:ph idx="1"/>
          </p:nvPr>
        </p:nvSpPr>
        <p:spPr>
          <a:xfrm>
            <a:off x="1171903" y="1300803"/>
            <a:ext cx="8229600" cy="4256393"/>
          </a:xfrm>
        </p:spPr>
        <p:txBody>
          <a:bodyPr anchor="t" anchorCtr="0"/>
          <a:lstStyle/>
          <a:p>
            <a:r>
              <a:rPr lang="en-US" sz="2800" dirty="0">
                <a:solidFill>
                  <a:srgbClr val="36383E"/>
                </a:solidFill>
                <a:latin typeface="Frutiger LT Std 45 Light"/>
              </a:rPr>
              <a:t>14.00</a:t>
            </a:r>
            <a:r>
              <a:rPr lang="en-US" sz="2800" baseline="30000" dirty="0">
                <a:solidFill>
                  <a:srgbClr val="36383E"/>
                </a:solidFill>
                <a:latin typeface="Frutiger LT Std 45 Light"/>
              </a:rPr>
              <a:t>	</a:t>
            </a:r>
            <a:r>
              <a:rPr lang="en-US" sz="2800" dirty="0">
                <a:solidFill>
                  <a:srgbClr val="36383E"/>
                </a:solidFill>
                <a:latin typeface="Frutiger LT Std 45 Light"/>
              </a:rPr>
              <a:t> Breakout </a:t>
            </a:r>
            <a:r>
              <a:rPr lang="en-US" sz="2800" dirty="0" err="1">
                <a:solidFill>
                  <a:srgbClr val="36383E"/>
                </a:solidFill>
                <a:latin typeface="Frutiger LT Std 45 Light"/>
              </a:rPr>
              <a:t>sessie</a:t>
            </a:r>
            <a:r>
              <a:rPr lang="en-US" sz="2800" dirty="0">
                <a:solidFill>
                  <a:srgbClr val="36383E"/>
                </a:solidFill>
                <a:latin typeface="Frutiger LT Std 45 Light"/>
              </a:rPr>
              <a:t> 1 </a:t>
            </a:r>
            <a:r>
              <a:rPr lang="en-US" sz="2800" dirty="0" err="1">
                <a:solidFill>
                  <a:srgbClr val="36383E"/>
                </a:solidFill>
                <a:latin typeface="Frutiger LT Std 45 Light"/>
              </a:rPr>
              <a:t>Grafiek</a:t>
            </a:r>
            <a:r>
              <a:rPr lang="en-US" sz="2800" dirty="0">
                <a:solidFill>
                  <a:srgbClr val="36383E"/>
                </a:solidFill>
                <a:latin typeface="Frutiger LT Std 45 Light"/>
              </a:rPr>
              <a:t> </a:t>
            </a:r>
            <a:r>
              <a:rPr lang="en-US" sz="2800" dirty="0" err="1">
                <a:solidFill>
                  <a:srgbClr val="36383E"/>
                </a:solidFill>
                <a:latin typeface="Frutiger LT Std 45 Light"/>
              </a:rPr>
              <a:t>lezen</a:t>
            </a:r>
            <a:endParaRPr lang="en-US" sz="2800" dirty="0">
              <a:solidFill>
                <a:srgbClr val="36383E"/>
              </a:solidFill>
              <a:latin typeface="Frutiger LT Std 45 Light"/>
              <a:cs typeface="Times New Roman"/>
            </a:endParaRPr>
          </a:p>
          <a:p>
            <a:r>
              <a:rPr lang="en-US" sz="2800" dirty="0">
                <a:solidFill>
                  <a:srgbClr val="36383E"/>
                </a:solidFill>
                <a:latin typeface="Frutiger LT Std 45 Light"/>
              </a:rPr>
              <a:t>14.50</a:t>
            </a:r>
            <a:r>
              <a:rPr lang="en-US" sz="2800" baseline="30000" dirty="0">
                <a:solidFill>
                  <a:srgbClr val="36383E"/>
                </a:solidFill>
                <a:latin typeface="Frutiger LT Std 45 Light"/>
              </a:rPr>
              <a:t>	</a:t>
            </a:r>
            <a:r>
              <a:rPr lang="en-US" sz="2800" dirty="0">
                <a:solidFill>
                  <a:srgbClr val="36383E"/>
                </a:solidFill>
                <a:latin typeface="Frutiger LT Std 45 Light"/>
              </a:rPr>
              <a:t> Korte break</a:t>
            </a:r>
          </a:p>
          <a:p>
            <a:r>
              <a:rPr lang="en-US" sz="2800" dirty="0">
                <a:solidFill>
                  <a:srgbClr val="36383E"/>
                </a:solidFill>
                <a:latin typeface="Frutiger LT Std 45 Light"/>
              </a:rPr>
              <a:t>15.00	 Breakout </a:t>
            </a:r>
            <a:r>
              <a:rPr lang="en-US" sz="2800" dirty="0" err="1">
                <a:solidFill>
                  <a:srgbClr val="36383E"/>
                </a:solidFill>
                <a:latin typeface="Frutiger LT Std 45 Light"/>
              </a:rPr>
              <a:t>sessie</a:t>
            </a:r>
            <a:r>
              <a:rPr lang="en-US" sz="2800" dirty="0">
                <a:solidFill>
                  <a:srgbClr val="36383E"/>
                </a:solidFill>
                <a:latin typeface="Frutiger LT Std 45 Light"/>
              </a:rPr>
              <a:t> 2 </a:t>
            </a:r>
            <a:r>
              <a:rPr lang="en-US" sz="2800" dirty="0" err="1">
                <a:solidFill>
                  <a:srgbClr val="36383E"/>
                </a:solidFill>
                <a:latin typeface="Frutiger LT Std 45 Light"/>
              </a:rPr>
              <a:t>Studie</a:t>
            </a:r>
            <a:r>
              <a:rPr lang="en-US" sz="2800" dirty="0">
                <a:solidFill>
                  <a:srgbClr val="36383E"/>
                </a:solidFill>
                <a:latin typeface="Frutiger LT Std 45 Light"/>
              </a:rPr>
              <a:t> case en </a:t>
            </a:r>
            <a:r>
              <a:rPr lang="en-US" sz="2800" dirty="0" err="1">
                <a:solidFill>
                  <a:srgbClr val="36383E"/>
                </a:solidFill>
                <a:latin typeface="Frutiger LT Std 45 Light"/>
              </a:rPr>
              <a:t>evaluatie</a:t>
            </a:r>
            <a:endParaRPr lang="en-US" sz="2800" dirty="0">
              <a:solidFill>
                <a:srgbClr val="36383E"/>
              </a:solidFill>
              <a:latin typeface="Frutiger LT Std 45 Light"/>
            </a:endParaRPr>
          </a:p>
          <a:p>
            <a:r>
              <a:rPr lang="en-US" sz="2800" dirty="0">
                <a:solidFill>
                  <a:srgbClr val="36383E"/>
                </a:solidFill>
                <a:latin typeface="Frutiger LT Std 45 Light"/>
              </a:rPr>
              <a:t>15.50</a:t>
            </a:r>
            <a:r>
              <a:rPr lang="en-US" sz="2800" baseline="30000" dirty="0">
                <a:solidFill>
                  <a:srgbClr val="36383E"/>
                </a:solidFill>
                <a:latin typeface="Frutiger LT Std 45 Light"/>
              </a:rPr>
              <a:t>	</a:t>
            </a:r>
            <a:r>
              <a:rPr lang="en-US" sz="2800" dirty="0">
                <a:solidFill>
                  <a:srgbClr val="36383E"/>
                </a:solidFill>
                <a:latin typeface="Frutiger LT Std 45 Light"/>
              </a:rPr>
              <a:t> Korte break</a:t>
            </a:r>
          </a:p>
          <a:p>
            <a:r>
              <a:rPr lang="en-US" sz="2800" dirty="0">
                <a:solidFill>
                  <a:srgbClr val="36383E"/>
                </a:solidFill>
                <a:latin typeface="Frutiger LT Std 45 Light"/>
              </a:rPr>
              <a:t>16.00</a:t>
            </a:r>
            <a:r>
              <a:rPr lang="en-US" sz="2800" baseline="30000" dirty="0">
                <a:solidFill>
                  <a:srgbClr val="36383E"/>
                </a:solidFill>
                <a:latin typeface="Frutiger LT Std 45 Light"/>
              </a:rPr>
              <a:t>	</a:t>
            </a:r>
            <a:r>
              <a:rPr lang="en-US" sz="2800" dirty="0">
                <a:solidFill>
                  <a:srgbClr val="36383E"/>
                </a:solidFill>
                <a:latin typeface="Frutiger LT Std 45 Light"/>
              </a:rPr>
              <a:t> </a:t>
            </a:r>
            <a:r>
              <a:rPr lang="en-US" sz="2800" dirty="0" err="1">
                <a:solidFill>
                  <a:srgbClr val="36383E"/>
                </a:solidFill>
                <a:latin typeface="Frutiger LT Std 45 Light"/>
              </a:rPr>
              <a:t>Uitloop</a:t>
            </a:r>
            <a:r>
              <a:rPr lang="en-US" sz="2800" dirty="0">
                <a:solidFill>
                  <a:srgbClr val="36383E"/>
                </a:solidFill>
                <a:latin typeface="Frutiger LT Std 45 Light"/>
              </a:rPr>
              <a:t> – </a:t>
            </a:r>
            <a:r>
              <a:rPr lang="en-US" sz="2800" dirty="0" err="1">
                <a:solidFill>
                  <a:srgbClr val="36383E"/>
                </a:solidFill>
                <a:latin typeface="Frutiger LT Std 45 Light"/>
              </a:rPr>
              <a:t>vragen</a:t>
            </a:r>
            <a:r>
              <a:rPr lang="en-US" sz="2800" dirty="0">
                <a:solidFill>
                  <a:srgbClr val="36383E"/>
                </a:solidFill>
                <a:latin typeface="Frutiger LT Std 45 Light"/>
              </a:rPr>
              <a:t>?</a:t>
            </a:r>
          </a:p>
          <a:p>
            <a:r>
              <a:rPr lang="en-US" sz="2800" dirty="0">
                <a:solidFill>
                  <a:srgbClr val="36383E"/>
                </a:solidFill>
                <a:latin typeface="Frutiger LT Std 45 Light"/>
              </a:rPr>
              <a:t>17.00	 </a:t>
            </a:r>
            <a:r>
              <a:rPr lang="en-US" sz="2800" dirty="0" err="1">
                <a:solidFill>
                  <a:srgbClr val="36383E"/>
                </a:solidFill>
                <a:latin typeface="Frutiger LT Std 45 Light"/>
              </a:rPr>
              <a:t>Afsluiting</a:t>
            </a:r>
            <a:endParaRPr lang="en-US" sz="2800" dirty="0">
              <a:solidFill>
                <a:srgbClr val="36383E"/>
              </a:solidFill>
              <a:latin typeface="Frutiger LT Std 45 Light"/>
            </a:endParaRPr>
          </a:p>
          <a:p>
            <a:endParaRPr lang="en-US" dirty="0">
              <a:solidFill>
                <a:srgbClr val="36383E"/>
              </a:solidFill>
            </a:endParaRPr>
          </a:p>
          <a:p>
            <a:endParaRPr lang="en-US" dirty="0">
              <a:solidFill>
                <a:srgbClr val="36383E"/>
              </a:solidFill>
            </a:endParaRPr>
          </a:p>
          <a:p>
            <a:endParaRPr lang="en-US" dirty="0">
              <a:solidFill>
                <a:srgbClr val="36383E"/>
              </a:solidFill>
            </a:endParaRPr>
          </a:p>
        </p:txBody>
      </p:sp>
    </p:spTree>
    <p:extLst>
      <p:ext uri="{BB962C8B-B14F-4D97-AF65-F5344CB8AC3E}">
        <p14:creationId xmlns:p14="http://schemas.microsoft.com/office/powerpoint/2010/main" val="2892452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b="1" i="1" dirty="0">
                <a:ln>
                  <a:solidFill>
                    <a:schemeClr val="bg1"/>
                  </a:solidFill>
                </a:ln>
                <a:solidFill>
                  <a:srgbClr val="C00000"/>
                </a:solidFill>
                <a:effectLst>
                  <a:outerShdw blurRad="50800" dist="38100" dir="2700000" algn="tl" rotWithShape="0">
                    <a:prstClr val="black">
                      <a:alpha val="40000"/>
                    </a:prstClr>
                  </a:outerShdw>
                </a:effectLst>
                <a:latin typeface="Frutiger LT Std 45 Light" panose="020B0402020204020204" pitchFamily="34" charset="0"/>
              </a:rPr>
              <a:t>De vijf concepten</a:t>
            </a:r>
          </a:p>
        </p:txBody>
      </p:sp>
      <p:sp>
        <p:nvSpPr>
          <p:cNvPr id="3" name="Tijdelijke aanduiding voor inhoud 2"/>
          <p:cNvSpPr>
            <a:spLocks noGrp="1"/>
          </p:cNvSpPr>
          <p:nvPr>
            <p:ph idx="1"/>
          </p:nvPr>
        </p:nvSpPr>
        <p:spPr>
          <a:xfrm>
            <a:off x="609600" y="1807149"/>
            <a:ext cx="10972800" cy="4525963"/>
          </a:xfrm>
        </p:spPr>
        <p:txBody>
          <a:bodyPr/>
          <a:lstStyle/>
          <a:p>
            <a:pPr marL="514350" indent="-514350">
              <a:buFont typeface="+mj-lt"/>
              <a:buAutoNum type="arabicPeriod"/>
            </a:pPr>
            <a:r>
              <a:rPr lang="nl-NL" sz="2800" dirty="0">
                <a:solidFill>
                  <a:srgbClr val="36383E"/>
                </a:solidFill>
                <a:latin typeface="Frutiger LT Std 45 Light"/>
              </a:rPr>
              <a:t>Gewoontes</a:t>
            </a:r>
          </a:p>
          <a:p>
            <a:pPr marL="514350" indent="-514350">
              <a:buAutoNum type="arabicPeriod"/>
            </a:pPr>
            <a:r>
              <a:rPr lang="nl-NL" sz="2800" dirty="0">
                <a:solidFill>
                  <a:srgbClr val="36383E"/>
                </a:solidFill>
                <a:latin typeface="Frutiger LT Std 45 Light"/>
              </a:rPr>
              <a:t>De twee primaire gedragsstijl dimensies</a:t>
            </a:r>
          </a:p>
          <a:p>
            <a:pPr marL="514350" indent="-514350">
              <a:buAutoNum type="arabicPeriod"/>
            </a:pPr>
            <a:r>
              <a:rPr lang="nl-NL" sz="2800" dirty="0">
                <a:solidFill>
                  <a:srgbClr val="36383E"/>
                </a:solidFill>
                <a:latin typeface="Frutiger LT Std 45 Light"/>
              </a:rPr>
              <a:t>Gewenst patroon versus kernpatroon</a:t>
            </a:r>
          </a:p>
          <a:p>
            <a:pPr marL="514350" indent="-514350">
              <a:buAutoNum type="arabicPeriod"/>
            </a:pPr>
            <a:r>
              <a:rPr lang="nl-NL" sz="2800" dirty="0">
                <a:solidFill>
                  <a:srgbClr val="36383E"/>
                </a:solidFill>
                <a:latin typeface="Frutiger LT Std 45 Light"/>
              </a:rPr>
              <a:t>Persoonlijke Stijl ‘gemoedstoestand’</a:t>
            </a:r>
          </a:p>
          <a:p>
            <a:pPr marL="514350" indent="-514350">
              <a:buAutoNum type="arabicPeriod"/>
            </a:pPr>
            <a:r>
              <a:rPr lang="nl-NL" sz="2800" dirty="0">
                <a:solidFill>
                  <a:srgbClr val="36383E"/>
                </a:solidFill>
                <a:latin typeface="Frutiger LT Std 45 Light"/>
              </a:rPr>
              <a:t>Persoonlijke Stijl &amp; prestaties</a:t>
            </a:r>
            <a:endParaRPr lang="nl-NL" dirty="0">
              <a:solidFill>
                <a:srgbClr val="36383E"/>
              </a:solidFill>
              <a:latin typeface="Frutiger LT Std 45 Light"/>
            </a:endParaRPr>
          </a:p>
          <a:p>
            <a:pPr marL="514350" indent="-514350">
              <a:buAutoNum type="arabicPlain" startAt="2"/>
            </a:pPr>
            <a:endParaRPr lang="nl-NL" dirty="0">
              <a:solidFill>
                <a:srgbClr val="36383E"/>
              </a:solidFill>
              <a:latin typeface="Frutiger LT Std 45 Light"/>
            </a:endParaRPr>
          </a:p>
        </p:txBody>
      </p:sp>
    </p:spTree>
    <p:extLst>
      <p:ext uri="{BB962C8B-B14F-4D97-AF65-F5344CB8AC3E}">
        <p14:creationId xmlns:p14="http://schemas.microsoft.com/office/powerpoint/2010/main" val="1727623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94A138-3382-47E3-8301-D7F76F0BF524}"/>
              </a:ext>
            </a:extLst>
          </p:cNvPr>
          <p:cNvSpPr>
            <a:spLocks noGrp="1"/>
          </p:cNvSpPr>
          <p:nvPr>
            <p:ph type="title"/>
          </p:nvPr>
        </p:nvSpPr>
        <p:spPr/>
        <p:txBody>
          <a:bodyPr/>
          <a:lstStyle/>
          <a:p>
            <a:endParaRPr lang="nl-NL" dirty="0"/>
          </a:p>
        </p:txBody>
      </p:sp>
      <p:sp>
        <p:nvSpPr>
          <p:cNvPr id="5" name="Tijdelijke aanduiding voor inhoud 4">
            <a:extLst>
              <a:ext uri="{FF2B5EF4-FFF2-40B4-BE49-F238E27FC236}">
                <a16:creationId xmlns:a16="http://schemas.microsoft.com/office/drawing/2014/main" id="{13897194-49AF-414C-91F9-94654D492BD3}"/>
              </a:ext>
            </a:extLst>
          </p:cNvPr>
          <p:cNvSpPr>
            <a:spLocks noGrp="1"/>
          </p:cNvSpPr>
          <p:nvPr>
            <p:ph idx="1"/>
          </p:nvPr>
        </p:nvSpPr>
        <p:spPr/>
        <p:txBody>
          <a:bodyPr/>
          <a:lstStyle/>
          <a:p>
            <a:endParaRPr lang="nl-NL"/>
          </a:p>
        </p:txBody>
      </p:sp>
    </p:spTree>
    <p:extLst>
      <p:ext uri="{BB962C8B-B14F-4D97-AF65-F5344CB8AC3E}">
        <p14:creationId xmlns:p14="http://schemas.microsoft.com/office/powerpoint/2010/main" val="2480295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Ondertitel 2"/>
          <p:cNvSpPr>
            <a:spLocks noGrp="1"/>
          </p:cNvSpPr>
          <p:nvPr>
            <p:ph type="subTitle" idx="1"/>
          </p:nvPr>
        </p:nvSpPr>
        <p:spPr>
          <a:xfrm>
            <a:off x="2209800" y="3772511"/>
            <a:ext cx="7772400" cy="914400"/>
          </a:xfrm>
        </p:spPr>
        <p:txBody>
          <a:bodyPr/>
          <a:lstStyle/>
          <a:p>
            <a:pPr marL="36195" eaLnBrk="1" hangingPunct="1">
              <a:spcBef>
                <a:spcPct val="0"/>
              </a:spcBef>
            </a:pPr>
            <a:r>
              <a:rPr lang="en-US" altLang="nl-NL" sz="4400" b="1" dirty="0" err="1">
                <a:solidFill>
                  <a:srgbClr val="79766F"/>
                </a:solidFill>
                <a:latin typeface="Frutiger LT Std 45 Light"/>
                <a:ea typeface="ＭＳ Ｐゴシック"/>
              </a:rPr>
              <a:t>Overtuigingen</a:t>
            </a:r>
            <a:r>
              <a:rPr lang="en-US" altLang="nl-NL" sz="4400" b="1" dirty="0">
                <a:solidFill>
                  <a:srgbClr val="79766F"/>
                </a:solidFill>
                <a:latin typeface="Frutiger LT Std 45 Light"/>
                <a:ea typeface="ＭＳ Ｐゴシック"/>
              </a:rPr>
              <a:t> en </a:t>
            </a:r>
            <a:r>
              <a:rPr lang="en-US" altLang="nl-NL" sz="4400" b="1" dirty="0" err="1">
                <a:solidFill>
                  <a:srgbClr val="79766F"/>
                </a:solidFill>
                <a:latin typeface="Frutiger LT Std 45 Light"/>
                <a:ea typeface="ＭＳ Ｐゴシック"/>
              </a:rPr>
              <a:t>Waarden</a:t>
            </a:r>
            <a:endParaRPr lang="nl-NL" altLang="nl-NL" sz="4400" b="1" dirty="0">
              <a:solidFill>
                <a:srgbClr val="79766F"/>
              </a:solidFill>
              <a:latin typeface="Frutiger LT Std 45 Light"/>
              <a:ea typeface="ＭＳ Ｐゴシック"/>
            </a:endParaRPr>
          </a:p>
        </p:txBody>
      </p:sp>
      <p:sp>
        <p:nvSpPr>
          <p:cNvPr id="6" name="Ondertitel 2">
            <a:extLst>
              <a:ext uri="{FF2B5EF4-FFF2-40B4-BE49-F238E27FC236}">
                <a16:creationId xmlns:a16="http://schemas.microsoft.com/office/drawing/2014/main" id="{B94CA873-55C2-4345-ABCD-BF8AC8DD9D74}"/>
              </a:ext>
            </a:extLst>
          </p:cNvPr>
          <p:cNvSpPr txBox="1">
            <a:spLocks/>
          </p:cNvSpPr>
          <p:nvPr/>
        </p:nvSpPr>
        <p:spPr bwMode="auto">
          <a:xfrm>
            <a:off x="2159668" y="1600430"/>
            <a:ext cx="7772400" cy="1599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Bef>
                <a:spcPct val="0"/>
              </a:spcBef>
              <a:buNone/>
            </a:pPr>
            <a:r>
              <a:rPr lang="nl-NL" sz="8000"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cs typeface="Arial" charset="0"/>
              </a:rPr>
              <a:t>Concept 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94A138-3382-47E3-8301-D7F76F0BF524}"/>
              </a:ext>
            </a:extLst>
          </p:cNvPr>
          <p:cNvSpPr>
            <a:spLocks noGrp="1"/>
          </p:cNvSpPr>
          <p:nvPr>
            <p:ph type="title"/>
          </p:nvPr>
        </p:nvSpPr>
        <p:spPr/>
        <p:txBody>
          <a:bodyPr/>
          <a:lstStyle/>
          <a:p>
            <a:br>
              <a:rPr lang="nl-NL" dirty="0"/>
            </a:br>
            <a:endParaRPr lang="nl-NL" dirty="0"/>
          </a:p>
        </p:txBody>
      </p:sp>
      <p:sp>
        <p:nvSpPr>
          <p:cNvPr id="10" name="Titel 1">
            <a:extLst>
              <a:ext uri="{FF2B5EF4-FFF2-40B4-BE49-F238E27FC236}">
                <a16:creationId xmlns:a16="http://schemas.microsoft.com/office/drawing/2014/main" id="{F7EF062E-E7F3-407C-B29E-9F9B7CF62C1D}"/>
              </a:ext>
            </a:extLst>
          </p:cNvPr>
          <p:cNvSpPr txBox="1">
            <a:spLocks/>
          </p:cNvSpPr>
          <p:nvPr/>
        </p:nvSpPr>
        <p:spPr bwMode="auto">
          <a:xfrm>
            <a:off x="2004219" y="542926"/>
            <a:ext cx="8183562" cy="714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defRPr/>
            </a:pPr>
            <a:r>
              <a:rPr lang="nl-NL"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cs typeface="Arial" charset="0"/>
              </a:rPr>
              <a:t>Ons zelfbeeld</a:t>
            </a:r>
            <a:endParaRPr lang="nl-NL" dirty="0">
              <a:solidFill>
                <a:srgbClr val="911D20"/>
              </a:solidFill>
              <a:effectLst>
                <a:outerShdw blurRad="38100" dist="38100" dir="2700000" algn="tl">
                  <a:srgbClr val="000000"/>
                </a:outerShdw>
              </a:effectLst>
              <a:latin typeface="Frutiger"/>
              <a:ea typeface="ＭＳ Ｐゴシック"/>
            </a:endParaRPr>
          </a:p>
        </p:txBody>
      </p:sp>
      <p:sp>
        <p:nvSpPr>
          <p:cNvPr id="11" name="Tijdelijke aanduiding voor inhoud 2">
            <a:extLst>
              <a:ext uri="{FF2B5EF4-FFF2-40B4-BE49-F238E27FC236}">
                <a16:creationId xmlns:a16="http://schemas.microsoft.com/office/drawing/2014/main" id="{E4912993-2D71-43CC-B5F6-400F331CA17B}"/>
              </a:ext>
            </a:extLst>
          </p:cNvPr>
          <p:cNvSpPr txBox="1">
            <a:spLocks/>
          </p:cNvSpPr>
          <p:nvPr/>
        </p:nvSpPr>
        <p:spPr bwMode="auto">
          <a:xfrm>
            <a:off x="4968342" y="1417638"/>
            <a:ext cx="4832860" cy="29655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buFont typeface="Arial" panose="020B0604020202020204" pitchFamily="34" charset="0"/>
              <a:buNone/>
            </a:pPr>
            <a:r>
              <a:rPr lang="nl-NL" altLang="nl-NL" b="1" dirty="0">
                <a:latin typeface="Frutiger LT Std 45 Light" panose="020B0402020204020204" pitchFamily="34" charset="0"/>
              </a:rPr>
              <a:t>‘ Wie we zijn ’</a:t>
            </a:r>
          </a:p>
          <a:p>
            <a:pPr eaLnBrk="1" hangingPunct="1">
              <a:buFont typeface="Arial" panose="020B0604020202020204" pitchFamily="34" charset="0"/>
              <a:buNone/>
            </a:pPr>
            <a:r>
              <a:rPr lang="nl-NL" altLang="nl-NL" b="1" dirty="0">
                <a:latin typeface="Frutiger LT Std 45 Light" panose="020B0402020204020204" pitchFamily="34" charset="0"/>
              </a:rPr>
              <a:t>wordt beïnvloed door</a:t>
            </a:r>
          </a:p>
          <a:p>
            <a:pPr eaLnBrk="1" hangingPunct="1">
              <a:buFont typeface="Arial" panose="020B0604020202020204" pitchFamily="34" charset="0"/>
              <a:buNone/>
            </a:pPr>
            <a:r>
              <a:rPr lang="nl-NL" altLang="nl-NL" b="1" dirty="0">
                <a:latin typeface="Frutiger LT Std 45 Light" panose="020B0402020204020204" pitchFamily="34" charset="0"/>
              </a:rPr>
              <a:t>degenen met wie we </a:t>
            </a:r>
          </a:p>
          <a:p>
            <a:pPr eaLnBrk="1" hangingPunct="1">
              <a:buFont typeface="Arial" panose="020B0604020202020204" pitchFamily="34" charset="0"/>
              <a:buNone/>
            </a:pPr>
            <a:r>
              <a:rPr lang="nl-NL" altLang="nl-NL" b="1" dirty="0">
                <a:latin typeface="Frutiger LT Std 45 Light" panose="020B0402020204020204" pitchFamily="34" charset="0"/>
              </a:rPr>
              <a:t>ons het meest en het </a:t>
            </a:r>
          </a:p>
          <a:p>
            <a:pPr eaLnBrk="1" hangingPunct="1">
              <a:buFont typeface="Arial" panose="020B0604020202020204" pitchFamily="34" charset="0"/>
              <a:buNone/>
            </a:pPr>
            <a:r>
              <a:rPr lang="nl-NL" altLang="nl-NL" b="1" dirty="0">
                <a:latin typeface="Frutiger LT Std 45 Light" panose="020B0402020204020204" pitchFamily="34" charset="0"/>
              </a:rPr>
              <a:t>minst identificeren.</a:t>
            </a:r>
          </a:p>
        </p:txBody>
      </p:sp>
      <p:pic>
        <p:nvPicPr>
          <p:cNvPr id="7" name="Afbeelding 6" descr="Afbeelding met kat, muur, binnen, zitten&#10;&#10;Automatisch gegenereerde beschrijving">
            <a:extLst>
              <a:ext uri="{FF2B5EF4-FFF2-40B4-BE49-F238E27FC236}">
                <a16:creationId xmlns:a16="http://schemas.microsoft.com/office/drawing/2014/main" id="{59941C87-061D-41DD-B46F-4FA57D9DF7C4}"/>
              </a:ext>
            </a:extLst>
          </p:cNvPr>
          <p:cNvPicPr>
            <a:picLocks noChangeAspect="1"/>
          </p:cNvPicPr>
          <p:nvPr/>
        </p:nvPicPr>
        <p:blipFill>
          <a:blip r:embed="rId2"/>
          <a:stretch>
            <a:fillRect/>
          </a:stretch>
        </p:blipFill>
        <p:spPr>
          <a:xfrm>
            <a:off x="152377" y="1508332"/>
            <a:ext cx="4493137" cy="456961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57837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6B0969A7-58AB-4063-8455-299A0259E7F2}"/>
              </a:ext>
            </a:extLst>
          </p:cNvPr>
          <p:cNvSpPr txBox="1">
            <a:spLocks/>
          </p:cNvSpPr>
          <p:nvPr/>
        </p:nvSpPr>
        <p:spPr>
          <a:xfrm>
            <a:off x="928688" y="1600203"/>
            <a:ext cx="3500437" cy="3114672"/>
          </a:xfrm>
          <a:prstGeom prst="rect">
            <a:avLst/>
          </a:prstGeom>
        </p:spPr>
        <p:txBody>
          <a:bodyPr anchor="t">
            <a:noAutofit/>
          </a:bodyPr>
          <a:lstStyle/>
          <a:p>
            <a:pPr algn="r" eaLnBrk="1" hangingPunct="1">
              <a:defRPr/>
            </a:pPr>
            <a:r>
              <a:rPr lang="nl-NL" sz="3200" b="1" dirty="0">
                <a:solidFill>
                  <a:srgbClr val="C00000"/>
                </a:solidFill>
                <a:latin typeface="Frutiger LT Std 45 Light"/>
                <a:ea typeface="ＭＳ Ｐゴシック"/>
              </a:rPr>
              <a:t>“Als je niet ergens voor staat, val je </a:t>
            </a:r>
            <a:br>
              <a:rPr lang="nl-NL" sz="3200" b="1" dirty="0">
                <a:solidFill>
                  <a:srgbClr val="C00000"/>
                </a:solidFill>
                <a:latin typeface="Frutiger LT Std 45 Light" panose="020B0402020204020204" pitchFamily="34" charset="0"/>
              </a:rPr>
            </a:br>
            <a:r>
              <a:rPr lang="nl-NL" sz="3200" b="1" dirty="0">
                <a:solidFill>
                  <a:srgbClr val="C00000"/>
                </a:solidFill>
                <a:latin typeface="Frutiger LT Std 45 Light"/>
                <a:ea typeface="ＭＳ Ｐゴシック"/>
              </a:rPr>
              <a:t>voor alles”</a:t>
            </a:r>
            <a:br>
              <a:rPr lang="nl-NL" sz="3200" b="1" dirty="0">
                <a:solidFill>
                  <a:srgbClr val="C00000"/>
                </a:solidFill>
                <a:latin typeface="Frutiger LT Std 45 Light" panose="020B0402020204020204" pitchFamily="34" charset="0"/>
              </a:rPr>
            </a:br>
            <a:br>
              <a:rPr lang="nl-NL" sz="3200" b="1" dirty="0">
                <a:solidFill>
                  <a:srgbClr val="C00000"/>
                </a:solidFill>
                <a:latin typeface="Frutiger LT Std 45 Light" panose="020B0402020204020204" pitchFamily="34" charset="0"/>
              </a:rPr>
            </a:br>
            <a:r>
              <a:rPr lang="nl-NL" sz="3200" b="1" i="1" dirty="0">
                <a:solidFill>
                  <a:srgbClr val="C00000"/>
                </a:solidFill>
                <a:latin typeface="Frutiger LT Std 45 Light"/>
                <a:ea typeface="ＭＳ Ｐゴシック"/>
              </a:rPr>
              <a:t>Dennis </a:t>
            </a:r>
            <a:r>
              <a:rPr lang="nl-NL" sz="3200" b="1" i="1" dirty="0" err="1">
                <a:solidFill>
                  <a:srgbClr val="C00000"/>
                </a:solidFill>
                <a:latin typeface="Frutiger LT Std 45 Light"/>
                <a:ea typeface="ＭＳ Ｐゴシック"/>
              </a:rPr>
              <a:t>Waitley</a:t>
            </a:r>
            <a:endParaRPr lang="nl-NL" sz="3200" b="1" i="1" dirty="0">
              <a:solidFill>
                <a:srgbClr val="C00000"/>
              </a:solidFill>
              <a:latin typeface="Frutiger LT Std 45 Light"/>
              <a:ea typeface="ＭＳ Ｐゴシック"/>
            </a:endParaRPr>
          </a:p>
        </p:txBody>
      </p:sp>
      <p:pic>
        <p:nvPicPr>
          <p:cNvPr id="5" name="Picture 2" descr="419987567_8d488a870f">
            <a:extLst>
              <a:ext uri="{FF2B5EF4-FFF2-40B4-BE49-F238E27FC236}">
                <a16:creationId xmlns:a16="http://schemas.microsoft.com/office/drawing/2014/main" id="{67109C49-1444-4FF5-A0A9-FE42ECA8D073}"/>
              </a:ext>
            </a:extLst>
          </p:cNvPr>
          <p:cNvPicPr>
            <a:picLocks noChangeAspect="1" noChangeArrowheads="1"/>
          </p:cNvPicPr>
          <p:nvPr/>
        </p:nvPicPr>
        <p:blipFill>
          <a:blip r:embed="rId2" cstate="print"/>
          <a:srcRect/>
          <a:stretch>
            <a:fillRect/>
          </a:stretch>
        </p:blipFill>
        <p:spPr bwMode="auto">
          <a:xfrm>
            <a:off x="5213697" y="1143352"/>
            <a:ext cx="4556469" cy="3936313"/>
          </a:xfrm>
          <a:prstGeom prst="rect">
            <a:avLst/>
          </a:prstGeom>
          <a:ln>
            <a:noFill/>
          </a:ln>
          <a:effectLst>
            <a:softEdge rad="112500"/>
          </a:effectLst>
        </p:spPr>
      </p:pic>
    </p:spTree>
    <p:extLst>
      <p:ext uri="{BB962C8B-B14F-4D97-AF65-F5344CB8AC3E}">
        <p14:creationId xmlns:p14="http://schemas.microsoft.com/office/powerpoint/2010/main" val="2363763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Leiderschap">
            <a:hlinkClick r:id="rId2"/>
            <a:extLst>
              <a:ext uri="{FF2B5EF4-FFF2-40B4-BE49-F238E27FC236}">
                <a16:creationId xmlns:a16="http://schemas.microsoft.com/office/drawing/2014/main" id="{B6B9FE0D-7492-471F-960B-B1E8A21BE5AE}"/>
              </a:ext>
            </a:extLst>
          </p:cNvPr>
          <p:cNvPicPr>
            <a:picLocks noChangeAspect="1" noChangeArrowheads="1"/>
          </p:cNvPicPr>
          <p:nvPr/>
        </p:nvPicPr>
        <p:blipFill>
          <a:blip r:embed="rId3"/>
          <a:srcRect/>
          <a:stretch>
            <a:fillRect/>
          </a:stretch>
        </p:blipFill>
        <p:spPr bwMode="auto">
          <a:xfrm>
            <a:off x="165177" y="909891"/>
            <a:ext cx="4058953" cy="5133102"/>
          </a:xfrm>
          <a:prstGeom prst="rect">
            <a:avLst/>
          </a:prstGeom>
          <a:ln>
            <a:noFill/>
          </a:ln>
          <a:effectLst>
            <a:outerShdw blurRad="50800" dist="38100" dir="2700000" algn="tl" rotWithShape="0">
              <a:prstClr val="black">
                <a:alpha val="40000"/>
              </a:prstClr>
            </a:outerShdw>
          </a:effectLst>
        </p:spPr>
      </p:pic>
      <p:sp>
        <p:nvSpPr>
          <p:cNvPr id="5" name="Tekstvak 3">
            <a:extLst>
              <a:ext uri="{FF2B5EF4-FFF2-40B4-BE49-F238E27FC236}">
                <a16:creationId xmlns:a16="http://schemas.microsoft.com/office/drawing/2014/main" id="{E128A8B9-C69E-40A1-BDA7-7DB58354DE6D}"/>
              </a:ext>
            </a:extLst>
          </p:cNvPr>
          <p:cNvSpPr txBox="1">
            <a:spLocks noChangeArrowheads="1"/>
          </p:cNvSpPr>
          <p:nvPr/>
        </p:nvSpPr>
        <p:spPr bwMode="auto">
          <a:xfrm>
            <a:off x="4610250" y="909891"/>
            <a:ext cx="3857625" cy="430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eaLnBrk="1" hangingPunct="1">
              <a:spcBef>
                <a:spcPct val="0"/>
              </a:spcBef>
              <a:buClrTx/>
              <a:buSzTx/>
              <a:buFontTx/>
              <a:buNone/>
            </a:pPr>
            <a:r>
              <a:rPr lang="nl-NL" altLang="nl-NL" sz="3200" b="1" dirty="0">
                <a:latin typeface="Frutiger LT Std 45 Light" panose="020B0402020204020204" pitchFamily="34" charset="0"/>
              </a:rPr>
              <a:t>"Leiders zijn mensen wiens visie en overtuigingen overeenstemmen met wat ze voelen en wat ze zeggen en doen."</a:t>
            </a:r>
            <a:endParaRPr lang="nl-NL" altLang="nl-NL" sz="1800" b="1" dirty="0">
              <a:latin typeface="Frutiger LT Std 45 Light" panose="020B0402020204020204" pitchFamily="34" charset="0"/>
            </a:endParaRPr>
          </a:p>
          <a:p>
            <a:pPr algn="r" eaLnBrk="1" hangingPunct="1">
              <a:spcBef>
                <a:spcPct val="0"/>
              </a:spcBef>
              <a:buClrTx/>
              <a:buSzTx/>
              <a:buFontTx/>
              <a:buNone/>
            </a:pPr>
            <a:r>
              <a:rPr lang="nl-NL" altLang="nl-NL" sz="1800" b="1" i="1" dirty="0">
                <a:latin typeface="Frutiger LT Std 45 Light" panose="020B0402020204020204" pitchFamily="34" charset="0"/>
              </a:rPr>
              <a:t>Warren Bennis</a:t>
            </a:r>
          </a:p>
        </p:txBody>
      </p:sp>
    </p:spTree>
    <p:extLst>
      <p:ext uri="{BB962C8B-B14F-4D97-AF65-F5344CB8AC3E}">
        <p14:creationId xmlns:p14="http://schemas.microsoft.com/office/powerpoint/2010/main" val="900791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ndertitel 2">
            <a:extLst>
              <a:ext uri="{FF2B5EF4-FFF2-40B4-BE49-F238E27FC236}">
                <a16:creationId xmlns:a16="http://schemas.microsoft.com/office/drawing/2014/main" id="{E807D025-745B-4E43-A286-7659E7FC9AE9}"/>
              </a:ext>
            </a:extLst>
          </p:cNvPr>
          <p:cNvSpPr txBox="1">
            <a:spLocks/>
          </p:cNvSpPr>
          <p:nvPr/>
        </p:nvSpPr>
        <p:spPr bwMode="auto">
          <a:xfrm>
            <a:off x="2159668" y="1600430"/>
            <a:ext cx="7772400" cy="1599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Bef>
                <a:spcPct val="0"/>
              </a:spcBef>
              <a:buNone/>
            </a:pPr>
            <a:r>
              <a:rPr lang="nl-NL" sz="8000"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cs typeface="Arial" charset="0"/>
              </a:rPr>
              <a:t>Concept II</a:t>
            </a:r>
          </a:p>
        </p:txBody>
      </p:sp>
      <p:sp>
        <p:nvSpPr>
          <p:cNvPr id="7" name="Ondertitel 2">
            <a:extLst>
              <a:ext uri="{FF2B5EF4-FFF2-40B4-BE49-F238E27FC236}">
                <a16:creationId xmlns:a16="http://schemas.microsoft.com/office/drawing/2014/main" id="{30316D3F-3A90-406D-AA8E-EE8C2F99CB3D}"/>
              </a:ext>
            </a:extLst>
          </p:cNvPr>
          <p:cNvSpPr txBox="1">
            <a:spLocks/>
          </p:cNvSpPr>
          <p:nvPr/>
        </p:nvSpPr>
        <p:spPr bwMode="auto">
          <a:xfrm>
            <a:off x="1440737" y="3761018"/>
            <a:ext cx="9210262" cy="914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eaLnBrk="1" hangingPunct="1">
              <a:spcBef>
                <a:spcPct val="0"/>
              </a:spcBef>
              <a:buNone/>
            </a:pPr>
            <a:r>
              <a:rPr lang="en-US" altLang="nl-NL" sz="4400" b="1" dirty="0" err="1">
                <a:solidFill>
                  <a:srgbClr val="79766F"/>
                </a:solidFill>
                <a:latin typeface="Frutiger LT Std 45 Light"/>
                <a:ea typeface="ＭＳ Ｐゴシック"/>
              </a:rPr>
              <a:t>Onze</a:t>
            </a:r>
            <a:r>
              <a:rPr lang="en-US" altLang="nl-NL" sz="4400" b="1" dirty="0">
                <a:solidFill>
                  <a:srgbClr val="79766F"/>
                </a:solidFill>
                <a:latin typeface="Frutiger LT Std 45 Light"/>
                <a:ea typeface="ＭＳ Ｐゴシック"/>
              </a:rPr>
              <a:t> </a:t>
            </a:r>
            <a:r>
              <a:rPr lang="en-US" altLang="nl-NL" sz="4400" b="1" dirty="0" err="1">
                <a:solidFill>
                  <a:srgbClr val="79766F"/>
                </a:solidFill>
                <a:latin typeface="Frutiger LT Std 45 Light"/>
                <a:ea typeface="ＭＳ Ｐゴシック"/>
              </a:rPr>
              <a:t>waarden</a:t>
            </a:r>
            <a:r>
              <a:rPr lang="en-US" altLang="nl-NL" sz="4400" b="1" dirty="0">
                <a:solidFill>
                  <a:srgbClr val="79766F"/>
                </a:solidFill>
                <a:latin typeface="Frutiger LT Std 45 Light"/>
                <a:ea typeface="ＭＳ Ｐゴシック"/>
              </a:rPr>
              <a:t> en </a:t>
            </a:r>
            <a:r>
              <a:rPr lang="en-US" altLang="nl-NL" sz="4400" b="1" dirty="0" err="1">
                <a:solidFill>
                  <a:srgbClr val="79766F"/>
                </a:solidFill>
                <a:latin typeface="Frutiger LT Std 45 Light"/>
                <a:ea typeface="ＭＳ Ｐゴシック"/>
              </a:rPr>
              <a:t>onze</a:t>
            </a:r>
            <a:r>
              <a:rPr lang="en-US" altLang="nl-NL" sz="4400" b="1" dirty="0">
                <a:solidFill>
                  <a:srgbClr val="79766F"/>
                </a:solidFill>
                <a:latin typeface="Frutiger LT Std 45 Light"/>
                <a:ea typeface="ＭＳ Ｐゴシック"/>
              </a:rPr>
              <a:t> </a:t>
            </a:r>
            <a:r>
              <a:rPr lang="en-US" altLang="nl-NL" sz="4400" b="1" dirty="0" err="1">
                <a:solidFill>
                  <a:srgbClr val="79766F"/>
                </a:solidFill>
                <a:latin typeface="Frutiger LT Std 45 Light"/>
                <a:ea typeface="ＭＳ Ｐゴシック"/>
              </a:rPr>
              <a:t>behoeftes</a:t>
            </a:r>
            <a:endParaRPr lang="nl-NL" altLang="nl-NL" sz="4400" b="1" dirty="0">
              <a:solidFill>
                <a:srgbClr val="79766F"/>
              </a:solidFill>
              <a:latin typeface="Frutiger LT Std 45 Light"/>
              <a:ea typeface="ＭＳ Ｐゴシック"/>
            </a:endParaRPr>
          </a:p>
        </p:txBody>
      </p:sp>
    </p:spTree>
    <p:extLst>
      <p:ext uri="{BB962C8B-B14F-4D97-AF65-F5344CB8AC3E}">
        <p14:creationId xmlns:p14="http://schemas.microsoft.com/office/powerpoint/2010/main" val="4294592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kstvak 3">
            <a:extLst>
              <a:ext uri="{FF2B5EF4-FFF2-40B4-BE49-F238E27FC236}">
                <a16:creationId xmlns:a16="http://schemas.microsoft.com/office/drawing/2014/main" id="{D097EF88-3A1D-42EB-B16A-30C112B243DA}"/>
              </a:ext>
            </a:extLst>
          </p:cNvPr>
          <p:cNvSpPr txBox="1">
            <a:spLocks noChangeArrowheads="1"/>
          </p:cNvSpPr>
          <p:nvPr/>
        </p:nvSpPr>
        <p:spPr bwMode="auto">
          <a:xfrm>
            <a:off x="1714499" y="358334"/>
            <a:ext cx="40005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algn="r" eaLnBrk="1" hangingPunct="1">
              <a:spcBef>
                <a:spcPct val="0"/>
              </a:spcBef>
              <a:buClrTx/>
              <a:buSzTx/>
              <a:buFontTx/>
              <a:buNone/>
            </a:pPr>
            <a:r>
              <a:rPr lang="nl-NL" altLang="nl-NL" dirty="0">
                <a:latin typeface="Frutiger LT Std 45 Light"/>
                <a:ea typeface="ＭＳ Ｐゴシック"/>
              </a:rPr>
              <a:t>Je waarden zijn de basis van je normen/principes waarop je jouw keuzes en acties baseert.</a:t>
            </a:r>
          </a:p>
        </p:txBody>
      </p:sp>
      <p:sp>
        <p:nvSpPr>
          <p:cNvPr id="5" name="Tekstvak 4">
            <a:extLst>
              <a:ext uri="{FF2B5EF4-FFF2-40B4-BE49-F238E27FC236}">
                <a16:creationId xmlns:a16="http://schemas.microsoft.com/office/drawing/2014/main" id="{B5745F52-5562-41F0-9357-4D6D74FAA725}"/>
              </a:ext>
            </a:extLst>
          </p:cNvPr>
          <p:cNvSpPr txBox="1">
            <a:spLocks noChangeArrowheads="1"/>
          </p:cNvSpPr>
          <p:nvPr/>
        </p:nvSpPr>
        <p:spPr bwMode="auto">
          <a:xfrm>
            <a:off x="5794058" y="2314449"/>
            <a:ext cx="493026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eaLnBrk="1" hangingPunct="1">
              <a:spcBef>
                <a:spcPct val="0"/>
              </a:spcBef>
              <a:buClrTx/>
              <a:buSzTx/>
              <a:buFontTx/>
              <a:buNone/>
            </a:pPr>
            <a:r>
              <a:rPr lang="nl-NL" altLang="nl-NL" dirty="0">
                <a:latin typeface="Frutiger LT Std 45 Light"/>
                <a:ea typeface="ＭＳ Ｐゴシック"/>
              </a:rPr>
              <a:t>Waardesystemen </a:t>
            </a:r>
          </a:p>
          <a:p>
            <a:pPr eaLnBrk="1" hangingPunct="1">
              <a:spcBef>
                <a:spcPct val="0"/>
              </a:spcBef>
              <a:buClrTx/>
              <a:buSzTx/>
              <a:buFontTx/>
              <a:buNone/>
            </a:pPr>
            <a:r>
              <a:rPr lang="nl-NL" altLang="nl-NL" dirty="0">
                <a:latin typeface="Frutiger LT Std 45 Light"/>
                <a:ea typeface="ＭＳ Ｐゴシック"/>
              </a:rPr>
              <a:t>zijn anders dan gedragsstijlen of behoeften gemotiveerd gedrag dat beschreven </a:t>
            </a:r>
          </a:p>
          <a:p>
            <a:pPr eaLnBrk="1" hangingPunct="1">
              <a:spcBef>
                <a:spcPct val="0"/>
              </a:spcBef>
              <a:buClrTx/>
              <a:buSzTx/>
              <a:buFontTx/>
              <a:buNone/>
            </a:pPr>
            <a:r>
              <a:rPr lang="nl-NL" altLang="nl-NL" dirty="0">
                <a:latin typeface="Frutiger LT Std 45 Light"/>
                <a:ea typeface="ＭＳ Ｐゴシック"/>
              </a:rPr>
              <a:t>wordt door het </a:t>
            </a:r>
          </a:p>
          <a:p>
            <a:pPr eaLnBrk="1" hangingPunct="1">
              <a:spcBef>
                <a:spcPct val="0"/>
              </a:spcBef>
              <a:buClrTx/>
              <a:buSzTx/>
              <a:buFontTx/>
              <a:buNone/>
            </a:pPr>
            <a:r>
              <a:rPr lang="nl-NL" altLang="nl-NL" dirty="0">
                <a:latin typeface="Frutiger LT Std 45 Light"/>
                <a:ea typeface="ＭＳ Ｐゴシック"/>
              </a:rPr>
              <a:t>Persoonlijke Stijl (DISC) model.</a:t>
            </a:r>
          </a:p>
        </p:txBody>
      </p:sp>
      <p:pic>
        <p:nvPicPr>
          <p:cNvPr id="1026" name="Picture 2" descr="black stacking stones on gray surface">
            <a:extLst>
              <a:ext uri="{FF2B5EF4-FFF2-40B4-BE49-F238E27FC236}">
                <a16:creationId xmlns:a16="http://schemas.microsoft.com/office/drawing/2014/main" id="{7144F38C-C1FA-4AF4-A67D-DB087B6F6E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682" y="2314450"/>
            <a:ext cx="5554317" cy="3704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956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el 8">
            <a:extLst>
              <a:ext uri="{FF2B5EF4-FFF2-40B4-BE49-F238E27FC236}">
                <a16:creationId xmlns:a16="http://schemas.microsoft.com/office/drawing/2014/main" id="{AE53A87D-C381-4DFB-9BC6-B0D07251720F}"/>
              </a:ext>
            </a:extLst>
          </p:cNvPr>
          <p:cNvGraphicFramePr>
            <a:graphicFrameLocks noGrp="1"/>
          </p:cNvGraphicFramePr>
          <p:nvPr>
            <p:extLst>
              <p:ext uri="{D42A27DB-BD31-4B8C-83A1-F6EECF244321}">
                <p14:modId xmlns:p14="http://schemas.microsoft.com/office/powerpoint/2010/main" val="2488564114"/>
              </p:ext>
            </p:extLst>
          </p:nvPr>
        </p:nvGraphicFramePr>
        <p:xfrm>
          <a:off x="775251" y="310571"/>
          <a:ext cx="9571384" cy="5669713"/>
        </p:xfrm>
        <a:graphic>
          <a:graphicData uri="http://schemas.openxmlformats.org/drawingml/2006/table">
            <a:tbl>
              <a:tblPr firstRow="1" bandRow="1">
                <a:tableStyleId>{5C22544A-7EE6-4342-B048-85BDC9FD1C3A}</a:tableStyleId>
              </a:tblPr>
              <a:tblGrid>
                <a:gridCol w="4785692">
                  <a:extLst>
                    <a:ext uri="{9D8B030D-6E8A-4147-A177-3AD203B41FA5}">
                      <a16:colId xmlns:a16="http://schemas.microsoft.com/office/drawing/2014/main" val="3495402070"/>
                    </a:ext>
                  </a:extLst>
                </a:gridCol>
                <a:gridCol w="4785692">
                  <a:extLst>
                    <a:ext uri="{9D8B030D-6E8A-4147-A177-3AD203B41FA5}">
                      <a16:colId xmlns:a16="http://schemas.microsoft.com/office/drawing/2014/main" val="2077349389"/>
                    </a:ext>
                  </a:extLst>
                </a:gridCol>
              </a:tblGrid>
              <a:tr h="1465153">
                <a:tc gridSpan="2">
                  <a:txBody>
                    <a:bodyPr/>
                    <a:lstStyle/>
                    <a:p>
                      <a:pPr algn="ctr"/>
                      <a:r>
                        <a:rPr lang="nl-NL" sz="3200" dirty="0">
                          <a:latin typeface="Frutiger LT Std 45 Light" panose="020B0402020204020204" pitchFamily="34" charset="0"/>
                        </a:rPr>
                        <a:t>Het verschil tussen</a:t>
                      </a:r>
                      <a:br>
                        <a:rPr lang="nl-NL" sz="3200" dirty="0">
                          <a:latin typeface="Frutiger LT Std 45 Light" panose="020B0402020204020204" pitchFamily="34" charset="0"/>
                        </a:rPr>
                      </a:br>
                      <a:r>
                        <a:rPr lang="nl-NL" sz="3200" dirty="0">
                          <a:latin typeface="Frutiger LT Std 45 Light" panose="020B0402020204020204" pitchFamily="34" charset="0"/>
                        </a:rPr>
                        <a:t>behoefte gedreven &amp; waarden gedreven </a:t>
                      </a:r>
                    </a:p>
                    <a:p>
                      <a:pPr algn="ctr"/>
                      <a:r>
                        <a:rPr lang="nl-NL" sz="3200" dirty="0">
                          <a:latin typeface="Frutiger LT Std 45 Light" panose="020B0402020204020204" pitchFamily="34" charset="0"/>
                        </a:rPr>
                        <a:t>gedrag</a:t>
                      </a:r>
                    </a:p>
                  </a:txBody>
                  <a:tcPr>
                    <a:solidFill>
                      <a:schemeClr val="accent4">
                        <a:lumMod val="75000"/>
                      </a:schemeClr>
                    </a:solidFill>
                  </a:tcPr>
                </a:tc>
                <a:tc hMerge="1">
                  <a:txBody>
                    <a:bodyPr/>
                    <a:lstStyle/>
                    <a:p>
                      <a:endParaRPr lang="nl-NL" dirty="0"/>
                    </a:p>
                  </a:txBody>
                  <a:tcPr/>
                </a:tc>
                <a:extLst>
                  <a:ext uri="{0D108BD9-81ED-4DB2-BD59-A6C34878D82A}">
                    <a16:rowId xmlns:a16="http://schemas.microsoft.com/office/drawing/2014/main" val="2663531936"/>
                  </a:ext>
                </a:extLst>
              </a:tr>
              <a:tr h="227935">
                <a:tc gridSpan="2">
                  <a:txBody>
                    <a:bodyPr/>
                    <a:lstStyle/>
                    <a:p>
                      <a:pPr algn="ctr"/>
                      <a:endParaRPr lang="nl-NL" sz="800" dirty="0"/>
                    </a:p>
                  </a:txBody>
                  <a:tcPr>
                    <a:noFill/>
                  </a:tcPr>
                </a:tc>
                <a:tc hMerge="1">
                  <a:txBody>
                    <a:bodyPr/>
                    <a:lstStyle/>
                    <a:p>
                      <a:endParaRPr lang="nl-NL" dirty="0"/>
                    </a:p>
                  </a:txBody>
                  <a:tcPr/>
                </a:tc>
                <a:extLst>
                  <a:ext uri="{0D108BD9-81ED-4DB2-BD59-A6C34878D82A}">
                    <a16:rowId xmlns:a16="http://schemas.microsoft.com/office/drawing/2014/main" val="3577954176"/>
                  </a:ext>
                </a:extLst>
              </a:tr>
              <a:tr h="63033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nl-NL" sz="2800" b="1" dirty="0">
                          <a:latin typeface="Frutiger LT Std 45 Light"/>
                          <a:ea typeface="ＭＳ Ｐゴシック"/>
                        </a:rPr>
                        <a:t>Persoonlijke </a:t>
                      </a:r>
                      <a:r>
                        <a:rPr lang="en-US" altLang="nl-NL" sz="2800" b="1" dirty="0" err="1">
                          <a:latin typeface="Frutiger LT Std 45 Light"/>
                          <a:ea typeface="ＭＳ Ｐゴシック"/>
                        </a:rPr>
                        <a:t>Stijl</a:t>
                      </a:r>
                      <a:r>
                        <a:rPr lang="en-US" altLang="nl-NL" sz="2800" b="1" dirty="0">
                          <a:latin typeface="Frutiger LT Std 45 Light"/>
                          <a:ea typeface="ＭＳ Ｐゴシック"/>
                        </a:rPr>
                        <a:t> (DISC)</a:t>
                      </a:r>
                    </a:p>
                  </a:txBody>
                  <a:tcPr>
                    <a:solidFill>
                      <a:schemeClr val="accent4">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nl-NL" sz="2800" b="1">
                          <a:latin typeface="Frutiger LT Std 45 Light" panose="020B0402020204020204" pitchFamily="34" charset="0"/>
                        </a:rPr>
                        <a:t>Persoonlijke Waarden</a:t>
                      </a:r>
                    </a:p>
                  </a:txBody>
                  <a:tcPr>
                    <a:solidFill>
                      <a:schemeClr val="accent4">
                        <a:lumMod val="20000"/>
                        <a:lumOff val="80000"/>
                      </a:schemeClr>
                    </a:solidFill>
                  </a:tcPr>
                </a:tc>
                <a:extLst>
                  <a:ext uri="{0D108BD9-81ED-4DB2-BD59-A6C34878D82A}">
                    <a16:rowId xmlns:a16="http://schemas.microsoft.com/office/drawing/2014/main" val="1840342454"/>
                  </a:ext>
                </a:extLst>
              </a:tr>
              <a:tr h="50407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nl-NL" sz="2600" dirty="0">
                          <a:latin typeface="Frutiger LT Std 45 Light"/>
                          <a:ea typeface="ＭＳ Ｐゴシック"/>
                        </a:rPr>
                        <a:t>Zou ‘</a:t>
                      </a:r>
                      <a:r>
                        <a:rPr lang="en-US" altLang="nl-NL" sz="2600" dirty="0" err="1">
                          <a:latin typeface="Frutiger LT Std 45 Light"/>
                          <a:ea typeface="ＭＳ Ｐゴシック"/>
                        </a:rPr>
                        <a:t>willen</a:t>
                      </a:r>
                      <a:r>
                        <a:rPr lang="en-US" altLang="nl-NL" sz="2600" dirty="0">
                          <a:latin typeface="Frutiger LT Std 45 Light"/>
                          <a:ea typeface="ＭＳ Ｐゴシック"/>
                        </a:rPr>
                        <a:t> </a:t>
                      </a:r>
                      <a:r>
                        <a:rPr lang="en-US" altLang="nl-NL" sz="2600" dirty="0" err="1">
                          <a:latin typeface="Frutiger LT Std 45 Light"/>
                          <a:ea typeface="ＭＳ Ｐゴシック"/>
                        </a:rPr>
                        <a:t>doen</a:t>
                      </a:r>
                      <a:r>
                        <a:rPr lang="en-US" altLang="nl-NL" sz="2600" dirty="0">
                          <a:latin typeface="Frutiger LT Std 45 Light"/>
                          <a:ea typeface="ＭＳ Ｐゴシック"/>
                        </a:rPr>
                        <a:t>’</a:t>
                      </a:r>
                      <a:endParaRPr lang="en-US" altLang="nl-NL" sz="2600" dirty="0">
                        <a:latin typeface="Frutiger LT Std 45 Light" panose="020B0402020204020204" pitchFamily="34" charset="0"/>
                      </a:endParaRPr>
                    </a:p>
                  </a:txBody>
                  <a:tcPr>
                    <a:solidFill>
                      <a:schemeClr val="accent4">
                        <a:lumMod val="40000"/>
                        <a:lumOff val="60000"/>
                      </a:schemeClr>
                    </a:solidFill>
                  </a:tcPr>
                </a:tc>
                <a:tc>
                  <a:txBody>
                    <a:bodyPr/>
                    <a:lstStyle/>
                    <a:p>
                      <a:pPr algn="ctr"/>
                      <a:r>
                        <a:rPr lang="en-US" altLang="nl-NL" sz="2600" dirty="0">
                          <a:latin typeface="Frutiger LT Std 45 Light"/>
                          <a:ea typeface="ＭＳ Ｐゴシック"/>
                        </a:rPr>
                        <a:t>Zou ‘</a:t>
                      </a:r>
                      <a:r>
                        <a:rPr lang="en-US" altLang="nl-NL" sz="2600" dirty="0" err="1">
                          <a:latin typeface="Frutiger LT Std 45 Light"/>
                          <a:ea typeface="ＭＳ Ｐゴシック"/>
                        </a:rPr>
                        <a:t>moeten</a:t>
                      </a:r>
                      <a:r>
                        <a:rPr lang="en-US" altLang="nl-NL" sz="2600" dirty="0">
                          <a:latin typeface="Frutiger LT Std 45 Light"/>
                          <a:ea typeface="ＭＳ Ｐゴシック"/>
                        </a:rPr>
                        <a:t> </a:t>
                      </a:r>
                      <a:r>
                        <a:rPr lang="en-US" altLang="nl-NL" sz="2600" dirty="0" err="1">
                          <a:latin typeface="Frutiger LT Std 45 Light"/>
                          <a:ea typeface="ＭＳ Ｐゴシック"/>
                        </a:rPr>
                        <a:t>doen</a:t>
                      </a:r>
                      <a:r>
                        <a:rPr lang="en-US" altLang="nl-NL" sz="2600" dirty="0">
                          <a:latin typeface="Frutiger LT Std 45 Light"/>
                          <a:ea typeface="ＭＳ Ｐゴシック"/>
                        </a:rPr>
                        <a:t>’</a:t>
                      </a:r>
                      <a:endParaRPr lang="nl-NL" sz="2600" dirty="0"/>
                    </a:p>
                  </a:txBody>
                  <a:tcPr>
                    <a:solidFill>
                      <a:schemeClr val="accent4">
                        <a:lumMod val="40000"/>
                        <a:lumOff val="60000"/>
                      </a:schemeClr>
                    </a:solidFill>
                  </a:tcPr>
                </a:tc>
                <a:extLst>
                  <a:ext uri="{0D108BD9-81ED-4DB2-BD59-A6C34878D82A}">
                    <a16:rowId xmlns:a16="http://schemas.microsoft.com/office/drawing/2014/main" val="2885438796"/>
                  </a:ext>
                </a:extLst>
              </a:tr>
              <a:tr h="550085">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nl-NL" sz="2600" dirty="0">
                          <a:latin typeface="Frutiger LT Std 45 Light"/>
                          <a:ea typeface="ＭＳ Ｐゴシック"/>
                        </a:rPr>
                        <a:t>Wat is </a:t>
                      </a:r>
                      <a:r>
                        <a:rPr lang="en-US" altLang="nl-NL" sz="2600" dirty="0" err="1">
                          <a:latin typeface="Frutiger LT Std 45 Light"/>
                          <a:ea typeface="ＭＳ Ｐゴシック"/>
                        </a:rPr>
                        <a:t>prettig</a:t>
                      </a:r>
                      <a:endParaRPr lang="en-US" altLang="nl-NL" sz="2600" dirty="0">
                        <a:latin typeface="Frutiger LT Std 45 Light"/>
                        <a:ea typeface="ＭＳ Ｐゴシック"/>
                      </a:endParaRPr>
                    </a:p>
                  </a:txBody>
                  <a:tcPr>
                    <a:solidFill>
                      <a:schemeClr val="accent4">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nl-NL" sz="2600" dirty="0">
                          <a:latin typeface="Frutiger LT Std 45 Light"/>
                          <a:ea typeface="ＭＳ Ｐゴシック"/>
                        </a:rPr>
                        <a:t>Wat </a:t>
                      </a:r>
                      <a:r>
                        <a:rPr lang="en-US" altLang="nl-NL" sz="2600">
                          <a:latin typeface="Frutiger LT Std 45 Light"/>
                          <a:ea typeface="ＭＳ Ｐゴシック"/>
                        </a:rPr>
                        <a:t>is juist</a:t>
                      </a:r>
                      <a:endParaRPr lang="en-US" altLang="nl-NL" sz="2600" dirty="0">
                        <a:latin typeface="Frutiger LT Std 45 Light"/>
                        <a:ea typeface="ＭＳ Ｐゴシック"/>
                      </a:endParaRPr>
                    </a:p>
                  </a:txBody>
                  <a:tcPr>
                    <a:solidFill>
                      <a:schemeClr val="accent4">
                        <a:lumMod val="20000"/>
                        <a:lumOff val="80000"/>
                      </a:schemeClr>
                    </a:solidFill>
                  </a:tcPr>
                </a:tc>
                <a:extLst>
                  <a:ext uri="{0D108BD9-81ED-4DB2-BD59-A6C34878D82A}">
                    <a16:rowId xmlns:a16="http://schemas.microsoft.com/office/drawing/2014/main" val="1926742806"/>
                  </a:ext>
                </a:extLst>
              </a:tr>
              <a:tr h="50407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nl-NL" sz="2600" dirty="0">
                          <a:latin typeface="Frutiger LT Std 45 Light"/>
                          <a:ea typeface="ＭＳ Ｐゴシック"/>
                        </a:rPr>
                        <a:t>Wat is het </a:t>
                      </a:r>
                      <a:r>
                        <a:rPr lang="en-US" altLang="nl-NL" sz="2600" dirty="0" err="1">
                          <a:latin typeface="Frutiger LT Std 45 Light"/>
                          <a:ea typeface="ＭＳ Ｐゴシック"/>
                        </a:rPr>
                        <a:t>gemakkelijkst</a:t>
                      </a:r>
                      <a:endParaRPr lang="en-US" altLang="nl-NL" sz="2600" dirty="0">
                        <a:latin typeface="Frutiger LT Std 45 Light"/>
                        <a:ea typeface="ＭＳ Ｐゴシック"/>
                      </a:endParaRPr>
                    </a:p>
                  </a:txBody>
                  <a:tcPr>
                    <a:solidFill>
                      <a:schemeClr val="accent4">
                        <a:lumMod val="40000"/>
                        <a:lumOff val="6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nl-NL" sz="2600" dirty="0">
                          <a:latin typeface="Frutiger LT Std 45 Light"/>
                          <a:ea typeface="ＭＳ Ｐゴシック"/>
                        </a:rPr>
                        <a:t>Wat is het </a:t>
                      </a:r>
                      <a:r>
                        <a:rPr lang="en-US" altLang="nl-NL" sz="2600" dirty="0" err="1">
                          <a:latin typeface="Frutiger LT Std 45 Light"/>
                          <a:ea typeface="ＭＳ Ｐゴシック"/>
                        </a:rPr>
                        <a:t>meest</a:t>
                      </a:r>
                      <a:r>
                        <a:rPr lang="en-US" altLang="nl-NL" sz="2600" dirty="0">
                          <a:latin typeface="Frutiger LT Std 45 Light"/>
                          <a:ea typeface="ＭＳ Ｐゴシック"/>
                        </a:rPr>
                        <a:t> </a:t>
                      </a:r>
                      <a:r>
                        <a:rPr lang="en-US" altLang="nl-NL" sz="2600" dirty="0" err="1">
                          <a:latin typeface="Frutiger LT Std 45 Light"/>
                          <a:ea typeface="ＭＳ Ｐゴシック"/>
                        </a:rPr>
                        <a:t>verstandige</a:t>
                      </a:r>
                      <a:endParaRPr lang="en-US" altLang="nl-NL" sz="2600" dirty="0">
                        <a:latin typeface="Frutiger LT Std 45 Light"/>
                        <a:ea typeface="ＭＳ Ｐゴシック"/>
                      </a:endParaRPr>
                    </a:p>
                  </a:txBody>
                  <a:tcPr>
                    <a:solidFill>
                      <a:schemeClr val="accent4">
                        <a:lumMod val="40000"/>
                        <a:lumOff val="60000"/>
                      </a:schemeClr>
                    </a:solidFill>
                  </a:tcPr>
                </a:tc>
                <a:extLst>
                  <a:ext uri="{0D108BD9-81ED-4DB2-BD59-A6C34878D82A}">
                    <a16:rowId xmlns:a16="http://schemas.microsoft.com/office/drawing/2014/main" val="1792811985"/>
                  </a:ext>
                </a:extLst>
              </a:tr>
              <a:tr h="50407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nl-NL" sz="2600" dirty="0">
                          <a:latin typeface="Frutiger LT Std 45 Light"/>
                          <a:ea typeface="ＭＳ Ｐゴシック"/>
                        </a:rPr>
                        <a:t>Wat </a:t>
                      </a:r>
                      <a:r>
                        <a:rPr lang="en-US" altLang="nl-NL" sz="2600" dirty="0" err="1">
                          <a:latin typeface="Frutiger LT Std 45 Light"/>
                          <a:ea typeface="ＭＳ Ｐゴシック"/>
                        </a:rPr>
                        <a:t>werkt</a:t>
                      </a:r>
                      <a:endParaRPr lang="en-US" altLang="nl-NL" sz="2600" dirty="0">
                        <a:latin typeface="Frutiger LT Std 45 Light"/>
                        <a:ea typeface="ＭＳ Ｐゴシック"/>
                      </a:endParaRPr>
                    </a:p>
                  </a:txBody>
                  <a:tcPr>
                    <a:solidFill>
                      <a:schemeClr val="accent4">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nl-NL" sz="2600" dirty="0">
                          <a:latin typeface="Frutiger LT Std 45 Light"/>
                          <a:ea typeface="ＭＳ Ｐゴシック"/>
                        </a:rPr>
                        <a:t>Wat is het </a:t>
                      </a:r>
                      <a:r>
                        <a:rPr lang="en-US" altLang="nl-NL" sz="2600" dirty="0" err="1">
                          <a:latin typeface="Frutiger LT Std 45 Light"/>
                          <a:ea typeface="ＭＳ Ｐゴシック"/>
                        </a:rPr>
                        <a:t>meest</a:t>
                      </a:r>
                      <a:r>
                        <a:rPr lang="en-US" altLang="nl-NL" sz="2600" dirty="0">
                          <a:latin typeface="Frutiger LT Std 45 Light"/>
                          <a:ea typeface="ＭＳ Ｐゴシック"/>
                        </a:rPr>
                        <a:t> </a:t>
                      </a:r>
                      <a:r>
                        <a:rPr lang="en-US" altLang="nl-NL" sz="2600" dirty="0" err="1">
                          <a:latin typeface="Frutiger LT Std 45 Light"/>
                          <a:ea typeface="ＭＳ Ｐゴシック"/>
                        </a:rPr>
                        <a:t>zinvol</a:t>
                      </a:r>
                      <a:endParaRPr lang="en-US" altLang="nl-NL" sz="2600" dirty="0">
                        <a:latin typeface="Frutiger LT Std 45 Light"/>
                        <a:ea typeface="ＭＳ Ｐゴシック"/>
                      </a:endParaRPr>
                    </a:p>
                  </a:txBody>
                  <a:tcPr>
                    <a:solidFill>
                      <a:schemeClr val="accent4">
                        <a:lumMod val="20000"/>
                        <a:lumOff val="80000"/>
                      </a:schemeClr>
                    </a:solidFill>
                  </a:tcPr>
                </a:tc>
                <a:extLst>
                  <a:ext uri="{0D108BD9-81ED-4DB2-BD59-A6C34878D82A}">
                    <a16:rowId xmlns:a16="http://schemas.microsoft.com/office/drawing/2014/main" val="4104476279"/>
                  </a:ext>
                </a:extLst>
              </a:tr>
              <a:tr h="119464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nl-NL" sz="2600" dirty="0">
                          <a:latin typeface="Frutiger LT Std 45 Light"/>
                          <a:ea typeface="ＭＳ Ｐゴシック"/>
                        </a:rPr>
                        <a:t>Wat </a:t>
                      </a:r>
                      <a:r>
                        <a:rPr lang="en-US" altLang="nl-NL" sz="2600" dirty="0" err="1">
                          <a:latin typeface="Frutiger LT Std 45 Light"/>
                          <a:ea typeface="ＭＳ Ｐゴシック"/>
                        </a:rPr>
                        <a:t>ons</a:t>
                      </a:r>
                      <a:r>
                        <a:rPr lang="en-US" altLang="nl-NL" sz="2600" dirty="0">
                          <a:latin typeface="Frutiger LT Std 45 Light"/>
                          <a:ea typeface="ＭＳ Ｐゴシック"/>
                        </a:rPr>
                        <a:t> van nature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nl-NL" sz="2600" dirty="0" err="1">
                          <a:latin typeface="Frutiger LT Std 45 Light"/>
                          <a:ea typeface="ＭＳ Ｐゴシック"/>
                        </a:rPr>
                        <a:t>gemakkelijk</a:t>
                      </a:r>
                      <a:r>
                        <a:rPr lang="en-US" altLang="nl-NL" sz="2600" dirty="0">
                          <a:latin typeface="Frutiger LT Std 45 Light"/>
                          <a:ea typeface="ＭＳ Ｐゴシック"/>
                        </a:rPr>
                        <a:t> </a:t>
                      </a:r>
                      <a:r>
                        <a:rPr lang="en-US" altLang="nl-NL" sz="2600" dirty="0" err="1">
                          <a:latin typeface="Frutiger LT Std 45 Light"/>
                          <a:ea typeface="ＭＳ Ｐゴシック"/>
                        </a:rPr>
                        <a:t>afgaat</a:t>
                      </a:r>
                      <a:endParaRPr lang="en-US" altLang="nl-NL" sz="2600" dirty="0">
                        <a:latin typeface="Frutiger LT Std 45 Light"/>
                        <a:ea typeface="ＭＳ Ｐゴシック"/>
                      </a:endParaRPr>
                    </a:p>
                  </a:txBody>
                  <a:tcPr>
                    <a:solidFill>
                      <a:schemeClr val="accent4">
                        <a:lumMod val="40000"/>
                        <a:lumOff val="6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nl-NL" sz="2600" dirty="0">
                          <a:latin typeface="Frutiger LT Std 45 Light"/>
                          <a:ea typeface="ＭＳ Ｐゴシック"/>
                        </a:rPr>
                        <a:t>Wat </a:t>
                      </a:r>
                      <a:r>
                        <a:rPr lang="en-US" altLang="nl-NL" sz="2600" dirty="0" err="1">
                          <a:latin typeface="Frutiger LT Std 45 Light"/>
                          <a:ea typeface="ＭＳ Ｐゴシック"/>
                        </a:rPr>
                        <a:t>wij</a:t>
                      </a:r>
                      <a:r>
                        <a:rPr lang="en-US" altLang="nl-NL" sz="2600" dirty="0">
                          <a:latin typeface="Frutiger LT Std 45 Light"/>
                          <a:ea typeface="ＭＳ Ｐゴシック"/>
                        </a:rPr>
                        <a:t> en </a:t>
                      </a:r>
                      <a:r>
                        <a:rPr lang="en-US" altLang="nl-NL" sz="2600" dirty="0" err="1">
                          <a:latin typeface="Frutiger LT Std 45 Light"/>
                          <a:ea typeface="ＭＳ Ｐゴシック"/>
                        </a:rPr>
                        <a:t>anderen</a:t>
                      </a:r>
                      <a:r>
                        <a:rPr lang="en-US" altLang="nl-NL" sz="2600" dirty="0">
                          <a:latin typeface="Frutiger LT Std 45 Light"/>
                          <a:ea typeface="ＭＳ Ｐゴシック"/>
                        </a:rPr>
                        <a:t> van</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nl-NL" sz="2600" dirty="0" err="1">
                          <a:latin typeface="Frutiger LT Std 45 Light"/>
                          <a:ea typeface="ＭＳ Ｐゴシック"/>
                        </a:rPr>
                        <a:t>ons</a:t>
                      </a:r>
                      <a:r>
                        <a:rPr lang="en-US" altLang="nl-NL" sz="2600" dirty="0">
                          <a:latin typeface="Frutiger LT Std 45 Light"/>
                          <a:ea typeface="ＭＳ Ｐゴシック"/>
                        </a:rPr>
                        <a:t> </a:t>
                      </a:r>
                      <a:r>
                        <a:rPr lang="en-US" altLang="nl-NL" sz="2600" dirty="0" err="1">
                          <a:latin typeface="Frutiger LT Std 45 Light"/>
                          <a:ea typeface="ＭＳ Ｐゴシック"/>
                        </a:rPr>
                        <a:t>verwachten</a:t>
                      </a:r>
                      <a:endParaRPr lang="nl-NL" altLang="nl-NL" sz="2600" dirty="0">
                        <a:latin typeface="Frutiger LT Std 45 Light"/>
                        <a:ea typeface="ＭＳ Ｐゴシック"/>
                      </a:endParaRPr>
                    </a:p>
                  </a:txBody>
                  <a:tcPr>
                    <a:solidFill>
                      <a:schemeClr val="accent4">
                        <a:lumMod val="40000"/>
                        <a:lumOff val="60000"/>
                      </a:schemeClr>
                    </a:solidFill>
                  </a:tcPr>
                </a:tc>
                <a:extLst>
                  <a:ext uri="{0D108BD9-81ED-4DB2-BD59-A6C34878D82A}">
                    <a16:rowId xmlns:a16="http://schemas.microsoft.com/office/drawing/2014/main" val="2168074835"/>
                  </a:ext>
                </a:extLst>
              </a:tr>
            </a:tbl>
          </a:graphicData>
        </a:graphic>
      </p:graphicFrame>
    </p:spTree>
    <p:extLst>
      <p:ext uri="{BB962C8B-B14F-4D97-AF65-F5344CB8AC3E}">
        <p14:creationId xmlns:p14="http://schemas.microsoft.com/office/powerpoint/2010/main" val="1837692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kstvak 5">
            <a:extLst>
              <a:ext uri="{FF2B5EF4-FFF2-40B4-BE49-F238E27FC236}">
                <a16:creationId xmlns:a16="http://schemas.microsoft.com/office/drawing/2014/main" id="{204503FA-C183-4B6C-A229-D54124473841}"/>
              </a:ext>
            </a:extLst>
          </p:cNvPr>
          <p:cNvSpPr txBox="1">
            <a:spLocks noChangeArrowheads="1"/>
          </p:cNvSpPr>
          <p:nvPr/>
        </p:nvSpPr>
        <p:spPr bwMode="auto">
          <a:xfrm>
            <a:off x="1804188" y="1373751"/>
            <a:ext cx="85836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eaLnBrk="1" hangingPunct="1">
              <a:spcBef>
                <a:spcPct val="0"/>
              </a:spcBef>
              <a:buClrTx/>
              <a:buSzTx/>
              <a:buFontTx/>
              <a:buNone/>
            </a:pPr>
            <a:r>
              <a:rPr lang="en-US" altLang="nl-NL" b="1" dirty="0" err="1">
                <a:latin typeface="Frutiger LT Std 45 Light" panose="020B0402020204020204" pitchFamily="34" charset="0"/>
              </a:rPr>
              <a:t>Voorbeeld</a:t>
            </a:r>
            <a:r>
              <a:rPr lang="en-US" altLang="nl-NL" b="1" dirty="0">
                <a:latin typeface="Frutiger LT Std 45 Light" panose="020B0402020204020204" pitchFamily="34" charset="0"/>
              </a:rPr>
              <a:t>: </a:t>
            </a:r>
            <a:r>
              <a:rPr lang="en-US" altLang="nl-NL" b="1" dirty="0" err="1">
                <a:latin typeface="Frutiger LT Std 45 Light" panose="020B0402020204020204" pitchFamily="34" charset="0"/>
              </a:rPr>
              <a:t>een</a:t>
            </a:r>
            <a:r>
              <a:rPr lang="en-US" altLang="nl-NL" b="1" dirty="0">
                <a:latin typeface="Frutiger LT Std 45 Light" panose="020B0402020204020204" pitchFamily="34" charset="0"/>
              </a:rPr>
              <a:t> rapport </a:t>
            </a:r>
            <a:r>
              <a:rPr lang="en-US" altLang="nl-NL" b="1" dirty="0" err="1">
                <a:latin typeface="Frutiger LT Std 45 Light" panose="020B0402020204020204" pitchFamily="34" charset="0"/>
              </a:rPr>
              <a:t>afmaken</a:t>
            </a:r>
            <a:r>
              <a:rPr lang="en-US" altLang="nl-NL" b="1" dirty="0">
                <a:latin typeface="Frutiger LT Std 45 Light" panose="020B0402020204020204" pitchFamily="34" charset="0"/>
              </a:rPr>
              <a:t> </a:t>
            </a:r>
            <a:r>
              <a:rPr lang="en-US" altLang="nl-NL" b="1" dirty="0" err="1">
                <a:latin typeface="Frutiger LT Std 45 Light" panose="020B0402020204020204" pitchFamily="34" charset="0"/>
              </a:rPr>
              <a:t>voor</a:t>
            </a:r>
            <a:r>
              <a:rPr lang="en-US" altLang="nl-NL" b="1" dirty="0">
                <a:latin typeface="Frutiger LT Std 45 Light" panose="020B0402020204020204" pitchFamily="34" charset="0"/>
              </a:rPr>
              <a:t> de deadline</a:t>
            </a:r>
            <a:endParaRPr lang="nl-NL" altLang="nl-NL" b="1" dirty="0">
              <a:latin typeface="Frutiger LT Std 45 Light" panose="020B0402020204020204" pitchFamily="34" charset="0"/>
            </a:endParaRPr>
          </a:p>
        </p:txBody>
      </p:sp>
      <p:sp>
        <p:nvSpPr>
          <p:cNvPr id="7" name="Titel 1">
            <a:extLst>
              <a:ext uri="{FF2B5EF4-FFF2-40B4-BE49-F238E27FC236}">
                <a16:creationId xmlns:a16="http://schemas.microsoft.com/office/drawing/2014/main" id="{0316EF47-39DF-4786-BD4A-77C84D1E58FB}"/>
              </a:ext>
            </a:extLst>
          </p:cNvPr>
          <p:cNvSpPr txBox="1">
            <a:spLocks/>
          </p:cNvSpPr>
          <p:nvPr/>
        </p:nvSpPr>
        <p:spPr bwMode="auto">
          <a:xfrm>
            <a:off x="1187638" y="504170"/>
            <a:ext cx="9657695" cy="714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defRPr/>
            </a:pPr>
            <a:r>
              <a:rPr lang="nl-NL"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cs typeface="Arial" charset="0"/>
              </a:rPr>
              <a:t>Waarden gebaseerd gedragsmodel</a:t>
            </a:r>
            <a:endParaRPr lang="nl-NL" dirty="0">
              <a:solidFill>
                <a:srgbClr val="911D20"/>
              </a:solidFill>
              <a:effectLst>
                <a:outerShdw blurRad="38100" dist="38100" dir="2700000" algn="tl">
                  <a:srgbClr val="000000"/>
                </a:outerShdw>
              </a:effectLst>
              <a:latin typeface="Frutiger"/>
              <a:ea typeface="ＭＳ Ｐゴシック"/>
            </a:endParaRPr>
          </a:p>
        </p:txBody>
      </p:sp>
    </p:spTree>
    <p:extLst>
      <p:ext uri="{BB962C8B-B14F-4D97-AF65-F5344CB8AC3E}">
        <p14:creationId xmlns:p14="http://schemas.microsoft.com/office/powerpoint/2010/main" val="2709271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kstvak 3">
            <a:extLst>
              <a:ext uri="{FF2B5EF4-FFF2-40B4-BE49-F238E27FC236}">
                <a16:creationId xmlns:a16="http://schemas.microsoft.com/office/drawing/2014/main" id="{1379C60B-46B7-41DA-B4D3-8A48A00E75E1}"/>
              </a:ext>
            </a:extLst>
          </p:cNvPr>
          <p:cNvSpPr txBox="1"/>
          <p:nvPr/>
        </p:nvSpPr>
        <p:spPr>
          <a:xfrm>
            <a:off x="1434172" y="1600203"/>
            <a:ext cx="4286250" cy="2302169"/>
          </a:xfrm>
          <a:prstGeom prst="rect">
            <a:avLst/>
          </a:prstGeom>
          <a:solidFill>
            <a:schemeClr val="bg1">
              <a:alpha val="49020"/>
            </a:schemeClr>
          </a:solidFill>
        </p:spPr>
        <p:txBody>
          <a:bodyPr anchor="t">
            <a:spAutoFit/>
          </a:bodyPr>
          <a:lstStyle/>
          <a:p>
            <a:pPr marL="342900" indent="-342900" eaLnBrk="1" hangingPunct="1">
              <a:lnSpc>
                <a:spcPct val="115000"/>
              </a:lnSpc>
              <a:spcAft>
                <a:spcPts val="0"/>
              </a:spcAft>
              <a:buFont typeface="Arial" panose="020B0604020202020204" pitchFamily="34" charset="0"/>
              <a:buChar char="•"/>
              <a:defRPr/>
            </a:pPr>
            <a:r>
              <a:rPr lang="nl-NL">
                <a:latin typeface="Frutiger LT Std 45 Light"/>
                <a:ea typeface="Calibri"/>
                <a:cs typeface="Times New Roman"/>
              </a:rPr>
              <a:t>Makkelijk om over te praten.</a:t>
            </a:r>
          </a:p>
          <a:p>
            <a:pPr marL="342900" indent="-342900" eaLnBrk="1" hangingPunct="1">
              <a:lnSpc>
                <a:spcPct val="115000"/>
              </a:lnSpc>
              <a:spcAft>
                <a:spcPts val="0"/>
              </a:spcAft>
              <a:buFont typeface="Arial" panose="020B0604020202020204" pitchFamily="34" charset="0"/>
              <a:buChar char="•"/>
              <a:defRPr/>
            </a:pPr>
            <a:r>
              <a:rPr lang="nl-NL">
                <a:latin typeface="Frutiger LT Std 45 Light"/>
                <a:ea typeface="Calibri"/>
                <a:cs typeface="Times New Roman"/>
              </a:rPr>
              <a:t>Moeilijk om te implementeren.</a:t>
            </a:r>
          </a:p>
          <a:p>
            <a:pPr marL="342900" indent="-342900" eaLnBrk="1" hangingPunct="1">
              <a:lnSpc>
                <a:spcPct val="115000"/>
              </a:lnSpc>
              <a:spcAft>
                <a:spcPts val="0"/>
              </a:spcAft>
              <a:buFont typeface="Arial" panose="020B0604020202020204" pitchFamily="34" charset="0"/>
              <a:buChar char="•"/>
              <a:defRPr/>
            </a:pPr>
            <a:r>
              <a:rPr lang="nl-NL">
                <a:latin typeface="Frutiger LT Std 45 Light"/>
                <a:ea typeface="Calibri"/>
                <a:cs typeface="Times New Roman"/>
              </a:rPr>
              <a:t>Nog moeilijker voor buitenstaanders om te bepalen welke waarden dat zijn:</a:t>
            </a:r>
          </a:p>
          <a:p>
            <a:pPr marL="800100" lvl="1" indent="-342900" eaLnBrk="1" hangingPunct="1">
              <a:lnSpc>
                <a:spcPct val="115000"/>
              </a:lnSpc>
              <a:spcAft>
                <a:spcPts val="0"/>
              </a:spcAft>
              <a:buFont typeface="Symbol"/>
              <a:buChar char=""/>
              <a:defRPr/>
            </a:pPr>
            <a:r>
              <a:rPr lang="nl-NL">
                <a:latin typeface="Frutiger LT Std 45 Light"/>
                <a:ea typeface="Calibri"/>
                <a:cs typeface="Times New Roman"/>
              </a:rPr>
              <a:t>Oprechtheid</a:t>
            </a:r>
          </a:p>
          <a:p>
            <a:pPr marL="800100" lvl="1" indent="-342900" eaLnBrk="1" hangingPunct="1">
              <a:lnSpc>
                <a:spcPct val="115000"/>
              </a:lnSpc>
              <a:spcAft>
                <a:spcPts val="0"/>
              </a:spcAft>
              <a:buFont typeface="Symbol"/>
              <a:buChar char=""/>
              <a:defRPr/>
            </a:pPr>
            <a:r>
              <a:rPr lang="nl-NL">
                <a:latin typeface="Frutiger LT Std 45 Light"/>
                <a:ea typeface="Calibri"/>
                <a:cs typeface="Times New Roman"/>
              </a:rPr>
              <a:t>Mooier voorstellen dan het is</a:t>
            </a:r>
          </a:p>
        </p:txBody>
      </p:sp>
      <p:sp>
        <p:nvSpPr>
          <p:cNvPr id="5" name="Titel 1">
            <a:extLst>
              <a:ext uri="{FF2B5EF4-FFF2-40B4-BE49-F238E27FC236}">
                <a16:creationId xmlns:a16="http://schemas.microsoft.com/office/drawing/2014/main" id="{778AAA2A-5FA8-4B84-94C9-02BD4DE54593}"/>
              </a:ext>
            </a:extLst>
          </p:cNvPr>
          <p:cNvSpPr txBox="1">
            <a:spLocks/>
          </p:cNvSpPr>
          <p:nvPr/>
        </p:nvSpPr>
        <p:spPr bwMode="auto">
          <a:xfrm>
            <a:off x="609600" y="385766"/>
            <a:ext cx="10972800" cy="7858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defRPr/>
            </a:pPr>
            <a:r>
              <a:rPr lang="en-US" sz="3200" err="1">
                <a:solidFill>
                  <a:srgbClr val="911D20"/>
                </a:solidFill>
                <a:effectLst>
                  <a:outerShdw blurRad="38100" dist="38100" dir="2700000" algn="tl">
                    <a:srgbClr val="000000"/>
                  </a:outerShdw>
                </a:effectLst>
                <a:latin typeface="Frutiger LT Std 45 Light"/>
                <a:ea typeface="ＭＳ Ｐゴシック"/>
              </a:rPr>
              <a:t>Waarden</a:t>
            </a:r>
            <a:r>
              <a:rPr lang="en-US" sz="3200">
                <a:solidFill>
                  <a:srgbClr val="911D20"/>
                </a:solidFill>
                <a:effectLst>
                  <a:outerShdw blurRad="38100" dist="38100" dir="2700000" algn="tl">
                    <a:srgbClr val="000000"/>
                  </a:outerShdw>
                </a:effectLst>
                <a:latin typeface="Frutiger LT Std 45 Light"/>
                <a:ea typeface="ＭＳ Ｐゴシック"/>
              </a:rPr>
              <a:t> in de </a:t>
            </a:r>
            <a:r>
              <a:rPr lang="en-US" sz="3200" err="1">
                <a:solidFill>
                  <a:srgbClr val="911D20"/>
                </a:solidFill>
                <a:effectLst>
                  <a:outerShdw blurRad="38100" dist="38100" dir="2700000" algn="tl">
                    <a:srgbClr val="000000"/>
                  </a:outerShdw>
                </a:effectLst>
                <a:latin typeface="Frutiger LT Std 45 Light"/>
                <a:ea typeface="ＭＳ Ｐゴシック"/>
              </a:rPr>
              <a:t>werkomgeving</a:t>
            </a:r>
            <a:endParaRPr lang="nl-NL" sz="3200">
              <a:solidFill>
                <a:srgbClr val="911D20"/>
              </a:solidFill>
              <a:effectLst>
                <a:outerShdw blurRad="38100" dist="38100" dir="2700000" algn="tl">
                  <a:srgbClr val="000000"/>
                </a:outerShdw>
              </a:effectLst>
              <a:latin typeface="Frutiger LT Std 45 Light"/>
              <a:ea typeface="ＭＳ Ｐゴシック"/>
            </a:endParaRPr>
          </a:p>
        </p:txBody>
      </p:sp>
      <p:pic>
        <p:nvPicPr>
          <p:cNvPr id="6" name="Picture 2" descr="http://wiesner-hager.at/_custom/gfx/office-architecture/oa-background.jpg">
            <a:extLst>
              <a:ext uri="{FF2B5EF4-FFF2-40B4-BE49-F238E27FC236}">
                <a16:creationId xmlns:a16="http://schemas.microsoft.com/office/drawing/2014/main" id="{380BEBA6-33D6-4A1D-B289-3E4EC2F1BFCB}"/>
              </a:ext>
            </a:extLst>
          </p:cNvPr>
          <p:cNvPicPr>
            <a:picLocks noChangeAspect="1" noChangeArrowheads="1"/>
          </p:cNvPicPr>
          <p:nvPr/>
        </p:nvPicPr>
        <p:blipFill>
          <a:blip r:embed="rId2"/>
          <a:srcRect/>
          <a:stretch>
            <a:fillRect/>
          </a:stretch>
        </p:blipFill>
        <p:spPr bwMode="auto">
          <a:xfrm>
            <a:off x="5956300" y="1600203"/>
            <a:ext cx="4414517" cy="4414517"/>
          </a:xfrm>
          <a:prstGeom prst="rect">
            <a:avLst/>
          </a:prstGeom>
          <a:ln>
            <a:noFill/>
          </a:ln>
          <a:effectLst>
            <a:outerShdw blurRad="292100" dist="139700" dir="2700000" algn="tl" rotWithShape="0">
              <a:srgbClr val="333333">
                <a:alpha val="65000"/>
              </a:srgbClr>
            </a:outerShdw>
          </a:effectLst>
        </p:spPr>
      </p:pic>
      <p:sp>
        <p:nvSpPr>
          <p:cNvPr id="7" name="Tekstvak 6">
            <a:extLst>
              <a:ext uri="{FF2B5EF4-FFF2-40B4-BE49-F238E27FC236}">
                <a16:creationId xmlns:a16="http://schemas.microsoft.com/office/drawing/2014/main" id="{3500F45B-9AE4-49E0-9562-44991818C81D}"/>
              </a:ext>
            </a:extLst>
          </p:cNvPr>
          <p:cNvSpPr txBox="1"/>
          <p:nvPr/>
        </p:nvSpPr>
        <p:spPr>
          <a:xfrm>
            <a:off x="1410017" y="5018408"/>
            <a:ext cx="5715000" cy="430213"/>
          </a:xfrm>
          <a:prstGeom prst="rect">
            <a:avLst/>
          </a:prstGeom>
          <a:solidFill>
            <a:schemeClr val="accent2"/>
          </a:solidFill>
          <a:effectLst>
            <a:outerShdw blurRad="50800" dist="38100" dir="5400000" algn="t" rotWithShape="0">
              <a:prstClr val="black">
                <a:alpha val="40000"/>
              </a:prstClr>
            </a:outerShdw>
          </a:effectLst>
        </p:spPr>
        <p:txBody>
          <a:bodyPr>
            <a:spAutoFit/>
          </a:bodyPr>
          <a:lstStyle/>
          <a:p>
            <a:pPr algn="ctr" eaLnBrk="1" hangingPunct="1">
              <a:defRPr/>
            </a:pPr>
            <a:r>
              <a:rPr lang="en-US" sz="2200" dirty="0" err="1">
                <a:solidFill>
                  <a:schemeClr val="bg1"/>
                </a:solidFill>
                <a:latin typeface="Frutiger LT Std 45 Light" panose="020B0402020204020204" pitchFamily="34" charset="0"/>
              </a:rPr>
              <a:t>Onthoud</a:t>
            </a:r>
            <a:r>
              <a:rPr lang="en-US" sz="2200" dirty="0">
                <a:solidFill>
                  <a:schemeClr val="bg1"/>
                </a:solidFill>
                <a:latin typeface="Frutiger LT Std 45 Light" panose="020B0402020204020204" pitchFamily="34" charset="0"/>
              </a:rPr>
              <a:t>: </a:t>
            </a:r>
            <a:r>
              <a:rPr lang="nl-NL" sz="2200" dirty="0">
                <a:solidFill>
                  <a:schemeClr val="bg1"/>
                </a:solidFill>
                <a:latin typeface="Frutiger LT Std 45 Light" panose="020B0402020204020204" pitchFamily="34" charset="0"/>
              </a:rPr>
              <a:t>Het is wat je doet, niet wat je zegt.</a:t>
            </a:r>
          </a:p>
        </p:txBody>
      </p:sp>
    </p:spTree>
    <p:extLst>
      <p:ext uri="{BB962C8B-B14F-4D97-AF65-F5344CB8AC3E}">
        <p14:creationId xmlns:p14="http://schemas.microsoft.com/office/powerpoint/2010/main" val="1112400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C516281C-DD77-4D8A-9F55-C86E207F7687}"/>
              </a:ext>
            </a:extLst>
          </p:cNvPr>
          <p:cNvSpPr>
            <a:spLocks noGrp="1"/>
          </p:cNvSpPr>
          <p:nvPr>
            <p:ph idx="1"/>
          </p:nvPr>
        </p:nvSpPr>
        <p:spPr>
          <a:xfrm>
            <a:off x="833120" y="1600203"/>
            <a:ext cx="10972800" cy="4525963"/>
          </a:xfrm>
        </p:spPr>
        <p:txBody>
          <a:bodyPr/>
          <a:lstStyle/>
          <a:p>
            <a:endParaRPr lang="nl-NL" dirty="0"/>
          </a:p>
        </p:txBody>
      </p:sp>
      <p:pic>
        <p:nvPicPr>
          <p:cNvPr id="4" name="Picture 2" descr="http://www.destentor.nl/multimedia/archive/01013/brandweer_1013850b.jpg">
            <a:extLst>
              <a:ext uri="{FF2B5EF4-FFF2-40B4-BE49-F238E27FC236}">
                <a16:creationId xmlns:a16="http://schemas.microsoft.com/office/drawing/2014/main" id="{11EDBB21-F4E0-4A5C-B925-D120478B65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26" b="14531"/>
          <a:stretch>
            <a:fillRect/>
          </a:stretch>
        </p:blipFill>
        <p:spPr bwMode="auto">
          <a:xfrm>
            <a:off x="1012825" y="293531"/>
            <a:ext cx="9330055" cy="5804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kstvak 4">
            <a:extLst>
              <a:ext uri="{FF2B5EF4-FFF2-40B4-BE49-F238E27FC236}">
                <a16:creationId xmlns:a16="http://schemas.microsoft.com/office/drawing/2014/main" id="{0391B7B4-7F0D-4FE6-A138-DAA778693A69}"/>
              </a:ext>
            </a:extLst>
          </p:cNvPr>
          <p:cNvSpPr txBox="1"/>
          <p:nvPr/>
        </p:nvSpPr>
        <p:spPr>
          <a:xfrm>
            <a:off x="1194499" y="377579"/>
            <a:ext cx="3324586" cy="2985433"/>
          </a:xfrm>
          <a:prstGeom prst="rect">
            <a:avLst/>
          </a:prstGeom>
          <a:noFill/>
        </p:spPr>
        <p:txBody>
          <a:bodyPr wrap="square">
            <a:spAutoFit/>
          </a:bodyPr>
          <a:lstStyle/>
          <a:p>
            <a:pPr eaLnBrk="1" hangingPunct="1">
              <a:defRPr/>
            </a:pPr>
            <a:r>
              <a:rPr lang="en-US" sz="2800" b="1" dirty="0">
                <a:solidFill>
                  <a:schemeClr val="bg1"/>
                </a:solidFill>
                <a:effectLst>
                  <a:outerShdw blurRad="38100" dist="38100" dir="2700000" algn="tl">
                    <a:srgbClr val="000000"/>
                  </a:outerShdw>
                </a:effectLst>
                <a:latin typeface="Frutiger LT Std 45 Light" panose="020B0402020204020204" pitchFamily="34" charset="0"/>
              </a:rPr>
              <a:t>YOU CAN TELL A MAN’S CHARACTER BY THE CHOICES </a:t>
            </a:r>
          </a:p>
          <a:p>
            <a:pPr eaLnBrk="1" hangingPunct="1">
              <a:defRPr/>
            </a:pPr>
            <a:r>
              <a:rPr lang="en-US" sz="2800" b="1" dirty="0">
                <a:solidFill>
                  <a:schemeClr val="bg1"/>
                </a:solidFill>
                <a:effectLst>
                  <a:outerShdw blurRad="38100" dist="38100" dir="2700000" algn="tl">
                    <a:srgbClr val="000000"/>
                  </a:outerShdw>
                </a:effectLst>
                <a:latin typeface="Frutiger LT Std 45 Light" panose="020B0402020204020204" pitchFamily="34" charset="0"/>
              </a:rPr>
              <a:t>HE MAKES UNDER PRESSURE</a:t>
            </a:r>
            <a:endParaRPr lang="nl-NL" sz="2800" b="1" dirty="0">
              <a:solidFill>
                <a:schemeClr val="bg1"/>
              </a:solidFill>
              <a:effectLst>
                <a:outerShdw blurRad="38100" dist="38100" dir="2700000" algn="tl">
                  <a:srgbClr val="000000"/>
                </a:outerShdw>
              </a:effectLst>
              <a:latin typeface="Frutiger LT Std 45 Light" panose="020B0402020204020204" pitchFamily="34" charset="0"/>
            </a:endParaRPr>
          </a:p>
          <a:p>
            <a:pPr eaLnBrk="1" hangingPunct="1">
              <a:defRPr/>
            </a:pPr>
            <a:endParaRPr lang="en-US" sz="2400" b="1" dirty="0">
              <a:solidFill>
                <a:schemeClr val="bg1"/>
              </a:solidFill>
              <a:effectLst>
                <a:outerShdw blurRad="38100" dist="38100" dir="2700000" algn="tl">
                  <a:srgbClr val="000000"/>
                </a:outerShdw>
              </a:effectLst>
              <a:latin typeface="Frutiger LT Std 45 Light" panose="020B0402020204020204" pitchFamily="34" charset="0"/>
            </a:endParaRPr>
          </a:p>
          <a:p>
            <a:pPr eaLnBrk="1" hangingPunct="1">
              <a:defRPr/>
            </a:pPr>
            <a:r>
              <a:rPr lang="en-US" sz="2400" b="1" dirty="0">
                <a:solidFill>
                  <a:schemeClr val="bg1"/>
                </a:solidFill>
                <a:effectLst>
                  <a:outerShdw blurRad="38100" dist="38100" dir="2700000" algn="tl">
                    <a:srgbClr val="000000"/>
                  </a:outerShdw>
                </a:effectLst>
                <a:latin typeface="Frutiger LT Std 45 Light" panose="020B0402020204020204" pitchFamily="34" charset="0"/>
              </a:rPr>
              <a:t>Sir Winston Churchill</a:t>
            </a:r>
            <a:endParaRPr lang="nl-NL" sz="2400" b="1" dirty="0">
              <a:solidFill>
                <a:schemeClr val="bg1"/>
              </a:solidFill>
              <a:effectLst>
                <a:outerShdw blurRad="38100" dist="38100" dir="2700000" algn="tl">
                  <a:srgbClr val="000000"/>
                </a:outerShdw>
              </a:effectLst>
              <a:latin typeface="Frutiger LT Std 45 Light" panose="020B0402020204020204" pitchFamily="34" charset="0"/>
            </a:endParaRPr>
          </a:p>
        </p:txBody>
      </p:sp>
    </p:spTree>
    <p:extLst>
      <p:ext uri="{BB962C8B-B14F-4D97-AF65-F5344CB8AC3E}">
        <p14:creationId xmlns:p14="http://schemas.microsoft.com/office/powerpoint/2010/main" val="1894444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b63cc6">
            <a:extLst>
              <a:ext uri="{FF2B5EF4-FFF2-40B4-BE49-F238E27FC236}">
                <a16:creationId xmlns:a16="http://schemas.microsoft.com/office/drawing/2014/main" id="{6EA90464-A622-4E8B-A765-E0DB8599F1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7382"/>
          <a:stretch>
            <a:fillRect/>
          </a:stretch>
        </p:blipFill>
        <p:spPr bwMode="auto">
          <a:xfrm>
            <a:off x="486727" y="314961"/>
            <a:ext cx="9326789" cy="5750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kstvak 2">
            <a:extLst>
              <a:ext uri="{FF2B5EF4-FFF2-40B4-BE49-F238E27FC236}">
                <a16:creationId xmlns:a16="http://schemas.microsoft.com/office/drawing/2014/main" id="{069E11C9-502A-41F3-928B-2EEF133CE288}"/>
              </a:ext>
            </a:extLst>
          </p:cNvPr>
          <p:cNvSpPr txBox="1">
            <a:spLocks noChangeArrowheads="1"/>
          </p:cNvSpPr>
          <p:nvPr/>
        </p:nvSpPr>
        <p:spPr bwMode="auto">
          <a:xfrm>
            <a:off x="5293360" y="660400"/>
            <a:ext cx="4297680" cy="228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a:buNone/>
            </a:pPr>
            <a:r>
              <a:rPr lang="nl-NL" dirty="0">
                <a:solidFill>
                  <a:schemeClr val="bg1"/>
                </a:solidFill>
              </a:rPr>
              <a:t>“Karakter wordt niet gevormd in een crisissituatie – </a:t>
            </a:r>
          </a:p>
          <a:p>
            <a:pPr>
              <a:buNone/>
            </a:pPr>
            <a:r>
              <a:rPr lang="nl-NL" dirty="0">
                <a:solidFill>
                  <a:schemeClr val="bg1"/>
                </a:solidFill>
              </a:rPr>
              <a:t>het wordt dan alleen zichtbaar”</a:t>
            </a:r>
          </a:p>
        </p:txBody>
      </p:sp>
    </p:spTree>
    <p:extLst>
      <p:ext uri="{BB962C8B-B14F-4D97-AF65-F5344CB8AC3E}">
        <p14:creationId xmlns:p14="http://schemas.microsoft.com/office/powerpoint/2010/main" val="289371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fbeelding 2">
            <a:extLst>
              <a:ext uri="{FF2B5EF4-FFF2-40B4-BE49-F238E27FC236}">
                <a16:creationId xmlns:a16="http://schemas.microsoft.com/office/drawing/2014/main" id="{AAF340C1-A95C-4043-BFD0-C6B0FD2D16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204"/>
          <a:stretch>
            <a:fillRect/>
          </a:stretch>
        </p:blipFill>
        <p:spPr bwMode="auto">
          <a:xfrm>
            <a:off x="619760" y="1583980"/>
            <a:ext cx="3196907" cy="4523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kstvak 5">
            <a:extLst>
              <a:ext uri="{FF2B5EF4-FFF2-40B4-BE49-F238E27FC236}">
                <a16:creationId xmlns:a16="http://schemas.microsoft.com/office/drawing/2014/main" id="{AECB64C6-6831-432F-8553-D34E1D2C9D24}"/>
              </a:ext>
            </a:extLst>
          </p:cNvPr>
          <p:cNvSpPr txBox="1">
            <a:spLocks noChangeArrowheads="1"/>
          </p:cNvSpPr>
          <p:nvPr/>
        </p:nvSpPr>
        <p:spPr bwMode="auto">
          <a:xfrm>
            <a:off x="4033520" y="1615440"/>
            <a:ext cx="630936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eaLnBrk="1" hangingPunct="1">
              <a:spcBef>
                <a:spcPct val="0"/>
              </a:spcBef>
              <a:buClrTx/>
              <a:buSzTx/>
              <a:buFontTx/>
              <a:buNone/>
            </a:pPr>
            <a:r>
              <a:rPr lang="nl-NL" altLang="nl-NL" b="1">
                <a:solidFill>
                  <a:srgbClr val="911D20"/>
                </a:solidFill>
                <a:latin typeface="Frutiger LT Std 45 Light"/>
                <a:ea typeface="ＭＳ Ｐゴシック"/>
              </a:rPr>
              <a:t>Talent helpt je naar de top, maar het is karakter dat je aan de top houdt.</a:t>
            </a:r>
          </a:p>
        </p:txBody>
      </p:sp>
    </p:spTree>
    <p:extLst>
      <p:ext uri="{BB962C8B-B14F-4D97-AF65-F5344CB8AC3E}">
        <p14:creationId xmlns:p14="http://schemas.microsoft.com/office/powerpoint/2010/main" val="3400043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94A138-3382-47E3-8301-D7F76F0BF524}"/>
              </a:ext>
            </a:extLst>
          </p:cNvPr>
          <p:cNvSpPr>
            <a:spLocks noGrp="1"/>
          </p:cNvSpPr>
          <p:nvPr>
            <p:ph type="title"/>
          </p:nvPr>
        </p:nvSpPr>
        <p:spPr/>
        <p:txBody>
          <a:bodyPr/>
          <a:lstStyle/>
          <a:p>
            <a:endParaRPr lang="nl-NL" dirty="0"/>
          </a:p>
        </p:txBody>
      </p:sp>
      <p:sp>
        <p:nvSpPr>
          <p:cNvPr id="5" name="Tijdelijke aanduiding voor inhoud 4">
            <a:extLst>
              <a:ext uri="{FF2B5EF4-FFF2-40B4-BE49-F238E27FC236}">
                <a16:creationId xmlns:a16="http://schemas.microsoft.com/office/drawing/2014/main" id="{13897194-49AF-414C-91F9-94654D492BD3}"/>
              </a:ext>
            </a:extLst>
          </p:cNvPr>
          <p:cNvSpPr>
            <a:spLocks noGrp="1"/>
          </p:cNvSpPr>
          <p:nvPr>
            <p:ph idx="1"/>
          </p:nvPr>
        </p:nvSpPr>
        <p:spPr/>
        <p:txBody>
          <a:bodyPr/>
          <a:lstStyle/>
          <a:p>
            <a:endParaRPr lang="nl-NL"/>
          </a:p>
        </p:txBody>
      </p:sp>
    </p:spTree>
    <p:extLst>
      <p:ext uri="{BB962C8B-B14F-4D97-AF65-F5344CB8AC3E}">
        <p14:creationId xmlns:p14="http://schemas.microsoft.com/office/powerpoint/2010/main" val="2816168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ndertitel 2">
            <a:extLst>
              <a:ext uri="{FF2B5EF4-FFF2-40B4-BE49-F238E27FC236}">
                <a16:creationId xmlns:a16="http://schemas.microsoft.com/office/drawing/2014/main" id="{C261669F-F86C-4C4D-BBD6-0A18F17D120A}"/>
              </a:ext>
            </a:extLst>
          </p:cNvPr>
          <p:cNvSpPr txBox="1">
            <a:spLocks/>
          </p:cNvSpPr>
          <p:nvPr/>
        </p:nvSpPr>
        <p:spPr bwMode="auto">
          <a:xfrm>
            <a:off x="1409699" y="3772511"/>
            <a:ext cx="9372600" cy="914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eaLnBrk="1" hangingPunct="1">
              <a:spcBef>
                <a:spcPct val="0"/>
              </a:spcBef>
              <a:buNone/>
            </a:pPr>
            <a:r>
              <a:rPr lang="en-US" altLang="nl-NL" sz="4400" b="1" dirty="0" err="1">
                <a:solidFill>
                  <a:srgbClr val="79766F"/>
                </a:solidFill>
                <a:latin typeface="Frutiger LT Std 45 Light"/>
                <a:ea typeface="ＭＳ Ｐゴシック"/>
              </a:rPr>
              <a:t>Systemische</a:t>
            </a:r>
            <a:r>
              <a:rPr lang="en-US" altLang="nl-NL" sz="4400" b="1" dirty="0">
                <a:solidFill>
                  <a:srgbClr val="79766F"/>
                </a:solidFill>
                <a:latin typeface="Frutiger LT Std 45 Light"/>
                <a:ea typeface="ＭＳ Ｐゴシック"/>
              </a:rPr>
              <a:t> </a:t>
            </a:r>
            <a:r>
              <a:rPr lang="en-US" altLang="nl-NL" sz="4400" b="1" dirty="0" err="1">
                <a:solidFill>
                  <a:srgbClr val="79766F"/>
                </a:solidFill>
                <a:latin typeface="Frutiger LT Std 45 Light"/>
                <a:ea typeface="ＭＳ Ｐゴシック"/>
              </a:rPr>
              <a:t>aard</a:t>
            </a:r>
            <a:r>
              <a:rPr lang="en-US" altLang="nl-NL" sz="4400" b="1" dirty="0">
                <a:solidFill>
                  <a:srgbClr val="79766F"/>
                </a:solidFill>
                <a:latin typeface="Frutiger LT Std 45 Light"/>
                <a:ea typeface="ＭＳ Ｐゴシック"/>
              </a:rPr>
              <a:t> van de </a:t>
            </a:r>
            <a:r>
              <a:rPr lang="en-US" altLang="nl-NL" sz="4400" b="1" dirty="0" err="1">
                <a:solidFill>
                  <a:srgbClr val="79766F"/>
                </a:solidFill>
                <a:latin typeface="Frutiger LT Std 45 Light"/>
                <a:ea typeface="ＭＳ Ｐゴシック"/>
              </a:rPr>
              <a:t>waarden</a:t>
            </a:r>
            <a:endParaRPr lang="nl-NL" altLang="nl-NL" sz="4400" b="1" dirty="0">
              <a:solidFill>
                <a:srgbClr val="79766F"/>
              </a:solidFill>
              <a:latin typeface="Frutiger LT Std 45 Light"/>
              <a:ea typeface="ＭＳ Ｐゴシック"/>
            </a:endParaRPr>
          </a:p>
        </p:txBody>
      </p:sp>
      <p:sp>
        <p:nvSpPr>
          <p:cNvPr id="7" name="Ondertitel 2">
            <a:extLst>
              <a:ext uri="{FF2B5EF4-FFF2-40B4-BE49-F238E27FC236}">
                <a16:creationId xmlns:a16="http://schemas.microsoft.com/office/drawing/2014/main" id="{6EE05CE3-C29E-4B95-9369-BD852064838D}"/>
              </a:ext>
            </a:extLst>
          </p:cNvPr>
          <p:cNvSpPr txBox="1">
            <a:spLocks/>
          </p:cNvSpPr>
          <p:nvPr/>
        </p:nvSpPr>
        <p:spPr bwMode="auto">
          <a:xfrm>
            <a:off x="2159668" y="1600430"/>
            <a:ext cx="7772400" cy="1599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Bef>
                <a:spcPct val="0"/>
              </a:spcBef>
              <a:buNone/>
            </a:pPr>
            <a:r>
              <a:rPr lang="nl-NL" sz="8000"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cs typeface="Arial" charset="0"/>
              </a:rPr>
              <a:t>Concept III</a:t>
            </a:r>
          </a:p>
        </p:txBody>
      </p:sp>
    </p:spTree>
    <p:extLst>
      <p:ext uri="{BB962C8B-B14F-4D97-AF65-F5344CB8AC3E}">
        <p14:creationId xmlns:p14="http://schemas.microsoft.com/office/powerpoint/2010/main" val="2232963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2">
            <a:extLst>
              <a:ext uri="{FF2B5EF4-FFF2-40B4-BE49-F238E27FC236}">
                <a16:creationId xmlns:a16="http://schemas.microsoft.com/office/drawing/2014/main" id="{FF0CA669-438C-4691-A10C-EE441EB9BE44}"/>
              </a:ext>
            </a:extLst>
          </p:cNvPr>
          <p:cNvSpPr>
            <a:spLocks noChangeArrowheads="1"/>
          </p:cNvSpPr>
          <p:nvPr/>
        </p:nvSpPr>
        <p:spPr bwMode="auto">
          <a:xfrm>
            <a:off x="3147962" y="1292593"/>
            <a:ext cx="4912066" cy="4660165"/>
          </a:xfrm>
          <a:prstGeom prst="ellipse">
            <a:avLst/>
          </a:prstGeom>
          <a:gradFill flip="none" rotWithShape="1">
            <a:gsLst>
              <a:gs pos="0">
                <a:schemeClr val="accent5">
                  <a:lumMod val="40000"/>
                  <a:lumOff val="60000"/>
                  <a:tint val="66000"/>
                  <a:satMod val="160000"/>
                </a:schemeClr>
              </a:gs>
              <a:gs pos="50000">
                <a:schemeClr val="accent5">
                  <a:lumMod val="40000"/>
                  <a:lumOff val="60000"/>
                  <a:tint val="44500"/>
                  <a:satMod val="160000"/>
                </a:schemeClr>
              </a:gs>
              <a:gs pos="100000">
                <a:schemeClr val="accent5">
                  <a:lumMod val="40000"/>
                  <a:lumOff val="60000"/>
                  <a:tint val="23500"/>
                  <a:satMod val="160000"/>
                </a:schemeClr>
              </a:gs>
            </a:gsLst>
            <a:lin ang="5400000" scaled="1"/>
            <a:tileRect/>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nl-NL" altLang="nl-NL" sz="1200" dirty="0"/>
          </a:p>
        </p:txBody>
      </p:sp>
      <p:sp>
        <p:nvSpPr>
          <p:cNvPr id="6" name="Tijdelijke aanduiding voor dianummer 1">
            <a:extLst>
              <a:ext uri="{FF2B5EF4-FFF2-40B4-BE49-F238E27FC236}">
                <a16:creationId xmlns:a16="http://schemas.microsoft.com/office/drawing/2014/main" id="{F6D55957-AE64-4EF7-B3EF-84C83F4AEEE9}"/>
              </a:ext>
            </a:extLst>
          </p:cNvPr>
          <p:cNvSpPr txBox="1">
            <a:spLocks/>
          </p:cNvSpPr>
          <p:nvPr/>
        </p:nvSpPr>
        <p:spPr>
          <a:xfrm>
            <a:off x="6819900" y="6134100"/>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nl-NL"/>
            </a:defPPr>
            <a:lvl1pPr algn="r" rtl="0" eaLnBrk="1" fontAlgn="base" hangingPunct="1">
              <a:spcBef>
                <a:spcPct val="20000"/>
              </a:spcBef>
              <a:spcAft>
                <a:spcPct val="0"/>
              </a:spcAft>
              <a:buChar char="•"/>
              <a:defRPr sz="3200" kern="1200">
                <a:solidFill>
                  <a:schemeClr val="tx1"/>
                </a:solidFill>
                <a:latin typeface="Arial" panose="020B0604020202020204" pitchFamily="34"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Arial" panose="020B0604020202020204" pitchFamily="34"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Arial" panose="020B0604020202020204" pitchFamily="34" charset="0"/>
                <a:ea typeface="+mn-ea"/>
                <a:cs typeface="+mn-cs"/>
              </a:defRPr>
            </a:lvl9pPr>
          </a:lstStyle>
          <a:p>
            <a:pPr>
              <a:spcBef>
                <a:spcPct val="0"/>
              </a:spcBef>
              <a:buFontTx/>
              <a:buNone/>
            </a:pPr>
            <a:endParaRPr lang="en-US" altLang="nl-NL" sz="1000"/>
          </a:p>
          <a:p>
            <a:pPr>
              <a:spcBef>
                <a:spcPct val="0"/>
              </a:spcBef>
              <a:buFontTx/>
              <a:buNone/>
            </a:pPr>
            <a:fld id="{FD2BA668-7E50-4AA0-B7AB-4FEF2B1535C8}" type="slidenum">
              <a:rPr lang="en-US" altLang="nl-NL" sz="1000" smtClean="0"/>
              <a:pPr>
                <a:spcBef>
                  <a:spcPct val="0"/>
                </a:spcBef>
                <a:buFontTx/>
                <a:buNone/>
              </a:pPr>
              <a:t>21</a:t>
            </a:fld>
            <a:endParaRPr lang="en-US" altLang="nl-NL" sz="1000"/>
          </a:p>
        </p:txBody>
      </p:sp>
      <p:grpSp>
        <p:nvGrpSpPr>
          <p:cNvPr id="7" name="Group 3">
            <a:extLst>
              <a:ext uri="{FF2B5EF4-FFF2-40B4-BE49-F238E27FC236}">
                <a16:creationId xmlns:a16="http://schemas.microsoft.com/office/drawing/2014/main" id="{350E45DF-2A54-4D2E-BD9F-D5BC4FE5CBEB}"/>
              </a:ext>
            </a:extLst>
          </p:cNvPr>
          <p:cNvGrpSpPr>
            <a:grpSpLocks/>
          </p:cNvGrpSpPr>
          <p:nvPr/>
        </p:nvGrpSpPr>
        <p:grpSpPr bwMode="auto">
          <a:xfrm>
            <a:off x="3394511" y="1679182"/>
            <a:ext cx="4219339" cy="3715537"/>
            <a:chOff x="1296" y="720"/>
            <a:chExt cx="2736" cy="2880"/>
          </a:xfrm>
        </p:grpSpPr>
        <p:sp>
          <p:nvSpPr>
            <p:cNvPr id="8" name="Oval 4">
              <a:extLst>
                <a:ext uri="{FF2B5EF4-FFF2-40B4-BE49-F238E27FC236}">
                  <a16:creationId xmlns:a16="http://schemas.microsoft.com/office/drawing/2014/main" id="{6E6924AB-E901-4B41-9F5B-1A4D5706C6D1}"/>
                </a:ext>
              </a:extLst>
            </p:cNvPr>
            <p:cNvSpPr>
              <a:spLocks noChangeArrowheads="1"/>
            </p:cNvSpPr>
            <p:nvPr/>
          </p:nvSpPr>
          <p:spPr bwMode="auto">
            <a:xfrm>
              <a:off x="1387" y="720"/>
              <a:ext cx="1824" cy="17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nl-NL" altLang="nl-NL" sz="1200"/>
            </a:p>
          </p:txBody>
        </p:sp>
        <p:sp>
          <p:nvSpPr>
            <p:cNvPr id="9" name="Oval 5">
              <a:extLst>
                <a:ext uri="{FF2B5EF4-FFF2-40B4-BE49-F238E27FC236}">
                  <a16:creationId xmlns:a16="http://schemas.microsoft.com/office/drawing/2014/main" id="{CFCB3DA8-B9F4-4B48-9EDA-4814DFE5526D}"/>
                </a:ext>
              </a:extLst>
            </p:cNvPr>
            <p:cNvSpPr>
              <a:spLocks noChangeArrowheads="1"/>
            </p:cNvSpPr>
            <p:nvPr/>
          </p:nvSpPr>
          <p:spPr bwMode="auto">
            <a:xfrm>
              <a:off x="1296" y="1824"/>
              <a:ext cx="1824" cy="17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nl-NL" altLang="nl-NL" sz="1200"/>
            </a:p>
          </p:txBody>
        </p:sp>
        <p:sp>
          <p:nvSpPr>
            <p:cNvPr id="10" name="Oval 6">
              <a:extLst>
                <a:ext uri="{FF2B5EF4-FFF2-40B4-BE49-F238E27FC236}">
                  <a16:creationId xmlns:a16="http://schemas.microsoft.com/office/drawing/2014/main" id="{38570704-EE7E-4CA3-A63F-371680A99AE3}"/>
                </a:ext>
              </a:extLst>
            </p:cNvPr>
            <p:cNvSpPr>
              <a:spLocks noChangeArrowheads="1"/>
            </p:cNvSpPr>
            <p:nvPr/>
          </p:nvSpPr>
          <p:spPr bwMode="auto">
            <a:xfrm>
              <a:off x="2208" y="1824"/>
              <a:ext cx="1824" cy="17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nl-NL" altLang="nl-NL" sz="1200"/>
            </a:p>
          </p:txBody>
        </p:sp>
        <p:sp>
          <p:nvSpPr>
            <p:cNvPr id="11" name="Oval 7">
              <a:extLst>
                <a:ext uri="{FF2B5EF4-FFF2-40B4-BE49-F238E27FC236}">
                  <a16:creationId xmlns:a16="http://schemas.microsoft.com/office/drawing/2014/main" id="{858F4C0A-195F-43BA-9DD0-C7E175B99650}"/>
                </a:ext>
              </a:extLst>
            </p:cNvPr>
            <p:cNvSpPr>
              <a:spLocks noChangeArrowheads="1"/>
            </p:cNvSpPr>
            <p:nvPr/>
          </p:nvSpPr>
          <p:spPr bwMode="auto">
            <a:xfrm>
              <a:off x="2160" y="720"/>
              <a:ext cx="1824" cy="17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nl-NL" altLang="nl-NL" sz="1200"/>
            </a:p>
          </p:txBody>
        </p:sp>
      </p:grpSp>
      <p:sp>
        <p:nvSpPr>
          <p:cNvPr id="12" name="Text Box 8">
            <a:extLst>
              <a:ext uri="{FF2B5EF4-FFF2-40B4-BE49-F238E27FC236}">
                <a16:creationId xmlns:a16="http://schemas.microsoft.com/office/drawing/2014/main" id="{7F9E6016-0ADD-431F-A888-A72C79757F86}"/>
              </a:ext>
            </a:extLst>
          </p:cNvPr>
          <p:cNvSpPr txBox="1">
            <a:spLocks noChangeArrowheads="1"/>
          </p:cNvSpPr>
          <p:nvPr/>
        </p:nvSpPr>
        <p:spPr bwMode="auto">
          <a:xfrm>
            <a:off x="4195451" y="1305860"/>
            <a:ext cx="2896859" cy="305233"/>
          </a:xfrm>
          <a:prstGeom prst="rect">
            <a:avLst/>
          </a:prstGeom>
          <a:noFill/>
          <a:ln w="9525">
            <a:noFill/>
            <a:miter lim="800000"/>
            <a:headEnd/>
            <a:tailEnd/>
          </a:ln>
          <a:effectLst/>
        </p:spPr>
        <p:txBody>
          <a:bodyPr>
            <a:spAutoFit/>
          </a:bodyPr>
          <a:lstStyle/>
          <a:p>
            <a:pPr algn="ctr" eaLnBrk="1" hangingPunct="1">
              <a:spcBef>
                <a:spcPct val="50000"/>
              </a:spcBef>
              <a:defRPr/>
            </a:pPr>
            <a:r>
              <a:rPr lang="en-US" b="1" dirty="0" err="1">
                <a:latin typeface="+mn-lt"/>
              </a:rPr>
              <a:t>Niet</a:t>
            </a:r>
            <a:r>
              <a:rPr lang="en-US" b="1" dirty="0">
                <a:latin typeface="+mn-lt"/>
              </a:rPr>
              <a:t> </a:t>
            </a:r>
            <a:r>
              <a:rPr lang="en-US" b="1" dirty="0" err="1">
                <a:latin typeface="+mn-lt"/>
              </a:rPr>
              <a:t>willekeurig</a:t>
            </a:r>
            <a:endParaRPr lang="en-US" b="1" dirty="0">
              <a:latin typeface="+mn-lt"/>
            </a:endParaRPr>
          </a:p>
        </p:txBody>
      </p:sp>
      <p:sp>
        <p:nvSpPr>
          <p:cNvPr id="13" name="Text Box 9">
            <a:extLst>
              <a:ext uri="{FF2B5EF4-FFF2-40B4-BE49-F238E27FC236}">
                <a16:creationId xmlns:a16="http://schemas.microsoft.com/office/drawing/2014/main" id="{242C4DEF-486F-46B4-87F9-1910B8A22488}"/>
              </a:ext>
            </a:extLst>
          </p:cNvPr>
          <p:cNvSpPr txBox="1">
            <a:spLocks noChangeArrowheads="1"/>
          </p:cNvSpPr>
          <p:nvPr/>
        </p:nvSpPr>
        <p:spPr bwMode="auto">
          <a:xfrm>
            <a:off x="3481966" y="2567545"/>
            <a:ext cx="1647749" cy="305233"/>
          </a:xfrm>
          <a:prstGeom prst="rect">
            <a:avLst/>
          </a:prstGeom>
          <a:noFill/>
          <a:ln w="9525">
            <a:noFill/>
            <a:miter lim="800000"/>
            <a:headEnd/>
            <a:tailEnd/>
          </a:ln>
          <a:effectLst/>
        </p:spPr>
        <p:txBody>
          <a:bodyPr wrap="square">
            <a:spAutoFit/>
          </a:bodyPr>
          <a:lstStyle/>
          <a:p>
            <a:pPr eaLnBrk="1" hangingPunct="1">
              <a:spcBef>
                <a:spcPct val="50000"/>
              </a:spcBef>
              <a:defRPr/>
            </a:pPr>
            <a:r>
              <a:rPr lang="en-US" b="1" dirty="0" err="1">
                <a:latin typeface="+mj-lt"/>
              </a:rPr>
              <a:t>Hiërarchisch</a:t>
            </a:r>
            <a:endParaRPr lang="en-US" b="1" dirty="0">
              <a:latin typeface="+mj-lt"/>
            </a:endParaRPr>
          </a:p>
        </p:txBody>
      </p:sp>
      <p:sp>
        <p:nvSpPr>
          <p:cNvPr id="14" name="Text Box 10">
            <a:extLst>
              <a:ext uri="{FF2B5EF4-FFF2-40B4-BE49-F238E27FC236}">
                <a16:creationId xmlns:a16="http://schemas.microsoft.com/office/drawing/2014/main" id="{84A3244E-4C2B-4CE8-A785-5DE1313FFAF9}"/>
              </a:ext>
            </a:extLst>
          </p:cNvPr>
          <p:cNvSpPr txBox="1">
            <a:spLocks noChangeArrowheads="1"/>
          </p:cNvSpPr>
          <p:nvPr/>
        </p:nvSpPr>
        <p:spPr bwMode="auto">
          <a:xfrm>
            <a:off x="6444125" y="2524108"/>
            <a:ext cx="1286504" cy="369332"/>
          </a:xfrm>
          <a:prstGeom prst="rect">
            <a:avLst/>
          </a:prstGeom>
          <a:noFill/>
          <a:ln w="9525">
            <a:noFill/>
            <a:miter lim="800000"/>
            <a:headEnd/>
            <a:tailEnd/>
          </a:ln>
          <a:effectLst/>
        </p:spPr>
        <p:txBody>
          <a:bodyPr wrap="square">
            <a:spAutoFit/>
          </a:bodyPr>
          <a:lstStyle/>
          <a:p>
            <a:pPr eaLnBrk="1" hangingPunct="1">
              <a:spcBef>
                <a:spcPct val="50000"/>
              </a:spcBef>
              <a:defRPr/>
            </a:pPr>
            <a:r>
              <a:rPr lang="en-US" b="1" dirty="0">
                <a:latin typeface="+mn-lt"/>
              </a:rPr>
              <a:t>Clusters</a:t>
            </a:r>
          </a:p>
        </p:txBody>
      </p:sp>
      <p:sp>
        <p:nvSpPr>
          <p:cNvPr id="15" name="Text Box 11">
            <a:extLst>
              <a:ext uri="{FF2B5EF4-FFF2-40B4-BE49-F238E27FC236}">
                <a16:creationId xmlns:a16="http://schemas.microsoft.com/office/drawing/2014/main" id="{BB640F32-E9B6-4586-AD96-967882617992}"/>
              </a:ext>
            </a:extLst>
          </p:cNvPr>
          <p:cNvSpPr txBox="1">
            <a:spLocks noChangeArrowheads="1"/>
          </p:cNvSpPr>
          <p:nvPr/>
        </p:nvSpPr>
        <p:spPr bwMode="auto">
          <a:xfrm>
            <a:off x="3551188" y="4597620"/>
            <a:ext cx="1763305" cy="305233"/>
          </a:xfrm>
          <a:prstGeom prst="rect">
            <a:avLst/>
          </a:prstGeom>
          <a:noFill/>
          <a:ln w="9525">
            <a:noFill/>
            <a:miter lim="800000"/>
            <a:headEnd/>
            <a:tailEnd/>
          </a:ln>
          <a:effectLst/>
        </p:spPr>
        <p:txBody>
          <a:bodyPr wrap="square">
            <a:spAutoFit/>
          </a:bodyPr>
          <a:lstStyle/>
          <a:p>
            <a:pPr eaLnBrk="1" hangingPunct="1">
              <a:spcBef>
                <a:spcPct val="50000"/>
              </a:spcBef>
              <a:defRPr/>
            </a:pPr>
            <a:r>
              <a:rPr lang="en-US" b="1" dirty="0" err="1">
                <a:latin typeface="+mj-lt"/>
              </a:rPr>
              <a:t>Centralisatie</a:t>
            </a:r>
            <a:endParaRPr lang="en-US" b="1" dirty="0">
              <a:latin typeface="+mj-lt"/>
            </a:endParaRPr>
          </a:p>
        </p:txBody>
      </p:sp>
      <p:sp>
        <p:nvSpPr>
          <p:cNvPr id="16" name="Text Box 12">
            <a:extLst>
              <a:ext uri="{FF2B5EF4-FFF2-40B4-BE49-F238E27FC236}">
                <a16:creationId xmlns:a16="http://schemas.microsoft.com/office/drawing/2014/main" id="{503D8042-E992-4B4C-8F06-ECC82E46BE98}"/>
              </a:ext>
            </a:extLst>
          </p:cNvPr>
          <p:cNvSpPr txBox="1">
            <a:spLocks noChangeArrowheads="1"/>
          </p:cNvSpPr>
          <p:nvPr/>
        </p:nvSpPr>
        <p:spPr bwMode="auto">
          <a:xfrm>
            <a:off x="6443640" y="4323928"/>
            <a:ext cx="2037838" cy="483285"/>
          </a:xfrm>
          <a:prstGeom prst="rect">
            <a:avLst/>
          </a:prstGeom>
          <a:noFill/>
          <a:ln w="9525">
            <a:noFill/>
            <a:miter lim="800000"/>
            <a:headEnd/>
            <a:tailEnd/>
          </a:ln>
          <a:effectLst/>
        </p:spPr>
        <p:txBody>
          <a:bodyPr wrap="square">
            <a:spAutoFit/>
          </a:bodyPr>
          <a:lstStyle/>
          <a:p>
            <a:pPr eaLnBrk="1" hangingPunct="1">
              <a:spcBef>
                <a:spcPct val="50000"/>
              </a:spcBef>
              <a:defRPr/>
            </a:pPr>
            <a:r>
              <a:rPr lang="en-US" sz="1600" b="1" dirty="0">
                <a:latin typeface="+mj-lt"/>
              </a:rPr>
              <a:t>Samen-</a:t>
            </a:r>
            <a:br>
              <a:rPr lang="en-US" sz="1600" b="1" dirty="0">
                <a:latin typeface="+mj-lt"/>
              </a:rPr>
            </a:br>
            <a:r>
              <a:rPr lang="en-US" sz="1600" b="1" dirty="0" err="1">
                <a:latin typeface="+mj-lt"/>
              </a:rPr>
              <a:t>hangend</a:t>
            </a:r>
            <a:endParaRPr lang="en-US" sz="1600" b="1" dirty="0">
              <a:latin typeface="+mj-lt"/>
            </a:endParaRPr>
          </a:p>
        </p:txBody>
      </p:sp>
      <p:sp>
        <p:nvSpPr>
          <p:cNvPr id="17" name="Text Box 13">
            <a:extLst>
              <a:ext uri="{FF2B5EF4-FFF2-40B4-BE49-F238E27FC236}">
                <a16:creationId xmlns:a16="http://schemas.microsoft.com/office/drawing/2014/main" id="{4F4DA7B4-8354-4BA5-881C-E08FE9BFFD42}"/>
              </a:ext>
            </a:extLst>
          </p:cNvPr>
          <p:cNvSpPr txBox="1">
            <a:spLocks noChangeArrowheads="1"/>
          </p:cNvSpPr>
          <p:nvPr/>
        </p:nvSpPr>
        <p:spPr bwMode="auto">
          <a:xfrm>
            <a:off x="609600" y="157527"/>
            <a:ext cx="10972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buNone/>
            </a:pPr>
            <a:r>
              <a:rPr lang="nl-NL" sz="2800" b="1" dirty="0"/>
              <a:t>De grondbeginselen van een waardensysteem</a:t>
            </a:r>
          </a:p>
        </p:txBody>
      </p:sp>
    </p:spTree>
    <p:extLst>
      <p:ext uri="{BB962C8B-B14F-4D97-AF65-F5344CB8AC3E}">
        <p14:creationId xmlns:p14="http://schemas.microsoft.com/office/powerpoint/2010/main" val="1898172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8709E59-5CE7-4120-ADFA-E36230CB8C20}"/>
              </a:ext>
            </a:extLst>
          </p:cNvPr>
          <p:cNvSpPr txBox="1">
            <a:spLocks noChangeArrowheads="1"/>
          </p:cNvSpPr>
          <p:nvPr/>
        </p:nvSpPr>
        <p:spPr>
          <a:xfrm>
            <a:off x="609600" y="370683"/>
            <a:ext cx="10972799" cy="787399"/>
          </a:xfrm>
          <a:prstGeom prst="rect">
            <a:avLst/>
          </a:prstGeom>
        </p:spPr>
        <p:txBody>
          <a:bodyPr anchor="t" anchorCtr="1"/>
          <a:lstStyle>
            <a:lvl1pPr algn="l" rtl="0" eaLnBrk="0" fontAlgn="base" hangingPunct="0">
              <a:spcBef>
                <a:spcPct val="0"/>
              </a:spcBef>
              <a:spcAft>
                <a:spcPct val="0"/>
              </a:spcAft>
              <a:defRPr sz="3600" b="1" kern="1200">
                <a:solidFill>
                  <a:srgbClr val="FF8D3E"/>
                </a:solidFill>
                <a:effectLst>
                  <a:outerShdw blurRad="53975" dist="22860" dir="5400000" algn="tl" rotWithShape="0">
                    <a:srgbClr val="000000">
                      <a:alpha val="55000"/>
                    </a:srgbClr>
                  </a:outerShdw>
                </a:effectLst>
                <a:latin typeface="+mj-lt"/>
                <a:ea typeface="+mj-ea"/>
                <a:cs typeface="+mj-cs"/>
              </a:defRPr>
            </a:lvl1pPr>
            <a:lvl2pPr algn="l" rtl="0" eaLnBrk="0" fontAlgn="base" hangingPunct="0">
              <a:spcBef>
                <a:spcPct val="0"/>
              </a:spcBef>
              <a:spcAft>
                <a:spcPct val="0"/>
              </a:spcAft>
              <a:defRPr sz="3600" b="1">
                <a:solidFill>
                  <a:srgbClr val="FF8D3E"/>
                </a:solidFill>
                <a:latin typeface="Verdana" pitchFamily="34" charset="0"/>
              </a:defRPr>
            </a:lvl2pPr>
            <a:lvl3pPr algn="l" rtl="0" eaLnBrk="0" fontAlgn="base" hangingPunct="0">
              <a:spcBef>
                <a:spcPct val="0"/>
              </a:spcBef>
              <a:spcAft>
                <a:spcPct val="0"/>
              </a:spcAft>
              <a:defRPr sz="3600" b="1">
                <a:solidFill>
                  <a:srgbClr val="FF8D3E"/>
                </a:solidFill>
                <a:latin typeface="Verdana" pitchFamily="34" charset="0"/>
              </a:defRPr>
            </a:lvl3pPr>
            <a:lvl4pPr algn="l" rtl="0" eaLnBrk="0" fontAlgn="base" hangingPunct="0">
              <a:spcBef>
                <a:spcPct val="0"/>
              </a:spcBef>
              <a:spcAft>
                <a:spcPct val="0"/>
              </a:spcAft>
              <a:defRPr sz="3600" b="1">
                <a:solidFill>
                  <a:srgbClr val="FF8D3E"/>
                </a:solidFill>
                <a:latin typeface="Verdana" pitchFamily="34" charset="0"/>
              </a:defRPr>
            </a:lvl4pPr>
            <a:lvl5pPr algn="l" rtl="0" eaLnBrk="0" fontAlgn="base" hangingPunct="0">
              <a:spcBef>
                <a:spcPct val="0"/>
              </a:spcBef>
              <a:spcAft>
                <a:spcPct val="0"/>
              </a:spcAft>
              <a:defRPr sz="3600" b="1">
                <a:solidFill>
                  <a:srgbClr val="FF8D3E"/>
                </a:solidFill>
                <a:latin typeface="Verdana" pitchFamily="34" charset="0"/>
              </a:defRPr>
            </a:lvl5pPr>
            <a:lvl6pPr marL="457200" algn="l" rtl="0" fontAlgn="base">
              <a:spcBef>
                <a:spcPct val="0"/>
              </a:spcBef>
              <a:spcAft>
                <a:spcPct val="0"/>
              </a:spcAft>
              <a:defRPr sz="3600" b="1">
                <a:solidFill>
                  <a:srgbClr val="FF8D3E"/>
                </a:solidFill>
                <a:latin typeface="Verdana" pitchFamily="34" charset="0"/>
              </a:defRPr>
            </a:lvl6pPr>
            <a:lvl7pPr marL="914400" algn="l" rtl="0" fontAlgn="base">
              <a:spcBef>
                <a:spcPct val="0"/>
              </a:spcBef>
              <a:spcAft>
                <a:spcPct val="0"/>
              </a:spcAft>
              <a:defRPr sz="3600" b="1">
                <a:solidFill>
                  <a:srgbClr val="FF8D3E"/>
                </a:solidFill>
                <a:latin typeface="Verdana" pitchFamily="34" charset="0"/>
              </a:defRPr>
            </a:lvl7pPr>
            <a:lvl8pPr marL="1371600" algn="l" rtl="0" fontAlgn="base">
              <a:spcBef>
                <a:spcPct val="0"/>
              </a:spcBef>
              <a:spcAft>
                <a:spcPct val="0"/>
              </a:spcAft>
              <a:defRPr sz="3600" b="1">
                <a:solidFill>
                  <a:srgbClr val="FF8D3E"/>
                </a:solidFill>
                <a:latin typeface="Verdana" pitchFamily="34" charset="0"/>
              </a:defRPr>
            </a:lvl8pPr>
            <a:lvl9pPr marL="1828800" algn="l" rtl="0" fontAlgn="base">
              <a:spcBef>
                <a:spcPct val="0"/>
              </a:spcBef>
              <a:spcAft>
                <a:spcPct val="0"/>
              </a:spcAft>
              <a:defRPr sz="3600" b="1">
                <a:solidFill>
                  <a:srgbClr val="FF8D3E"/>
                </a:solidFill>
                <a:latin typeface="Verdana" pitchFamily="34" charset="0"/>
              </a:defRPr>
            </a:lvl9pPr>
            <a:extLst/>
          </a:lstStyle>
          <a:p>
            <a:pPr eaLnBrk="1" hangingPunct="1"/>
            <a:r>
              <a:rPr lang="nl-NL" altLang="nl-NL" sz="2000" dirty="0">
                <a:solidFill>
                  <a:schemeClr val="tx1"/>
                </a:solidFill>
              </a:rPr>
              <a:t>De totstandkoming van waarden: Waarden als een afhankelijke variabele in menselijk gedrag</a:t>
            </a:r>
            <a:endParaRPr lang="en-US" altLang="nl-NL" sz="2000" dirty="0">
              <a:solidFill>
                <a:schemeClr val="tx1"/>
              </a:solidFill>
            </a:endParaRPr>
          </a:p>
        </p:txBody>
      </p:sp>
      <p:grpSp>
        <p:nvGrpSpPr>
          <p:cNvPr id="5" name="Diagram 28">
            <a:extLst>
              <a:ext uri="{FF2B5EF4-FFF2-40B4-BE49-F238E27FC236}">
                <a16:creationId xmlns:a16="http://schemas.microsoft.com/office/drawing/2014/main" id="{0A94C9AF-6A57-4F1A-8E1D-A4098060D841}"/>
              </a:ext>
            </a:extLst>
          </p:cNvPr>
          <p:cNvGrpSpPr>
            <a:grpSpLocks noChangeAspect="1"/>
          </p:cNvGrpSpPr>
          <p:nvPr/>
        </p:nvGrpSpPr>
        <p:grpSpPr bwMode="auto">
          <a:xfrm>
            <a:off x="1813560" y="1174908"/>
            <a:ext cx="8229600" cy="4525963"/>
            <a:chOff x="336" y="1061"/>
            <a:chExt cx="5184" cy="2851"/>
          </a:xfrm>
        </p:grpSpPr>
        <p:graphicFrame>
          <p:nvGraphicFramePr>
            <p:cNvPr id="6" name="Diagram 5">
              <a:extLst>
                <a:ext uri="{FF2B5EF4-FFF2-40B4-BE49-F238E27FC236}">
                  <a16:creationId xmlns:a16="http://schemas.microsoft.com/office/drawing/2014/main" id="{1CD78CFB-1248-4AE9-BEB5-DDF011E89ED0}"/>
                </a:ext>
              </a:extLst>
            </p:cNvPr>
            <p:cNvGraphicFramePr/>
            <p:nvPr>
              <p:extLst>
                <p:ext uri="{D42A27DB-BD31-4B8C-83A1-F6EECF244321}">
                  <p14:modId xmlns:p14="http://schemas.microsoft.com/office/powerpoint/2010/main" val="1055613729"/>
                </p:ext>
              </p:extLst>
            </p:nvPr>
          </p:nvGraphicFramePr>
          <p:xfrm>
            <a:off x="336" y="1061"/>
            <a:ext cx="5184" cy="28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AutoShape 36">
              <a:extLst>
                <a:ext uri="{FF2B5EF4-FFF2-40B4-BE49-F238E27FC236}">
                  <a16:creationId xmlns:a16="http://schemas.microsoft.com/office/drawing/2014/main" id="{6521FBF5-72C8-4F01-A8B2-87CDB06F01CF}"/>
                </a:ext>
              </a:extLst>
            </p:cNvPr>
            <p:cNvSpPr>
              <a:spLocks noChangeArrowheads="1"/>
            </p:cNvSpPr>
            <p:nvPr/>
          </p:nvSpPr>
          <p:spPr bwMode="auto">
            <a:xfrm>
              <a:off x="544" y="2224"/>
              <a:ext cx="864" cy="355"/>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lgn="ctr" eaLnBrk="1" hangingPunct="1"/>
              <a:r>
                <a:rPr lang="en-US" altLang="nl-NL" sz="1200" dirty="0" err="1"/>
                <a:t>Demografische</a:t>
              </a:r>
              <a:r>
                <a:rPr lang="en-US" altLang="nl-NL" sz="1200" dirty="0"/>
                <a:t> </a:t>
              </a:r>
              <a:r>
                <a:rPr lang="en-US" altLang="nl-NL" sz="1200" dirty="0" err="1"/>
                <a:t>kenmerken</a:t>
              </a:r>
              <a:endParaRPr lang="en-US" altLang="nl-NL" sz="1200" dirty="0"/>
            </a:p>
          </p:txBody>
        </p:sp>
        <p:sp>
          <p:nvSpPr>
            <p:cNvPr id="8" name="AutoShape 37">
              <a:extLst>
                <a:ext uri="{FF2B5EF4-FFF2-40B4-BE49-F238E27FC236}">
                  <a16:creationId xmlns:a16="http://schemas.microsoft.com/office/drawing/2014/main" id="{F754D9BE-571D-444C-B841-D7BBBD99228A}"/>
                </a:ext>
              </a:extLst>
            </p:cNvPr>
            <p:cNvSpPr>
              <a:spLocks noChangeArrowheads="1"/>
            </p:cNvSpPr>
            <p:nvPr/>
          </p:nvSpPr>
          <p:spPr bwMode="auto">
            <a:xfrm>
              <a:off x="688" y="1872"/>
              <a:ext cx="720" cy="288"/>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nl-NL" sz="1200" b="0" i="0" u="none" strike="noStrike" cap="none" normalizeH="0" baseline="0" dirty="0" err="1">
                  <a:ln>
                    <a:noFill/>
                  </a:ln>
                  <a:solidFill>
                    <a:schemeClr val="tx1"/>
                  </a:solidFill>
                  <a:effectLst/>
                  <a:latin typeface="Arial" panose="020B0604020202020204" pitchFamily="34" charset="0"/>
                </a:rPr>
                <a:t>Opvattingen</a:t>
              </a:r>
              <a:endParaRPr kumimoji="0" lang="en-US" altLang="nl-NL" sz="1200" b="0" i="0" u="none" strike="noStrike" cap="none" normalizeH="0" baseline="0" dirty="0">
                <a:ln>
                  <a:noFill/>
                </a:ln>
                <a:solidFill>
                  <a:schemeClr val="tx1"/>
                </a:solidFill>
                <a:effectLst/>
                <a:latin typeface="Arial" panose="020B0604020202020204" pitchFamily="34" charset="0"/>
              </a:endParaRPr>
            </a:p>
          </p:txBody>
        </p:sp>
        <p:sp>
          <p:nvSpPr>
            <p:cNvPr id="9" name="AutoShape 38">
              <a:extLst>
                <a:ext uri="{FF2B5EF4-FFF2-40B4-BE49-F238E27FC236}">
                  <a16:creationId xmlns:a16="http://schemas.microsoft.com/office/drawing/2014/main" id="{34BEE58D-8E0A-47DD-A342-1FE8A3E1C5F8}"/>
                </a:ext>
              </a:extLst>
            </p:cNvPr>
            <p:cNvSpPr>
              <a:spLocks noChangeArrowheads="1"/>
            </p:cNvSpPr>
            <p:nvPr/>
          </p:nvSpPr>
          <p:spPr bwMode="auto">
            <a:xfrm>
              <a:off x="4368" y="1536"/>
              <a:ext cx="720" cy="288"/>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nl-NL" sz="1200" b="0" i="0" u="none" strike="noStrike" cap="none" normalizeH="0" baseline="0" dirty="0" err="1">
                  <a:ln>
                    <a:noFill/>
                  </a:ln>
                  <a:solidFill>
                    <a:schemeClr val="tx1"/>
                  </a:solidFill>
                  <a:effectLst/>
                  <a:latin typeface="Arial" panose="020B0604020202020204" pitchFamily="34" charset="0"/>
                </a:rPr>
                <a:t>Cultrureel</a:t>
              </a:r>
              <a:endParaRPr kumimoji="0" lang="en-US" altLang="nl-NL" sz="1200" b="0" i="0" u="none" strike="noStrike" cap="none" normalizeH="0" baseline="0" dirty="0">
                <a:ln>
                  <a:noFill/>
                </a:ln>
                <a:solidFill>
                  <a:schemeClr val="tx1"/>
                </a:solidFill>
                <a:effectLst/>
                <a:latin typeface="Arial" panose="020B0604020202020204" pitchFamily="34" charset="0"/>
              </a:endParaRPr>
            </a:p>
          </p:txBody>
        </p:sp>
        <p:sp>
          <p:nvSpPr>
            <p:cNvPr id="10" name="AutoShape 39">
              <a:extLst>
                <a:ext uri="{FF2B5EF4-FFF2-40B4-BE49-F238E27FC236}">
                  <a16:creationId xmlns:a16="http://schemas.microsoft.com/office/drawing/2014/main" id="{243BF023-7BA4-4527-A398-65F9C354EFCA}"/>
                </a:ext>
              </a:extLst>
            </p:cNvPr>
            <p:cNvSpPr>
              <a:spLocks noChangeArrowheads="1"/>
            </p:cNvSpPr>
            <p:nvPr/>
          </p:nvSpPr>
          <p:spPr bwMode="auto">
            <a:xfrm>
              <a:off x="4368" y="2016"/>
              <a:ext cx="720" cy="288"/>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lvl="0" algn="ctr" eaLnBrk="1" hangingPunct="1"/>
              <a:r>
                <a:rPr lang="en-US" altLang="nl-NL" sz="1200" dirty="0" err="1"/>
                <a:t>Institutioneel</a:t>
              </a:r>
              <a:endParaRPr kumimoji="0" lang="en-US" altLang="nl-NL" sz="1200" b="0" i="0" u="none" strike="noStrike" cap="none" normalizeH="0" baseline="0" dirty="0">
                <a:ln>
                  <a:noFill/>
                </a:ln>
                <a:solidFill>
                  <a:schemeClr val="tx1"/>
                </a:solidFill>
                <a:effectLst/>
                <a:latin typeface="Arial" panose="020B0604020202020204" pitchFamily="34" charset="0"/>
              </a:endParaRPr>
            </a:p>
          </p:txBody>
        </p:sp>
        <p:sp>
          <p:nvSpPr>
            <p:cNvPr id="11" name="Oval 17">
              <a:extLst>
                <a:ext uri="{FF2B5EF4-FFF2-40B4-BE49-F238E27FC236}">
                  <a16:creationId xmlns:a16="http://schemas.microsoft.com/office/drawing/2014/main" id="{82DE9D85-9331-4F93-86C0-39684388AB23}"/>
                </a:ext>
              </a:extLst>
            </p:cNvPr>
            <p:cNvSpPr>
              <a:spLocks noChangeArrowheads="1"/>
            </p:cNvSpPr>
            <p:nvPr/>
          </p:nvSpPr>
          <p:spPr bwMode="auto">
            <a:xfrm>
              <a:off x="2352" y="2160"/>
              <a:ext cx="1008" cy="576"/>
            </a:xfrm>
            <a:prstGeom prst="ellipse">
              <a:avLst/>
            </a:prstGeom>
            <a:solidFill>
              <a:schemeClr val="accent1"/>
            </a:solidFill>
            <a:ln w="57150" cmpd="thickThin">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nl-NL" sz="1400" b="0" i="0" u="none" strike="noStrike" cap="none" normalizeH="0" baseline="0" dirty="0" err="1">
                  <a:ln>
                    <a:noFill/>
                  </a:ln>
                  <a:solidFill>
                    <a:schemeClr val="tx1"/>
                  </a:solidFill>
                  <a:effectLst/>
                  <a:latin typeface="Arial" panose="020B0604020202020204" pitchFamily="34" charset="0"/>
                </a:rPr>
                <a:t>Waarden</a:t>
              </a:r>
              <a:endParaRPr lang="en-US" altLang="nl-NL" sz="1400" dirty="0"/>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nl-NL" sz="1400" b="0" i="0" u="none" strike="noStrike" cap="none" normalizeH="0" baseline="0" dirty="0" err="1">
                  <a:ln>
                    <a:noFill/>
                  </a:ln>
                  <a:solidFill>
                    <a:schemeClr val="tx1"/>
                  </a:solidFill>
                  <a:effectLst/>
                  <a:latin typeface="Arial" panose="020B0604020202020204" pitchFamily="34" charset="0"/>
                </a:rPr>
                <a:t>bronnen</a:t>
              </a:r>
              <a:endParaRPr kumimoji="0" lang="en-US" altLang="nl-NL" sz="1400" b="0" i="0" u="none" strike="noStrike" cap="none" normalizeH="0" baseline="0" dirty="0">
                <a:ln>
                  <a:noFill/>
                </a:ln>
                <a:solidFill>
                  <a:schemeClr val="tx1"/>
                </a:solidFill>
                <a:effectLst/>
                <a:latin typeface="Arial" panose="020B0604020202020204" pitchFamily="34" charset="0"/>
              </a:endParaRPr>
            </a:p>
          </p:txBody>
        </p:sp>
        <p:sp>
          <p:nvSpPr>
            <p:cNvPr id="12" name="AutoShape 18">
              <a:extLst>
                <a:ext uri="{FF2B5EF4-FFF2-40B4-BE49-F238E27FC236}">
                  <a16:creationId xmlns:a16="http://schemas.microsoft.com/office/drawing/2014/main" id="{2CD470A7-7250-4284-B7D4-7F5C57123B85}"/>
                </a:ext>
              </a:extLst>
            </p:cNvPr>
            <p:cNvSpPr>
              <a:spLocks noChangeArrowheads="1"/>
            </p:cNvSpPr>
            <p:nvPr/>
          </p:nvSpPr>
          <p:spPr bwMode="auto">
            <a:xfrm>
              <a:off x="688" y="1488"/>
              <a:ext cx="720" cy="288"/>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nl-NL" sz="1200" b="0" i="0" u="none" strike="noStrike" cap="none" normalizeH="0" baseline="0" dirty="0" err="1">
                  <a:ln>
                    <a:noFill/>
                  </a:ln>
                  <a:solidFill>
                    <a:schemeClr val="tx1"/>
                  </a:solidFill>
                  <a:effectLst/>
                  <a:latin typeface="Arial" panose="020B0604020202020204" pitchFamily="34" charset="0"/>
                </a:rPr>
                <a:t>Behoeften</a:t>
              </a:r>
              <a:endParaRPr kumimoji="0" lang="en-US" altLang="nl-NL" sz="1200" b="0" i="0" u="none" strike="noStrike" cap="none" normalizeH="0" baseline="0" dirty="0">
                <a:ln>
                  <a:noFill/>
                </a:ln>
                <a:solidFill>
                  <a:schemeClr val="tx1"/>
                </a:solidFill>
                <a:effectLst/>
                <a:latin typeface="Arial" panose="020B0604020202020204" pitchFamily="34" charset="0"/>
              </a:endParaRPr>
            </a:p>
          </p:txBody>
        </p:sp>
        <p:sp>
          <p:nvSpPr>
            <p:cNvPr id="13" name="AutoShape 25">
              <a:extLst>
                <a:ext uri="{FF2B5EF4-FFF2-40B4-BE49-F238E27FC236}">
                  <a16:creationId xmlns:a16="http://schemas.microsoft.com/office/drawing/2014/main" id="{700CEDE8-DB90-42EF-B108-C7E212102448}"/>
                </a:ext>
              </a:extLst>
            </p:cNvPr>
            <p:cNvSpPr>
              <a:spLocks noChangeArrowheads="1"/>
            </p:cNvSpPr>
            <p:nvPr/>
          </p:nvSpPr>
          <p:spPr bwMode="auto">
            <a:xfrm>
              <a:off x="2496" y="2856"/>
              <a:ext cx="864" cy="864"/>
            </a:xfrm>
            <a:prstGeom prst="flowChartConnector">
              <a:avLst/>
            </a:prstGeom>
            <a:gradFill rotWithShape="1">
              <a:gsLst>
                <a:gs pos="0">
                  <a:srgbClr val="66FFCC"/>
                </a:gs>
                <a:gs pos="100000">
                  <a:srgbClr val="66FFFF"/>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nl-NL" sz="1400" b="0" i="0" u="none" strike="noStrike" cap="none" normalizeH="0" baseline="0" dirty="0">
                  <a:ln>
                    <a:noFill/>
                  </a:ln>
                  <a:solidFill>
                    <a:schemeClr val="tx1"/>
                  </a:solidFill>
                  <a:effectLst/>
                  <a:latin typeface="Arial" panose="020B0604020202020204" pitchFamily="34" charset="0"/>
                </a:rPr>
                <a:t>2</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nl-NL" sz="1400" b="0" i="0" u="none" strike="noStrike" cap="none" normalizeH="0" baseline="0" dirty="0" err="1">
                  <a:ln>
                    <a:noFill/>
                  </a:ln>
                  <a:solidFill>
                    <a:schemeClr val="tx1"/>
                  </a:solidFill>
                  <a:effectLst/>
                  <a:latin typeface="Arial" panose="020B0604020202020204" pitchFamily="34" charset="0"/>
                </a:rPr>
                <a:t>Sociale</a:t>
              </a:r>
              <a:endParaRPr kumimoji="0" lang="en-US" altLang="nl-NL" sz="14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nl-NL" sz="1400" b="0" i="0" u="none" strike="noStrike" cap="none" normalizeH="0" baseline="0" dirty="0" err="1">
                  <a:ln>
                    <a:noFill/>
                  </a:ln>
                  <a:solidFill>
                    <a:schemeClr val="tx1"/>
                  </a:solidFill>
                  <a:effectLst/>
                  <a:latin typeface="Arial" panose="020B0604020202020204" pitchFamily="34" charset="0"/>
                </a:rPr>
                <a:t>invloeden</a:t>
              </a:r>
              <a:endParaRPr kumimoji="0" lang="en-US" altLang="nl-NL" sz="14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nl-NL" sz="1400" b="0" i="0" u="none" strike="noStrike" cap="none" normalizeH="0" baseline="0" dirty="0">
                <a:ln>
                  <a:noFill/>
                </a:ln>
                <a:solidFill>
                  <a:schemeClr val="tx1"/>
                </a:solidFill>
                <a:effectLst/>
                <a:latin typeface="Arial" panose="020B0604020202020204" pitchFamily="34" charset="0"/>
              </a:endParaRPr>
            </a:p>
          </p:txBody>
        </p:sp>
      </p:grpSp>
      <p:sp>
        <p:nvSpPr>
          <p:cNvPr id="14" name="AutoShape 26">
            <a:extLst>
              <a:ext uri="{FF2B5EF4-FFF2-40B4-BE49-F238E27FC236}">
                <a16:creationId xmlns:a16="http://schemas.microsoft.com/office/drawing/2014/main" id="{8E25900C-E190-46AB-B282-1A1C3609979B}"/>
              </a:ext>
            </a:extLst>
          </p:cNvPr>
          <p:cNvSpPr>
            <a:spLocks noChangeArrowheads="1"/>
          </p:cNvSpPr>
          <p:nvPr/>
        </p:nvSpPr>
        <p:spPr bwMode="auto">
          <a:xfrm>
            <a:off x="6385560" y="1816258"/>
            <a:ext cx="1371600" cy="1371600"/>
          </a:xfrm>
          <a:prstGeom prst="flowChartConnector">
            <a:avLst/>
          </a:prstGeom>
          <a:gradFill rotWithShape="1">
            <a:gsLst>
              <a:gs pos="0">
                <a:srgbClr val="66FFCC"/>
              </a:gs>
              <a:gs pos="100000">
                <a:srgbClr val="66FFFF"/>
              </a:gs>
            </a:gsLst>
            <a:path path="shape">
              <a:fillToRect l="50000" t="50000" r="50000" b="50000"/>
            </a:path>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nl-NL" sz="1400" dirty="0"/>
              <a:t>3</a:t>
            </a:r>
          </a:p>
          <a:p>
            <a:pPr algn="ctr" eaLnBrk="1" hangingPunct="1">
              <a:spcBef>
                <a:spcPct val="0"/>
              </a:spcBef>
              <a:buFontTx/>
              <a:buNone/>
            </a:pPr>
            <a:r>
              <a:rPr lang="en-US" altLang="nl-NL" sz="1400" dirty="0" err="1"/>
              <a:t>Omgevings</a:t>
            </a:r>
            <a:r>
              <a:rPr lang="en-US" altLang="nl-NL" sz="1400" dirty="0"/>
              <a:t>-</a:t>
            </a:r>
          </a:p>
          <a:p>
            <a:pPr algn="ctr" eaLnBrk="1" hangingPunct="1">
              <a:spcBef>
                <a:spcPct val="0"/>
              </a:spcBef>
              <a:buFontTx/>
              <a:buNone/>
            </a:pPr>
            <a:r>
              <a:rPr lang="en-US" altLang="nl-NL" sz="1400" dirty="0" err="1"/>
              <a:t>invloeden</a:t>
            </a:r>
            <a:endParaRPr lang="en-US" altLang="nl-NL" sz="1400" dirty="0"/>
          </a:p>
          <a:p>
            <a:pPr algn="ctr" eaLnBrk="1" hangingPunct="1">
              <a:spcBef>
                <a:spcPct val="0"/>
              </a:spcBef>
              <a:buFontTx/>
              <a:buNone/>
            </a:pPr>
            <a:endParaRPr lang="en-US" altLang="nl-NL" sz="1400" dirty="0"/>
          </a:p>
        </p:txBody>
      </p:sp>
      <p:sp>
        <p:nvSpPr>
          <p:cNvPr id="15" name="AutoShape 27">
            <a:extLst>
              <a:ext uri="{FF2B5EF4-FFF2-40B4-BE49-F238E27FC236}">
                <a16:creationId xmlns:a16="http://schemas.microsoft.com/office/drawing/2014/main" id="{75AFF346-ABD8-469B-B058-796C64B5CC25}"/>
              </a:ext>
            </a:extLst>
          </p:cNvPr>
          <p:cNvSpPr>
            <a:spLocks noChangeArrowheads="1"/>
          </p:cNvSpPr>
          <p:nvPr/>
        </p:nvSpPr>
        <p:spPr bwMode="auto">
          <a:xfrm>
            <a:off x="3794760" y="1968658"/>
            <a:ext cx="1371600" cy="1371600"/>
          </a:xfrm>
          <a:prstGeom prst="flowChartConnector">
            <a:avLst/>
          </a:prstGeom>
          <a:gradFill rotWithShape="1">
            <a:gsLst>
              <a:gs pos="0">
                <a:srgbClr val="66FFCC"/>
              </a:gs>
              <a:gs pos="100000">
                <a:srgbClr val="66FFFF"/>
              </a:gs>
            </a:gsLst>
            <a:path path="shape">
              <a:fillToRect l="50000" t="50000" r="50000" b="50000"/>
            </a:path>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nl-NL" sz="1400" dirty="0"/>
              <a:t>1</a:t>
            </a:r>
          </a:p>
          <a:p>
            <a:pPr algn="ctr" eaLnBrk="1" hangingPunct="1">
              <a:spcBef>
                <a:spcPct val="0"/>
              </a:spcBef>
              <a:buFontTx/>
              <a:buNone/>
            </a:pPr>
            <a:r>
              <a:rPr lang="en-US" altLang="nl-NL" sz="1400" dirty="0"/>
              <a:t>Persoonlijke</a:t>
            </a:r>
          </a:p>
          <a:p>
            <a:pPr algn="ctr" eaLnBrk="1" hangingPunct="1">
              <a:spcBef>
                <a:spcPct val="0"/>
              </a:spcBef>
              <a:buFontTx/>
              <a:buNone/>
            </a:pPr>
            <a:r>
              <a:rPr lang="en-US" altLang="nl-NL" sz="1400" dirty="0" err="1"/>
              <a:t>invloeden</a:t>
            </a:r>
            <a:endParaRPr lang="en-US" altLang="nl-NL" sz="1400" dirty="0"/>
          </a:p>
          <a:p>
            <a:pPr algn="ctr" eaLnBrk="1" hangingPunct="1">
              <a:spcBef>
                <a:spcPct val="0"/>
              </a:spcBef>
              <a:buFontTx/>
              <a:buNone/>
            </a:pPr>
            <a:endParaRPr lang="en-US" altLang="nl-NL" sz="1400" dirty="0"/>
          </a:p>
        </p:txBody>
      </p:sp>
      <p:cxnSp>
        <p:nvCxnSpPr>
          <p:cNvPr id="16" name="AutoShape 43">
            <a:extLst>
              <a:ext uri="{FF2B5EF4-FFF2-40B4-BE49-F238E27FC236}">
                <a16:creationId xmlns:a16="http://schemas.microsoft.com/office/drawing/2014/main" id="{53B57248-1CB7-4AC0-9B6E-119EC92A70C0}"/>
              </a:ext>
            </a:extLst>
          </p:cNvPr>
          <p:cNvCxnSpPr>
            <a:cxnSpLocks noChangeShapeType="1"/>
            <a:endCxn id="15" idx="2"/>
          </p:cNvCxnSpPr>
          <p:nvPr/>
        </p:nvCxnSpPr>
        <p:spPr bwMode="auto">
          <a:xfrm>
            <a:off x="3515360" y="2044858"/>
            <a:ext cx="279400" cy="6096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7" name="AutoShape 44">
            <a:extLst>
              <a:ext uri="{FF2B5EF4-FFF2-40B4-BE49-F238E27FC236}">
                <a16:creationId xmlns:a16="http://schemas.microsoft.com/office/drawing/2014/main" id="{A068ADBC-F84B-4371-8393-7054127BBEEE}"/>
              </a:ext>
            </a:extLst>
          </p:cNvPr>
          <p:cNvCxnSpPr>
            <a:cxnSpLocks noChangeShapeType="1"/>
            <a:endCxn id="15" idx="2"/>
          </p:cNvCxnSpPr>
          <p:nvPr/>
        </p:nvCxnSpPr>
        <p:spPr bwMode="auto">
          <a:xfrm>
            <a:off x="3515360" y="2654458"/>
            <a:ext cx="279400"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 name="AutoShape 45">
            <a:extLst>
              <a:ext uri="{FF2B5EF4-FFF2-40B4-BE49-F238E27FC236}">
                <a16:creationId xmlns:a16="http://schemas.microsoft.com/office/drawing/2014/main" id="{7437C4D7-EDE9-41DF-B279-14AA5FE22E5B}"/>
              </a:ext>
            </a:extLst>
          </p:cNvPr>
          <p:cNvCxnSpPr>
            <a:cxnSpLocks noChangeShapeType="1"/>
            <a:endCxn id="15" idx="2"/>
          </p:cNvCxnSpPr>
          <p:nvPr/>
        </p:nvCxnSpPr>
        <p:spPr bwMode="auto">
          <a:xfrm flipV="1">
            <a:off x="3515360" y="2654458"/>
            <a:ext cx="279400" cy="558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9" name="AutoShape 46">
            <a:extLst>
              <a:ext uri="{FF2B5EF4-FFF2-40B4-BE49-F238E27FC236}">
                <a16:creationId xmlns:a16="http://schemas.microsoft.com/office/drawing/2014/main" id="{4301491C-8997-469E-B745-3BE9E8649BB7}"/>
              </a:ext>
            </a:extLst>
          </p:cNvPr>
          <p:cNvCxnSpPr>
            <a:cxnSpLocks noChangeShapeType="1"/>
            <a:endCxn id="14" idx="6"/>
          </p:cNvCxnSpPr>
          <p:nvPr/>
        </p:nvCxnSpPr>
        <p:spPr bwMode="auto">
          <a:xfrm flipH="1">
            <a:off x="7757160" y="2121058"/>
            <a:ext cx="457200" cy="3810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0" name="AutoShape 47">
            <a:extLst>
              <a:ext uri="{FF2B5EF4-FFF2-40B4-BE49-F238E27FC236}">
                <a16:creationId xmlns:a16="http://schemas.microsoft.com/office/drawing/2014/main" id="{894CCA63-E6C5-48E9-8D84-9C71EF26FD8F}"/>
              </a:ext>
            </a:extLst>
          </p:cNvPr>
          <p:cNvCxnSpPr>
            <a:cxnSpLocks noChangeShapeType="1"/>
            <a:endCxn id="14" idx="6"/>
          </p:cNvCxnSpPr>
          <p:nvPr/>
        </p:nvCxnSpPr>
        <p:spPr bwMode="auto">
          <a:xfrm flipH="1" flipV="1">
            <a:off x="7757160" y="2502058"/>
            <a:ext cx="457200" cy="3810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1" name="AutoShape 51">
            <a:extLst>
              <a:ext uri="{FF2B5EF4-FFF2-40B4-BE49-F238E27FC236}">
                <a16:creationId xmlns:a16="http://schemas.microsoft.com/office/drawing/2014/main" id="{37422A14-7B1F-4983-AF1A-BD76A460B89C}"/>
              </a:ext>
            </a:extLst>
          </p:cNvPr>
          <p:cNvSpPr>
            <a:spLocks noChangeArrowheads="1"/>
          </p:cNvSpPr>
          <p:nvPr/>
        </p:nvSpPr>
        <p:spPr bwMode="auto">
          <a:xfrm>
            <a:off x="6766559" y="5486557"/>
            <a:ext cx="1821891" cy="595313"/>
          </a:xfrm>
          <a:prstGeom prst="flowChartProcess">
            <a:avLst/>
          </a:prstGeom>
          <a:solidFill>
            <a:schemeClr val="accent1"/>
          </a:solidFill>
          <a:ln w="9525">
            <a:solidFill>
              <a:schemeClr val="tx1"/>
            </a:solidFill>
            <a:miter lim="800000"/>
            <a:headEnd/>
            <a:tailEnd/>
          </a:ln>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nl-NL" sz="1200" dirty="0" err="1"/>
              <a:t>Overige</a:t>
            </a:r>
            <a:r>
              <a:rPr lang="en-US" altLang="nl-NL" sz="1200" dirty="0"/>
              <a:t> </a:t>
            </a:r>
            <a:r>
              <a:rPr lang="en-US" altLang="nl-NL" sz="1200" dirty="0" err="1"/>
              <a:t>belangrijke</a:t>
            </a:r>
            <a:r>
              <a:rPr lang="en-US" altLang="nl-NL" sz="1200" dirty="0"/>
              <a:t> </a:t>
            </a:r>
            <a:r>
              <a:rPr lang="en-US" altLang="nl-NL" sz="1200" dirty="0" err="1"/>
              <a:t>levenservaringen</a:t>
            </a:r>
            <a:endParaRPr lang="en-US" altLang="nl-NL" sz="1200" dirty="0"/>
          </a:p>
        </p:txBody>
      </p:sp>
      <p:sp>
        <p:nvSpPr>
          <p:cNvPr id="22" name="AutoShape 49">
            <a:extLst>
              <a:ext uri="{FF2B5EF4-FFF2-40B4-BE49-F238E27FC236}">
                <a16:creationId xmlns:a16="http://schemas.microsoft.com/office/drawing/2014/main" id="{EE09EC7E-C1AA-4223-AF39-00BF41AB4B4B}"/>
              </a:ext>
            </a:extLst>
          </p:cNvPr>
          <p:cNvSpPr>
            <a:spLocks noChangeArrowheads="1"/>
          </p:cNvSpPr>
          <p:nvPr/>
        </p:nvSpPr>
        <p:spPr bwMode="auto">
          <a:xfrm>
            <a:off x="5242560" y="5486558"/>
            <a:ext cx="1371600" cy="457200"/>
          </a:xfrm>
          <a:prstGeom prst="flowChartProcess">
            <a:avLst/>
          </a:prstGeom>
          <a:solidFill>
            <a:schemeClr val="accent1"/>
          </a:solidFill>
          <a:ln w="9525">
            <a:solidFill>
              <a:schemeClr val="tx1"/>
            </a:solidFill>
            <a:miter lim="800000"/>
            <a:headEnd/>
            <a:tailEnd/>
          </a:ln>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nl-NL" sz="1200" dirty="0" err="1"/>
              <a:t>levenscrises</a:t>
            </a:r>
            <a:endParaRPr lang="en-US" altLang="nl-NL" sz="1200" dirty="0"/>
          </a:p>
        </p:txBody>
      </p:sp>
      <p:sp>
        <p:nvSpPr>
          <p:cNvPr id="23" name="AutoShape 48">
            <a:extLst>
              <a:ext uri="{FF2B5EF4-FFF2-40B4-BE49-F238E27FC236}">
                <a16:creationId xmlns:a16="http://schemas.microsoft.com/office/drawing/2014/main" id="{0588CDDF-7CEB-40E1-A91F-6D3A295BAB63}"/>
              </a:ext>
            </a:extLst>
          </p:cNvPr>
          <p:cNvSpPr>
            <a:spLocks noChangeArrowheads="1"/>
          </p:cNvSpPr>
          <p:nvPr/>
        </p:nvSpPr>
        <p:spPr bwMode="auto">
          <a:xfrm>
            <a:off x="3705860" y="5486558"/>
            <a:ext cx="1371600" cy="457200"/>
          </a:xfrm>
          <a:prstGeom prst="flowChartProcess">
            <a:avLst/>
          </a:prstGeom>
          <a:solidFill>
            <a:schemeClr val="accent1"/>
          </a:solidFill>
          <a:ln w="9525">
            <a:solidFill>
              <a:schemeClr val="tx1"/>
            </a:solidFill>
            <a:miter lim="800000"/>
            <a:headEnd/>
            <a:tailEnd/>
          </a:ln>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nl-NL" sz="1200" dirty="0" err="1"/>
              <a:t>Rolpatronen</a:t>
            </a:r>
            <a:endParaRPr lang="en-US" altLang="nl-NL" sz="1200" dirty="0"/>
          </a:p>
        </p:txBody>
      </p:sp>
      <p:cxnSp>
        <p:nvCxnSpPr>
          <p:cNvPr id="24" name="AutoShape 53">
            <a:extLst>
              <a:ext uri="{FF2B5EF4-FFF2-40B4-BE49-F238E27FC236}">
                <a16:creationId xmlns:a16="http://schemas.microsoft.com/office/drawing/2014/main" id="{8AAA4926-20BE-427D-B115-A25DE2E10811}"/>
              </a:ext>
            </a:extLst>
          </p:cNvPr>
          <p:cNvCxnSpPr>
            <a:cxnSpLocks noChangeShapeType="1"/>
            <a:stCxn id="23" idx="0"/>
          </p:cNvCxnSpPr>
          <p:nvPr/>
        </p:nvCxnSpPr>
        <p:spPr bwMode="auto">
          <a:xfrm flipV="1">
            <a:off x="4391660" y="5157946"/>
            <a:ext cx="1052513" cy="32861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5" name="AutoShape 54">
            <a:extLst>
              <a:ext uri="{FF2B5EF4-FFF2-40B4-BE49-F238E27FC236}">
                <a16:creationId xmlns:a16="http://schemas.microsoft.com/office/drawing/2014/main" id="{C94933A1-C191-4EBE-86E7-157C8D2E15BA}"/>
              </a:ext>
            </a:extLst>
          </p:cNvPr>
          <p:cNvCxnSpPr>
            <a:cxnSpLocks noChangeShapeType="1"/>
            <a:stCxn id="22" idx="0"/>
          </p:cNvCxnSpPr>
          <p:nvPr/>
        </p:nvCxnSpPr>
        <p:spPr bwMode="auto">
          <a:xfrm flipV="1">
            <a:off x="5928360" y="5359558"/>
            <a:ext cx="0" cy="1270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6" name="AutoShape 55">
            <a:extLst>
              <a:ext uri="{FF2B5EF4-FFF2-40B4-BE49-F238E27FC236}">
                <a16:creationId xmlns:a16="http://schemas.microsoft.com/office/drawing/2014/main" id="{A58B5C65-8DE5-46E2-9199-D690F1A34523}"/>
              </a:ext>
            </a:extLst>
          </p:cNvPr>
          <p:cNvCxnSpPr>
            <a:cxnSpLocks noChangeShapeType="1"/>
            <a:stCxn id="21" idx="0"/>
          </p:cNvCxnSpPr>
          <p:nvPr/>
        </p:nvCxnSpPr>
        <p:spPr bwMode="auto">
          <a:xfrm flipH="1" flipV="1">
            <a:off x="6412549" y="5157947"/>
            <a:ext cx="1264956" cy="32861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7" name="Line 61">
            <a:extLst>
              <a:ext uri="{FF2B5EF4-FFF2-40B4-BE49-F238E27FC236}">
                <a16:creationId xmlns:a16="http://schemas.microsoft.com/office/drawing/2014/main" id="{036C724C-A5BE-4CCD-8325-999EC608E67E}"/>
              </a:ext>
            </a:extLst>
          </p:cNvPr>
          <p:cNvSpPr>
            <a:spLocks noChangeShapeType="1"/>
          </p:cNvSpPr>
          <p:nvPr/>
        </p:nvSpPr>
        <p:spPr bwMode="auto">
          <a:xfrm>
            <a:off x="5013960" y="3035458"/>
            <a:ext cx="1524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l-NL"/>
          </a:p>
        </p:txBody>
      </p:sp>
      <p:sp>
        <p:nvSpPr>
          <p:cNvPr id="28" name="Line 62">
            <a:extLst>
              <a:ext uri="{FF2B5EF4-FFF2-40B4-BE49-F238E27FC236}">
                <a16:creationId xmlns:a16="http://schemas.microsoft.com/office/drawing/2014/main" id="{3AA3C060-A686-45FD-BFE7-5AC31C77051B}"/>
              </a:ext>
            </a:extLst>
          </p:cNvPr>
          <p:cNvSpPr>
            <a:spLocks noChangeShapeType="1"/>
          </p:cNvSpPr>
          <p:nvPr/>
        </p:nvSpPr>
        <p:spPr bwMode="auto">
          <a:xfrm>
            <a:off x="5852160" y="3797458"/>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l-NL"/>
          </a:p>
        </p:txBody>
      </p:sp>
      <p:sp>
        <p:nvSpPr>
          <p:cNvPr id="29" name="Line 63">
            <a:extLst>
              <a:ext uri="{FF2B5EF4-FFF2-40B4-BE49-F238E27FC236}">
                <a16:creationId xmlns:a16="http://schemas.microsoft.com/office/drawing/2014/main" id="{C6E8A810-9FAF-48D5-92E7-0706B9BB2187}"/>
              </a:ext>
            </a:extLst>
          </p:cNvPr>
          <p:cNvSpPr>
            <a:spLocks noChangeShapeType="1"/>
          </p:cNvSpPr>
          <p:nvPr/>
        </p:nvSpPr>
        <p:spPr bwMode="auto">
          <a:xfrm flipH="1">
            <a:off x="6461760" y="2959258"/>
            <a:ext cx="762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l-NL"/>
          </a:p>
        </p:txBody>
      </p:sp>
    </p:spTree>
    <p:extLst>
      <p:ext uri="{BB962C8B-B14F-4D97-AF65-F5344CB8AC3E}">
        <p14:creationId xmlns:p14="http://schemas.microsoft.com/office/powerpoint/2010/main" val="1245492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C516281C-DD77-4D8A-9F55-C86E207F7687}"/>
              </a:ext>
            </a:extLst>
          </p:cNvPr>
          <p:cNvSpPr>
            <a:spLocks noGrp="1"/>
          </p:cNvSpPr>
          <p:nvPr>
            <p:ph idx="1"/>
          </p:nvPr>
        </p:nvSpPr>
        <p:spPr>
          <a:xfrm>
            <a:off x="609600" y="2818661"/>
            <a:ext cx="9621520" cy="3337985"/>
          </a:xfrm>
        </p:spPr>
        <p:txBody>
          <a:bodyPr/>
          <a:lstStyle/>
          <a:p>
            <a:endParaRPr lang="nl-NL" dirty="0"/>
          </a:p>
        </p:txBody>
      </p:sp>
      <p:sp>
        <p:nvSpPr>
          <p:cNvPr id="4" name="Rectangle 2">
            <a:extLst>
              <a:ext uri="{FF2B5EF4-FFF2-40B4-BE49-F238E27FC236}">
                <a16:creationId xmlns:a16="http://schemas.microsoft.com/office/drawing/2014/main" id="{CAF48095-9ADF-4F48-9B58-ACD0444E14CB}"/>
              </a:ext>
            </a:extLst>
          </p:cNvPr>
          <p:cNvSpPr txBox="1">
            <a:spLocks noChangeArrowheads="1"/>
          </p:cNvSpPr>
          <p:nvPr/>
        </p:nvSpPr>
        <p:spPr>
          <a:xfrm>
            <a:off x="457200" y="274638"/>
            <a:ext cx="11125200" cy="1143000"/>
          </a:xfrm>
          <a:prstGeom prst="rect">
            <a:avLst/>
          </a:prstGeom>
        </p:spPr>
        <p:txBody>
          <a:bodyPr anchor="t" anchorCtr="1"/>
          <a:lstStyle>
            <a:lvl1pPr algn="l" rtl="0" eaLnBrk="0" fontAlgn="base" hangingPunct="0">
              <a:spcBef>
                <a:spcPct val="0"/>
              </a:spcBef>
              <a:spcAft>
                <a:spcPct val="0"/>
              </a:spcAft>
              <a:defRPr sz="3600" b="1" kern="1200">
                <a:solidFill>
                  <a:srgbClr val="FF8D3E"/>
                </a:solidFill>
                <a:effectLst>
                  <a:outerShdw blurRad="53975" dist="22860" dir="5400000" algn="tl" rotWithShape="0">
                    <a:srgbClr val="000000">
                      <a:alpha val="55000"/>
                    </a:srgbClr>
                  </a:outerShdw>
                </a:effectLst>
                <a:latin typeface="+mj-lt"/>
                <a:ea typeface="+mj-ea"/>
                <a:cs typeface="+mj-cs"/>
              </a:defRPr>
            </a:lvl1pPr>
            <a:lvl2pPr algn="l" rtl="0" eaLnBrk="0" fontAlgn="base" hangingPunct="0">
              <a:spcBef>
                <a:spcPct val="0"/>
              </a:spcBef>
              <a:spcAft>
                <a:spcPct val="0"/>
              </a:spcAft>
              <a:defRPr sz="3600" b="1">
                <a:solidFill>
                  <a:srgbClr val="FF8D3E"/>
                </a:solidFill>
                <a:latin typeface="Verdana" pitchFamily="34" charset="0"/>
              </a:defRPr>
            </a:lvl2pPr>
            <a:lvl3pPr algn="l" rtl="0" eaLnBrk="0" fontAlgn="base" hangingPunct="0">
              <a:spcBef>
                <a:spcPct val="0"/>
              </a:spcBef>
              <a:spcAft>
                <a:spcPct val="0"/>
              </a:spcAft>
              <a:defRPr sz="3600" b="1">
                <a:solidFill>
                  <a:srgbClr val="FF8D3E"/>
                </a:solidFill>
                <a:latin typeface="Verdana" pitchFamily="34" charset="0"/>
              </a:defRPr>
            </a:lvl3pPr>
            <a:lvl4pPr algn="l" rtl="0" eaLnBrk="0" fontAlgn="base" hangingPunct="0">
              <a:spcBef>
                <a:spcPct val="0"/>
              </a:spcBef>
              <a:spcAft>
                <a:spcPct val="0"/>
              </a:spcAft>
              <a:defRPr sz="3600" b="1">
                <a:solidFill>
                  <a:srgbClr val="FF8D3E"/>
                </a:solidFill>
                <a:latin typeface="Verdana" pitchFamily="34" charset="0"/>
              </a:defRPr>
            </a:lvl4pPr>
            <a:lvl5pPr algn="l" rtl="0" eaLnBrk="0" fontAlgn="base" hangingPunct="0">
              <a:spcBef>
                <a:spcPct val="0"/>
              </a:spcBef>
              <a:spcAft>
                <a:spcPct val="0"/>
              </a:spcAft>
              <a:defRPr sz="3600" b="1">
                <a:solidFill>
                  <a:srgbClr val="FF8D3E"/>
                </a:solidFill>
                <a:latin typeface="Verdana" pitchFamily="34" charset="0"/>
              </a:defRPr>
            </a:lvl5pPr>
            <a:lvl6pPr marL="457200" algn="l" rtl="0" fontAlgn="base">
              <a:spcBef>
                <a:spcPct val="0"/>
              </a:spcBef>
              <a:spcAft>
                <a:spcPct val="0"/>
              </a:spcAft>
              <a:defRPr sz="3600" b="1">
                <a:solidFill>
                  <a:srgbClr val="FF8D3E"/>
                </a:solidFill>
                <a:latin typeface="Verdana" pitchFamily="34" charset="0"/>
              </a:defRPr>
            </a:lvl6pPr>
            <a:lvl7pPr marL="914400" algn="l" rtl="0" fontAlgn="base">
              <a:spcBef>
                <a:spcPct val="0"/>
              </a:spcBef>
              <a:spcAft>
                <a:spcPct val="0"/>
              </a:spcAft>
              <a:defRPr sz="3600" b="1">
                <a:solidFill>
                  <a:srgbClr val="FF8D3E"/>
                </a:solidFill>
                <a:latin typeface="Verdana" pitchFamily="34" charset="0"/>
              </a:defRPr>
            </a:lvl7pPr>
            <a:lvl8pPr marL="1371600" algn="l" rtl="0" fontAlgn="base">
              <a:spcBef>
                <a:spcPct val="0"/>
              </a:spcBef>
              <a:spcAft>
                <a:spcPct val="0"/>
              </a:spcAft>
              <a:defRPr sz="3600" b="1">
                <a:solidFill>
                  <a:srgbClr val="FF8D3E"/>
                </a:solidFill>
                <a:latin typeface="Verdana" pitchFamily="34" charset="0"/>
              </a:defRPr>
            </a:lvl8pPr>
            <a:lvl9pPr marL="1828800" algn="l" rtl="0" fontAlgn="base">
              <a:spcBef>
                <a:spcPct val="0"/>
              </a:spcBef>
              <a:spcAft>
                <a:spcPct val="0"/>
              </a:spcAft>
              <a:defRPr sz="3600" b="1">
                <a:solidFill>
                  <a:srgbClr val="FF8D3E"/>
                </a:solidFill>
                <a:latin typeface="Verdana" pitchFamily="34" charset="0"/>
              </a:defRPr>
            </a:lvl9pPr>
            <a:extLst/>
          </a:lstStyle>
          <a:p>
            <a:pPr eaLnBrk="1" hangingPunct="1"/>
            <a:r>
              <a:rPr lang="en-US" altLang="nl-NL" dirty="0" err="1"/>
              <a:t>Individuele</a:t>
            </a:r>
            <a:r>
              <a:rPr lang="en-US" altLang="nl-NL" dirty="0"/>
              <a:t> </a:t>
            </a:r>
            <a:r>
              <a:rPr lang="en-US" altLang="nl-NL" dirty="0" err="1"/>
              <a:t>waarden</a:t>
            </a:r>
            <a:r>
              <a:rPr lang="en-US" altLang="nl-NL" dirty="0"/>
              <a:t> </a:t>
            </a:r>
            <a:r>
              <a:rPr lang="en-US" altLang="nl-NL" dirty="0" err="1"/>
              <a:t>Oriëntatie</a:t>
            </a:r>
            <a:endParaRPr lang="en-US" altLang="nl-NL" dirty="0"/>
          </a:p>
        </p:txBody>
      </p:sp>
      <p:sp>
        <p:nvSpPr>
          <p:cNvPr id="5" name="Rectangle 47">
            <a:extLst>
              <a:ext uri="{FF2B5EF4-FFF2-40B4-BE49-F238E27FC236}">
                <a16:creationId xmlns:a16="http://schemas.microsoft.com/office/drawing/2014/main" id="{3120FC80-CB75-40FF-892A-83C7A7EE5654}"/>
              </a:ext>
            </a:extLst>
          </p:cNvPr>
          <p:cNvSpPr txBox="1">
            <a:spLocks noChangeArrowheads="1"/>
          </p:cNvSpPr>
          <p:nvPr/>
        </p:nvSpPr>
        <p:spPr>
          <a:xfrm>
            <a:off x="609600" y="1856905"/>
            <a:ext cx="9621520" cy="1674729"/>
          </a:xfrm>
          <a:prstGeom prst="rect">
            <a:avLst/>
          </a:prstGeom>
        </p:spPr>
        <p:txBody>
          <a:bodyPr/>
          <a:lstStyle>
            <a:lvl1pPr marL="265113" indent="-265113" algn="l" rtl="0" eaLnBrk="0" fontAlgn="base" hangingPunct="0">
              <a:spcBef>
                <a:spcPts val="250"/>
              </a:spcBef>
              <a:spcAft>
                <a:spcPct val="0"/>
              </a:spcAft>
              <a:buClr>
                <a:schemeClr val="accent1"/>
              </a:buClr>
              <a:buSzPct val="80000"/>
              <a:buFont typeface="Wingdings 2" panose="05020102010507070707" pitchFamily="18" charset="2"/>
              <a:buChar char=""/>
              <a:defRPr sz="2800" kern="1200">
                <a:solidFill>
                  <a:schemeClr val="tx1"/>
                </a:solidFill>
                <a:latin typeface="+mn-lt"/>
                <a:ea typeface="+mn-ea"/>
                <a:cs typeface="+mn-cs"/>
              </a:defRPr>
            </a:lvl1pPr>
            <a:lvl2pPr marL="547688" indent="-200025" algn="l" rtl="0" eaLnBrk="0" fontAlgn="base" hangingPunct="0">
              <a:spcBef>
                <a:spcPts val="250"/>
              </a:spcBef>
              <a:spcAft>
                <a:spcPct val="0"/>
              </a:spcAft>
              <a:buClr>
                <a:schemeClr val="accent1"/>
              </a:buClr>
              <a:buSzPct val="100000"/>
              <a:buFont typeface="Verdana" panose="020B0604030504040204" pitchFamily="34" charset="0"/>
              <a:buChar char="◦"/>
              <a:defRPr sz="2400" kern="1200">
                <a:solidFill>
                  <a:schemeClr val="tx1"/>
                </a:solidFill>
                <a:latin typeface="+mn-lt"/>
                <a:ea typeface="+mn-ea"/>
                <a:cs typeface="+mn-cs"/>
              </a:defRPr>
            </a:lvl2pPr>
            <a:lvl3pPr marL="785813" indent="-182563" algn="l" rtl="0" eaLnBrk="0" fontAlgn="base" hangingPunct="0">
              <a:spcBef>
                <a:spcPts val="250"/>
              </a:spcBef>
              <a:spcAft>
                <a:spcPct val="0"/>
              </a:spcAft>
              <a:buClr>
                <a:srgbClr val="ED3742"/>
              </a:buClr>
              <a:buSzPct val="100000"/>
              <a:buFont typeface="Wingdings 2" panose="05020102010507070707" pitchFamily="18" charset="2"/>
              <a:buChar char=""/>
              <a:defRPr sz="2200" kern="1200">
                <a:solidFill>
                  <a:schemeClr val="tx1"/>
                </a:solidFill>
                <a:latin typeface="+mn-lt"/>
                <a:ea typeface="+mn-ea"/>
                <a:cs typeface="+mn-cs"/>
              </a:defRPr>
            </a:lvl3pPr>
            <a:lvl4pPr marL="1023938" indent="-182563" algn="l" rtl="0" eaLnBrk="0" fontAlgn="base" hangingPunct="0">
              <a:spcBef>
                <a:spcPts val="225"/>
              </a:spcBef>
              <a:spcAft>
                <a:spcPct val="0"/>
              </a:spcAft>
              <a:buClr>
                <a:srgbClr val="ED3742"/>
              </a:buClr>
              <a:buSzPct val="112000"/>
              <a:buFont typeface="Verdana" panose="020B0604030504040204" pitchFamily="34" charset="0"/>
              <a:buChar char="◦"/>
              <a:defRPr sz="1900" kern="1200">
                <a:solidFill>
                  <a:schemeClr val="tx1"/>
                </a:solidFill>
                <a:latin typeface="+mn-lt"/>
                <a:ea typeface="+mn-ea"/>
                <a:cs typeface="+mn-cs"/>
              </a:defRPr>
            </a:lvl4pPr>
            <a:lvl5pPr marL="1279525" indent="-182563" algn="l" rtl="0" eaLnBrk="0" fontAlgn="base" hangingPunct="0">
              <a:spcBef>
                <a:spcPts val="250"/>
              </a:spcBef>
              <a:spcAft>
                <a:spcPct val="0"/>
              </a:spcAft>
              <a:buClr>
                <a:srgbClr val="4A85BF"/>
              </a:buClr>
              <a:buSzPct val="100000"/>
              <a:buFont typeface="Wingdings 2" panose="05020102010507070707" pitchFamily="18" charset="2"/>
              <a:buChar char=""/>
              <a:defRPr sz="20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a:lstStyle>
          <a:p>
            <a:pPr eaLnBrk="1" hangingPunct="1">
              <a:buFontTx/>
              <a:buNone/>
            </a:pPr>
            <a:r>
              <a:rPr lang="en-US" altLang="nl-NL"/>
              <a:t> </a:t>
            </a:r>
          </a:p>
        </p:txBody>
      </p:sp>
      <p:graphicFrame>
        <p:nvGraphicFramePr>
          <p:cNvPr id="6" name="Group 48">
            <a:extLst>
              <a:ext uri="{FF2B5EF4-FFF2-40B4-BE49-F238E27FC236}">
                <a16:creationId xmlns:a16="http://schemas.microsoft.com/office/drawing/2014/main" id="{D3911890-7363-4FD7-B54D-70B4ABB976ED}"/>
              </a:ext>
            </a:extLst>
          </p:cNvPr>
          <p:cNvGraphicFramePr>
            <a:graphicFrameLocks/>
          </p:cNvGraphicFramePr>
          <p:nvPr>
            <p:extLst>
              <p:ext uri="{D42A27DB-BD31-4B8C-83A1-F6EECF244321}">
                <p14:modId xmlns:p14="http://schemas.microsoft.com/office/powerpoint/2010/main" val="4163621507"/>
              </p:ext>
            </p:extLst>
          </p:nvPr>
        </p:nvGraphicFramePr>
        <p:xfrm>
          <a:off x="609600" y="3116947"/>
          <a:ext cx="9621520" cy="3008884"/>
        </p:xfrm>
        <a:graphic>
          <a:graphicData uri="http://schemas.openxmlformats.org/drawingml/2006/table">
            <a:tbl>
              <a:tblPr/>
              <a:tblGrid>
                <a:gridCol w="4810760">
                  <a:extLst>
                    <a:ext uri="{9D8B030D-6E8A-4147-A177-3AD203B41FA5}">
                      <a16:colId xmlns:a16="http://schemas.microsoft.com/office/drawing/2014/main" val="20000"/>
                    </a:ext>
                  </a:extLst>
                </a:gridCol>
                <a:gridCol w="4810760">
                  <a:extLst>
                    <a:ext uri="{9D8B030D-6E8A-4147-A177-3AD203B41FA5}">
                      <a16:colId xmlns:a16="http://schemas.microsoft.com/office/drawing/2014/main" val="20001"/>
                    </a:ext>
                  </a:extLst>
                </a:gridCol>
              </a:tblGrid>
              <a:tr h="46216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Arial" charset="0"/>
                        </a:rPr>
                        <a:t>Sociale</a:t>
                      </a:r>
                      <a:r>
                        <a:rPr kumimoji="0" lang="en-US" sz="2800" b="0" i="0" u="none" strike="noStrike" cap="none" normalizeH="0" baseline="0" dirty="0">
                          <a:ln>
                            <a:noFill/>
                          </a:ln>
                          <a:solidFill>
                            <a:schemeClr val="tx1"/>
                          </a:solidFill>
                          <a:effectLst/>
                          <a:latin typeface="Arial" charset="0"/>
                        </a:rPr>
                        <a:t> </a:t>
                      </a:r>
                      <a:r>
                        <a:rPr kumimoji="0" lang="en-US" sz="2800" b="0" i="0" u="none" strike="noStrike" cap="none" normalizeH="0" baseline="0" dirty="0" err="1">
                          <a:ln>
                            <a:noFill/>
                          </a:ln>
                          <a:solidFill>
                            <a:schemeClr val="tx1"/>
                          </a:solidFill>
                          <a:effectLst/>
                          <a:latin typeface="Arial" charset="0"/>
                        </a:rPr>
                        <a:t>middelen</a:t>
                      </a:r>
                      <a:endParaRPr kumimoji="0" lang="en-US" sz="2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Persoonlijke </a:t>
                      </a:r>
                      <a:r>
                        <a:rPr kumimoji="0" lang="en-US" sz="2800" b="0" i="0" u="none" strike="noStrike" cap="none" normalizeH="0" baseline="0" dirty="0" err="1">
                          <a:ln>
                            <a:noFill/>
                          </a:ln>
                          <a:solidFill>
                            <a:schemeClr val="tx1"/>
                          </a:solidFill>
                          <a:effectLst/>
                          <a:latin typeface="Arial" charset="0"/>
                        </a:rPr>
                        <a:t>middelen</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08194">
                <a:tc>
                  <a:txBody>
                    <a:bodyPr/>
                    <a:lstStyle/>
                    <a:p>
                      <a:pPr marL="0" marR="0" lvl="0" indent="0" algn="l" defTabSz="914400" rtl="0" eaLnBrk="1" fontAlgn="base" latinLnBrk="0" hangingPunct="1">
                        <a:lnSpc>
                          <a:spcPct val="120000"/>
                        </a:lnSpc>
                        <a:spcBef>
                          <a:spcPct val="20000"/>
                        </a:spcBef>
                        <a:spcAft>
                          <a:spcPct val="0"/>
                        </a:spcAft>
                        <a:buClrTx/>
                        <a:buSzTx/>
                        <a:buFontTx/>
                        <a:buNone/>
                        <a:tabLst/>
                      </a:pPr>
                      <a:r>
                        <a:rPr kumimoji="0" lang="en-US" sz="1600" b="0" i="0" u="none" strike="noStrike" cap="none" normalizeH="0" baseline="0" dirty="0" err="1">
                          <a:ln>
                            <a:noFill/>
                          </a:ln>
                          <a:solidFill>
                            <a:schemeClr val="tx1"/>
                          </a:solidFill>
                          <a:effectLst/>
                          <a:latin typeface="Arial" charset="0"/>
                        </a:rPr>
                        <a:t>Eerlijk</a:t>
                      </a:r>
                      <a:r>
                        <a:rPr kumimoji="0" lang="en-US" sz="1600" b="0" i="0" u="none" strike="noStrike" cap="none" normalizeH="0" baseline="0" dirty="0">
                          <a:ln>
                            <a:noFill/>
                          </a:ln>
                          <a:solidFill>
                            <a:schemeClr val="tx1"/>
                          </a:solidFill>
                          <a:effectLst/>
                          <a:latin typeface="Arial" charset="0"/>
                        </a:rPr>
                        <a:t> (Type III)</a:t>
                      </a:r>
                    </a:p>
                    <a:p>
                      <a:pPr marL="0" marR="0" lvl="0" indent="0" algn="l" defTabSz="914400" rtl="0" eaLnBrk="1" fontAlgn="base" latinLnBrk="0" hangingPunct="1">
                        <a:lnSpc>
                          <a:spcPct val="120000"/>
                        </a:lnSpc>
                        <a:spcBef>
                          <a:spcPct val="20000"/>
                        </a:spcBef>
                        <a:spcAft>
                          <a:spcPct val="0"/>
                        </a:spcAft>
                        <a:buClrTx/>
                        <a:buSzTx/>
                        <a:buFontTx/>
                        <a:buNone/>
                        <a:tabLst/>
                      </a:pPr>
                      <a:r>
                        <a:rPr kumimoji="0" lang="en-US" sz="1600" b="0" i="0" u="none" strike="noStrike" cap="none" normalizeH="0" baseline="0" dirty="0" err="1">
                          <a:ln>
                            <a:noFill/>
                          </a:ln>
                          <a:solidFill>
                            <a:schemeClr val="tx1"/>
                          </a:solidFill>
                          <a:effectLst/>
                          <a:latin typeface="Arial" charset="0"/>
                        </a:rPr>
                        <a:t>Moedig</a:t>
                      </a:r>
                      <a:r>
                        <a:rPr kumimoji="0" lang="en-US" sz="1600" b="0" i="0" u="none" strike="noStrike" cap="none" normalizeH="0" baseline="0" dirty="0">
                          <a:ln>
                            <a:noFill/>
                          </a:ln>
                          <a:solidFill>
                            <a:schemeClr val="tx1"/>
                          </a:solidFill>
                          <a:effectLst/>
                          <a:latin typeface="Arial" charset="0"/>
                        </a:rPr>
                        <a:t> (Type III)</a:t>
                      </a:r>
                    </a:p>
                    <a:p>
                      <a:pPr marL="0" marR="0" lvl="0" indent="0" algn="l" defTabSz="914400" rtl="0" eaLnBrk="1" fontAlgn="base" latinLnBrk="0" hangingPunct="1">
                        <a:lnSpc>
                          <a:spcPct val="120000"/>
                        </a:lnSpc>
                        <a:spcBef>
                          <a:spcPct val="20000"/>
                        </a:spcBef>
                        <a:spcAft>
                          <a:spcPct val="0"/>
                        </a:spcAft>
                        <a:buClrTx/>
                        <a:buSzTx/>
                        <a:buFontTx/>
                        <a:buNone/>
                        <a:tabLst/>
                      </a:pPr>
                      <a:r>
                        <a:rPr kumimoji="0" lang="en-US" sz="1600" b="0" i="0" u="none" strike="noStrike" cap="none" normalizeH="0" baseline="0" dirty="0" err="1">
                          <a:ln>
                            <a:noFill/>
                          </a:ln>
                          <a:solidFill>
                            <a:schemeClr val="tx1"/>
                          </a:solidFill>
                          <a:effectLst/>
                          <a:latin typeface="Arial" charset="0"/>
                        </a:rPr>
                        <a:t>Behulpzaam</a:t>
                      </a:r>
                      <a:r>
                        <a:rPr kumimoji="0" lang="en-US" sz="1600" b="0" i="0" u="none" strike="noStrike" cap="none" normalizeH="0" baseline="0" dirty="0">
                          <a:ln>
                            <a:noFill/>
                          </a:ln>
                          <a:solidFill>
                            <a:schemeClr val="tx1"/>
                          </a:solidFill>
                          <a:effectLst/>
                          <a:latin typeface="Arial" charset="0"/>
                        </a:rPr>
                        <a:t> (Type II)</a:t>
                      </a:r>
                    </a:p>
                    <a:p>
                      <a:pPr marL="0" marR="0" lvl="0" indent="0" algn="l" defTabSz="914400" rtl="0" eaLnBrk="1" fontAlgn="base" latinLnBrk="0" hangingPunct="1">
                        <a:lnSpc>
                          <a:spcPct val="120000"/>
                        </a:lnSpc>
                        <a:spcBef>
                          <a:spcPct val="20000"/>
                        </a:spcBef>
                        <a:spcAft>
                          <a:spcPct val="0"/>
                        </a:spcAft>
                        <a:buClrTx/>
                        <a:buSzTx/>
                        <a:buFontTx/>
                        <a:buNone/>
                        <a:tabLst/>
                      </a:pPr>
                      <a:r>
                        <a:rPr kumimoji="0" lang="nl-NL" sz="1600" b="0" i="0" kern="1200" dirty="0">
                          <a:solidFill>
                            <a:schemeClr val="tx1"/>
                          </a:solidFill>
                          <a:effectLst/>
                          <a:latin typeface="+mn-lt"/>
                          <a:ea typeface="+mn-ea"/>
                          <a:cs typeface="+mn-cs"/>
                        </a:rPr>
                        <a:t>Vergevingsgezind</a:t>
                      </a:r>
                      <a:r>
                        <a:rPr kumimoji="0" lang="en-US" sz="1600" b="0" i="0" u="none" strike="noStrike" cap="none" normalizeH="0" baseline="0" dirty="0">
                          <a:ln>
                            <a:noFill/>
                          </a:ln>
                          <a:solidFill>
                            <a:schemeClr val="tx1"/>
                          </a:solidFill>
                          <a:effectLst/>
                          <a:latin typeface="Arial" charset="0"/>
                        </a:rPr>
                        <a:t> (Type II)</a:t>
                      </a:r>
                    </a:p>
                    <a:p>
                      <a:pPr marL="0" marR="0" lvl="0" indent="0" algn="l" defTabSz="914400" rtl="0" eaLnBrk="1" fontAlgn="base" latinLnBrk="0" hangingPunct="1">
                        <a:lnSpc>
                          <a:spcPct val="120000"/>
                        </a:lnSpc>
                        <a:spcBef>
                          <a:spcPct val="20000"/>
                        </a:spcBef>
                        <a:spcAft>
                          <a:spcPct val="0"/>
                        </a:spcAft>
                        <a:buClrTx/>
                        <a:buSzTx/>
                        <a:buFontTx/>
                        <a:buNone/>
                        <a:tabLst/>
                      </a:pPr>
                      <a:r>
                        <a:rPr kumimoji="0" lang="en-US" sz="1600" b="0" i="0" u="none" strike="noStrike" cap="none" normalizeH="0" baseline="0" dirty="0" err="1">
                          <a:ln>
                            <a:noFill/>
                          </a:ln>
                          <a:solidFill>
                            <a:schemeClr val="tx1"/>
                          </a:solidFill>
                          <a:effectLst/>
                          <a:latin typeface="Arial" charset="0"/>
                        </a:rPr>
                        <a:t>Opgewekt</a:t>
                      </a:r>
                      <a:r>
                        <a:rPr kumimoji="0" lang="en-US" sz="1600" b="0" i="0" u="none" strike="noStrike" cap="none" normalizeH="0" baseline="0" dirty="0">
                          <a:ln>
                            <a:noFill/>
                          </a:ln>
                          <a:solidFill>
                            <a:schemeClr val="tx1"/>
                          </a:solidFill>
                          <a:effectLst/>
                          <a:latin typeface="Arial" charset="0"/>
                        </a:rPr>
                        <a:t> (Type II)</a:t>
                      </a:r>
                    </a:p>
                    <a:p>
                      <a:pPr marL="0" marR="0" lvl="0" indent="0" algn="l" defTabSz="914400" rtl="0" eaLnBrk="1" fontAlgn="base" latinLnBrk="0" hangingPunct="1">
                        <a:lnSpc>
                          <a:spcPct val="120000"/>
                        </a:lnSpc>
                        <a:spcBef>
                          <a:spcPct val="20000"/>
                        </a:spcBef>
                        <a:spcAft>
                          <a:spcPct val="0"/>
                        </a:spcAft>
                        <a:buClrTx/>
                        <a:buSzTx/>
                        <a:buFontTx/>
                        <a:buNone/>
                        <a:tabLst/>
                      </a:pPr>
                      <a:r>
                        <a:rPr kumimoji="0" lang="en-US" sz="1600" b="0" i="0" u="none" strike="noStrike" cap="none" normalizeH="0" baseline="0" dirty="0" err="1">
                          <a:ln>
                            <a:noFill/>
                          </a:ln>
                          <a:solidFill>
                            <a:schemeClr val="tx1"/>
                          </a:solidFill>
                          <a:effectLst/>
                          <a:latin typeface="Arial" charset="0"/>
                        </a:rPr>
                        <a:t>Beleeft</a:t>
                      </a:r>
                      <a:r>
                        <a:rPr kumimoji="0" lang="en-US" sz="1600" b="0" i="0" u="none" strike="noStrike" cap="none" normalizeH="0" baseline="0" dirty="0">
                          <a:ln>
                            <a:noFill/>
                          </a:ln>
                          <a:solidFill>
                            <a:schemeClr val="tx1"/>
                          </a:solidFill>
                          <a:effectLst/>
                          <a:latin typeface="Arial" charset="0"/>
                        </a:rPr>
                        <a:t> (Type III)</a:t>
                      </a:r>
                    </a:p>
                    <a:p>
                      <a:pPr marL="0" marR="0" lvl="0" indent="0" algn="l" defTabSz="914400" rtl="0" eaLnBrk="1" fontAlgn="base" latinLnBrk="0" hangingPunct="1">
                        <a:lnSpc>
                          <a:spcPct val="120000"/>
                        </a:lnSpc>
                        <a:spcBef>
                          <a:spcPct val="20000"/>
                        </a:spcBef>
                        <a:spcAft>
                          <a:spcPct val="0"/>
                        </a:spcAft>
                        <a:buClrTx/>
                        <a:buSzTx/>
                        <a:buFontTx/>
                        <a:buNone/>
                        <a:tabLst/>
                      </a:pPr>
                      <a:r>
                        <a:rPr kumimoji="0" lang="en-US" sz="1600" b="0" i="0" u="none" strike="noStrike" cap="none" normalizeH="0" baseline="0" dirty="0" err="1">
                          <a:ln>
                            <a:noFill/>
                          </a:ln>
                          <a:solidFill>
                            <a:schemeClr val="tx1"/>
                          </a:solidFill>
                          <a:effectLst/>
                          <a:latin typeface="Arial" charset="0"/>
                        </a:rPr>
                        <a:t>Liefhebbend</a:t>
                      </a:r>
                      <a:endParaRPr kumimoji="0" lang="en-US" sz="16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Tx/>
                        <a:buSzTx/>
                        <a:buFontTx/>
                        <a:buChar char="•"/>
                        <a:tabLst/>
                      </a:pPr>
                      <a:r>
                        <a:rPr kumimoji="0" lang="en-US" sz="1600" b="0" i="0" u="none" strike="noStrike" cap="none" normalizeH="0" baseline="0" dirty="0" err="1">
                          <a:ln>
                            <a:noFill/>
                          </a:ln>
                          <a:solidFill>
                            <a:schemeClr val="tx1"/>
                          </a:solidFill>
                          <a:effectLst/>
                          <a:latin typeface="Arial" charset="0"/>
                        </a:rPr>
                        <a:t>Ambitieus</a:t>
                      </a:r>
                      <a:r>
                        <a:rPr kumimoji="0" lang="en-US" sz="1600" b="0" i="0" u="none" strike="noStrike" cap="none" normalizeH="0" baseline="0" dirty="0">
                          <a:ln>
                            <a:noFill/>
                          </a:ln>
                          <a:solidFill>
                            <a:schemeClr val="tx1"/>
                          </a:solidFill>
                          <a:effectLst/>
                          <a:latin typeface="Arial" charset="0"/>
                        </a:rPr>
                        <a:t> (Type I)</a:t>
                      </a:r>
                    </a:p>
                    <a:p>
                      <a:pPr marL="0" marR="0" lvl="0" indent="0" algn="l" defTabSz="914400" rtl="0" eaLnBrk="1" fontAlgn="base" latinLnBrk="0" hangingPunct="1">
                        <a:lnSpc>
                          <a:spcPct val="120000"/>
                        </a:lnSpc>
                        <a:spcBef>
                          <a:spcPct val="20000"/>
                        </a:spcBef>
                        <a:spcAft>
                          <a:spcPct val="0"/>
                        </a:spcAft>
                        <a:buClrTx/>
                        <a:buSzTx/>
                        <a:buFontTx/>
                        <a:buChar char="•"/>
                        <a:tabLst/>
                      </a:pPr>
                      <a:r>
                        <a:rPr kumimoji="0" lang="en-US" sz="1600" b="0" i="0" u="none" strike="noStrike" cap="none" normalizeH="0" baseline="0" dirty="0" err="1">
                          <a:ln>
                            <a:noFill/>
                          </a:ln>
                          <a:solidFill>
                            <a:schemeClr val="tx1"/>
                          </a:solidFill>
                          <a:effectLst/>
                          <a:latin typeface="Arial" charset="0"/>
                        </a:rPr>
                        <a:t>Bekwaam</a:t>
                      </a:r>
                      <a:endParaRPr kumimoji="0" lang="en-US" sz="1600" b="0" i="0" u="none" strike="noStrike" cap="none" normalizeH="0" baseline="0" dirty="0">
                        <a:ln>
                          <a:noFill/>
                        </a:ln>
                        <a:solidFill>
                          <a:schemeClr val="tx1"/>
                        </a:solidFill>
                        <a:effectLst/>
                        <a:latin typeface="Arial" charset="0"/>
                      </a:endParaRPr>
                    </a:p>
                    <a:p>
                      <a:pPr marL="0" marR="0" lvl="0" indent="0" algn="l" defTabSz="914400" rtl="0" eaLnBrk="1" fontAlgn="base" latinLnBrk="0" hangingPunct="1">
                        <a:lnSpc>
                          <a:spcPct val="120000"/>
                        </a:lnSpc>
                        <a:spcBef>
                          <a:spcPct val="20000"/>
                        </a:spcBef>
                        <a:spcAft>
                          <a:spcPct val="0"/>
                        </a:spcAft>
                        <a:buClrTx/>
                        <a:buSzTx/>
                        <a:buFontTx/>
                        <a:buChar char="•"/>
                        <a:tabLst/>
                      </a:pPr>
                      <a:r>
                        <a:rPr kumimoji="0" lang="en-US" sz="1600" b="0" i="0" u="none" strike="noStrike" cap="none" normalizeH="0" baseline="0" dirty="0" err="1">
                          <a:ln>
                            <a:noFill/>
                          </a:ln>
                          <a:solidFill>
                            <a:schemeClr val="tx1"/>
                          </a:solidFill>
                          <a:effectLst/>
                          <a:latin typeface="Arial" charset="0"/>
                        </a:rPr>
                        <a:t>Inventief</a:t>
                      </a:r>
                      <a:endParaRPr kumimoji="0" lang="en-US" sz="1600" b="0" i="0" u="none" strike="noStrike" cap="none" normalizeH="0" baseline="0" dirty="0">
                        <a:ln>
                          <a:noFill/>
                        </a:ln>
                        <a:solidFill>
                          <a:schemeClr val="tx1"/>
                        </a:solidFill>
                        <a:effectLst/>
                        <a:latin typeface="Arial" charset="0"/>
                      </a:endParaRPr>
                    </a:p>
                    <a:p>
                      <a:pPr marL="0" marR="0" lvl="0" indent="0" algn="l" defTabSz="914400" rtl="0" eaLnBrk="1" fontAlgn="base" latinLnBrk="0" hangingPunct="1">
                        <a:lnSpc>
                          <a:spcPct val="120000"/>
                        </a:lnSpc>
                        <a:spcBef>
                          <a:spcPct val="20000"/>
                        </a:spcBef>
                        <a:spcAft>
                          <a:spcPct val="0"/>
                        </a:spcAft>
                        <a:buClrTx/>
                        <a:buSzTx/>
                        <a:buFontTx/>
                        <a:buChar char="•"/>
                        <a:tabLst/>
                        <a:defRPr/>
                      </a:pPr>
                      <a:r>
                        <a:rPr kumimoji="0" lang="nl-NL" sz="1800" kern="1200" dirty="0">
                          <a:solidFill>
                            <a:schemeClr val="tx1"/>
                          </a:solidFill>
                          <a:effectLst/>
                          <a:latin typeface="+mn-lt"/>
                          <a:ea typeface="+mn-ea"/>
                          <a:cs typeface="+mn-cs"/>
                        </a:rPr>
                        <a:t>Onafhankelijk</a:t>
                      </a:r>
                      <a:r>
                        <a:rPr kumimoji="0" lang="en-US" sz="1600" b="0" i="0" u="none" strike="noStrike" cap="none" normalizeH="0" baseline="0" dirty="0">
                          <a:ln>
                            <a:noFill/>
                          </a:ln>
                          <a:solidFill>
                            <a:schemeClr val="tx1"/>
                          </a:solidFill>
                          <a:effectLst/>
                          <a:latin typeface="Arial" charset="0"/>
                        </a:rPr>
                        <a:t> (Type I)</a:t>
                      </a:r>
                    </a:p>
                    <a:p>
                      <a:pPr marL="0" marR="0" lvl="0" indent="0" algn="l" defTabSz="914400" rtl="0" eaLnBrk="1" fontAlgn="base" latinLnBrk="0" hangingPunct="1">
                        <a:lnSpc>
                          <a:spcPct val="120000"/>
                        </a:lnSpc>
                        <a:spcBef>
                          <a:spcPct val="20000"/>
                        </a:spcBef>
                        <a:spcAft>
                          <a:spcPct val="0"/>
                        </a:spcAft>
                        <a:buClrTx/>
                        <a:buSzTx/>
                        <a:buFontTx/>
                        <a:buChar char="•"/>
                        <a:tabLst/>
                      </a:pPr>
                      <a:r>
                        <a:rPr kumimoji="0" lang="en-US" sz="1600" b="0" i="0" u="none" strike="noStrike" cap="none" normalizeH="0" baseline="0" dirty="0" err="1">
                          <a:ln>
                            <a:noFill/>
                          </a:ln>
                          <a:solidFill>
                            <a:schemeClr val="tx1"/>
                          </a:solidFill>
                          <a:effectLst/>
                          <a:latin typeface="Arial" charset="0"/>
                        </a:rPr>
                        <a:t>Weloverwogen</a:t>
                      </a:r>
                      <a:r>
                        <a:rPr kumimoji="0" lang="en-US" sz="1600" b="0" i="0" u="none" strike="noStrike" cap="none" normalizeH="0" baseline="0" dirty="0">
                          <a:ln>
                            <a:noFill/>
                          </a:ln>
                          <a:solidFill>
                            <a:schemeClr val="tx1"/>
                          </a:solidFill>
                          <a:effectLst/>
                          <a:latin typeface="Arial" charset="0"/>
                        </a:rPr>
                        <a:t> (Type II)</a:t>
                      </a:r>
                    </a:p>
                    <a:p>
                      <a:pPr marL="0" marR="0" lvl="0" indent="0" algn="l" defTabSz="914400" rtl="0" eaLnBrk="1" fontAlgn="base" latinLnBrk="0" hangingPunct="1">
                        <a:lnSpc>
                          <a:spcPct val="120000"/>
                        </a:lnSpc>
                        <a:spcBef>
                          <a:spcPct val="20000"/>
                        </a:spcBef>
                        <a:spcAft>
                          <a:spcPct val="0"/>
                        </a:spcAft>
                        <a:buClrTx/>
                        <a:buSzTx/>
                        <a:buFontTx/>
                        <a:buChar char="•"/>
                        <a:tabLst/>
                        <a:defRPr/>
                      </a:pPr>
                      <a:r>
                        <a:rPr kumimoji="0" lang="nl-NL" sz="1800" kern="1200" dirty="0">
                          <a:solidFill>
                            <a:schemeClr val="tx1"/>
                          </a:solidFill>
                          <a:effectLst/>
                          <a:latin typeface="+mn-lt"/>
                          <a:ea typeface="+mn-ea"/>
                          <a:cs typeface="+mn-cs"/>
                        </a:rPr>
                        <a:t>Intellectueel</a:t>
                      </a:r>
                      <a:r>
                        <a:rPr kumimoji="0" lang="en-US" sz="1600" b="0" i="0" u="none" strike="noStrike" cap="none" normalizeH="0" baseline="0" dirty="0">
                          <a:ln>
                            <a:noFill/>
                          </a:ln>
                          <a:solidFill>
                            <a:schemeClr val="tx1"/>
                          </a:solidFill>
                          <a:effectLst/>
                          <a:latin typeface="Arial" charset="0"/>
                        </a:rPr>
                        <a:t> </a:t>
                      </a:r>
                    </a:p>
                    <a:p>
                      <a:pPr marL="0" marR="0" lvl="0" indent="0" algn="l" defTabSz="914400" rtl="0" eaLnBrk="1" fontAlgn="base" latinLnBrk="0" hangingPunct="1">
                        <a:lnSpc>
                          <a:spcPct val="120000"/>
                        </a:lnSpc>
                        <a:spcBef>
                          <a:spcPct val="20000"/>
                        </a:spcBef>
                        <a:spcAft>
                          <a:spcPct val="0"/>
                        </a:spcAft>
                        <a:buClrTx/>
                        <a:buSzTx/>
                        <a:buFontTx/>
                        <a:buChar char="•"/>
                        <a:tabLst/>
                      </a:pPr>
                      <a:r>
                        <a:rPr kumimoji="0" lang="en-US" sz="1600" b="0" i="0" u="none" strike="noStrike" cap="none" normalizeH="0" baseline="0" dirty="0" err="1">
                          <a:ln>
                            <a:noFill/>
                          </a:ln>
                          <a:solidFill>
                            <a:schemeClr val="tx1"/>
                          </a:solidFill>
                          <a:effectLst/>
                          <a:latin typeface="Arial" charset="0"/>
                        </a:rPr>
                        <a:t>Ruimdenkend</a:t>
                      </a:r>
                      <a:r>
                        <a:rPr kumimoji="0" lang="en-US" sz="1600" b="0" i="0" u="none" strike="noStrike" cap="none" normalizeH="0" baseline="0" dirty="0">
                          <a:ln>
                            <a:noFill/>
                          </a:ln>
                          <a:solidFill>
                            <a:schemeClr val="tx1"/>
                          </a:solidFill>
                          <a:effectLst/>
                          <a:latin typeface="Arial" charset="0"/>
                        </a:rPr>
                        <a:t> (Type II)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7" name="Group 96">
            <a:extLst>
              <a:ext uri="{FF2B5EF4-FFF2-40B4-BE49-F238E27FC236}">
                <a16:creationId xmlns:a16="http://schemas.microsoft.com/office/drawing/2014/main" id="{C27E2472-3B3C-4E39-AC2E-14403AE35243}"/>
              </a:ext>
            </a:extLst>
          </p:cNvPr>
          <p:cNvGraphicFramePr>
            <a:graphicFrameLocks/>
          </p:cNvGraphicFramePr>
          <p:nvPr>
            <p:extLst>
              <p:ext uri="{D42A27DB-BD31-4B8C-83A1-F6EECF244321}">
                <p14:modId xmlns:p14="http://schemas.microsoft.com/office/powerpoint/2010/main" val="2648330531"/>
              </p:ext>
            </p:extLst>
          </p:nvPr>
        </p:nvGraphicFramePr>
        <p:xfrm>
          <a:off x="609600" y="1093840"/>
          <a:ext cx="9621520" cy="1692068"/>
        </p:xfrm>
        <a:graphic>
          <a:graphicData uri="http://schemas.openxmlformats.org/drawingml/2006/table">
            <a:tbl>
              <a:tblPr/>
              <a:tblGrid>
                <a:gridCol w="4810760">
                  <a:extLst>
                    <a:ext uri="{9D8B030D-6E8A-4147-A177-3AD203B41FA5}">
                      <a16:colId xmlns:a16="http://schemas.microsoft.com/office/drawing/2014/main" val="20000"/>
                    </a:ext>
                  </a:extLst>
                </a:gridCol>
                <a:gridCol w="4810760">
                  <a:extLst>
                    <a:ext uri="{9D8B030D-6E8A-4147-A177-3AD203B41FA5}">
                      <a16:colId xmlns:a16="http://schemas.microsoft.com/office/drawing/2014/main" val="20001"/>
                    </a:ext>
                  </a:extLst>
                </a:gridCol>
              </a:tblGrid>
              <a:tr h="39694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Arial" charset="0"/>
                        </a:rPr>
                        <a:t>Sociale</a:t>
                      </a:r>
                      <a:r>
                        <a:rPr kumimoji="0" lang="en-US" sz="2800" b="0" i="0" u="none" strike="noStrike" cap="none" normalizeH="0" baseline="0" dirty="0">
                          <a:ln>
                            <a:noFill/>
                          </a:ln>
                          <a:solidFill>
                            <a:schemeClr val="tx1"/>
                          </a:solidFill>
                          <a:effectLst/>
                          <a:latin typeface="Arial" charset="0"/>
                        </a:rPr>
                        <a:t> </a:t>
                      </a:r>
                      <a:r>
                        <a:rPr kumimoji="0" lang="en-US" sz="2800" b="0" i="0" u="none" strike="noStrike" cap="none" normalizeH="0" baseline="0" dirty="0" err="1">
                          <a:ln>
                            <a:noFill/>
                          </a:ln>
                          <a:solidFill>
                            <a:schemeClr val="tx1"/>
                          </a:solidFill>
                          <a:effectLst/>
                          <a:latin typeface="Arial" charset="0"/>
                        </a:rPr>
                        <a:t>doelen</a:t>
                      </a:r>
                      <a:endParaRPr kumimoji="0" lang="en-US" sz="2800" b="0" i="0" u="none" strike="noStrike" cap="none" normalizeH="0" baseline="0" dirty="0">
                        <a:ln>
                          <a:noFill/>
                        </a:ln>
                        <a:solidFill>
                          <a:schemeClr val="tx1"/>
                        </a:solidFill>
                        <a:effectLst/>
                        <a:latin typeface="Arial" charset="0"/>
                      </a:endParaRP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Persoonlijke </a:t>
                      </a:r>
                      <a:r>
                        <a:rPr kumimoji="0" lang="en-US" sz="2800" b="0" i="0" u="none" strike="noStrike" cap="none" normalizeH="0" baseline="0" dirty="0" err="1">
                          <a:ln>
                            <a:noFill/>
                          </a:ln>
                          <a:solidFill>
                            <a:schemeClr val="tx1"/>
                          </a:solidFill>
                          <a:effectLst/>
                          <a:latin typeface="Arial" charset="0"/>
                        </a:rPr>
                        <a:t>doelen</a:t>
                      </a:r>
                      <a:endParaRPr kumimoji="0" lang="en-US" sz="2800" b="0" i="0" u="none" strike="noStrike" cap="none" normalizeH="0" baseline="0" dirty="0">
                        <a:ln>
                          <a:noFill/>
                        </a:ln>
                        <a:solidFill>
                          <a:schemeClr val="tx1"/>
                        </a:solidFill>
                        <a:effectLst/>
                        <a:latin typeface="Arial" charset="0"/>
                      </a:endParaRP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71328">
                <a:tc>
                  <a:txBody>
                    <a:bodyPr/>
                    <a:lstStyle/>
                    <a:p>
                      <a:pPr marL="0" marR="0" lvl="0" indent="0" algn="l" defTabSz="914400" rtl="0" eaLnBrk="1" fontAlgn="base" latinLnBrk="0" hangingPunct="1">
                        <a:lnSpc>
                          <a:spcPct val="140000"/>
                        </a:lnSpc>
                        <a:spcBef>
                          <a:spcPct val="20000"/>
                        </a:spcBef>
                        <a:spcAft>
                          <a:spcPct val="0"/>
                        </a:spcAft>
                        <a:buClrTx/>
                        <a:buSzTx/>
                        <a:buFontTx/>
                        <a:buNone/>
                        <a:tabLst/>
                      </a:pPr>
                      <a:r>
                        <a:rPr kumimoji="0" lang="en-US" sz="1600" b="0" i="0" u="none" strike="noStrike" cap="none" normalizeH="0" baseline="0" dirty="0" err="1">
                          <a:ln>
                            <a:noFill/>
                          </a:ln>
                          <a:solidFill>
                            <a:schemeClr val="tx1"/>
                          </a:solidFill>
                          <a:effectLst/>
                          <a:latin typeface="Arial" charset="0"/>
                        </a:rPr>
                        <a:t>Wereldvrede</a:t>
                      </a:r>
                      <a:r>
                        <a:rPr kumimoji="0" lang="en-US" sz="1600" b="0" i="0" u="none" strike="noStrike" cap="none" normalizeH="0" baseline="0" dirty="0">
                          <a:ln>
                            <a:noFill/>
                          </a:ln>
                          <a:solidFill>
                            <a:schemeClr val="tx1"/>
                          </a:solidFill>
                          <a:effectLst/>
                          <a:latin typeface="Arial" charset="0"/>
                        </a:rPr>
                        <a:t> (Type IV)</a:t>
                      </a:r>
                    </a:p>
                    <a:p>
                      <a:pPr marL="0" marR="0" lvl="0" indent="0" algn="l" defTabSz="914400" rtl="0" eaLnBrk="1" fontAlgn="base" latinLnBrk="0" hangingPunct="1">
                        <a:lnSpc>
                          <a:spcPct val="140000"/>
                        </a:lnSpc>
                        <a:spcBef>
                          <a:spcPct val="20000"/>
                        </a:spcBef>
                        <a:spcAft>
                          <a:spcPct val="0"/>
                        </a:spcAft>
                        <a:buClrTx/>
                        <a:buSzTx/>
                        <a:buFontTx/>
                        <a:buNone/>
                        <a:tabLst/>
                      </a:pPr>
                      <a:r>
                        <a:rPr kumimoji="0" lang="en-US" sz="1600" b="0" i="0" u="none" strike="noStrike" cap="none" normalizeH="0" baseline="0" dirty="0" err="1">
                          <a:ln>
                            <a:noFill/>
                          </a:ln>
                          <a:solidFill>
                            <a:schemeClr val="tx1"/>
                          </a:solidFill>
                          <a:effectLst/>
                          <a:latin typeface="Arial" charset="0"/>
                        </a:rPr>
                        <a:t>Iedereen</a:t>
                      </a:r>
                      <a:r>
                        <a:rPr kumimoji="0" lang="en-US" sz="1600" b="0" i="0" u="none" strike="noStrike" cap="none" normalizeH="0" baseline="0" dirty="0">
                          <a:ln>
                            <a:noFill/>
                          </a:ln>
                          <a:solidFill>
                            <a:schemeClr val="tx1"/>
                          </a:solidFill>
                          <a:effectLst/>
                          <a:latin typeface="Arial" charset="0"/>
                        </a:rPr>
                        <a:t> </a:t>
                      </a:r>
                      <a:r>
                        <a:rPr kumimoji="0" lang="en-US" sz="1600" b="0" i="0" u="none" strike="noStrike" cap="none" normalizeH="0" baseline="0" dirty="0" err="1">
                          <a:ln>
                            <a:noFill/>
                          </a:ln>
                          <a:solidFill>
                            <a:schemeClr val="tx1"/>
                          </a:solidFill>
                          <a:effectLst/>
                          <a:latin typeface="Arial" charset="0"/>
                        </a:rPr>
                        <a:t>tevreden</a:t>
                      </a:r>
                      <a:r>
                        <a:rPr kumimoji="0" lang="en-US" sz="1600" b="0" i="0" u="none" strike="noStrike" cap="none" normalizeH="0" baseline="0" dirty="0">
                          <a:ln>
                            <a:noFill/>
                          </a:ln>
                          <a:solidFill>
                            <a:schemeClr val="tx1"/>
                          </a:solidFill>
                          <a:effectLst/>
                          <a:latin typeface="Arial" charset="0"/>
                        </a:rPr>
                        <a:t> </a:t>
                      </a:r>
                      <a:r>
                        <a:rPr kumimoji="0" lang="en-US" sz="1600" b="0" i="0" u="none" strike="noStrike" cap="none" normalizeH="0" baseline="0" dirty="0" err="1">
                          <a:ln>
                            <a:noFill/>
                          </a:ln>
                          <a:solidFill>
                            <a:schemeClr val="tx1"/>
                          </a:solidFill>
                          <a:effectLst/>
                          <a:latin typeface="Arial" charset="0"/>
                        </a:rPr>
                        <a:t>houden</a:t>
                      </a:r>
                      <a:r>
                        <a:rPr kumimoji="0" lang="en-US" sz="1600" b="0" i="0" u="none" strike="noStrike" cap="none" normalizeH="0" baseline="0" dirty="0">
                          <a:ln>
                            <a:noFill/>
                          </a:ln>
                          <a:solidFill>
                            <a:schemeClr val="tx1"/>
                          </a:solidFill>
                          <a:effectLst/>
                          <a:latin typeface="Arial" charset="0"/>
                        </a:rPr>
                        <a:t> (Type II)</a:t>
                      </a:r>
                    </a:p>
                    <a:p>
                      <a:pPr marL="0" marR="0" lvl="0" indent="0" algn="l" defTabSz="914400" rtl="0" eaLnBrk="1" fontAlgn="base" latinLnBrk="0" hangingPunct="1">
                        <a:lnSpc>
                          <a:spcPct val="140000"/>
                        </a:lnSpc>
                        <a:spcBef>
                          <a:spcPct val="20000"/>
                        </a:spcBef>
                        <a:spcAft>
                          <a:spcPct val="0"/>
                        </a:spcAft>
                        <a:buClrTx/>
                        <a:buSzTx/>
                        <a:buFontTx/>
                        <a:buNone/>
                        <a:tabLst/>
                      </a:pPr>
                      <a:r>
                        <a:rPr kumimoji="0" lang="en-US" sz="1600" b="0" i="0" u="none" strike="noStrike" cap="none" normalizeH="0" baseline="0" dirty="0" err="1">
                          <a:ln>
                            <a:noFill/>
                          </a:ln>
                          <a:solidFill>
                            <a:schemeClr val="tx1"/>
                          </a:solidFill>
                          <a:effectLst/>
                          <a:latin typeface="Arial" charset="0"/>
                        </a:rPr>
                        <a:t>Welzijn</a:t>
                      </a:r>
                      <a:r>
                        <a:rPr kumimoji="0" lang="en-US" sz="1600" b="0" i="0" u="none" strike="noStrike" cap="none" normalizeH="0" baseline="0" dirty="0">
                          <a:ln>
                            <a:noFill/>
                          </a:ln>
                          <a:solidFill>
                            <a:schemeClr val="tx1"/>
                          </a:solidFill>
                          <a:effectLst/>
                          <a:latin typeface="Arial" charset="0"/>
                        </a:rPr>
                        <a:t> van de </a:t>
                      </a:r>
                      <a:r>
                        <a:rPr kumimoji="0" lang="en-US" sz="1600" b="0" i="0" u="none" strike="noStrike" cap="none" normalizeH="0" baseline="0" dirty="0" err="1">
                          <a:ln>
                            <a:noFill/>
                          </a:ln>
                          <a:solidFill>
                            <a:schemeClr val="tx1"/>
                          </a:solidFill>
                          <a:effectLst/>
                          <a:latin typeface="Arial" charset="0"/>
                        </a:rPr>
                        <a:t>familie</a:t>
                      </a:r>
                      <a:r>
                        <a:rPr kumimoji="0" lang="en-US" sz="1600" b="0" i="0" u="none" strike="noStrike" cap="none" normalizeH="0" baseline="0" dirty="0">
                          <a:ln>
                            <a:noFill/>
                          </a:ln>
                          <a:solidFill>
                            <a:schemeClr val="tx1"/>
                          </a:solidFill>
                          <a:effectLst/>
                          <a:latin typeface="Arial" charset="0"/>
                        </a:rPr>
                        <a:t> (Type III)</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20000"/>
                        </a:spcBef>
                        <a:spcAft>
                          <a:spcPct val="0"/>
                        </a:spcAft>
                        <a:buClrTx/>
                        <a:buSzTx/>
                        <a:buFontTx/>
                        <a:buNone/>
                        <a:tabLst/>
                      </a:pPr>
                      <a:r>
                        <a:rPr kumimoji="0" lang="en-US" sz="1600" b="0" i="0" u="none" strike="noStrike" cap="none" normalizeH="0" baseline="0" dirty="0" err="1">
                          <a:ln>
                            <a:noFill/>
                          </a:ln>
                          <a:solidFill>
                            <a:schemeClr val="tx1"/>
                          </a:solidFill>
                          <a:effectLst/>
                          <a:latin typeface="Arial" charset="0"/>
                        </a:rPr>
                        <a:t>Gemoedsrust</a:t>
                      </a:r>
                      <a:r>
                        <a:rPr kumimoji="0" lang="en-US" sz="1600" b="0" i="0" u="none" strike="noStrike" cap="none" normalizeH="0" baseline="0" dirty="0">
                          <a:ln>
                            <a:noFill/>
                          </a:ln>
                          <a:solidFill>
                            <a:schemeClr val="tx1"/>
                          </a:solidFill>
                          <a:effectLst/>
                          <a:latin typeface="Arial" charset="0"/>
                        </a:rPr>
                        <a:t> (Type II)</a:t>
                      </a:r>
                    </a:p>
                    <a:p>
                      <a:pPr marL="0" marR="0" lvl="0" indent="0" algn="l" defTabSz="914400" rtl="0" eaLnBrk="1" fontAlgn="base" latinLnBrk="0" hangingPunct="1">
                        <a:lnSpc>
                          <a:spcPct val="140000"/>
                        </a:lnSpc>
                        <a:spcBef>
                          <a:spcPct val="20000"/>
                        </a:spcBef>
                        <a:spcAft>
                          <a:spcPct val="0"/>
                        </a:spcAft>
                        <a:buClrTx/>
                        <a:buSzTx/>
                        <a:buFontTx/>
                        <a:buNone/>
                        <a:tabLst/>
                      </a:pPr>
                      <a:r>
                        <a:rPr kumimoji="0" lang="en-US" sz="1600" b="0" i="0" u="none" strike="noStrike" cap="none" normalizeH="0" baseline="0" dirty="0" err="1">
                          <a:ln>
                            <a:noFill/>
                          </a:ln>
                          <a:solidFill>
                            <a:schemeClr val="tx1"/>
                          </a:solidFill>
                          <a:effectLst/>
                          <a:latin typeface="Arial" charset="0"/>
                        </a:rPr>
                        <a:t>Levensvreugde</a:t>
                      </a:r>
                      <a:r>
                        <a:rPr kumimoji="0" lang="en-US" sz="1600" b="0" i="0" u="none" strike="noStrike" cap="none" normalizeH="0" baseline="0" dirty="0">
                          <a:ln>
                            <a:noFill/>
                          </a:ln>
                          <a:solidFill>
                            <a:schemeClr val="tx1"/>
                          </a:solidFill>
                          <a:effectLst/>
                          <a:latin typeface="Arial" charset="0"/>
                        </a:rPr>
                        <a:t>/</a:t>
                      </a:r>
                      <a:r>
                        <a:rPr kumimoji="0" lang="en-US" sz="1600" b="0" i="0" u="none" strike="noStrike" cap="none" normalizeH="0" baseline="0" dirty="0" err="1">
                          <a:ln>
                            <a:noFill/>
                          </a:ln>
                          <a:solidFill>
                            <a:schemeClr val="tx1"/>
                          </a:solidFill>
                          <a:effectLst/>
                          <a:latin typeface="Arial" charset="0"/>
                        </a:rPr>
                        <a:t>geluk</a:t>
                      </a:r>
                      <a:r>
                        <a:rPr kumimoji="0" lang="en-US" sz="1600" b="0" i="0" u="none" strike="noStrike" cap="none" normalizeH="0" baseline="0" dirty="0">
                          <a:ln>
                            <a:noFill/>
                          </a:ln>
                          <a:solidFill>
                            <a:schemeClr val="tx1"/>
                          </a:solidFill>
                          <a:effectLst/>
                          <a:latin typeface="Arial" charset="0"/>
                        </a:rPr>
                        <a:t> (Type II)</a:t>
                      </a:r>
                    </a:p>
                    <a:p>
                      <a:pPr marL="0" marR="0" lvl="0" indent="0" algn="l" defTabSz="914400" rtl="0" eaLnBrk="1" fontAlgn="base" latinLnBrk="0" hangingPunct="1">
                        <a:lnSpc>
                          <a:spcPct val="140000"/>
                        </a:lnSpc>
                        <a:spcBef>
                          <a:spcPct val="20000"/>
                        </a:spcBef>
                        <a:spcAft>
                          <a:spcPct val="0"/>
                        </a:spcAft>
                        <a:buClrTx/>
                        <a:buSzTx/>
                        <a:buFontTx/>
                        <a:buNone/>
                        <a:tabLst/>
                      </a:pPr>
                      <a:r>
                        <a:rPr kumimoji="0" lang="en-US" sz="1600" b="0" i="0" u="none" strike="noStrike" cap="none" normalizeH="0" baseline="0" dirty="0" err="1">
                          <a:ln>
                            <a:noFill/>
                          </a:ln>
                          <a:solidFill>
                            <a:schemeClr val="tx1"/>
                          </a:solidFill>
                          <a:effectLst/>
                          <a:latin typeface="Arial" charset="0"/>
                        </a:rPr>
                        <a:t>Welvarend</a:t>
                      </a:r>
                      <a:r>
                        <a:rPr kumimoji="0" lang="en-US" sz="1600" b="0" i="0" u="none" strike="noStrike" cap="none" normalizeH="0" baseline="0" dirty="0">
                          <a:ln>
                            <a:noFill/>
                          </a:ln>
                          <a:solidFill>
                            <a:schemeClr val="tx1"/>
                          </a:solidFill>
                          <a:effectLst/>
                          <a:latin typeface="Arial" charset="0"/>
                        </a:rPr>
                        <a:t>/</a:t>
                      </a:r>
                      <a:r>
                        <a:rPr kumimoji="0" lang="en-US" sz="1600" b="0" i="0" u="none" strike="noStrike" cap="none" normalizeH="0" baseline="0" dirty="0" err="1">
                          <a:ln>
                            <a:noFill/>
                          </a:ln>
                          <a:solidFill>
                            <a:schemeClr val="tx1"/>
                          </a:solidFill>
                          <a:effectLst/>
                          <a:latin typeface="Arial" charset="0"/>
                        </a:rPr>
                        <a:t>rijk</a:t>
                      </a:r>
                      <a:r>
                        <a:rPr kumimoji="0" lang="en-US" sz="1600" b="0" i="0" u="none" strike="noStrike" cap="none" normalizeH="0" baseline="0" dirty="0">
                          <a:ln>
                            <a:noFill/>
                          </a:ln>
                          <a:solidFill>
                            <a:schemeClr val="tx1"/>
                          </a:solidFill>
                          <a:effectLst/>
                          <a:latin typeface="Arial" charset="0"/>
                        </a:rPr>
                        <a:t> (Type I)</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56701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CD2B0851-0B2C-4FD4-A2B4-E6FD933696E1}"/>
              </a:ext>
            </a:extLst>
          </p:cNvPr>
          <p:cNvSpPr txBox="1">
            <a:spLocks noChangeArrowheads="1"/>
          </p:cNvSpPr>
          <p:nvPr/>
        </p:nvSpPr>
        <p:spPr>
          <a:xfrm>
            <a:off x="457200" y="274638"/>
            <a:ext cx="11125200" cy="1143000"/>
          </a:xfrm>
          <a:prstGeom prst="rect">
            <a:avLst/>
          </a:prstGeom>
        </p:spPr>
        <p:txBody>
          <a:bodyPr/>
          <a:lstStyle>
            <a:lvl1pPr algn="l" rtl="0" eaLnBrk="0" fontAlgn="base" hangingPunct="0">
              <a:spcBef>
                <a:spcPct val="0"/>
              </a:spcBef>
              <a:spcAft>
                <a:spcPct val="0"/>
              </a:spcAft>
              <a:defRPr sz="3600" b="1" kern="1200">
                <a:solidFill>
                  <a:srgbClr val="FF8D3E"/>
                </a:solidFill>
                <a:effectLst>
                  <a:outerShdw blurRad="53975" dist="22860" dir="5400000" algn="tl" rotWithShape="0">
                    <a:srgbClr val="000000">
                      <a:alpha val="55000"/>
                    </a:srgbClr>
                  </a:outerShdw>
                </a:effectLst>
                <a:latin typeface="+mj-lt"/>
                <a:ea typeface="+mj-ea"/>
                <a:cs typeface="+mj-cs"/>
              </a:defRPr>
            </a:lvl1pPr>
            <a:lvl2pPr algn="l" rtl="0" eaLnBrk="0" fontAlgn="base" hangingPunct="0">
              <a:spcBef>
                <a:spcPct val="0"/>
              </a:spcBef>
              <a:spcAft>
                <a:spcPct val="0"/>
              </a:spcAft>
              <a:defRPr sz="3600" b="1">
                <a:solidFill>
                  <a:srgbClr val="FF8D3E"/>
                </a:solidFill>
                <a:latin typeface="Verdana" pitchFamily="34" charset="0"/>
              </a:defRPr>
            </a:lvl2pPr>
            <a:lvl3pPr algn="l" rtl="0" eaLnBrk="0" fontAlgn="base" hangingPunct="0">
              <a:spcBef>
                <a:spcPct val="0"/>
              </a:spcBef>
              <a:spcAft>
                <a:spcPct val="0"/>
              </a:spcAft>
              <a:defRPr sz="3600" b="1">
                <a:solidFill>
                  <a:srgbClr val="FF8D3E"/>
                </a:solidFill>
                <a:latin typeface="Verdana" pitchFamily="34" charset="0"/>
              </a:defRPr>
            </a:lvl3pPr>
            <a:lvl4pPr algn="l" rtl="0" eaLnBrk="0" fontAlgn="base" hangingPunct="0">
              <a:spcBef>
                <a:spcPct val="0"/>
              </a:spcBef>
              <a:spcAft>
                <a:spcPct val="0"/>
              </a:spcAft>
              <a:defRPr sz="3600" b="1">
                <a:solidFill>
                  <a:srgbClr val="FF8D3E"/>
                </a:solidFill>
                <a:latin typeface="Verdana" pitchFamily="34" charset="0"/>
              </a:defRPr>
            </a:lvl4pPr>
            <a:lvl5pPr algn="l" rtl="0" eaLnBrk="0" fontAlgn="base" hangingPunct="0">
              <a:spcBef>
                <a:spcPct val="0"/>
              </a:spcBef>
              <a:spcAft>
                <a:spcPct val="0"/>
              </a:spcAft>
              <a:defRPr sz="3600" b="1">
                <a:solidFill>
                  <a:srgbClr val="FF8D3E"/>
                </a:solidFill>
                <a:latin typeface="Verdana" pitchFamily="34" charset="0"/>
              </a:defRPr>
            </a:lvl5pPr>
            <a:lvl6pPr marL="457200" algn="l" rtl="0" fontAlgn="base">
              <a:spcBef>
                <a:spcPct val="0"/>
              </a:spcBef>
              <a:spcAft>
                <a:spcPct val="0"/>
              </a:spcAft>
              <a:defRPr sz="3600" b="1">
                <a:solidFill>
                  <a:srgbClr val="FF8D3E"/>
                </a:solidFill>
                <a:latin typeface="Verdana" pitchFamily="34" charset="0"/>
              </a:defRPr>
            </a:lvl6pPr>
            <a:lvl7pPr marL="914400" algn="l" rtl="0" fontAlgn="base">
              <a:spcBef>
                <a:spcPct val="0"/>
              </a:spcBef>
              <a:spcAft>
                <a:spcPct val="0"/>
              </a:spcAft>
              <a:defRPr sz="3600" b="1">
                <a:solidFill>
                  <a:srgbClr val="FF8D3E"/>
                </a:solidFill>
                <a:latin typeface="Verdana" pitchFamily="34" charset="0"/>
              </a:defRPr>
            </a:lvl7pPr>
            <a:lvl8pPr marL="1371600" algn="l" rtl="0" fontAlgn="base">
              <a:spcBef>
                <a:spcPct val="0"/>
              </a:spcBef>
              <a:spcAft>
                <a:spcPct val="0"/>
              </a:spcAft>
              <a:defRPr sz="3600" b="1">
                <a:solidFill>
                  <a:srgbClr val="FF8D3E"/>
                </a:solidFill>
                <a:latin typeface="Verdana" pitchFamily="34" charset="0"/>
              </a:defRPr>
            </a:lvl8pPr>
            <a:lvl9pPr marL="1828800" algn="l" rtl="0" fontAlgn="base">
              <a:spcBef>
                <a:spcPct val="0"/>
              </a:spcBef>
              <a:spcAft>
                <a:spcPct val="0"/>
              </a:spcAft>
              <a:defRPr sz="3600" b="1">
                <a:solidFill>
                  <a:srgbClr val="FF8D3E"/>
                </a:solidFill>
                <a:latin typeface="Verdana" pitchFamily="34" charset="0"/>
              </a:defRPr>
            </a:lvl9pPr>
            <a:extLst/>
          </a:lstStyle>
          <a:p>
            <a:r>
              <a:rPr lang="nl-NL" sz="2400" dirty="0">
                <a:solidFill>
                  <a:schemeClr val="tx1"/>
                </a:solidFill>
                <a:effectLst/>
              </a:rPr>
              <a:t>De verschillende persoonlijke waarden-opvattingen gedreven door de historische cyclus</a:t>
            </a:r>
          </a:p>
        </p:txBody>
      </p:sp>
      <p:graphicFrame>
        <p:nvGraphicFramePr>
          <p:cNvPr id="5" name="Group 86">
            <a:extLst>
              <a:ext uri="{FF2B5EF4-FFF2-40B4-BE49-F238E27FC236}">
                <a16:creationId xmlns:a16="http://schemas.microsoft.com/office/drawing/2014/main" id="{D12B7262-5FE1-4DD8-BE07-F541FD69A93A}"/>
              </a:ext>
            </a:extLst>
          </p:cNvPr>
          <p:cNvGraphicFramePr>
            <a:graphicFrameLocks/>
          </p:cNvGraphicFramePr>
          <p:nvPr>
            <p:extLst>
              <p:ext uri="{D42A27DB-BD31-4B8C-83A1-F6EECF244321}">
                <p14:modId xmlns:p14="http://schemas.microsoft.com/office/powerpoint/2010/main" val="2803643951"/>
              </p:ext>
            </p:extLst>
          </p:nvPr>
        </p:nvGraphicFramePr>
        <p:xfrm>
          <a:off x="599440" y="1590041"/>
          <a:ext cx="9966960" cy="4536125"/>
        </p:xfrm>
        <a:graphic>
          <a:graphicData uri="http://schemas.openxmlformats.org/drawingml/2006/table">
            <a:tbl>
              <a:tblPr/>
              <a:tblGrid>
                <a:gridCol w="5002574">
                  <a:extLst>
                    <a:ext uri="{9D8B030D-6E8A-4147-A177-3AD203B41FA5}">
                      <a16:colId xmlns:a16="http://schemas.microsoft.com/office/drawing/2014/main" val="20000"/>
                    </a:ext>
                  </a:extLst>
                </a:gridCol>
                <a:gridCol w="4964386">
                  <a:extLst>
                    <a:ext uri="{9D8B030D-6E8A-4147-A177-3AD203B41FA5}">
                      <a16:colId xmlns:a16="http://schemas.microsoft.com/office/drawing/2014/main" val="20001"/>
                    </a:ext>
                  </a:extLst>
                </a:gridCol>
              </a:tblGrid>
              <a:tr h="113442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Arial" charset="0"/>
                        </a:rPr>
                        <a:t>Actie</a:t>
                      </a:r>
                      <a:endParaRPr kumimoji="0" lang="en-US" sz="2800" b="0" i="0" u="none" strike="noStrike" cap="none" normalizeH="0" baseline="0" dirty="0">
                        <a:ln>
                          <a:noFill/>
                        </a:ln>
                        <a:solidFill>
                          <a:schemeClr val="tx1"/>
                        </a:solidFill>
                        <a:effectLst/>
                        <a:latin typeface="Arial" charset="0"/>
                      </a:endParaRPr>
                    </a:p>
                  </a:txBody>
                  <a:tcPr horzOverflow="overflow">
                    <a:lnL cap="flat">
                      <a:noFill/>
                    </a:lnL>
                    <a:lnR>
                      <a:noFill/>
                    </a:lnR>
                    <a:lnT cap="flat">
                      <a:noFill/>
                    </a:lnT>
                    <a:lnB>
                      <a:noFill/>
                    </a:lnB>
                    <a:lnTlToBr>
                      <a:noFill/>
                    </a:lnTlToBr>
                    <a:lnBlToTr>
                      <a:noFill/>
                    </a:lnBlToTr>
                    <a:noFill/>
                  </a:tcPr>
                </a:tc>
                <a:tc>
                  <a:txBody>
                    <a:bodyPr/>
                    <a:lstStyle/>
                    <a:p>
                      <a:pPr marL="630238"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Arial" charset="0"/>
                        </a:rPr>
                        <a:t>Reflectie</a:t>
                      </a:r>
                      <a:endParaRPr kumimoji="0" lang="en-US" sz="2800" b="0" i="0" u="none" strike="noStrike" cap="none" normalizeH="0" baseline="0" dirty="0">
                        <a:ln>
                          <a:noFill/>
                        </a:ln>
                        <a:solidFill>
                          <a:schemeClr val="tx1"/>
                        </a:solidFill>
                        <a:effectLst/>
                        <a:latin typeface="Arial" charset="0"/>
                      </a:endParaRP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113442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Arial" charset="0"/>
                        </a:rPr>
                        <a:t>seculier</a:t>
                      </a:r>
                      <a:r>
                        <a:rPr kumimoji="0" lang="en-US" sz="2800" b="0" i="0" u="none" strike="noStrike" cap="none" normalizeH="0" baseline="0" dirty="0">
                          <a:ln>
                            <a:noFill/>
                          </a:ln>
                          <a:solidFill>
                            <a:schemeClr val="tx1"/>
                          </a:solidFill>
                          <a:effectLst/>
                          <a:latin typeface="Arial" charset="0"/>
                        </a:rPr>
                        <a:t>/</a:t>
                      </a:r>
                      <a:r>
                        <a:rPr kumimoji="0" lang="en-US" sz="2800" b="0" i="0" u="none" strike="noStrike" cap="none" normalizeH="0" baseline="0" dirty="0" err="1">
                          <a:ln>
                            <a:noFill/>
                          </a:ln>
                          <a:solidFill>
                            <a:schemeClr val="tx1"/>
                          </a:solidFill>
                          <a:effectLst/>
                          <a:latin typeface="Arial" charset="0"/>
                        </a:rPr>
                        <a:t>materiële</a:t>
                      </a:r>
                      <a:r>
                        <a:rPr kumimoji="0" lang="en-US" sz="2800" b="0" i="0" u="none" strike="noStrike" cap="none" normalizeH="0" baseline="0" dirty="0">
                          <a:ln>
                            <a:noFill/>
                          </a:ln>
                          <a:solidFill>
                            <a:schemeClr val="tx1"/>
                          </a:solidFill>
                          <a:effectLst/>
                          <a:latin typeface="Arial" charset="0"/>
                        </a:rPr>
                        <a:t> focus</a:t>
                      </a:r>
                    </a:p>
                  </a:txBody>
                  <a:tcPr horzOverflow="overflow">
                    <a:lnL cap="flat">
                      <a:noFill/>
                    </a:lnL>
                    <a:lnR>
                      <a:noFill/>
                    </a:lnR>
                    <a:lnT>
                      <a:noFill/>
                    </a:lnT>
                    <a:lnB>
                      <a:noFill/>
                    </a:lnB>
                    <a:lnTlToBr>
                      <a:noFill/>
                    </a:lnTlToBr>
                    <a:lnBlToTr>
                      <a:noFill/>
                    </a:lnBlToTr>
                    <a:noFill/>
                  </a:tcPr>
                </a:tc>
                <a:tc>
                  <a:txBody>
                    <a:bodyPr/>
                    <a:lstStyle/>
                    <a:p>
                      <a:pPr marL="630238" marR="0" lvl="0" indent="0" algn="ctr" defTabSz="914400" rtl="0" eaLnBrk="1" fontAlgn="base" latinLnBrk="0" hangingPunct="1">
                        <a:lnSpc>
                          <a:spcPct val="100000"/>
                        </a:lnSpc>
                        <a:spcBef>
                          <a:spcPct val="20000"/>
                        </a:spcBef>
                        <a:spcAft>
                          <a:spcPct val="0"/>
                        </a:spcAft>
                        <a:buClrTx/>
                        <a:buSzTx/>
                        <a:buFontTx/>
                        <a:buNone/>
                        <a:tabLst>
                          <a:tab pos="630238" algn="l"/>
                        </a:tabLst>
                      </a:pPr>
                      <a:r>
                        <a:rPr kumimoji="0" lang="en-US" sz="2800" b="0" i="0" u="none" strike="noStrike" cap="none" normalizeH="0" baseline="0" dirty="0" err="1">
                          <a:ln>
                            <a:noFill/>
                          </a:ln>
                          <a:solidFill>
                            <a:schemeClr val="tx1"/>
                          </a:solidFill>
                          <a:effectLst/>
                          <a:latin typeface="Arial" charset="0"/>
                        </a:rPr>
                        <a:t>Zelf</a:t>
                      </a:r>
                      <a:r>
                        <a:rPr kumimoji="0" lang="en-US" sz="2800" b="0" i="0" u="none" strike="noStrike" cap="none" normalizeH="0" baseline="0" dirty="0">
                          <a:ln>
                            <a:noFill/>
                          </a:ln>
                          <a:solidFill>
                            <a:schemeClr val="tx1"/>
                          </a:solidFill>
                          <a:effectLst/>
                          <a:latin typeface="Arial" charset="0"/>
                        </a:rPr>
                        <a:t>-/</a:t>
                      </a:r>
                      <a:r>
                        <a:rPr kumimoji="0" lang="en-US" sz="2800" b="0" i="0" u="none" strike="noStrike" cap="none" normalizeH="0" baseline="0" dirty="0" err="1">
                          <a:ln>
                            <a:noFill/>
                          </a:ln>
                          <a:solidFill>
                            <a:schemeClr val="tx1"/>
                          </a:solidFill>
                          <a:effectLst/>
                          <a:latin typeface="Arial" charset="0"/>
                        </a:rPr>
                        <a:t>spirituele</a:t>
                      </a:r>
                      <a:r>
                        <a:rPr kumimoji="0" lang="en-US" sz="2800" b="0" i="0" u="none" strike="noStrike" cap="none" normalizeH="0" baseline="0" dirty="0">
                          <a:ln>
                            <a:noFill/>
                          </a:ln>
                          <a:solidFill>
                            <a:schemeClr val="tx1"/>
                          </a:solidFill>
                          <a:effectLst/>
                          <a:latin typeface="Arial" charset="0"/>
                        </a:rPr>
                        <a:t> focus</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11328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Basis </a:t>
                      </a:r>
                      <a:r>
                        <a:rPr kumimoji="0" lang="en-US" sz="2800" b="0" i="0" u="none" strike="noStrike" cap="none" normalizeH="0" baseline="0" dirty="0" err="1">
                          <a:ln>
                            <a:noFill/>
                          </a:ln>
                          <a:solidFill>
                            <a:schemeClr val="tx1"/>
                          </a:solidFill>
                          <a:effectLst/>
                          <a:latin typeface="Arial" charset="0"/>
                        </a:rPr>
                        <a:t>overleven</a:t>
                      </a:r>
                      <a:endParaRPr kumimoji="0" lang="en-US" sz="2800" b="0" i="0" u="none" strike="noStrike" cap="none" normalizeH="0" baseline="0" dirty="0">
                        <a:ln>
                          <a:noFill/>
                        </a:ln>
                        <a:solidFill>
                          <a:schemeClr val="tx1"/>
                        </a:solidFill>
                        <a:effectLst/>
                        <a:latin typeface="Arial" charset="0"/>
                      </a:endParaRPr>
                    </a:p>
                  </a:txBody>
                  <a:tcPr horzOverflow="overflow">
                    <a:lnL cap="flat">
                      <a:noFill/>
                    </a:lnL>
                    <a:lnR>
                      <a:noFill/>
                    </a:lnR>
                    <a:lnT>
                      <a:noFill/>
                    </a:lnT>
                    <a:lnB>
                      <a:noFill/>
                    </a:lnB>
                    <a:lnTlToBr>
                      <a:noFill/>
                    </a:lnTlToBr>
                    <a:lnBlToTr>
                      <a:noFill/>
                    </a:lnBlToTr>
                    <a:noFill/>
                  </a:tcPr>
                </a:tc>
                <a:tc>
                  <a:txBody>
                    <a:bodyPr/>
                    <a:lstStyle/>
                    <a:p>
                      <a:pPr marL="630238"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Arial" charset="0"/>
                        </a:rPr>
                        <a:t>Beschavingsverfijningen</a:t>
                      </a:r>
                      <a:endParaRPr kumimoji="0" lang="en-US" sz="2800" b="0" i="0" u="none" strike="noStrike" cap="none" normalizeH="0" baseline="0" dirty="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113442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Arial" charset="0"/>
                        </a:rPr>
                        <a:t>Buitenlands</a:t>
                      </a:r>
                      <a:r>
                        <a:rPr kumimoji="0" lang="en-US" sz="2800" b="0" i="0" u="none" strike="noStrike" cap="none" normalizeH="0" baseline="0" dirty="0">
                          <a:ln>
                            <a:noFill/>
                          </a:ln>
                          <a:solidFill>
                            <a:schemeClr val="tx1"/>
                          </a:solidFill>
                          <a:effectLst/>
                          <a:latin typeface="Arial" charset="0"/>
                        </a:rPr>
                        <a:t> </a:t>
                      </a:r>
                      <a:r>
                        <a:rPr kumimoji="0" lang="en-US" sz="2800" b="0" i="0" u="none" strike="noStrike" cap="none" normalizeH="0" baseline="0" dirty="0" err="1">
                          <a:ln>
                            <a:noFill/>
                          </a:ln>
                          <a:solidFill>
                            <a:schemeClr val="tx1"/>
                          </a:solidFill>
                          <a:effectLst/>
                          <a:latin typeface="Arial" charset="0"/>
                        </a:rPr>
                        <a:t>interventionisme</a:t>
                      </a:r>
                      <a:endParaRPr kumimoji="0" lang="en-US" sz="2800" b="0" i="0" u="none" strike="noStrike" cap="none" normalizeH="0" baseline="0" dirty="0">
                        <a:ln>
                          <a:noFill/>
                        </a:ln>
                        <a:solidFill>
                          <a:schemeClr val="tx1"/>
                        </a:solidFill>
                        <a:effectLst/>
                        <a:latin typeface="Arial" charset="0"/>
                      </a:endParaRPr>
                    </a:p>
                  </a:txBody>
                  <a:tcPr horzOverflow="overflow">
                    <a:lnL cap="flat">
                      <a:noFill/>
                    </a:lnL>
                    <a:lnR>
                      <a:noFill/>
                    </a:lnR>
                    <a:lnT>
                      <a:noFill/>
                    </a:lnT>
                    <a:lnB cap="flat">
                      <a:noFill/>
                    </a:lnB>
                    <a:lnTlToBr>
                      <a:noFill/>
                    </a:lnTlToBr>
                    <a:lnBlToTr>
                      <a:noFill/>
                    </a:lnBlToTr>
                    <a:noFill/>
                  </a:tcPr>
                </a:tc>
                <a:tc>
                  <a:txBody>
                    <a:bodyPr/>
                    <a:lstStyle/>
                    <a:p>
                      <a:pPr marL="630238"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Arial" charset="0"/>
                        </a:rPr>
                        <a:t>Buitenlandse</a:t>
                      </a:r>
                      <a:r>
                        <a:rPr kumimoji="0" lang="en-US" sz="2800" b="0" i="0" u="none" strike="noStrike" cap="none" normalizeH="0" baseline="0" dirty="0">
                          <a:ln>
                            <a:noFill/>
                          </a:ln>
                          <a:solidFill>
                            <a:schemeClr val="tx1"/>
                          </a:solidFill>
                          <a:effectLst/>
                          <a:latin typeface="Arial" charset="0"/>
                        </a:rPr>
                        <a:t> </a:t>
                      </a:r>
                      <a:r>
                        <a:rPr kumimoji="0" lang="en-US" sz="2800" b="0" i="0" u="none" strike="noStrike" cap="none" normalizeH="0" baseline="0" dirty="0" err="1">
                          <a:ln>
                            <a:noFill/>
                          </a:ln>
                          <a:solidFill>
                            <a:schemeClr val="tx1"/>
                          </a:solidFill>
                          <a:effectLst/>
                          <a:latin typeface="Arial" charset="0"/>
                        </a:rPr>
                        <a:t>isolationisme</a:t>
                      </a:r>
                      <a:endParaRPr kumimoji="0" lang="en-US" sz="2800" b="0" i="0" u="none" strike="noStrike" cap="none" normalizeH="0" baseline="0" dirty="0">
                        <a:ln>
                          <a:noFill/>
                        </a:ln>
                        <a:solidFill>
                          <a:schemeClr val="tx1"/>
                        </a:solidFill>
                        <a:effectLst/>
                        <a:latin typeface="Arial" charset="0"/>
                      </a:endParaRP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 name="Line 90">
            <a:extLst>
              <a:ext uri="{FF2B5EF4-FFF2-40B4-BE49-F238E27FC236}">
                <a16:creationId xmlns:a16="http://schemas.microsoft.com/office/drawing/2014/main" id="{A1344065-C145-4829-A360-5705A126A4FE}"/>
              </a:ext>
            </a:extLst>
          </p:cNvPr>
          <p:cNvSpPr>
            <a:spLocks noChangeShapeType="1"/>
          </p:cNvSpPr>
          <p:nvPr/>
        </p:nvSpPr>
        <p:spPr bwMode="auto">
          <a:xfrm>
            <a:off x="5475884" y="5257800"/>
            <a:ext cx="921533" cy="0"/>
          </a:xfrm>
          <a:prstGeom prst="line">
            <a:avLst/>
          </a:prstGeom>
          <a:noFill/>
          <a:ln w="4445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nl-NL"/>
          </a:p>
        </p:txBody>
      </p:sp>
      <p:sp>
        <p:nvSpPr>
          <p:cNvPr id="10" name="Line 90">
            <a:extLst>
              <a:ext uri="{FF2B5EF4-FFF2-40B4-BE49-F238E27FC236}">
                <a16:creationId xmlns:a16="http://schemas.microsoft.com/office/drawing/2014/main" id="{7ED097FE-BEE7-4E97-A38E-9FD918A702E2}"/>
              </a:ext>
            </a:extLst>
          </p:cNvPr>
          <p:cNvSpPr>
            <a:spLocks noChangeShapeType="1"/>
          </p:cNvSpPr>
          <p:nvPr/>
        </p:nvSpPr>
        <p:spPr bwMode="auto">
          <a:xfrm>
            <a:off x="5483726" y="4201511"/>
            <a:ext cx="921533" cy="0"/>
          </a:xfrm>
          <a:prstGeom prst="line">
            <a:avLst/>
          </a:prstGeom>
          <a:noFill/>
          <a:ln w="4445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nl-NL"/>
          </a:p>
        </p:txBody>
      </p:sp>
      <p:sp>
        <p:nvSpPr>
          <p:cNvPr id="11" name="Line 90">
            <a:extLst>
              <a:ext uri="{FF2B5EF4-FFF2-40B4-BE49-F238E27FC236}">
                <a16:creationId xmlns:a16="http://schemas.microsoft.com/office/drawing/2014/main" id="{D8EE80DE-68A9-4F96-89AF-7E8744365522}"/>
              </a:ext>
            </a:extLst>
          </p:cNvPr>
          <p:cNvSpPr>
            <a:spLocks noChangeShapeType="1"/>
          </p:cNvSpPr>
          <p:nvPr/>
        </p:nvSpPr>
        <p:spPr bwMode="auto">
          <a:xfrm>
            <a:off x="5475884" y="2992820"/>
            <a:ext cx="921533" cy="0"/>
          </a:xfrm>
          <a:prstGeom prst="line">
            <a:avLst/>
          </a:prstGeom>
          <a:noFill/>
          <a:ln w="4445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nl-NL"/>
          </a:p>
        </p:txBody>
      </p:sp>
      <p:sp>
        <p:nvSpPr>
          <p:cNvPr id="12" name="Line 90">
            <a:extLst>
              <a:ext uri="{FF2B5EF4-FFF2-40B4-BE49-F238E27FC236}">
                <a16:creationId xmlns:a16="http://schemas.microsoft.com/office/drawing/2014/main" id="{79AF51D4-4751-4B18-AFE4-739C6F7EA0E6}"/>
              </a:ext>
            </a:extLst>
          </p:cNvPr>
          <p:cNvSpPr>
            <a:spLocks noChangeShapeType="1"/>
          </p:cNvSpPr>
          <p:nvPr/>
        </p:nvSpPr>
        <p:spPr bwMode="auto">
          <a:xfrm>
            <a:off x="5470635" y="1857717"/>
            <a:ext cx="921533" cy="0"/>
          </a:xfrm>
          <a:prstGeom prst="line">
            <a:avLst/>
          </a:prstGeom>
          <a:noFill/>
          <a:ln w="4445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nl-NL"/>
          </a:p>
        </p:txBody>
      </p:sp>
    </p:spTree>
    <p:extLst>
      <p:ext uri="{BB962C8B-B14F-4D97-AF65-F5344CB8AC3E}">
        <p14:creationId xmlns:p14="http://schemas.microsoft.com/office/powerpoint/2010/main" val="40957725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94A138-3382-47E3-8301-D7F76F0BF524}"/>
              </a:ext>
            </a:extLst>
          </p:cNvPr>
          <p:cNvSpPr>
            <a:spLocks noGrp="1"/>
          </p:cNvSpPr>
          <p:nvPr>
            <p:ph type="title"/>
          </p:nvPr>
        </p:nvSpPr>
        <p:spPr/>
        <p:txBody>
          <a:bodyPr/>
          <a:lstStyle/>
          <a:p>
            <a:endParaRPr lang="nl-NL" dirty="0"/>
          </a:p>
        </p:txBody>
      </p:sp>
      <p:sp>
        <p:nvSpPr>
          <p:cNvPr id="5" name="Tijdelijke aanduiding voor inhoud 4">
            <a:extLst>
              <a:ext uri="{FF2B5EF4-FFF2-40B4-BE49-F238E27FC236}">
                <a16:creationId xmlns:a16="http://schemas.microsoft.com/office/drawing/2014/main" id="{13897194-49AF-414C-91F9-94654D492BD3}"/>
              </a:ext>
            </a:extLst>
          </p:cNvPr>
          <p:cNvSpPr>
            <a:spLocks noGrp="1"/>
          </p:cNvSpPr>
          <p:nvPr>
            <p:ph idx="1"/>
          </p:nvPr>
        </p:nvSpPr>
        <p:spPr/>
        <p:txBody>
          <a:bodyPr/>
          <a:lstStyle/>
          <a:p>
            <a:endParaRPr lang="nl-NL"/>
          </a:p>
        </p:txBody>
      </p:sp>
    </p:spTree>
    <p:extLst>
      <p:ext uri="{BB962C8B-B14F-4D97-AF65-F5344CB8AC3E}">
        <p14:creationId xmlns:p14="http://schemas.microsoft.com/office/powerpoint/2010/main" val="7000921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ndertitel 2">
            <a:extLst>
              <a:ext uri="{FF2B5EF4-FFF2-40B4-BE49-F238E27FC236}">
                <a16:creationId xmlns:a16="http://schemas.microsoft.com/office/drawing/2014/main" id="{6B10FCC0-F80C-4835-BC41-A51D3CEED11C}"/>
              </a:ext>
            </a:extLst>
          </p:cNvPr>
          <p:cNvSpPr txBox="1">
            <a:spLocks/>
          </p:cNvSpPr>
          <p:nvPr/>
        </p:nvSpPr>
        <p:spPr bwMode="auto">
          <a:xfrm>
            <a:off x="2159668" y="1600430"/>
            <a:ext cx="7772400" cy="1599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Bef>
                <a:spcPct val="0"/>
              </a:spcBef>
              <a:buNone/>
            </a:pPr>
            <a:r>
              <a:rPr lang="nl-NL" sz="8000"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cs typeface="Arial" charset="0"/>
              </a:rPr>
              <a:t>Concept IV</a:t>
            </a:r>
          </a:p>
        </p:txBody>
      </p:sp>
      <p:sp>
        <p:nvSpPr>
          <p:cNvPr id="7" name="Ondertitel 2">
            <a:extLst>
              <a:ext uri="{FF2B5EF4-FFF2-40B4-BE49-F238E27FC236}">
                <a16:creationId xmlns:a16="http://schemas.microsoft.com/office/drawing/2014/main" id="{B078804D-6A38-4B91-9FAC-32BE3C300FA7}"/>
              </a:ext>
            </a:extLst>
          </p:cNvPr>
          <p:cNvSpPr txBox="1">
            <a:spLocks/>
          </p:cNvSpPr>
          <p:nvPr/>
        </p:nvSpPr>
        <p:spPr bwMode="auto">
          <a:xfrm>
            <a:off x="1409699" y="3772511"/>
            <a:ext cx="9372600" cy="914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eaLnBrk="1" hangingPunct="1">
              <a:spcBef>
                <a:spcPct val="0"/>
              </a:spcBef>
              <a:buNone/>
            </a:pPr>
            <a:r>
              <a:rPr lang="en-US" altLang="nl-NL" sz="4400" b="1" dirty="0" err="1">
                <a:solidFill>
                  <a:srgbClr val="79766F"/>
                </a:solidFill>
                <a:latin typeface="Frutiger LT Std 45 Light"/>
                <a:ea typeface="ＭＳ Ｐゴシック"/>
              </a:rPr>
              <a:t>Waardenperspectieven</a:t>
            </a:r>
            <a:endParaRPr lang="nl-NL" altLang="nl-NL" sz="4400" b="1" dirty="0">
              <a:solidFill>
                <a:srgbClr val="79766F"/>
              </a:solidFill>
              <a:latin typeface="Frutiger LT Std 45 Light"/>
              <a:ea typeface="ＭＳ Ｐゴシック"/>
            </a:endParaRPr>
          </a:p>
        </p:txBody>
      </p:sp>
    </p:spTree>
    <p:extLst>
      <p:ext uri="{BB962C8B-B14F-4D97-AF65-F5344CB8AC3E}">
        <p14:creationId xmlns:p14="http://schemas.microsoft.com/office/powerpoint/2010/main" val="1713099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C516281C-DD77-4D8A-9F55-C86E207F7687}"/>
              </a:ext>
            </a:extLst>
          </p:cNvPr>
          <p:cNvSpPr>
            <a:spLocks noGrp="1"/>
          </p:cNvSpPr>
          <p:nvPr>
            <p:ph idx="1"/>
          </p:nvPr>
        </p:nvSpPr>
        <p:spPr/>
        <p:txBody>
          <a:bodyPr/>
          <a:lstStyle/>
          <a:p>
            <a:endParaRPr lang="nl-NL" dirty="0"/>
          </a:p>
        </p:txBody>
      </p:sp>
      <p:sp>
        <p:nvSpPr>
          <p:cNvPr id="4" name="Rectangle 2">
            <a:extLst>
              <a:ext uri="{FF2B5EF4-FFF2-40B4-BE49-F238E27FC236}">
                <a16:creationId xmlns:a16="http://schemas.microsoft.com/office/drawing/2014/main" id="{D9573054-09FA-4DC6-BAFE-331C2C24FE48}"/>
              </a:ext>
            </a:extLst>
          </p:cNvPr>
          <p:cNvSpPr txBox="1">
            <a:spLocks noChangeArrowheads="1"/>
          </p:cNvSpPr>
          <p:nvPr/>
        </p:nvSpPr>
        <p:spPr>
          <a:xfrm>
            <a:off x="685800" y="2130425"/>
            <a:ext cx="10896600" cy="1470025"/>
          </a:xfrm>
          <a:prstGeom prst="rect">
            <a:avLst/>
          </a:prstGeom>
        </p:spPr>
        <p:txBody>
          <a:bodyPr/>
          <a:lstStyle>
            <a:lvl1pPr algn="l" rtl="0" eaLnBrk="0" fontAlgn="base" hangingPunct="0">
              <a:spcBef>
                <a:spcPct val="0"/>
              </a:spcBef>
              <a:spcAft>
                <a:spcPct val="0"/>
              </a:spcAft>
              <a:defRPr sz="3600" b="1" kern="1200">
                <a:solidFill>
                  <a:srgbClr val="FF8D3E"/>
                </a:solidFill>
                <a:effectLst>
                  <a:outerShdw blurRad="53975" dist="22860" dir="5400000" algn="tl" rotWithShape="0">
                    <a:srgbClr val="000000">
                      <a:alpha val="55000"/>
                    </a:srgbClr>
                  </a:outerShdw>
                </a:effectLst>
                <a:latin typeface="+mj-lt"/>
                <a:ea typeface="+mj-ea"/>
                <a:cs typeface="+mj-cs"/>
              </a:defRPr>
            </a:lvl1pPr>
            <a:lvl2pPr algn="l" rtl="0" eaLnBrk="0" fontAlgn="base" hangingPunct="0">
              <a:spcBef>
                <a:spcPct val="0"/>
              </a:spcBef>
              <a:spcAft>
                <a:spcPct val="0"/>
              </a:spcAft>
              <a:defRPr sz="3600" b="1">
                <a:solidFill>
                  <a:srgbClr val="FF8D3E"/>
                </a:solidFill>
                <a:latin typeface="Verdana" pitchFamily="34" charset="0"/>
              </a:defRPr>
            </a:lvl2pPr>
            <a:lvl3pPr algn="l" rtl="0" eaLnBrk="0" fontAlgn="base" hangingPunct="0">
              <a:spcBef>
                <a:spcPct val="0"/>
              </a:spcBef>
              <a:spcAft>
                <a:spcPct val="0"/>
              </a:spcAft>
              <a:defRPr sz="3600" b="1">
                <a:solidFill>
                  <a:srgbClr val="FF8D3E"/>
                </a:solidFill>
                <a:latin typeface="Verdana" pitchFamily="34" charset="0"/>
              </a:defRPr>
            </a:lvl3pPr>
            <a:lvl4pPr algn="l" rtl="0" eaLnBrk="0" fontAlgn="base" hangingPunct="0">
              <a:spcBef>
                <a:spcPct val="0"/>
              </a:spcBef>
              <a:spcAft>
                <a:spcPct val="0"/>
              </a:spcAft>
              <a:defRPr sz="3600" b="1">
                <a:solidFill>
                  <a:srgbClr val="FF8D3E"/>
                </a:solidFill>
                <a:latin typeface="Verdana" pitchFamily="34" charset="0"/>
              </a:defRPr>
            </a:lvl4pPr>
            <a:lvl5pPr algn="l" rtl="0" eaLnBrk="0" fontAlgn="base" hangingPunct="0">
              <a:spcBef>
                <a:spcPct val="0"/>
              </a:spcBef>
              <a:spcAft>
                <a:spcPct val="0"/>
              </a:spcAft>
              <a:defRPr sz="3600" b="1">
                <a:solidFill>
                  <a:srgbClr val="FF8D3E"/>
                </a:solidFill>
                <a:latin typeface="Verdana" pitchFamily="34" charset="0"/>
              </a:defRPr>
            </a:lvl5pPr>
            <a:lvl6pPr marL="457200" algn="l" rtl="0" fontAlgn="base">
              <a:spcBef>
                <a:spcPct val="0"/>
              </a:spcBef>
              <a:spcAft>
                <a:spcPct val="0"/>
              </a:spcAft>
              <a:defRPr sz="3600" b="1">
                <a:solidFill>
                  <a:srgbClr val="FF8D3E"/>
                </a:solidFill>
                <a:latin typeface="Verdana" pitchFamily="34" charset="0"/>
              </a:defRPr>
            </a:lvl6pPr>
            <a:lvl7pPr marL="914400" algn="l" rtl="0" fontAlgn="base">
              <a:spcBef>
                <a:spcPct val="0"/>
              </a:spcBef>
              <a:spcAft>
                <a:spcPct val="0"/>
              </a:spcAft>
              <a:defRPr sz="3600" b="1">
                <a:solidFill>
                  <a:srgbClr val="FF8D3E"/>
                </a:solidFill>
                <a:latin typeface="Verdana" pitchFamily="34" charset="0"/>
              </a:defRPr>
            </a:lvl7pPr>
            <a:lvl8pPr marL="1371600" algn="l" rtl="0" fontAlgn="base">
              <a:spcBef>
                <a:spcPct val="0"/>
              </a:spcBef>
              <a:spcAft>
                <a:spcPct val="0"/>
              </a:spcAft>
              <a:defRPr sz="3600" b="1">
                <a:solidFill>
                  <a:srgbClr val="FF8D3E"/>
                </a:solidFill>
                <a:latin typeface="Verdana" pitchFamily="34" charset="0"/>
              </a:defRPr>
            </a:lvl8pPr>
            <a:lvl9pPr marL="1828800" algn="l" rtl="0" fontAlgn="base">
              <a:spcBef>
                <a:spcPct val="0"/>
              </a:spcBef>
              <a:spcAft>
                <a:spcPct val="0"/>
              </a:spcAft>
              <a:defRPr sz="3600" b="1">
                <a:solidFill>
                  <a:srgbClr val="FF8D3E"/>
                </a:solidFill>
                <a:latin typeface="Verdana" pitchFamily="34" charset="0"/>
              </a:defRPr>
            </a:lvl9pPr>
            <a:extLst/>
          </a:lstStyle>
          <a:p>
            <a:pPr algn="ctr" eaLnBrk="1" hangingPunct="1"/>
            <a:r>
              <a:rPr lang="nl-NL" altLang="nl-NL" dirty="0"/>
              <a:t>Onze Persoonlijke Waarden: De 4 Universele Types</a:t>
            </a:r>
          </a:p>
        </p:txBody>
      </p:sp>
    </p:spTree>
    <p:extLst>
      <p:ext uri="{BB962C8B-B14F-4D97-AF65-F5344CB8AC3E}">
        <p14:creationId xmlns:p14="http://schemas.microsoft.com/office/powerpoint/2010/main" val="2823219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C9A3B31-F2DD-4FED-8251-035579C668DD}"/>
              </a:ext>
            </a:extLst>
          </p:cNvPr>
          <p:cNvSpPr txBox="1">
            <a:spLocks noChangeArrowheads="1"/>
          </p:cNvSpPr>
          <p:nvPr/>
        </p:nvSpPr>
        <p:spPr>
          <a:xfrm>
            <a:off x="609600" y="274638"/>
            <a:ext cx="10972800" cy="706090"/>
          </a:xfrm>
          <a:prstGeom prst="rect">
            <a:avLst/>
          </a:prstGeom>
        </p:spPr>
        <p:txBody>
          <a:bodyPr/>
          <a:lstStyle>
            <a:lvl1pPr algn="l" rtl="0" eaLnBrk="0" fontAlgn="base" hangingPunct="0">
              <a:spcBef>
                <a:spcPct val="0"/>
              </a:spcBef>
              <a:spcAft>
                <a:spcPct val="0"/>
              </a:spcAft>
              <a:defRPr sz="3600" b="1" kern="1200">
                <a:solidFill>
                  <a:srgbClr val="FF8D3E"/>
                </a:solidFill>
                <a:effectLst>
                  <a:outerShdw blurRad="53975" dist="22860" dir="5400000" algn="tl" rotWithShape="0">
                    <a:srgbClr val="000000">
                      <a:alpha val="55000"/>
                    </a:srgbClr>
                  </a:outerShdw>
                </a:effectLst>
                <a:latin typeface="+mj-lt"/>
                <a:ea typeface="+mj-ea"/>
                <a:cs typeface="+mj-cs"/>
              </a:defRPr>
            </a:lvl1pPr>
            <a:lvl2pPr algn="l" rtl="0" eaLnBrk="0" fontAlgn="base" hangingPunct="0">
              <a:spcBef>
                <a:spcPct val="0"/>
              </a:spcBef>
              <a:spcAft>
                <a:spcPct val="0"/>
              </a:spcAft>
              <a:defRPr sz="3600" b="1">
                <a:solidFill>
                  <a:srgbClr val="FF8D3E"/>
                </a:solidFill>
                <a:latin typeface="Verdana" pitchFamily="34" charset="0"/>
              </a:defRPr>
            </a:lvl2pPr>
            <a:lvl3pPr algn="l" rtl="0" eaLnBrk="0" fontAlgn="base" hangingPunct="0">
              <a:spcBef>
                <a:spcPct val="0"/>
              </a:spcBef>
              <a:spcAft>
                <a:spcPct val="0"/>
              </a:spcAft>
              <a:defRPr sz="3600" b="1">
                <a:solidFill>
                  <a:srgbClr val="FF8D3E"/>
                </a:solidFill>
                <a:latin typeface="Verdana" pitchFamily="34" charset="0"/>
              </a:defRPr>
            </a:lvl3pPr>
            <a:lvl4pPr algn="l" rtl="0" eaLnBrk="0" fontAlgn="base" hangingPunct="0">
              <a:spcBef>
                <a:spcPct val="0"/>
              </a:spcBef>
              <a:spcAft>
                <a:spcPct val="0"/>
              </a:spcAft>
              <a:defRPr sz="3600" b="1">
                <a:solidFill>
                  <a:srgbClr val="FF8D3E"/>
                </a:solidFill>
                <a:latin typeface="Verdana" pitchFamily="34" charset="0"/>
              </a:defRPr>
            </a:lvl4pPr>
            <a:lvl5pPr algn="l" rtl="0" eaLnBrk="0" fontAlgn="base" hangingPunct="0">
              <a:spcBef>
                <a:spcPct val="0"/>
              </a:spcBef>
              <a:spcAft>
                <a:spcPct val="0"/>
              </a:spcAft>
              <a:defRPr sz="3600" b="1">
                <a:solidFill>
                  <a:srgbClr val="FF8D3E"/>
                </a:solidFill>
                <a:latin typeface="Verdana" pitchFamily="34" charset="0"/>
              </a:defRPr>
            </a:lvl5pPr>
            <a:lvl6pPr marL="457200" algn="l" rtl="0" fontAlgn="base">
              <a:spcBef>
                <a:spcPct val="0"/>
              </a:spcBef>
              <a:spcAft>
                <a:spcPct val="0"/>
              </a:spcAft>
              <a:defRPr sz="3600" b="1">
                <a:solidFill>
                  <a:srgbClr val="FF8D3E"/>
                </a:solidFill>
                <a:latin typeface="Verdana" pitchFamily="34" charset="0"/>
              </a:defRPr>
            </a:lvl6pPr>
            <a:lvl7pPr marL="914400" algn="l" rtl="0" fontAlgn="base">
              <a:spcBef>
                <a:spcPct val="0"/>
              </a:spcBef>
              <a:spcAft>
                <a:spcPct val="0"/>
              </a:spcAft>
              <a:defRPr sz="3600" b="1">
                <a:solidFill>
                  <a:srgbClr val="FF8D3E"/>
                </a:solidFill>
                <a:latin typeface="Verdana" pitchFamily="34" charset="0"/>
              </a:defRPr>
            </a:lvl7pPr>
            <a:lvl8pPr marL="1371600" algn="l" rtl="0" fontAlgn="base">
              <a:spcBef>
                <a:spcPct val="0"/>
              </a:spcBef>
              <a:spcAft>
                <a:spcPct val="0"/>
              </a:spcAft>
              <a:defRPr sz="3600" b="1">
                <a:solidFill>
                  <a:srgbClr val="FF8D3E"/>
                </a:solidFill>
                <a:latin typeface="Verdana" pitchFamily="34" charset="0"/>
              </a:defRPr>
            </a:lvl8pPr>
            <a:lvl9pPr marL="1828800" algn="l" rtl="0" fontAlgn="base">
              <a:spcBef>
                <a:spcPct val="0"/>
              </a:spcBef>
              <a:spcAft>
                <a:spcPct val="0"/>
              </a:spcAft>
              <a:defRPr sz="3600" b="1">
                <a:solidFill>
                  <a:srgbClr val="FF8D3E"/>
                </a:solidFill>
                <a:latin typeface="Verdana" pitchFamily="34" charset="0"/>
              </a:defRPr>
            </a:lvl9pPr>
            <a:extLst/>
          </a:lstStyle>
          <a:p>
            <a:pPr algn="ctr" eaLnBrk="1" hangingPunct="1"/>
            <a:r>
              <a:rPr lang="en-US" altLang="nl-NL" dirty="0" err="1"/>
              <a:t>Onze</a:t>
            </a:r>
            <a:r>
              <a:rPr lang="en-US" altLang="nl-NL" dirty="0"/>
              <a:t> Persoonlijke </a:t>
            </a:r>
            <a:r>
              <a:rPr lang="en-US" altLang="nl-NL" dirty="0" err="1"/>
              <a:t>Waarden</a:t>
            </a:r>
            <a:endParaRPr lang="en-US" altLang="nl-NL" dirty="0"/>
          </a:p>
        </p:txBody>
      </p:sp>
      <p:sp>
        <p:nvSpPr>
          <p:cNvPr id="5" name="Rectangle 3">
            <a:extLst>
              <a:ext uri="{FF2B5EF4-FFF2-40B4-BE49-F238E27FC236}">
                <a16:creationId xmlns:a16="http://schemas.microsoft.com/office/drawing/2014/main" id="{D76C8591-260F-4F5E-BF81-1B319130FB03}"/>
              </a:ext>
            </a:extLst>
          </p:cNvPr>
          <p:cNvSpPr txBox="1">
            <a:spLocks noChangeArrowheads="1"/>
          </p:cNvSpPr>
          <p:nvPr/>
        </p:nvSpPr>
        <p:spPr>
          <a:xfrm>
            <a:off x="457200" y="1600203"/>
            <a:ext cx="11125200" cy="4525964"/>
          </a:xfrm>
          <a:prstGeom prst="rect">
            <a:avLst/>
          </a:prstGeom>
        </p:spPr>
        <p:txBody>
          <a:bodyPr/>
          <a:lstStyle>
            <a:lvl1pPr marL="265113" indent="-265113" algn="l" rtl="0" eaLnBrk="0" fontAlgn="base" hangingPunct="0">
              <a:spcBef>
                <a:spcPts val="250"/>
              </a:spcBef>
              <a:spcAft>
                <a:spcPct val="0"/>
              </a:spcAft>
              <a:buClr>
                <a:schemeClr val="accent1"/>
              </a:buClr>
              <a:buSzPct val="80000"/>
              <a:buFont typeface="Wingdings 2" panose="05020102010507070707" pitchFamily="18" charset="2"/>
              <a:buChar char=""/>
              <a:defRPr sz="2800" kern="1200">
                <a:solidFill>
                  <a:schemeClr val="tx1"/>
                </a:solidFill>
                <a:latin typeface="+mn-lt"/>
                <a:ea typeface="+mn-ea"/>
                <a:cs typeface="+mn-cs"/>
              </a:defRPr>
            </a:lvl1pPr>
            <a:lvl2pPr marL="547688" indent="-200025" algn="l" rtl="0" eaLnBrk="0" fontAlgn="base" hangingPunct="0">
              <a:spcBef>
                <a:spcPts val="250"/>
              </a:spcBef>
              <a:spcAft>
                <a:spcPct val="0"/>
              </a:spcAft>
              <a:buClr>
                <a:schemeClr val="accent1"/>
              </a:buClr>
              <a:buSzPct val="100000"/>
              <a:buFont typeface="Verdana" panose="020B0604030504040204" pitchFamily="34" charset="0"/>
              <a:buChar char="◦"/>
              <a:defRPr sz="2400" kern="1200">
                <a:solidFill>
                  <a:schemeClr val="tx1"/>
                </a:solidFill>
                <a:latin typeface="+mn-lt"/>
                <a:ea typeface="+mn-ea"/>
                <a:cs typeface="+mn-cs"/>
              </a:defRPr>
            </a:lvl2pPr>
            <a:lvl3pPr marL="785813" indent="-182563" algn="l" rtl="0" eaLnBrk="0" fontAlgn="base" hangingPunct="0">
              <a:spcBef>
                <a:spcPts val="250"/>
              </a:spcBef>
              <a:spcAft>
                <a:spcPct val="0"/>
              </a:spcAft>
              <a:buClr>
                <a:srgbClr val="ED3742"/>
              </a:buClr>
              <a:buSzPct val="100000"/>
              <a:buFont typeface="Wingdings 2" panose="05020102010507070707" pitchFamily="18" charset="2"/>
              <a:buChar char=""/>
              <a:defRPr sz="2200" kern="1200">
                <a:solidFill>
                  <a:schemeClr val="tx1"/>
                </a:solidFill>
                <a:latin typeface="+mn-lt"/>
                <a:ea typeface="+mn-ea"/>
                <a:cs typeface="+mn-cs"/>
              </a:defRPr>
            </a:lvl3pPr>
            <a:lvl4pPr marL="1023938" indent="-182563" algn="l" rtl="0" eaLnBrk="0" fontAlgn="base" hangingPunct="0">
              <a:spcBef>
                <a:spcPts val="225"/>
              </a:spcBef>
              <a:spcAft>
                <a:spcPct val="0"/>
              </a:spcAft>
              <a:buClr>
                <a:srgbClr val="ED3742"/>
              </a:buClr>
              <a:buSzPct val="112000"/>
              <a:buFont typeface="Verdana" panose="020B0604030504040204" pitchFamily="34" charset="0"/>
              <a:buChar char="◦"/>
              <a:defRPr sz="1900" kern="1200">
                <a:solidFill>
                  <a:schemeClr val="tx1"/>
                </a:solidFill>
                <a:latin typeface="+mn-lt"/>
                <a:ea typeface="+mn-ea"/>
                <a:cs typeface="+mn-cs"/>
              </a:defRPr>
            </a:lvl4pPr>
            <a:lvl5pPr marL="1279525" indent="-182563" algn="l" rtl="0" eaLnBrk="0" fontAlgn="base" hangingPunct="0">
              <a:spcBef>
                <a:spcPts val="250"/>
              </a:spcBef>
              <a:spcAft>
                <a:spcPct val="0"/>
              </a:spcAft>
              <a:buClr>
                <a:srgbClr val="4A85BF"/>
              </a:buClr>
              <a:buSzPct val="100000"/>
              <a:buFont typeface="Wingdings 2" panose="05020102010507070707" pitchFamily="18" charset="2"/>
              <a:buChar char=""/>
              <a:defRPr sz="20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a:lstStyle>
          <a:p>
            <a:pPr eaLnBrk="1" hangingPunct="1">
              <a:lnSpc>
                <a:spcPct val="90000"/>
              </a:lnSpc>
            </a:pPr>
            <a:r>
              <a:rPr lang="nl-NL" altLang="nl-NL" sz="2200" dirty="0"/>
              <a:t>Onze overtuigingen (over wat belangrijk, goed, juist is)</a:t>
            </a:r>
          </a:p>
          <a:p>
            <a:pPr eaLnBrk="1" hangingPunct="1">
              <a:lnSpc>
                <a:spcPct val="90000"/>
              </a:lnSpc>
            </a:pPr>
            <a:r>
              <a:rPr lang="nl-NL" altLang="nl-NL" sz="2200" dirty="0"/>
              <a:t>Wat wij - persoonlijke waarden- of wat anderen – geprogrammeerde-/gesocialiseerde waarden -  vinden dat we ‘zouden moeten doen’ in een bepaalde situatie.</a:t>
            </a:r>
            <a:endParaRPr lang="en-US" altLang="nl-NL" sz="2200" dirty="0"/>
          </a:p>
          <a:p>
            <a:pPr eaLnBrk="1" hangingPunct="1">
              <a:lnSpc>
                <a:spcPct val="90000"/>
              </a:lnSpc>
            </a:pPr>
            <a:r>
              <a:rPr lang="nl-NL" altLang="nl-NL" sz="2200" dirty="0"/>
              <a:t>Mensen verschillen sterk in hun waarden gemotiveerd gedrag (hoog, gematigd, laag intensiteit).</a:t>
            </a:r>
          </a:p>
          <a:p>
            <a:pPr eaLnBrk="1" hangingPunct="1">
              <a:lnSpc>
                <a:spcPct val="90000"/>
              </a:lnSpc>
            </a:pPr>
            <a:r>
              <a:rPr lang="en-US" altLang="nl-NL" sz="2200" dirty="0" err="1"/>
              <a:t>Vier</a:t>
            </a:r>
            <a:r>
              <a:rPr lang="en-US" altLang="nl-NL" sz="2200" dirty="0"/>
              <a:t> basis </a:t>
            </a:r>
            <a:r>
              <a:rPr lang="en-US" altLang="nl-NL" sz="2200" dirty="0" err="1"/>
              <a:t>perspectieven</a:t>
            </a:r>
            <a:r>
              <a:rPr lang="en-US" altLang="nl-NL" sz="2200" dirty="0"/>
              <a:t>:</a:t>
            </a:r>
          </a:p>
          <a:p>
            <a:pPr lvl="1" eaLnBrk="1" hangingPunct="1">
              <a:lnSpc>
                <a:spcPct val="90000"/>
              </a:lnSpc>
            </a:pPr>
            <a:r>
              <a:rPr lang="en-US" altLang="nl-NL" sz="2200" dirty="0" err="1"/>
              <a:t>Rechten</a:t>
            </a:r>
            <a:r>
              <a:rPr lang="en-US" altLang="nl-NL" sz="2200" dirty="0"/>
              <a:t> versus </a:t>
            </a:r>
            <a:r>
              <a:rPr lang="en-US" altLang="nl-NL" sz="2200" dirty="0" err="1"/>
              <a:t>verantwoordelijkheid</a:t>
            </a:r>
            <a:r>
              <a:rPr lang="en-US" altLang="nl-NL" sz="2200" dirty="0"/>
              <a:t> </a:t>
            </a:r>
            <a:r>
              <a:rPr lang="en-US" altLang="nl-NL" sz="2200" dirty="0" err="1"/>
              <a:t>georiënteerd</a:t>
            </a:r>
            <a:endParaRPr lang="en-US" altLang="nl-NL" sz="2200" dirty="0"/>
          </a:p>
          <a:p>
            <a:pPr lvl="1" eaLnBrk="1" hangingPunct="1">
              <a:lnSpc>
                <a:spcPct val="90000"/>
              </a:lnSpc>
            </a:pPr>
            <a:r>
              <a:rPr lang="nl-NL" altLang="nl-NL" sz="2200" dirty="0"/>
              <a:t>Individueel versus groepsgericht</a:t>
            </a:r>
            <a:endParaRPr lang="en-US" altLang="nl-NL" sz="2200" dirty="0"/>
          </a:p>
          <a:p>
            <a:pPr eaLnBrk="1" hangingPunct="1">
              <a:lnSpc>
                <a:spcPct val="90000"/>
              </a:lnSpc>
            </a:pPr>
            <a:r>
              <a:rPr lang="en-US" altLang="nl-NL" sz="2200" dirty="0" err="1"/>
              <a:t>Onze</a:t>
            </a:r>
            <a:r>
              <a:rPr lang="en-US" altLang="nl-NL" sz="2200" dirty="0"/>
              <a:t> Persoonlijke </a:t>
            </a:r>
            <a:r>
              <a:rPr lang="en-US" altLang="nl-NL" sz="2200" dirty="0" err="1"/>
              <a:t>Waarden</a:t>
            </a:r>
            <a:r>
              <a:rPr lang="en-US" altLang="nl-NL" sz="2200" dirty="0"/>
              <a:t> </a:t>
            </a:r>
            <a:r>
              <a:rPr lang="en-US" altLang="nl-NL" sz="2200" dirty="0" err="1"/>
              <a:t>perspectief</a:t>
            </a:r>
            <a:r>
              <a:rPr lang="en-US" altLang="nl-NL" sz="2200" dirty="0"/>
              <a:t> </a:t>
            </a:r>
            <a:r>
              <a:rPr lang="en-US" altLang="nl-NL" sz="2200" dirty="0" err="1"/>
              <a:t>kan</a:t>
            </a:r>
            <a:r>
              <a:rPr lang="en-US" altLang="nl-NL" sz="2200" dirty="0"/>
              <a:t> </a:t>
            </a:r>
            <a:r>
              <a:rPr lang="nl-NL" altLang="nl-NL" sz="2200" dirty="0"/>
              <a:t>verschillen per soort van waarden thema’s/vraagstukken</a:t>
            </a:r>
          </a:p>
          <a:p>
            <a:pPr marL="0" indent="0" eaLnBrk="1" hangingPunct="1">
              <a:lnSpc>
                <a:spcPct val="90000"/>
              </a:lnSpc>
              <a:buNone/>
            </a:pPr>
            <a:r>
              <a:rPr lang="nl-NL" altLang="nl-NL" sz="2200" dirty="0">
                <a:highlight>
                  <a:srgbClr val="FFFF00"/>
                </a:highlight>
              </a:rPr>
              <a:t>(‘M-A-P-L-E-S’)</a:t>
            </a:r>
            <a:endParaRPr lang="en-US" altLang="nl-NL" sz="2200" dirty="0">
              <a:highlight>
                <a:srgbClr val="FFFF00"/>
              </a:highlight>
            </a:endParaRPr>
          </a:p>
        </p:txBody>
      </p:sp>
    </p:spTree>
    <p:extLst>
      <p:ext uri="{BB962C8B-B14F-4D97-AF65-F5344CB8AC3E}">
        <p14:creationId xmlns:p14="http://schemas.microsoft.com/office/powerpoint/2010/main" val="3505471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5">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67251EDC-6F60-40F7-98BD-08746E768C7D}"/>
              </a:ext>
            </a:extLst>
          </p:cNvPr>
          <p:cNvSpPr txBox="1">
            <a:spLocks/>
          </p:cNvSpPr>
          <p:nvPr/>
        </p:nvSpPr>
        <p:spPr bwMode="auto">
          <a:xfrm>
            <a:off x="571500" y="428625"/>
            <a:ext cx="11010900" cy="714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defRPr/>
            </a:pPr>
            <a:r>
              <a:rPr lang="en-US">
                <a:solidFill>
                  <a:srgbClr val="911D20"/>
                </a:solidFill>
                <a:effectLst>
                  <a:outerShdw blurRad="38100" dist="38100" dir="2700000" algn="tl">
                    <a:srgbClr val="000000"/>
                  </a:outerShdw>
                </a:effectLst>
                <a:latin typeface="Frutiger LT Std 45 Light" panose="020B0402020204020204" pitchFamily="34" charset="0"/>
                <a:cs typeface="Arial" charset="0"/>
              </a:rPr>
              <a:t>De 4 </a:t>
            </a:r>
            <a:r>
              <a:rPr lang="en-US" err="1">
                <a:solidFill>
                  <a:srgbClr val="911D20"/>
                </a:solidFill>
                <a:effectLst>
                  <a:outerShdw blurRad="38100" dist="38100" dir="2700000" algn="tl">
                    <a:srgbClr val="000000"/>
                  </a:outerShdw>
                </a:effectLst>
                <a:latin typeface="Frutiger LT Std 45 Light" panose="020B0402020204020204" pitchFamily="34" charset="0"/>
                <a:cs typeface="Arial" charset="0"/>
              </a:rPr>
              <a:t>universele</a:t>
            </a:r>
            <a:r>
              <a:rPr lang="en-US">
                <a:solidFill>
                  <a:srgbClr val="911D20"/>
                </a:solidFill>
                <a:effectLst>
                  <a:outerShdw blurRad="38100" dist="38100" dir="2700000" algn="tl">
                    <a:srgbClr val="000000"/>
                  </a:outerShdw>
                </a:effectLst>
                <a:latin typeface="Frutiger LT Std 45 Light" panose="020B0402020204020204" pitchFamily="34" charset="0"/>
                <a:cs typeface="Arial" charset="0"/>
              </a:rPr>
              <a:t> types</a:t>
            </a:r>
            <a:endParaRPr lang="nl-NL">
              <a:solidFill>
                <a:srgbClr val="911D20"/>
              </a:solidFill>
              <a:effectLst>
                <a:outerShdw blurRad="38100" dist="38100" dir="2700000" algn="tl">
                  <a:srgbClr val="000000"/>
                </a:outerShdw>
              </a:effectLst>
              <a:latin typeface="Frutiger LT Std 45 Light" panose="020B0402020204020204" pitchFamily="34" charset="0"/>
              <a:cs typeface="Arial" charset="0"/>
            </a:endParaRPr>
          </a:p>
        </p:txBody>
      </p:sp>
      <p:sp>
        <p:nvSpPr>
          <p:cNvPr id="5" name="Tijdelijke aanduiding voor inhoud 2">
            <a:extLst>
              <a:ext uri="{FF2B5EF4-FFF2-40B4-BE49-F238E27FC236}">
                <a16:creationId xmlns:a16="http://schemas.microsoft.com/office/drawing/2014/main" id="{971CE9C5-0727-4D31-AF5A-7F6F676BA010}"/>
              </a:ext>
            </a:extLst>
          </p:cNvPr>
          <p:cNvSpPr txBox="1">
            <a:spLocks/>
          </p:cNvSpPr>
          <p:nvPr/>
        </p:nvSpPr>
        <p:spPr bwMode="auto">
          <a:xfrm>
            <a:off x="642938" y="1597074"/>
            <a:ext cx="9972510" cy="4525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lnSpc>
                <a:spcPct val="80000"/>
              </a:lnSpc>
              <a:buFont typeface="Arial" panose="020B0604020202020204" pitchFamily="34" charset="0"/>
              <a:buNone/>
            </a:pPr>
            <a:endParaRPr lang="nl-NL" altLang="nl-NL" sz="2200" b="1">
              <a:solidFill>
                <a:srgbClr val="FFC000"/>
              </a:solidFill>
              <a:latin typeface="Frutiger LT Std 45 Light" panose="020B0402020204020204" pitchFamily="34" charset="0"/>
              <a:cs typeface="Arial" panose="020B0604020202020204" pitchFamily="34" charset="0"/>
            </a:endParaRPr>
          </a:p>
          <a:p>
            <a:pPr eaLnBrk="1" hangingPunct="1">
              <a:lnSpc>
                <a:spcPct val="80000"/>
              </a:lnSpc>
              <a:buFont typeface="Arial" panose="020B0604020202020204" pitchFamily="34" charset="0"/>
              <a:buNone/>
            </a:pPr>
            <a:r>
              <a:rPr lang="nl-NL" altLang="nl-NL" sz="2200" b="1">
                <a:solidFill>
                  <a:srgbClr val="FFC000"/>
                </a:solidFill>
                <a:latin typeface="Frutiger LT Std 45 Light" panose="020B0402020204020204" pitchFamily="34" charset="0"/>
                <a:cs typeface="Arial" panose="020B0604020202020204" pitchFamily="34" charset="0"/>
              </a:rPr>
              <a:t>Type I</a:t>
            </a:r>
          </a:p>
          <a:p>
            <a:pPr eaLnBrk="1" hangingPunct="1">
              <a:lnSpc>
                <a:spcPct val="80000"/>
              </a:lnSpc>
              <a:buFont typeface="Arial" panose="020B0604020202020204" pitchFamily="34" charset="0"/>
              <a:buChar char="•"/>
            </a:pPr>
            <a:r>
              <a:rPr lang="nl-NL" altLang="nl-NL" sz="2200">
                <a:latin typeface="Frutiger LT Std 45 Light" panose="020B0402020204020204" pitchFamily="34" charset="0"/>
                <a:cs typeface="Arial" panose="020B0604020202020204" pitchFamily="34" charset="0"/>
              </a:rPr>
              <a:t>Focus: </a:t>
            </a:r>
            <a:r>
              <a:rPr lang="nl-NL" altLang="nl-NL" sz="2200">
                <a:solidFill>
                  <a:srgbClr val="911D20"/>
                </a:solidFill>
                <a:latin typeface="Frutiger LT Std 45 Light" panose="020B0402020204020204" pitchFamily="34" charset="0"/>
                <a:cs typeface="Arial" panose="020B0604020202020204" pitchFamily="34" charset="0"/>
              </a:rPr>
              <a:t>MIJN</a:t>
            </a:r>
            <a:r>
              <a:rPr lang="nl-NL" altLang="nl-NL" sz="2200">
                <a:latin typeface="Frutiger LT Std 45 Light" panose="020B0402020204020204" pitchFamily="34" charset="0"/>
                <a:cs typeface="Arial" panose="020B0604020202020204" pitchFamily="34" charset="0"/>
              </a:rPr>
              <a:t> rechten (individualistisch)</a:t>
            </a:r>
          </a:p>
          <a:p>
            <a:pPr eaLnBrk="1" hangingPunct="1">
              <a:lnSpc>
                <a:spcPct val="80000"/>
              </a:lnSpc>
              <a:buFont typeface="Arial" panose="020B0604020202020204" pitchFamily="34" charset="0"/>
              <a:buNone/>
            </a:pPr>
            <a:endParaRPr lang="nl-NL" altLang="nl-NL" sz="2200">
              <a:latin typeface="Frutiger LT Std 45 Light" panose="020B0402020204020204" pitchFamily="34" charset="0"/>
              <a:cs typeface="Arial" panose="020B0604020202020204" pitchFamily="34" charset="0"/>
            </a:endParaRPr>
          </a:p>
          <a:p>
            <a:pPr eaLnBrk="1" hangingPunct="1">
              <a:lnSpc>
                <a:spcPct val="80000"/>
              </a:lnSpc>
              <a:buFont typeface="Arial" panose="020B0604020202020204" pitchFamily="34" charset="0"/>
              <a:buNone/>
            </a:pPr>
            <a:r>
              <a:rPr lang="nl-NL" altLang="nl-NL" sz="2200" b="1">
                <a:solidFill>
                  <a:srgbClr val="7030A0"/>
                </a:solidFill>
                <a:latin typeface="Frutiger LT Std 45 Light" panose="020B0402020204020204" pitchFamily="34" charset="0"/>
                <a:cs typeface="Arial" panose="020B0604020202020204" pitchFamily="34" charset="0"/>
              </a:rPr>
              <a:t>Type II </a:t>
            </a:r>
          </a:p>
          <a:p>
            <a:pPr eaLnBrk="1" hangingPunct="1">
              <a:lnSpc>
                <a:spcPct val="80000"/>
              </a:lnSpc>
              <a:buFont typeface="Arial" panose="020B0604020202020204" pitchFamily="34" charset="0"/>
              <a:buChar char="•"/>
            </a:pPr>
            <a:r>
              <a:rPr lang="nl-NL" altLang="nl-NL" sz="2200">
                <a:latin typeface="Frutiger LT Std 45 Light" panose="020B0402020204020204" pitchFamily="34" charset="0"/>
                <a:cs typeface="Arial" panose="020B0604020202020204" pitchFamily="34" charset="0"/>
              </a:rPr>
              <a:t>Focus: </a:t>
            </a:r>
            <a:r>
              <a:rPr lang="nl-NL" altLang="nl-NL" sz="2200">
                <a:solidFill>
                  <a:srgbClr val="911D20"/>
                </a:solidFill>
                <a:latin typeface="Frutiger LT Std 45 Light" panose="020B0402020204020204" pitchFamily="34" charset="0"/>
                <a:cs typeface="Arial" panose="020B0604020202020204" pitchFamily="34" charset="0"/>
              </a:rPr>
              <a:t>MIJN</a:t>
            </a:r>
            <a:r>
              <a:rPr lang="nl-NL" altLang="nl-NL" sz="2200">
                <a:latin typeface="Frutiger LT Std 45 Light" panose="020B0402020204020204" pitchFamily="34" charset="0"/>
                <a:cs typeface="Arial" panose="020B0604020202020204" pitchFamily="34" charset="0"/>
              </a:rPr>
              <a:t> rechten</a:t>
            </a:r>
            <a:r>
              <a:rPr lang="nl-NL" altLang="nl-NL" sz="2200" i="1">
                <a:latin typeface="Frutiger LT Std 45 Light" panose="020B0402020204020204" pitchFamily="34" charset="0"/>
                <a:cs typeface="Arial" panose="020B0604020202020204" pitchFamily="34" charset="0"/>
              </a:rPr>
              <a:t> </a:t>
            </a:r>
            <a:r>
              <a:rPr lang="nl-NL" altLang="nl-NL" sz="2200">
                <a:latin typeface="Frutiger LT Std 45 Light" panose="020B0402020204020204" pitchFamily="34" charset="0"/>
                <a:cs typeface="Arial" panose="020B0604020202020204" pitchFamily="34" charset="0"/>
              </a:rPr>
              <a:t>&amp;</a:t>
            </a:r>
            <a:r>
              <a:rPr lang="nl-NL" altLang="nl-NL" sz="2200" i="1">
                <a:latin typeface="Frutiger LT Std 45 Light" panose="020B0402020204020204" pitchFamily="34" charset="0"/>
                <a:cs typeface="Arial" panose="020B0604020202020204" pitchFamily="34" charset="0"/>
              </a:rPr>
              <a:t> </a:t>
            </a:r>
            <a:r>
              <a:rPr lang="nl-NL" altLang="nl-NL" sz="2200">
                <a:solidFill>
                  <a:srgbClr val="911D20"/>
                </a:solidFill>
                <a:latin typeface="Frutiger LT Std 45 Light" panose="020B0402020204020204" pitchFamily="34" charset="0"/>
                <a:cs typeface="Arial" panose="020B0604020202020204" pitchFamily="34" charset="0"/>
              </a:rPr>
              <a:t>jouw</a:t>
            </a:r>
            <a:r>
              <a:rPr lang="nl-NL" altLang="nl-NL" sz="2200">
                <a:latin typeface="Frutiger LT Std 45 Light" panose="020B0402020204020204" pitchFamily="34" charset="0"/>
                <a:cs typeface="Arial" panose="020B0604020202020204" pitchFamily="34" charset="0"/>
              </a:rPr>
              <a:t> rechten (zoekend)</a:t>
            </a:r>
          </a:p>
          <a:p>
            <a:pPr eaLnBrk="1" hangingPunct="1">
              <a:lnSpc>
                <a:spcPct val="80000"/>
              </a:lnSpc>
              <a:buFont typeface="Arial" panose="020B0604020202020204" pitchFamily="34" charset="0"/>
              <a:buNone/>
            </a:pPr>
            <a:r>
              <a:rPr lang="nl-NL" altLang="nl-NL" sz="2200">
                <a:latin typeface="Frutiger LT Std 45 Light" panose="020B0402020204020204" pitchFamily="34" charset="0"/>
                <a:cs typeface="Arial" panose="020B0604020202020204" pitchFamily="34" charset="0"/>
              </a:rPr>
              <a:t> </a:t>
            </a:r>
          </a:p>
          <a:p>
            <a:pPr eaLnBrk="1" hangingPunct="1">
              <a:lnSpc>
                <a:spcPct val="80000"/>
              </a:lnSpc>
              <a:buFont typeface="Arial" panose="020B0604020202020204" pitchFamily="34" charset="0"/>
              <a:buNone/>
            </a:pPr>
            <a:r>
              <a:rPr lang="nl-NL" altLang="nl-NL" sz="2200" b="1">
                <a:solidFill>
                  <a:srgbClr val="0070C0"/>
                </a:solidFill>
                <a:latin typeface="Frutiger LT Std 45 Light" panose="020B0402020204020204" pitchFamily="34" charset="0"/>
                <a:cs typeface="Arial" panose="020B0604020202020204" pitchFamily="34" charset="0"/>
              </a:rPr>
              <a:t>Type III</a:t>
            </a:r>
          </a:p>
          <a:p>
            <a:pPr eaLnBrk="1" hangingPunct="1">
              <a:lnSpc>
                <a:spcPct val="80000"/>
              </a:lnSpc>
              <a:buFont typeface="Arial" panose="020B0604020202020204" pitchFamily="34" charset="0"/>
              <a:buChar char="•"/>
            </a:pPr>
            <a:r>
              <a:rPr lang="nl-NL" altLang="nl-NL" sz="2200">
                <a:latin typeface="Frutiger LT Std 45 Light" panose="020B0402020204020204" pitchFamily="34" charset="0"/>
                <a:cs typeface="Arial" panose="020B0604020202020204" pitchFamily="34" charset="0"/>
              </a:rPr>
              <a:t>Focus: </a:t>
            </a:r>
            <a:r>
              <a:rPr lang="nl-NL" altLang="nl-NL" sz="2200">
                <a:solidFill>
                  <a:srgbClr val="911D20"/>
                </a:solidFill>
                <a:latin typeface="Frutiger LT Std 45 Light" panose="020B0402020204020204" pitchFamily="34" charset="0"/>
                <a:cs typeface="Arial" panose="020B0604020202020204" pitchFamily="34" charset="0"/>
              </a:rPr>
              <a:t>JOUW</a:t>
            </a:r>
            <a:r>
              <a:rPr lang="nl-NL" altLang="nl-NL" sz="2200">
                <a:latin typeface="Frutiger LT Std 45 Light" panose="020B0402020204020204" pitchFamily="34" charset="0"/>
                <a:cs typeface="Arial" panose="020B0604020202020204" pitchFamily="34" charset="0"/>
              </a:rPr>
              <a:t> verantwoordelijkheden (traditionalistisch)</a:t>
            </a:r>
          </a:p>
          <a:p>
            <a:pPr eaLnBrk="1" hangingPunct="1">
              <a:lnSpc>
                <a:spcPct val="80000"/>
              </a:lnSpc>
              <a:buFont typeface="Arial" panose="020B0604020202020204" pitchFamily="34" charset="0"/>
              <a:buNone/>
            </a:pPr>
            <a:endParaRPr lang="nl-NL" altLang="nl-NL" sz="2200">
              <a:latin typeface="Frutiger LT Std 45 Light" panose="020B0402020204020204" pitchFamily="34" charset="0"/>
              <a:cs typeface="Arial" panose="020B0604020202020204" pitchFamily="34" charset="0"/>
            </a:endParaRPr>
          </a:p>
          <a:p>
            <a:pPr eaLnBrk="1" hangingPunct="1">
              <a:lnSpc>
                <a:spcPct val="80000"/>
              </a:lnSpc>
              <a:buFont typeface="Arial" panose="020B0604020202020204" pitchFamily="34" charset="0"/>
              <a:buNone/>
            </a:pPr>
            <a:r>
              <a:rPr lang="nl-NL" altLang="nl-NL" sz="2200" b="1">
                <a:solidFill>
                  <a:srgbClr val="00B050"/>
                </a:solidFill>
                <a:latin typeface="Frutiger LT Std 45 Light" panose="020B0402020204020204" pitchFamily="34" charset="0"/>
                <a:cs typeface="Arial" panose="020B0604020202020204" pitchFamily="34" charset="0"/>
              </a:rPr>
              <a:t>Type IV</a:t>
            </a:r>
          </a:p>
          <a:p>
            <a:pPr eaLnBrk="1" hangingPunct="1">
              <a:lnSpc>
                <a:spcPct val="80000"/>
              </a:lnSpc>
              <a:buFont typeface="Arial" panose="020B0604020202020204" pitchFamily="34" charset="0"/>
              <a:buChar char="•"/>
            </a:pPr>
            <a:r>
              <a:rPr lang="nl-NL" altLang="nl-NL" sz="2200">
                <a:latin typeface="Frutiger LT Std 45 Light" panose="020B0402020204020204" pitchFamily="34" charset="0"/>
                <a:cs typeface="Arial" panose="020B0604020202020204" pitchFamily="34" charset="0"/>
              </a:rPr>
              <a:t>Focus: </a:t>
            </a:r>
            <a:r>
              <a:rPr lang="nl-NL" altLang="nl-NL" sz="2200">
                <a:solidFill>
                  <a:srgbClr val="911D20"/>
                </a:solidFill>
                <a:latin typeface="Frutiger LT Std 45 Light" panose="020B0402020204020204" pitchFamily="34" charset="0"/>
                <a:cs typeface="Arial" panose="020B0604020202020204" pitchFamily="34" charset="0"/>
              </a:rPr>
              <a:t>MIJN</a:t>
            </a:r>
            <a:r>
              <a:rPr lang="nl-NL" altLang="nl-NL" sz="2200">
                <a:latin typeface="Frutiger LT Std 45 Light" panose="020B0402020204020204" pitchFamily="34" charset="0"/>
                <a:cs typeface="Arial" panose="020B0604020202020204" pitchFamily="34" charset="0"/>
              </a:rPr>
              <a:t> verantwoordelijkheden &amp;</a:t>
            </a:r>
            <a:r>
              <a:rPr lang="nl-NL" altLang="nl-NL" sz="2200">
                <a:solidFill>
                  <a:srgbClr val="911D20"/>
                </a:solidFill>
                <a:latin typeface="Frutiger LT Std 45 Light" panose="020B0402020204020204" pitchFamily="34" charset="0"/>
                <a:cs typeface="Arial" panose="020B0604020202020204" pitchFamily="34" charset="0"/>
              </a:rPr>
              <a:t> jouw </a:t>
            </a:r>
            <a:r>
              <a:rPr lang="nl-NL" altLang="nl-NL" sz="2200">
                <a:latin typeface="Frutiger LT Std 45 Light" panose="020B0402020204020204" pitchFamily="34" charset="0"/>
                <a:cs typeface="Arial" panose="020B0604020202020204" pitchFamily="34" charset="0"/>
              </a:rPr>
              <a:t>verantwoordelijkheden (verbindend)</a:t>
            </a:r>
          </a:p>
          <a:p>
            <a:pPr eaLnBrk="1" hangingPunct="1">
              <a:lnSpc>
                <a:spcPct val="80000"/>
              </a:lnSpc>
              <a:buFont typeface="Arial" panose="020B0604020202020204" pitchFamily="34" charset="0"/>
              <a:buChar char="•"/>
            </a:pPr>
            <a:endParaRPr lang="nl-NL" altLang="nl-NL" sz="2200">
              <a:latin typeface="Frutiger LT Std 45 Light" panose="020B0402020204020204" pitchFamily="34" charset="0"/>
            </a:endParaRPr>
          </a:p>
        </p:txBody>
      </p:sp>
    </p:spTree>
    <p:extLst>
      <p:ext uri="{BB962C8B-B14F-4D97-AF65-F5344CB8AC3E}">
        <p14:creationId xmlns:p14="http://schemas.microsoft.com/office/powerpoint/2010/main" val="2698526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C516281C-DD77-4D8A-9F55-C86E207F7687}"/>
              </a:ext>
            </a:extLst>
          </p:cNvPr>
          <p:cNvSpPr>
            <a:spLocks noGrp="1"/>
          </p:cNvSpPr>
          <p:nvPr>
            <p:ph idx="1"/>
          </p:nvPr>
        </p:nvSpPr>
        <p:spPr/>
        <p:txBody>
          <a:bodyPr/>
          <a:lstStyle/>
          <a:p>
            <a:endParaRPr lang="nl-NL" dirty="0"/>
          </a:p>
        </p:txBody>
      </p:sp>
      <p:sp>
        <p:nvSpPr>
          <p:cNvPr id="4" name="Rechthoek 3">
            <a:extLst>
              <a:ext uri="{FF2B5EF4-FFF2-40B4-BE49-F238E27FC236}">
                <a16:creationId xmlns:a16="http://schemas.microsoft.com/office/drawing/2014/main" id="{A232D764-9F97-47FB-B09A-90FC4C80492D}"/>
              </a:ext>
            </a:extLst>
          </p:cNvPr>
          <p:cNvSpPr/>
          <p:nvPr/>
        </p:nvSpPr>
        <p:spPr>
          <a:xfrm>
            <a:off x="3386532" y="764704"/>
            <a:ext cx="4572000" cy="2973122"/>
          </a:xfrm>
          <a:prstGeom prst="rect">
            <a:avLst/>
          </a:prstGeom>
        </p:spPr>
        <p:txBody>
          <a:bodyPr>
            <a:spAutoFit/>
          </a:bodyPr>
          <a:lstStyle/>
          <a:p>
            <a:pPr algn="ctr" eaLnBrk="1" hangingPunct="1">
              <a:lnSpc>
                <a:spcPct val="80000"/>
              </a:lnSpc>
              <a:buFontTx/>
              <a:buNone/>
            </a:pPr>
            <a:r>
              <a:rPr lang="en-US" altLang="nl-NL" sz="1800" b="1" dirty="0" err="1">
                <a:solidFill>
                  <a:schemeClr val="tx2"/>
                </a:solidFill>
              </a:rPr>
              <a:t>Waarden</a:t>
            </a:r>
            <a:r>
              <a:rPr lang="en-US" altLang="nl-NL" sz="1800" b="1" dirty="0">
                <a:solidFill>
                  <a:schemeClr val="tx2"/>
                </a:solidFill>
              </a:rPr>
              <a:t> </a:t>
            </a:r>
            <a:r>
              <a:rPr lang="en-US" altLang="nl-NL" sz="1800" b="1" dirty="0" err="1">
                <a:solidFill>
                  <a:schemeClr val="tx2"/>
                </a:solidFill>
              </a:rPr>
              <a:t>perspectief</a:t>
            </a:r>
            <a:r>
              <a:rPr lang="en-US" altLang="nl-NL" sz="1800" b="1" dirty="0">
                <a:solidFill>
                  <a:schemeClr val="tx2"/>
                </a:solidFill>
              </a:rPr>
              <a:t> van</a:t>
            </a:r>
            <a:br>
              <a:rPr lang="en-US" altLang="nl-NL" sz="1800" b="1" dirty="0">
                <a:solidFill>
                  <a:schemeClr val="tx2"/>
                </a:solidFill>
              </a:rPr>
            </a:br>
            <a:r>
              <a:rPr lang="en-US" altLang="nl-NL" sz="1800" b="1" dirty="0" err="1">
                <a:solidFill>
                  <a:schemeClr val="tx2"/>
                </a:solidFill>
              </a:rPr>
              <a:t>bekende</a:t>
            </a:r>
            <a:r>
              <a:rPr lang="en-US" altLang="nl-NL" sz="1800" b="1" dirty="0">
                <a:solidFill>
                  <a:schemeClr val="tx2"/>
                </a:solidFill>
              </a:rPr>
              <a:t> </a:t>
            </a:r>
            <a:r>
              <a:rPr lang="en-US" altLang="nl-NL" sz="1800" b="1" dirty="0" err="1">
                <a:solidFill>
                  <a:schemeClr val="tx2"/>
                </a:solidFill>
              </a:rPr>
              <a:t>mensen</a:t>
            </a:r>
            <a:endParaRPr lang="en-US" altLang="nl-NL" sz="1800" b="1" dirty="0">
              <a:solidFill>
                <a:schemeClr val="tx2"/>
              </a:solidFill>
            </a:endParaRPr>
          </a:p>
          <a:p>
            <a:pPr algn="ctr" eaLnBrk="1" hangingPunct="1">
              <a:lnSpc>
                <a:spcPct val="80000"/>
              </a:lnSpc>
              <a:buFontTx/>
              <a:buNone/>
            </a:pPr>
            <a:endParaRPr lang="en-US" altLang="nl-NL" b="1" dirty="0">
              <a:solidFill>
                <a:schemeClr val="tx2"/>
              </a:solidFill>
            </a:endParaRPr>
          </a:p>
          <a:p>
            <a:pPr algn="ctr" eaLnBrk="1" hangingPunct="1">
              <a:lnSpc>
                <a:spcPct val="80000"/>
              </a:lnSpc>
              <a:buFontTx/>
              <a:buNone/>
            </a:pPr>
            <a:r>
              <a:rPr lang="en-US" altLang="nl-NL" sz="1800" b="1" dirty="0">
                <a:solidFill>
                  <a:schemeClr val="tx2"/>
                </a:solidFill>
              </a:rPr>
              <a:t>Type I</a:t>
            </a:r>
          </a:p>
          <a:p>
            <a:pPr algn="ctr" eaLnBrk="1" hangingPunct="1">
              <a:lnSpc>
                <a:spcPct val="80000"/>
              </a:lnSpc>
              <a:buFontTx/>
              <a:buNone/>
            </a:pPr>
            <a:endParaRPr lang="en-US" altLang="nl-NL" dirty="0">
              <a:solidFill>
                <a:schemeClr val="tx2"/>
              </a:solidFill>
            </a:endParaRPr>
          </a:p>
          <a:p>
            <a:pPr algn="ctr" eaLnBrk="1" hangingPunct="1">
              <a:lnSpc>
                <a:spcPct val="80000"/>
              </a:lnSpc>
              <a:buFontTx/>
              <a:buNone/>
            </a:pPr>
            <a:r>
              <a:rPr lang="en-US" altLang="nl-NL" sz="1800" dirty="0">
                <a:solidFill>
                  <a:schemeClr val="tx2"/>
                </a:solidFill>
              </a:rPr>
              <a:t>?</a:t>
            </a:r>
          </a:p>
          <a:p>
            <a:pPr algn="ctr" eaLnBrk="1" hangingPunct="1">
              <a:lnSpc>
                <a:spcPct val="80000"/>
              </a:lnSpc>
              <a:buFontTx/>
              <a:buNone/>
            </a:pPr>
            <a:r>
              <a:rPr lang="en-US" altLang="nl-NL" dirty="0">
                <a:solidFill>
                  <a:schemeClr val="tx2"/>
                </a:solidFill>
              </a:rPr>
              <a:t>Trump</a:t>
            </a:r>
          </a:p>
          <a:p>
            <a:pPr algn="ctr" eaLnBrk="1" hangingPunct="1">
              <a:lnSpc>
                <a:spcPct val="80000"/>
              </a:lnSpc>
              <a:buFontTx/>
              <a:buNone/>
            </a:pPr>
            <a:r>
              <a:rPr lang="en-US" altLang="nl-NL" dirty="0">
                <a:solidFill>
                  <a:schemeClr val="tx2"/>
                </a:solidFill>
              </a:rPr>
              <a:t>Ronaldo</a:t>
            </a:r>
          </a:p>
          <a:p>
            <a:pPr algn="ctr" eaLnBrk="1" hangingPunct="1">
              <a:lnSpc>
                <a:spcPct val="80000"/>
              </a:lnSpc>
              <a:buFontTx/>
              <a:buNone/>
            </a:pPr>
            <a:r>
              <a:rPr lang="en-US" altLang="nl-NL" dirty="0">
                <a:solidFill>
                  <a:schemeClr val="tx2"/>
                </a:solidFill>
              </a:rPr>
              <a:t>Kim Kardashian</a:t>
            </a:r>
          </a:p>
          <a:p>
            <a:pPr algn="ctr" eaLnBrk="1" hangingPunct="1">
              <a:lnSpc>
                <a:spcPct val="80000"/>
              </a:lnSpc>
              <a:buFontTx/>
              <a:buNone/>
            </a:pPr>
            <a:r>
              <a:rPr lang="en-US" altLang="nl-NL" dirty="0">
                <a:solidFill>
                  <a:schemeClr val="tx2"/>
                </a:solidFill>
              </a:rPr>
              <a:t>Lil </a:t>
            </a:r>
            <a:r>
              <a:rPr lang="en-US" altLang="nl-NL" dirty="0" err="1">
                <a:solidFill>
                  <a:schemeClr val="tx2"/>
                </a:solidFill>
              </a:rPr>
              <a:t>Kleine</a:t>
            </a:r>
            <a:endParaRPr lang="en-US" altLang="nl-NL" dirty="0">
              <a:solidFill>
                <a:schemeClr val="tx2"/>
              </a:solidFill>
            </a:endParaRPr>
          </a:p>
          <a:p>
            <a:pPr algn="ctr" eaLnBrk="1" hangingPunct="1">
              <a:lnSpc>
                <a:spcPct val="80000"/>
              </a:lnSpc>
              <a:buFontTx/>
              <a:buNone/>
            </a:pPr>
            <a:r>
              <a:rPr lang="en-US" altLang="nl-NL" dirty="0" err="1">
                <a:solidFill>
                  <a:schemeClr val="tx2"/>
                </a:solidFill>
              </a:rPr>
              <a:t>Derksen</a:t>
            </a:r>
            <a:endParaRPr lang="en-US" altLang="nl-NL" dirty="0">
              <a:solidFill>
                <a:schemeClr val="tx2"/>
              </a:solidFill>
            </a:endParaRPr>
          </a:p>
          <a:p>
            <a:pPr algn="ctr" eaLnBrk="1" hangingPunct="1">
              <a:lnSpc>
                <a:spcPct val="80000"/>
              </a:lnSpc>
              <a:buFontTx/>
              <a:buNone/>
            </a:pPr>
            <a:endParaRPr lang="en-US" altLang="nl-NL" sz="1800" dirty="0">
              <a:solidFill>
                <a:schemeClr val="tx2"/>
              </a:solidFill>
            </a:endParaRPr>
          </a:p>
          <a:p>
            <a:pPr algn="ctr" eaLnBrk="1" hangingPunct="1">
              <a:lnSpc>
                <a:spcPct val="80000"/>
              </a:lnSpc>
              <a:buFontTx/>
              <a:buNone/>
            </a:pPr>
            <a:endParaRPr lang="en-US" altLang="nl-NL" sz="1800" dirty="0">
              <a:solidFill>
                <a:schemeClr val="tx2"/>
              </a:solidFill>
            </a:endParaRPr>
          </a:p>
        </p:txBody>
      </p:sp>
      <p:pic>
        <p:nvPicPr>
          <p:cNvPr id="5" name="Afbeelding 4">
            <a:extLst>
              <a:ext uri="{FF2B5EF4-FFF2-40B4-BE49-F238E27FC236}">
                <a16:creationId xmlns:a16="http://schemas.microsoft.com/office/drawing/2014/main" id="{CAE33606-A9E6-423A-B191-8FFC803D95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9362" y="3863184"/>
            <a:ext cx="3796748" cy="2135671"/>
          </a:xfrm>
          <a:prstGeom prst="rect">
            <a:avLst/>
          </a:prstGeom>
        </p:spPr>
      </p:pic>
      <p:pic>
        <p:nvPicPr>
          <p:cNvPr id="6" name="Afbeelding 5">
            <a:extLst>
              <a:ext uri="{FF2B5EF4-FFF2-40B4-BE49-F238E27FC236}">
                <a16:creationId xmlns:a16="http://schemas.microsoft.com/office/drawing/2014/main" id="{8CED6B6D-A992-45EB-B000-745AC0BEC0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2715" y="3867286"/>
            <a:ext cx="3180007" cy="2127121"/>
          </a:xfrm>
          <a:prstGeom prst="rect">
            <a:avLst/>
          </a:prstGeom>
        </p:spPr>
      </p:pic>
    </p:spTree>
    <p:extLst>
      <p:ext uri="{BB962C8B-B14F-4D97-AF65-F5344CB8AC3E}">
        <p14:creationId xmlns:p14="http://schemas.microsoft.com/office/powerpoint/2010/main" val="3754888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0CD07319-9629-43E6-8E56-4C57831F27A4}"/>
              </a:ext>
            </a:extLst>
          </p:cNvPr>
          <p:cNvSpPr/>
          <p:nvPr/>
        </p:nvSpPr>
        <p:spPr>
          <a:xfrm>
            <a:off x="1115616" y="836712"/>
            <a:ext cx="7128792" cy="5078313"/>
          </a:xfrm>
          <a:prstGeom prst="rect">
            <a:avLst/>
          </a:prstGeom>
        </p:spPr>
        <p:txBody>
          <a:bodyPr wrap="square">
            <a:spAutoFit/>
          </a:bodyPr>
          <a:lstStyle/>
          <a:p>
            <a:r>
              <a:rPr lang="nl-NL" b="1" dirty="0"/>
              <a:t>Type I</a:t>
            </a:r>
          </a:p>
          <a:p>
            <a:endParaRPr lang="nl-NL" b="1" dirty="0"/>
          </a:p>
          <a:p>
            <a:pPr marL="285750" indent="-285750">
              <a:buFont typeface="Arial" panose="020B0604020202020204" pitchFamily="34" charset="0"/>
              <a:buChar char="•"/>
            </a:pPr>
            <a:r>
              <a:rPr lang="nl-NL" dirty="0"/>
              <a:t>Zelfgericht</a:t>
            </a:r>
          </a:p>
          <a:p>
            <a:pPr marL="285750" indent="-285750">
              <a:buFont typeface="Arial" panose="020B0604020202020204" pitchFamily="34" charset="0"/>
              <a:buChar char="•"/>
            </a:pPr>
            <a:r>
              <a:rPr lang="nl-NL" dirty="0"/>
              <a:t>Ongestructureerde aanpak</a:t>
            </a:r>
          </a:p>
          <a:p>
            <a:pPr marL="285750" indent="-285750">
              <a:buFont typeface="Arial" panose="020B0604020202020204" pitchFamily="34" charset="0"/>
              <a:buChar char="•"/>
            </a:pPr>
            <a:r>
              <a:rPr lang="nl-NL" dirty="0"/>
              <a:t>Persoonlijke rechten</a:t>
            </a:r>
          </a:p>
          <a:p>
            <a:pPr marL="285750" indent="-285750">
              <a:buFont typeface="Arial" panose="020B0604020202020204" pitchFamily="34" charset="0"/>
              <a:buChar char="•"/>
            </a:pPr>
            <a:r>
              <a:rPr lang="nl-NL" dirty="0"/>
              <a:t>Verworven materiële beloningen</a:t>
            </a:r>
          </a:p>
          <a:p>
            <a:pPr marL="285750" indent="-285750">
              <a:buFont typeface="Arial" panose="020B0604020202020204" pitchFamily="34" charset="0"/>
              <a:buChar char="•"/>
            </a:pPr>
            <a:r>
              <a:rPr lang="nl-NL" dirty="0"/>
              <a:t>Zoekt directe bevrediging</a:t>
            </a:r>
          </a:p>
          <a:p>
            <a:pPr marL="285750" indent="-285750">
              <a:buFont typeface="Arial" panose="020B0604020202020204" pitchFamily="34" charset="0"/>
              <a:buChar char="•"/>
            </a:pPr>
            <a:r>
              <a:rPr lang="nl-NL" dirty="0"/>
              <a:t>Niet op zoek naar (</a:t>
            </a:r>
            <a:r>
              <a:rPr lang="nl-NL" dirty="0" err="1"/>
              <a:t>geloofs</a:t>
            </a:r>
            <a:r>
              <a:rPr lang="nl-NL" dirty="0"/>
              <a:t>)overtuigingen</a:t>
            </a:r>
          </a:p>
          <a:p>
            <a:pPr marL="285750" indent="-285750">
              <a:buFont typeface="Arial" panose="020B0604020202020204" pitchFamily="34" charset="0"/>
              <a:buChar char="•"/>
            </a:pPr>
            <a:endParaRPr lang="nl-NL" dirty="0"/>
          </a:p>
          <a:p>
            <a:r>
              <a:rPr lang="nl-NL" dirty="0"/>
              <a:t>Doel:  </a:t>
            </a:r>
          </a:p>
          <a:p>
            <a:pPr marL="285750" indent="-285750">
              <a:buFont typeface="Arial" panose="020B0604020202020204" pitchFamily="34" charset="0"/>
              <a:buChar char="•"/>
            </a:pPr>
            <a:r>
              <a:rPr lang="nl-NL" dirty="0"/>
              <a:t>Zelfbehoud en voldoening</a:t>
            </a:r>
          </a:p>
          <a:p>
            <a:r>
              <a:rPr lang="nl-NL" dirty="0"/>
              <a:t>Angst:</a:t>
            </a:r>
          </a:p>
          <a:p>
            <a:pPr marL="285750" indent="-285750">
              <a:buFont typeface="Arial" panose="020B0604020202020204" pitchFamily="34" charset="0"/>
              <a:buChar char="•"/>
            </a:pPr>
            <a:r>
              <a:rPr lang="nl-NL" dirty="0"/>
              <a:t>Verlies van persoonlijk welzijn</a:t>
            </a:r>
          </a:p>
          <a:p>
            <a:r>
              <a:rPr lang="nl-NL" dirty="0"/>
              <a:t>Perspectief:</a:t>
            </a:r>
          </a:p>
          <a:p>
            <a:pPr marL="285750" indent="-285750">
              <a:buFont typeface="Arial" panose="020B0604020202020204" pitchFamily="34" charset="0"/>
              <a:buChar char="•"/>
            </a:pPr>
            <a:r>
              <a:rPr lang="nl-NL" dirty="0"/>
              <a:t>Twijfel en teleurstelling</a:t>
            </a:r>
          </a:p>
          <a:p>
            <a:r>
              <a:rPr lang="nl-NL" dirty="0"/>
              <a:t>Levensstijl:</a:t>
            </a:r>
          </a:p>
          <a:p>
            <a:pPr marL="285750" indent="-285750">
              <a:buFont typeface="Arial" panose="020B0604020202020204" pitchFamily="34" charset="0"/>
              <a:buChar char="•"/>
            </a:pPr>
            <a:r>
              <a:rPr lang="nl-NL" dirty="0"/>
              <a:t>Zelf expressieve individualiteit</a:t>
            </a:r>
          </a:p>
          <a:p>
            <a:endParaRPr lang="nl-NL" dirty="0"/>
          </a:p>
        </p:txBody>
      </p:sp>
    </p:spTree>
    <p:extLst>
      <p:ext uri="{BB962C8B-B14F-4D97-AF65-F5344CB8AC3E}">
        <p14:creationId xmlns:p14="http://schemas.microsoft.com/office/powerpoint/2010/main" val="33240488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94A138-3382-47E3-8301-D7F76F0BF524}"/>
              </a:ext>
            </a:extLst>
          </p:cNvPr>
          <p:cNvSpPr>
            <a:spLocks noGrp="1"/>
          </p:cNvSpPr>
          <p:nvPr>
            <p:ph type="title"/>
          </p:nvPr>
        </p:nvSpPr>
        <p:spPr/>
        <p:txBody>
          <a:bodyPr/>
          <a:lstStyle/>
          <a:p>
            <a:endParaRPr lang="nl-NL" dirty="0"/>
          </a:p>
        </p:txBody>
      </p:sp>
      <p:sp>
        <p:nvSpPr>
          <p:cNvPr id="3" name="Tijdelijke aanduiding voor inhoud 2">
            <a:extLst>
              <a:ext uri="{FF2B5EF4-FFF2-40B4-BE49-F238E27FC236}">
                <a16:creationId xmlns:a16="http://schemas.microsoft.com/office/drawing/2014/main" id="{C516281C-DD77-4D8A-9F55-C86E207F7687}"/>
              </a:ext>
            </a:extLst>
          </p:cNvPr>
          <p:cNvSpPr>
            <a:spLocks noGrp="1"/>
          </p:cNvSpPr>
          <p:nvPr>
            <p:ph idx="1"/>
          </p:nvPr>
        </p:nvSpPr>
        <p:spPr/>
        <p:txBody>
          <a:bodyPr/>
          <a:lstStyle/>
          <a:p>
            <a:endParaRPr lang="nl-NL" dirty="0"/>
          </a:p>
        </p:txBody>
      </p:sp>
      <p:sp>
        <p:nvSpPr>
          <p:cNvPr id="4" name="Rechthoek 3">
            <a:extLst>
              <a:ext uri="{FF2B5EF4-FFF2-40B4-BE49-F238E27FC236}">
                <a16:creationId xmlns:a16="http://schemas.microsoft.com/office/drawing/2014/main" id="{E99EB094-68A1-4626-BFF1-09FEE3AC71C1}"/>
              </a:ext>
            </a:extLst>
          </p:cNvPr>
          <p:cNvSpPr/>
          <p:nvPr/>
        </p:nvSpPr>
        <p:spPr>
          <a:xfrm>
            <a:off x="3565726" y="2044224"/>
            <a:ext cx="4572000" cy="3637919"/>
          </a:xfrm>
          <a:prstGeom prst="rect">
            <a:avLst/>
          </a:prstGeom>
        </p:spPr>
        <p:txBody>
          <a:bodyPr>
            <a:spAutoFit/>
          </a:bodyPr>
          <a:lstStyle/>
          <a:p>
            <a:pPr algn="ctr" eaLnBrk="1" hangingPunct="1">
              <a:lnSpc>
                <a:spcPct val="80000"/>
              </a:lnSpc>
              <a:buFontTx/>
              <a:buNone/>
            </a:pPr>
            <a:r>
              <a:rPr lang="en-US" altLang="nl-NL" sz="1800" b="1" dirty="0" err="1">
                <a:solidFill>
                  <a:schemeClr val="tx2"/>
                </a:solidFill>
              </a:rPr>
              <a:t>Waarden</a:t>
            </a:r>
            <a:r>
              <a:rPr lang="en-US" altLang="nl-NL" sz="1800" b="1" dirty="0">
                <a:solidFill>
                  <a:schemeClr val="tx2"/>
                </a:solidFill>
              </a:rPr>
              <a:t> </a:t>
            </a:r>
            <a:r>
              <a:rPr lang="en-US" altLang="nl-NL" sz="1800" b="1" dirty="0" err="1">
                <a:solidFill>
                  <a:schemeClr val="tx2"/>
                </a:solidFill>
              </a:rPr>
              <a:t>perspectief</a:t>
            </a:r>
            <a:r>
              <a:rPr lang="en-US" altLang="nl-NL" sz="1800" b="1" dirty="0">
                <a:solidFill>
                  <a:schemeClr val="tx2"/>
                </a:solidFill>
              </a:rPr>
              <a:t> van</a:t>
            </a:r>
            <a:br>
              <a:rPr lang="en-US" altLang="nl-NL" sz="1800" b="1" dirty="0">
                <a:solidFill>
                  <a:schemeClr val="tx2"/>
                </a:solidFill>
              </a:rPr>
            </a:br>
            <a:r>
              <a:rPr lang="en-US" altLang="nl-NL" sz="1800" b="1" dirty="0" err="1">
                <a:solidFill>
                  <a:schemeClr val="tx2"/>
                </a:solidFill>
              </a:rPr>
              <a:t>bekende</a:t>
            </a:r>
            <a:r>
              <a:rPr lang="en-US" altLang="nl-NL" sz="1800" b="1" dirty="0">
                <a:solidFill>
                  <a:schemeClr val="tx2"/>
                </a:solidFill>
              </a:rPr>
              <a:t> </a:t>
            </a:r>
            <a:r>
              <a:rPr lang="en-US" altLang="nl-NL" sz="1800" b="1" dirty="0" err="1">
                <a:solidFill>
                  <a:schemeClr val="tx2"/>
                </a:solidFill>
              </a:rPr>
              <a:t>mensen</a:t>
            </a:r>
            <a:endParaRPr lang="en-US" altLang="nl-NL" sz="1800" b="1" dirty="0">
              <a:solidFill>
                <a:schemeClr val="tx2"/>
              </a:solidFill>
            </a:endParaRPr>
          </a:p>
          <a:p>
            <a:pPr algn="ctr" eaLnBrk="1" hangingPunct="1">
              <a:lnSpc>
                <a:spcPct val="80000"/>
              </a:lnSpc>
              <a:buFontTx/>
              <a:buNone/>
            </a:pPr>
            <a:endParaRPr lang="en-US" altLang="nl-NL" b="1" dirty="0">
              <a:solidFill>
                <a:schemeClr val="tx2"/>
              </a:solidFill>
            </a:endParaRPr>
          </a:p>
          <a:p>
            <a:pPr algn="ctr" eaLnBrk="1" hangingPunct="1">
              <a:lnSpc>
                <a:spcPct val="80000"/>
              </a:lnSpc>
              <a:buFontTx/>
              <a:buNone/>
            </a:pPr>
            <a:r>
              <a:rPr lang="en-US" altLang="nl-NL" sz="1800" b="1" dirty="0">
                <a:solidFill>
                  <a:schemeClr val="tx2"/>
                </a:solidFill>
              </a:rPr>
              <a:t>Type II</a:t>
            </a:r>
          </a:p>
          <a:p>
            <a:pPr algn="ctr" eaLnBrk="1" hangingPunct="1">
              <a:lnSpc>
                <a:spcPct val="80000"/>
              </a:lnSpc>
              <a:buFontTx/>
              <a:buNone/>
            </a:pPr>
            <a:endParaRPr lang="en-US" altLang="nl-NL" dirty="0">
              <a:solidFill>
                <a:schemeClr val="tx2"/>
              </a:solidFill>
            </a:endParaRPr>
          </a:p>
          <a:p>
            <a:pPr algn="ctr" eaLnBrk="1" hangingPunct="1">
              <a:lnSpc>
                <a:spcPct val="80000"/>
              </a:lnSpc>
              <a:buFontTx/>
              <a:buNone/>
            </a:pPr>
            <a:endParaRPr lang="en-US" altLang="nl-NL" dirty="0">
              <a:solidFill>
                <a:schemeClr val="tx2"/>
              </a:solidFill>
            </a:endParaRPr>
          </a:p>
          <a:p>
            <a:pPr algn="ctr" eaLnBrk="1" hangingPunct="1">
              <a:lnSpc>
                <a:spcPct val="80000"/>
              </a:lnSpc>
              <a:buFontTx/>
              <a:buNone/>
            </a:pPr>
            <a:r>
              <a:rPr lang="en-US" altLang="nl-NL" sz="1800" dirty="0">
                <a:solidFill>
                  <a:schemeClr val="tx2"/>
                </a:solidFill>
              </a:rPr>
              <a:t>?</a:t>
            </a:r>
          </a:p>
          <a:p>
            <a:pPr algn="ctr" eaLnBrk="1" hangingPunct="1">
              <a:lnSpc>
                <a:spcPct val="80000"/>
              </a:lnSpc>
              <a:buFontTx/>
              <a:buNone/>
            </a:pPr>
            <a:r>
              <a:rPr lang="en-US" altLang="nl-NL" dirty="0">
                <a:solidFill>
                  <a:schemeClr val="tx2"/>
                </a:solidFill>
              </a:rPr>
              <a:t>Mark </a:t>
            </a:r>
            <a:r>
              <a:rPr lang="en-US" altLang="nl-NL" dirty="0" err="1">
                <a:solidFill>
                  <a:schemeClr val="tx2"/>
                </a:solidFill>
              </a:rPr>
              <a:t>Rutte</a:t>
            </a:r>
            <a:endParaRPr lang="en-US" altLang="nl-NL" sz="1800" dirty="0">
              <a:solidFill>
                <a:schemeClr val="tx2"/>
              </a:solidFill>
            </a:endParaRPr>
          </a:p>
          <a:p>
            <a:pPr algn="ctr" eaLnBrk="1" hangingPunct="1">
              <a:lnSpc>
                <a:spcPct val="80000"/>
              </a:lnSpc>
              <a:buFontTx/>
              <a:buNone/>
            </a:pPr>
            <a:r>
              <a:rPr lang="en-US" altLang="nl-NL" dirty="0">
                <a:solidFill>
                  <a:schemeClr val="tx2"/>
                </a:solidFill>
              </a:rPr>
              <a:t>Messy</a:t>
            </a:r>
          </a:p>
          <a:p>
            <a:pPr algn="ctr" eaLnBrk="1" hangingPunct="1">
              <a:lnSpc>
                <a:spcPct val="80000"/>
              </a:lnSpc>
              <a:buFontTx/>
              <a:buNone/>
            </a:pPr>
            <a:r>
              <a:rPr lang="en-US" altLang="nl-NL" dirty="0">
                <a:solidFill>
                  <a:schemeClr val="tx2"/>
                </a:solidFill>
              </a:rPr>
              <a:t>Gordon</a:t>
            </a:r>
          </a:p>
          <a:p>
            <a:pPr algn="ctr" eaLnBrk="1" hangingPunct="1">
              <a:lnSpc>
                <a:spcPct val="80000"/>
              </a:lnSpc>
              <a:buFontTx/>
              <a:buNone/>
            </a:pPr>
            <a:r>
              <a:rPr lang="en-US" altLang="nl-NL" dirty="0">
                <a:solidFill>
                  <a:schemeClr val="tx2"/>
                </a:solidFill>
              </a:rPr>
              <a:t>Chantal Janzen</a:t>
            </a:r>
          </a:p>
          <a:p>
            <a:pPr algn="ctr" eaLnBrk="1" hangingPunct="1">
              <a:lnSpc>
                <a:spcPct val="80000"/>
              </a:lnSpc>
              <a:buFontTx/>
              <a:buNone/>
            </a:pPr>
            <a:r>
              <a:rPr lang="en-US" altLang="nl-NL" dirty="0">
                <a:solidFill>
                  <a:schemeClr val="tx2"/>
                </a:solidFill>
              </a:rPr>
              <a:t>Ali B</a:t>
            </a:r>
          </a:p>
          <a:p>
            <a:pPr algn="ctr" eaLnBrk="1" hangingPunct="1">
              <a:lnSpc>
                <a:spcPct val="80000"/>
              </a:lnSpc>
              <a:buFontTx/>
              <a:buNone/>
            </a:pPr>
            <a:r>
              <a:rPr lang="en-US" altLang="nl-NL" dirty="0" err="1">
                <a:solidFill>
                  <a:schemeClr val="tx2"/>
                </a:solidFill>
              </a:rPr>
              <a:t>Borsato</a:t>
            </a:r>
            <a:endParaRPr lang="en-US" altLang="nl-NL" dirty="0">
              <a:solidFill>
                <a:schemeClr val="tx2"/>
              </a:solidFill>
            </a:endParaRPr>
          </a:p>
          <a:p>
            <a:pPr algn="ctr" eaLnBrk="1" hangingPunct="1">
              <a:lnSpc>
                <a:spcPct val="80000"/>
              </a:lnSpc>
              <a:buFontTx/>
              <a:buNone/>
            </a:pPr>
            <a:endParaRPr lang="en-US" altLang="nl-NL" dirty="0">
              <a:solidFill>
                <a:schemeClr val="tx2"/>
              </a:solidFill>
            </a:endParaRPr>
          </a:p>
          <a:p>
            <a:pPr algn="ctr" eaLnBrk="1" hangingPunct="1">
              <a:lnSpc>
                <a:spcPct val="80000"/>
              </a:lnSpc>
              <a:buFontTx/>
              <a:buNone/>
            </a:pPr>
            <a:endParaRPr lang="en-US" altLang="nl-NL" sz="1800" dirty="0">
              <a:solidFill>
                <a:schemeClr val="tx2"/>
              </a:solidFill>
            </a:endParaRPr>
          </a:p>
          <a:p>
            <a:pPr algn="ctr" eaLnBrk="1" hangingPunct="1">
              <a:lnSpc>
                <a:spcPct val="80000"/>
              </a:lnSpc>
              <a:buFontTx/>
              <a:buNone/>
            </a:pPr>
            <a:endParaRPr lang="en-US" altLang="nl-NL" sz="1800" dirty="0">
              <a:solidFill>
                <a:schemeClr val="tx2"/>
              </a:solidFill>
            </a:endParaRPr>
          </a:p>
        </p:txBody>
      </p:sp>
    </p:spTree>
    <p:extLst>
      <p:ext uri="{BB962C8B-B14F-4D97-AF65-F5344CB8AC3E}">
        <p14:creationId xmlns:p14="http://schemas.microsoft.com/office/powerpoint/2010/main" val="37068715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inhoud 3">
            <a:extLst>
              <a:ext uri="{FF2B5EF4-FFF2-40B4-BE49-F238E27FC236}">
                <a16:creationId xmlns:a16="http://schemas.microsoft.com/office/drawing/2014/main" id="{F9909B17-A36D-4021-8012-637111324559}"/>
              </a:ext>
            </a:extLst>
          </p:cNvPr>
          <p:cNvSpPr>
            <a:spLocks noGrp="1"/>
          </p:cNvSpPr>
          <p:nvPr>
            <p:ph idx="1"/>
          </p:nvPr>
        </p:nvSpPr>
        <p:spPr>
          <a:xfrm>
            <a:off x="609600" y="433548"/>
            <a:ext cx="10972800" cy="5687711"/>
          </a:xfrm>
          <a:prstGeom prst="rect">
            <a:avLst/>
          </a:prstGeom>
        </p:spPr>
        <p:txBody>
          <a:bodyPr wrap="square">
            <a:spAutoFit/>
          </a:bodyPr>
          <a:lstStyle/>
          <a:p>
            <a:r>
              <a:rPr lang="nl-NL" sz="1800" b="1" dirty="0"/>
              <a:t> Type II</a:t>
            </a:r>
          </a:p>
          <a:p>
            <a:endParaRPr lang="nl-NL" sz="1800" dirty="0"/>
          </a:p>
          <a:p>
            <a:pPr marL="285750" indent="-285750">
              <a:buFont typeface="Arial" panose="020B0604020202020204" pitchFamily="34" charset="0"/>
              <a:buChar char="•"/>
            </a:pPr>
            <a:r>
              <a:rPr lang="nl-NL" sz="1800" dirty="0"/>
              <a:t>Gericht op zelf en andere rechten</a:t>
            </a:r>
          </a:p>
          <a:p>
            <a:pPr marL="285750" indent="-285750">
              <a:buFont typeface="Arial" panose="020B0604020202020204" pitchFamily="34" charset="0"/>
              <a:buChar char="•"/>
            </a:pPr>
            <a:r>
              <a:rPr lang="nl-NL" sz="1800" dirty="0"/>
              <a:t>Op anderen gericht, </a:t>
            </a:r>
            <a:r>
              <a:rPr lang="nl-NL" sz="1800" i="1" dirty="0" err="1"/>
              <a:t>peers</a:t>
            </a:r>
            <a:endParaRPr lang="nl-NL" sz="1800" i="1" dirty="0"/>
          </a:p>
          <a:p>
            <a:pPr marL="285750" indent="-285750">
              <a:buFont typeface="Arial" panose="020B0604020202020204" pitchFamily="34" charset="0"/>
              <a:buChar char="•"/>
            </a:pPr>
            <a:r>
              <a:rPr lang="nl-NL" sz="1800" dirty="0"/>
              <a:t>Ongestructureerde aanpak</a:t>
            </a:r>
          </a:p>
          <a:p>
            <a:pPr marL="285750" indent="-285750">
              <a:buFont typeface="Arial" panose="020B0604020202020204" pitchFamily="34" charset="0"/>
              <a:buChar char="•"/>
            </a:pPr>
            <a:r>
              <a:rPr lang="nl-NL" sz="1800" dirty="0"/>
              <a:t>Sociale beloning door acceptatie</a:t>
            </a:r>
          </a:p>
          <a:p>
            <a:pPr marL="285750" indent="-285750">
              <a:buFont typeface="Arial" panose="020B0604020202020204" pitchFamily="34" charset="0"/>
              <a:buChar char="•"/>
            </a:pPr>
            <a:r>
              <a:rPr lang="nl-NL" sz="1800" dirty="0" err="1">
                <a:highlight>
                  <a:srgbClr val="FFFF00"/>
                </a:highlight>
              </a:rPr>
              <a:t>Searching</a:t>
            </a:r>
            <a:r>
              <a:rPr lang="nl-NL" sz="1800" dirty="0">
                <a:highlight>
                  <a:srgbClr val="FFFF00"/>
                </a:highlight>
              </a:rPr>
              <a:t> </a:t>
            </a:r>
            <a:r>
              <a:rPr lang="nl-NL" sz="1800" dirty="0" err="1">
                <a:highlight>
                  <a:srgbClr val="FFFF00"/>
                </a:highlight>
              </a:rPr>
              <a:t>Shifting</a:t>
            </a:r>
            <a:r>
              <a:rPr lang="nl-NL" sz="1800" dirty="0">
                <a:highlight>
                  <a:srgbClr val="FFFF00"/>
                </a:highlight>
              </a:rPr>
              <a:t> ?? Op zoek naar verandering</a:t>
            </a:r>
          </a:p>
          <a:p>
            <a:pPr marL="285750" indent="-285750">
              <a:buFont typeface="Arial" panose="020B0604020202020204" pitchFamily="34" charset="0"/>
              <a:buChar char="•"/>
            </a:pPr>
            <a:r>
              <a:rPr lang="nl-NL" sz="1800" dirty="0">
                <a:highlight>
                  <a:srgbClr val="FFFF00"/>
                </a:highlight>
              </a:rPr>
              <a:t>Actiegericht</a:t>
            </a:r>
          </a:p>
          <a:p>
            <a:endParaRPr lang="nl-NL" sz="1800" dirty="0"/>
          </a:p>
          <a:p>
            <a:r>
              <a:rPr lang="nl-NL" sz="1800" dirty="0"/>
              <a:t>Doel:  </a:t>
            </a:r>
          </a:p>
          <a:p>
            <a:pPr marL="285750" indent="-285750">
              <a:buFont typeface="Arial" panose="020B0604020202020204" pitchFamily="34" charset="0"/>
              <a:buChar char="•"/>
            </a:pPr>
            <a:r>
              <a:rPr kumimoji="0" lang="en-US" sz="1800" b="0" i="0" u="none" strike="noStrike" cap="none" normalizeH="0" baseline="0" dirty="0">
                <a:ln>
                  <a:noFill/>
                </a:ln>
                <a:solidFill>
                  <a:schemeClr val="tx1"/>
                </a:solidFill>
                <a:effectLst/>
                <a:latin typeface="Arial" charset="0"/>
              </a:rPr>
              <a:t>Zelfontplooiing</a:t>
            </a:r>
            <a:r>
              <a:rPr lang="nl-NL" sz="1800" dirty="0"/>
              <a:t> en geluk</a:t>
            </a:r>
          </a:p>
          <a:p>
            <a:r>
              <a:rPr lang="nl-NL" sz="1800" dirty="0"/>
              <a:t>Angst:  </a:t>
            </a:r>
          </a:p>
          <a:p>
            <a:pPr marL="285750" indent="-285750">
              <a:buFont typeface="Arial" panose="020B0604020202020204" pitchFamily="34" charset="0"/>
              <a:buChar char="•"/>
            </a:pPr>
            <a:r>
              <a:rPr lang="nl-NL" sz="1800" dirty="0"/>
              <a:t>Innerlijk conflict</a:t>
            </a:r>
          </a:p>
          <a:p>
            <a:r>
              <a:rPr lang="nl-NL" sz="1800" dirty="0"/>
              <a:t>Perspectief:  </a:t>
            </a:r>
          </a:p>
          <a:p>
            <a:pPr marL="285750" indent="-285750">
              <a:buFont typeface="Arial" panose="020B0604020202020204" pitchFamily="34" charset="0"/>
              <a:buChar char="•"/>
            </a:pPr>
            <a:r>
              <a:rPr lang="nl-NL" sz="1800" dirty="0"/>
              <a:t>Optimistisch en onderzoekend </a:t>
            </a:r>
            <a:r>
              <a:rPr lang="nl-NL" sz="1800" dirty="0">
                <a:highlight>
                  <a:srgbClr val="FFFF00"/>
                </a:highlight>
              </a:rPr>
              <a:t>(beter; sceptisch/terughoudend?)</a:t>
            </a:r>
          </a:p>
          <a:p>
            <a:r>
              <a:rPr lang="nl-NL" sz="1800" dirty="0"/>
              <a:t>Levensstijl:  </a:t>
            </a:r>
          </a:p>
          <a:p>
            <a:pPr marL="285750" indent="-285750">
              <a:buFont typeface="Arial" panose="020B0604020202020204" pitchFamily="34" charset="0"/>
              <a:buChar char="•"/>
            </a:pPr>
            <a:r>
              <a:rPr lang="nl-NL" sz="1800" dirty="0"/>
              <a:t>Maatschappelijk geaccepteerde individualiteit</a:t>
            </a:r>
          </a:p>
        </p:txBody>
      </p:sp>
    </p:spTree>
    <p:extLst>
      <p:ext uri="{BB962C8B-B14F-4D97-AF65-F5344CB8AC3E}">
        <p14:creationId xmlns:p14="http://schemas.microsoft.com/office/powerpoint/2010/main" val="16720993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94A138-3382-47E3-8301-D7F76F0BF524}"/>
              </a:ext>
            </a:extLst>
          </p:cNvPr>
          <p:cNvSpPr>
            <a:spLocks noGrp="1"/>
          </p:cNvSpPr>
          <p:nvPr>
            <p:ph type="title"/>
          </p:nvPr>
        </p:nvSpPr>
        <p:spPr/>
        <p:txBody>
          <a:bodyPr/>
          <a:lstStyle/>
          <a:p>
            <a:endParaRPr lang="nl-NL" dirty="0"/>
          </a:p>
        </p:txBody>
      </p:sp>
      <p:sp>
        <p:nvSpPr>
          <p:cNvPr id="3" name="Tijdelijke aanduiding voor inhoud 2">
            <a:extLst>
              <a:ext uri="{FF2B5EF4-FFF2-40B4-BE49-F238E27FC236}">
                <a16:creationId xmlns:a16="http://schemas.microsoft.com/office/drawing/2014/main" id="{C516281C-DD77-4D8A-9F55-C86E207F7687}"/>
              </a:ext>
            </a:extLst>
          </p:cNvPr>
          <p:cNvSpPr>
            <a:spLocks noGrp="1"/>
          </p:cNvSpPr>
          <p:nvPr>
            <p:ph idx="1"/>
          </p:nvPr>
        </p:nvSpPr>
        <p:spPr/>
        <p:txBody>
          <a:bodyPr/>
          <a:lstStyle/>
          <a:p>
            <a:endParaRPr lang="nl-NL" dirty="0"/>
          </a:p>
        </p:txBody>
      </p:sp>
      <p:sp>
        <p:nvSpPr>
          <p:cNvPr id="4" name="Rechthoek 3">
            <a:extLst>
              <a:ext uri="{FF2B5EF4-FFF2-40B4-BE49-F238E27FC236}">
                <a16:creationId xmlns:a16="http://schemas.microsoft.com/office/drawing/2014/main" id="{02D0AF3D-9B2C-4FA6-AE29-20B84AB52A24}"/>
              </a:ext>
            </a:extLst>
          </p:cNvPr>
          <p:cNvSpPr/>
          <p:nvPr/>
        </p:nvSpPr>
        <p:spPr>
          <a:xfrm>
            <a:off x="3810000" y="1605093"/>
            <a:ext cx="4572000" cy="3637919"/>
          </a:xfrm>
          <a:prstGeom prst="rect">
            <a:avLst/>
          </a:prstGeom>
        </p:spPr>
        <p:txBody>
          <a:bodyPr>
            <a:spAutoFit/>
          </a:bodyPr>
          <a:lstStyle/>
          <a:p>
            <a:pPr algn="ctr" eaLnBrk="1" hangingPunct="1">
              <a:lnSpc>
                <a:spcPct val="80000"/>
              </a:lnSpc>
              <a:buFontTx/>
              <a:buNone/>
            </a:pPr>
            <a:r>
              <a:rPr lang="en-US" altLang="nl-NL" sz="1800" b="1" dirty="0" err="1">
                <a:solidFill>
                  <a:schemeClr val="tx2"/>
                </a:solidFill>
              </a:rPr>
              <a:t>Waarden</a:t>
            </a:r>
            <a:r>
              <a:rPr lang="en-US" altLang="nl-NL" sz="1800" b="1" dirty="0">
                <a:solidFill>
                  <a:schemeClr val="tx2"/>
                </a:solidFill>
              </a:rPr>
              <a:t> </a:t>
            </a:r>
            <a:r>
              <a:rPr lang="en-US" altLang="nl-NL" sz="1800" b="1" dirty="0" err="1">
                <a:solidFill>
                  <a:schemeClr val="tx2"/>
                </a:solidFill>
              </a:rPr>
              <a:t>perspectief</a:t>
            </a:r>
            <a:r>
              <a:rPr lang="en-US" altLang="nl-NL" sz="1800" b="1" dirty="0">
                <a:solidFill>
                  <a:schemeClr val="tx2"/>
                </a:solidFill>
              </a:rPr>
              <a:t> van</a:t>
            </a:r>
            <a:br>
              <a:rPr lang="en-US" altLang="nl-NL" sz="1800" b="1" dirty="0">
                <a:solidFill>
                  <a:schemeClr val="tx2"/>
                </a:solidFill>
              </a:rPr>
            </a:br>
            <a:r>
              <a:rPr lang="en-US" altLang="nl-NL" sz="1800" b="1" dirty="0" err="1">
                <a:solidFill>
                  <a:schemeClr val="tx2"/>
                </a:solidFill>
              </a:rPr>
              <a:t>bekende</a:t>
            </a:r>
            <a:r>
              <a:rPr lang="en-US" altLang="nl-NL" sz="1800" b="1" dirty="0">
                <a:solidFill>
                  <a:schemeClr val="tx2"/>
                </a:solidFill>
              </a:rPr>
              <a:t> </a:t>
            </a:r>
            <a:r>
              <a:rPr lang="en-US" altLang="nl-NL" sz="1800" b="1" dirty="0" err="1">
                <a:solidFill>
                  <a:schemeClr val="tx2"/>
                </a:solidFill>
              </a:rPr>
              <a:t>mensen</a:t>
            </a:r>
            <a:endParaRPr lang="en-US" altLang="nl-NL" sz="1800" b="1" dirty="0">
              <a:solidFill>
                <a:schemeClr val="tx2"/>
              </a:solidFill>
            </a:endParaRPr>
          </a:p>
          <a:p>
            <a:pPr algn="ctr" eaLnBrk="1" hangingPunct="1">
              <a:lnSpc>
                <a:spcPct val="80000"/>
              </a:lnSpc>
              <a:buFontTx/>
              <a:buNone/>
            </a:pPr>
            <a:endParaRPr lang="en-US" altLang="nl-NL" b="1" dirty="0">
              <a:solidFill>
                <a:schemeClr val="tx2"/>
              </a:solidFill>
            </a:endParaRPr>
          </a:p>
          <a:p>
            <a:pPr algn="ctr" eaLnBrk="1" hangingPunct="1">
              <a:lnSpc>
                <a:spcPct val="80000"/>
              </a:lnSpc>
              <a:buFontTx/>
              <a:buNone/>
            </a:pPr>
            <a:r>
              <a:rPr lang="en-US" altLang="nl-NL" sz="1800" b="1" dirty="0">
                <a:solidFill>
                  <a:schemeClr val="tx2"/>
                </a:solidFill>
              </a:rPr>
              <a:t>Type III</a:t>
            </a:r>
          </a:p>
          <a:p>
            <a:pPr algn="ctr" eaLnBrk="1" hangingPunct="1">
              <a:lnSpc>
                <a:spcPct val="80000"/>
              </a:lnSpc>
              <a:buFontTx/>
              <a:buNone/>
            </a:pPr>
            <a:endParaRPr lang="en-US" altLang="nl-NL" dirty="0">
              <a:solidFill>
                <a:schemeClr val="tx2"/>
              </a:solidFill>
            </a:endParaRPr>
          </a:p>
          <a:p>
            <a:pPr algn="ctr" eaLnBrk="1" hangingPunct="1">
              <a:lnSpc>
                <a:spcPct val="80000"/>
              </a:lnSpc>
              <a:buFontTx/>
              <a:buNone/>
            </a:pPr>
            <a:endParaRPr lang="en-US" altLang="nl-NL" dirty="0">
              <a:solidFill>
                <a:schemeClr val="tx2"/>
              </a:solidFill>
            </a:endParaRPr>
          </a:p>
          <a:p>
            <a:pPr algn="ctr" eaLnBrk="1" hangingPunct="1">
              <a:lnSpc>
                <a:spcPct val="80000"/>
              </a:lnSpc>
              <a:buFontTx/>
              <a:buNone/>
            </a:pPr>
            <a:r>
              <a:rPr lang="en-US" altLang="nl-NL" sz="1800" dirty="0">
                <a:solidFill>
                  <a:schemeClr val="tx2"/>
                </a:solidFill>
              </a:rPr>
              <a:t>?</a:t>
            </a:r>
          </a:p>
          <a:p>
            <a:pPr algn="ctr" eaLnBrk="1" hangingPunct="1">
              <a:lnSpc>
                <a:spcPct val="80000"/>
              </a:lnSpc>
              <a:buFontTx/>
              <a:buNone/>
            </a:pPr>
            <a:r>
              <a:rPr lang="en-US" altLang="nl-NL" dirty="0">
                <a:solidFill>
                  <a:schemeClr val="tx2"/>
                </a:solidFill>
              </a:rPr>
              <a:t>Wilders</a:t>
            </a:r>
            <a:endParaRPr lang="en-US" altLang="nl-NL" sz="1800" dirty="0">
              <a:solidFill>
                <a:schemeClr val="tx2"/>
              </a:solidFill>
            </a:endParaRPr>
          </a:p>
          <a:p>
            <a:pPr algn="ctr" eaLnBrk="1" hangingPunct="1">
              <a:lnSpc>
                <a:spcPct val="80000"/>
              </a:lnSpc>
              <a:buFontTx/>
              <a:buNone/>
            </a:pPr>
            <a:r>
              <a:rPr lang="en-US" altLang="nl-NL" dirty="0">
                <a:solidFill>
                  <a:schemeClr val="tx2"/>
                </a:solidFill>
              </a:rPr>
              <a:t>Peter R de </a:t>
            </a:r>
            <a:r>
              <a:rPr lang="en-US" altLang="nl-NL" dirty="0" err="1">
                <a:solidFill>
                  <a:schemeClr val="tx2"/>
                </a:solidFill>
              </a:rPr>
              <a:t>vries</a:t>
            </a:r>
            <a:endParaRPr lang="en-US" altLang="nl-NL" dirty="0">
              <a:solidFill>
                <a:schemeClr val="tx2"/>
              </a:solidFill>
            </a:endParaRPr>
          </a:p>
          <a:p>
            <a:pPr algn="ctr" eaLnBrk="1" hangingPunct="1">
              <a:lnSpc>
                <a:spcPct val="80000"/>
              </a:lnSpc>
              <a:buFontTx/>
              <a:buNone/>
            </a:pPr>
            <a:r>
              <a:rPr lang="en-US" altLang="nl-NL" dirty="0" err="1">
                <a:solidFill>
                  <a:schemeClr val="tx2"/>
                </a:solidFill>
              </a:rPr>
              <a:t>Freek</a:t>
            </a:r>
            <a:r>
              <a:rPr lang="en-US" altLang="nl-NL" dirty="0">
                <a:solidFill>
                  <a:schemeClr val="tx2"/>
                </a:solidFill>
              </a:rPr>
              <a:t> </a:t>
            </a:r>
            <a:r>
              <a:rPr lang="en-US" altLang="nl-NL" dirty="0" err="1">
                <a:solidFill>
                  <a:schemeClr val="tx2"/>
                </a:solidFill>
              </a:rPr>
              <a:t>Vonk</a:t>
            </a:r>
            <a:endParaRPr lang="en-US" altLang="nl-NL" dirty="0">
              <a:solidFill>
                <a:schemeClr val="tx2"/>
              </a:solidFill>
            </a:endParaRPr>
          </a:p>
          <a:p>
            <a:pPr algn="ctr" eaLnBrk="1" hangingPunct="1">
              <a:lnSpc>
                <a:spcPct val="80000"/>
              </a:lnSpc>
              <a:buFontTx/>
              <a:buNone/>
            </a:pPr>
            <a:r>
              <a:rPr lang="en-US" altLang="nl-NL" sz="1800" dirty="0">
                <a:solidFill>
                  <a:schemeClr val="tx2"/>
                </a:solidFill>
              </a:rPr>
              <a:t>Frans Bauer</a:t>
            </a:r>
          </a:p>
          <a:p>
            <a:pPr algn="ctr" eaLnBrk="1" hangingPunct="1">
              <a:lnSpc>
                <a:spcPct val="80000"/>
              </a:lnSpc>
              <a:buFontTx/>
              <a:buNone/>
            </a:pPr>
            <a:r>
              <a:rPr lang="en-US" altLang="nl-NL" sz="1800" dirty="0">
                <a:solidFill>
                  <a:schemeClr val="tx2"/>
                </a:solidFill>
              </a:rPr>
              <a:t>Koning </a:t>
            </a:r>
            <a:r>
              <a:rPr lang="en-US" altLang="nl-NL" dirty="0">
                <a:solidFill>
                  <a:schemeClr val="tx2"/>
                </a:solidFill>
              </a:rPr>
              <a:t>Willem</a:t>
            </a:r>
          </a:p>
          <a:p>
            <a:pPr algn="ctr" eaLnBrk="1" hangingPunct="1">
              <a:lnSpc>
                <a:spcPct val="80000"/>
              </a:lnSpc>
              <a:buFontTx/>
              <a:buNone/>
            </a:pPr>
            <a:r>
              <a:rPr lang="en-US" altLang="nl-NL" sz="1800" dirty="0">
                <a:solidFill>
                  <a:schemeClr val="tx2"/>
                </a:solidFill>
              </a:rPr>
              <a:t>Linda de Mol</a:t>
            </a:r>
          </a:p>
          <a:p>
            <a:pPr algn="ctr" eaLnBrk="1" hangingPunct="1">
              <a:lnSpc>
                <a:spcPct val="80000"/>
              </a:lnSpc>
              <a:buFontTx/>
              <a:buNone/>
            </a:pPr>
            <a:r>
              <a:rPr lang="en-US" altLang="nl-NL" dirty="0">
                <a:solidFill>
                  <a:schemeClr val="tx2"/>
                </a:solidFill>
              </a:rPr>
              <a:t>Andre van </a:t>
            </a:r>
            <a:r>
              <a:rPr lang="en-US" altLang="nl-NL" dirty="0" err="1">
                <a:solidFill>
                  <a:schemeClr val="tx2"/>
                </a:solidFill>
              </a:rPr>
              <a:t>Duin</a:t>
            </a:r>
            <a:endParaRPr lang="en-US" altLang="nl-NL" dirty="0">
              <a:solidFill>
                <a:schemeClr val="tx2"/>
              </a:solidFill>
            </a:endParaRPr>
          </a:p>
          <a:p>
            <a:pPr algn="ctr" eaLnBrk="1" hangingPunct="1">
              <a:lnSpc>
                <a:spcPct val="80000"/>
              </a:lnSpc>
              <a:buFontTx/>
              <a:buNone/>
            </a:pPr>
            <a:endParaRPr lang="en-US" altLang="nl-NL" sz="1800" dirty="0">
              <a:solidFill>
                <a:schemeClr val="tx2"/>
              </a:solidFill>
            </a:endParaRPr>
          </a:p>
          <a:p>
            <a:pPr algn="ctr" eaLnBrk="1" hangingPunct="1">
              <a:lnSpc>
                <a:spcPct val="80000"/>
              </a:lnSpc>
              <a:buFontTx/>
              <a:buNone/>
            </a:pPr>
            <a:endParaRPr lang="en-US" altLang="nl-NL" sz="1800" dirty="0">
              <a:solidFill>
                <a:schemeClr val="tx2"/>
              </a:solidFill>
            </a:endParaRPr>
          </a:p>
        </p:txBody>
      </p:sp>
    </p:spTree>
    <p:extLst>
      <p:ext uri="{BB962C8B-B14F-4D97-AF65-F5344CB8AC3E}">
        <p14:creationId xmlns:p14="http://schemas.microsoft.com/office/powerpoint/2010/main" val="3424110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3E6FA5B5-4BDE-469B-A069-FB8663B74088}"/>
              </a:ext>
            </a:extLst>
          </p:cNvPr>
          <p:cNvSpPr/>
          <p:nvPr/>
        </p:nvSpPr>
        <p:spPr>
          <a:xfrm>
            <a:off x="971600" y="843582"/>
            <a:ext cx="7128792" cy="5355312"/>
          </a:xfrm>
          <a:prstGeom prst="rect">
            <a:avLst/>
          </a:prstGeom>
        </p:spPr>
        <p:txBody>
          <a:bodyPr wrap="square">
            <a:spAutoFit/>
          </a:bodyPr>
          <a:lstStyle/>
          <a:p>
            <a:r>
              <a:rPr lang="nl-NL" b="1" dirty="0"/>
              <a:t>Type III</a:t>
            </a:r>
          </a:p>
          <a:p>
            <a:endParaRPr lang="nl-NL" dirty="0"/>
          </a:p>
          <a:p>
            <a:pPr marL="285750" indent="-285750">
              <a:buFont typeface="Arial" panose="020B0604020202020204" pitchFamily="34" charset="0"/>
              <a:buChar char="•"/>
            </a:pPr>
            <a:r>
              <a:rPr lang="nl-NL" dirty="0"/>
              <a:t>Beschermde verwachtingen</a:t>
            </a:r>
          </a:p>
          <a:p>
            <a:pPr marL="285750" indent="-285750">
              <a:buFont typeface="Arial" panose="020B0604020202020204" pitchFamily="34" charset="0"/>
              <a:buChar char="•"/>
            </a:pPr>
            <a:r>
              <a:rPr lang="nl-NL" dirty="0"/>
              <a:t>Andere - Gericht naar regels</a:t>
            </a:r>
          </a:p>
          <a:p>
            <a:pPr marL="285750" indent="-285750">
              <a:buFont typeface="Arial" panose="020B0604020202020204" pitchFamily="34" charset="0"/>
              <a:buChar char="•"/>
            </a:pPr>
            <a:r>
              <a:rPr lang="nl-NL" dirty="0"/>
              <a:t>Gericht op anderen, hun groep(en)</a:t>
            </a:r>
          </a:p>
          <a:p>
            <a:pPr marL="285750" indent="-285750">
              <a:buFont typeface="Arial" panose="020B0604020202020204" pitchFamily="34" charset="0"/>
              <a:buChar char="•"/>
            </a:pPr>
            <a:r>
              <a:rPr lang="nl-NL" dirty="0"/>
              <a:t>Gestructureerde aanpak</a:t>
            </a:r>
          </a:p>
          <a:p>
            <a:pPr marL="285750" indent="-285750">
              <a:buFont typeface="Arial" panose="020B0604020202020204" pitchFamily="34" charset="0"/>
              <a:buChar char="•"/>
            </a:pPr>
            <a:r>
              <a:rPr lang="nl-NL" dirty="0"/>
              <a:t>Anderen &amp; eigen Verantwoordelijkheden</a:t>
            </a:r>
          </a:p>
          <a:p>
            <a:pPr marL="285750" indent="-285750">
              <a:buFont typeface="Arial" panose="020B0604020202020204" pitchFamily="34" charset="0"/>
              <a:buChar char="•"/>
            </a:pPr>
            <a:r>
              <a:rPr lang="nl-NL" dirty="0"/>
              <a:t>Sociale beloning op basis van respect</a:t>
            </a:r>
          </a:p>
          <a:p>
            <a:pPr marL="285750" indent="-285750">
              <a:buFont typeface="Arial" panose="020B0604020202020204" pitchFamily="34" charset="0"/>
              <a:buChar char="•"/>
            </a:pPr>
            <a:r>
              <a:rPr lang="nl-NL" dirty="0">
                <a:highlight>
                  <a:srgbClr val="FFFF00"/>
                </a:highlight>
              </a:rPr>
              <a:t>Niet op zoek naar (</a:t>
            </a:r>
            <a:r>
              <a:rPr lang="nl-NL" dirty="0" err="1">
                <a:highlight>
                  <a:srgbClr val="FFFF00"/>
                </a:highlight>
              </a:rPr>
              <a:t>geloofs</a:t>
            </a:r>
            <a:r>
              <a:rPr lang="nl-NL" dirty="0">
                <a:highlight>
                  <a:srgbClr val="FFFF00"/>
                </a:highlight>
              </a:rPr>
              <a:t>)overtuigingen</a:t>
            </a:r>
          </a:p>
          <a:p>
            <a:pPr marL="285750" indent="-285750">
              <a:buFont typeface="Arial" panose="020B0604020202020204" pitchFamily="34" charset="0"/>
              <a:buChar char="•"/>
            </a:pPr>
            <a:endParaRPr lang="nl-NL" dirty="0"/>
          </a:p>
          <a:p>
            <a:r>
              <a:rPr lang="nl-NL" dirty="0"/>
              <a:t>Doel:</a:t>
            </a:r>
          </a:p>
          <a:p>
            <a:pPr marL="285750" indent="-285750">
              <a:buFont typeface="Arial" panose="020B0604020202020204" pitchFamily="34" charset="0"/>
              <a:buChar char="•"/>
            </a:pPr>
            <a:r>
              <a:rPr lang="nl-NL" dirty="0"/>
              <a:t>Verantwoordelijk leven</a:t>
            </a:r>
          </a:p>
          <a:p>
            <a:r>
              <a:rPr lang="nl-NL" dirty="0"/>
              <a:t>Angst:  </a:t>
            </a:r>
          </a:p>
          <a:p>
            <a:pPr marL="285750" indent="-285750">
              <a:buFont typeface="Arial" panose="020B0604020202020204" pitchFamily="34" charset="0"/>
              <a:buChar char="•"/>
            </a:pPr>
            <a:r>
              <a:rPr lang="nl-NL" dirty="0"/>
              <a:t>Verlies van sociaal respect</a:t>
            </a:r>
          </a:p>
          <a:p>
            <a:r>
              <a:rPr lang="nl-NL" dirty="0"/>
              <a:t>Perspectief: </a:t>
            </a:r>
          </a:p>
          <a:p>
            <a:pPr marL="285750" indent="-285750">
              <a:buFont typeface="Arial" panose="020B0604020202020204" pitchFamily="34" charset="0"/>
              <a:buChar char="•"/>
            </a:pPr>
            <a:r>
              <a:rPr lang="nl-NL" dirty="0"/>
              <a:t>Betrokkenheid en bescherming</a:t>
            </a:r>
          </a:p>
          <a:p>
            <a:r>
              <a:rPr lang="nl-NL" dirty="0"/>
              <a:t>Levensstijl:  </a:t>
            </a:r>
          </a:p>
          <a:p>
            <a:pPr marL="285750" indent="-285750">
              <a:buFont typeface="Arial" panose="020B0604020202020204" pitchFamily="34" charset="0"/>
              <a:buChar char="•"/>
            </a:pPr>
            <a:r>
              <a:rPr lang="nl-NL" dirty="0"/>
              <a:t>Betekenisvol en betrokkenheid</a:t>
            </a:r>
          </a:p>
          <a:p>
            <a:pPr marL="285750" indent="-285750">
              <a:buFont typeface="Arial" panose="020B0604020202020204" pitchFamily="34" charset="0"/>
              <a:buChar char="•"/>
            </a:pPr>
            <a:endParaRPr lang="nl-NL" dirty="0"/>
          </a:p>
        </p:txBody>
      </p:sp>
    </p:spTree>
    <p:extLst>
      <p:ext uri="{BB962C8B-B14F-4D97-AF65-F5344CB8AC3E}">
        <p14:creationId xmlns:p14="http://schemas.microsoft.com/office/powerpoint/2010/main" val="11088254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C516281C-DD77-4D8A-9F55-C86E207F7687}"/>
              </a:ext>
            </a:extLst>
          </p:cNvPr>
          <p:cNvSpPr>
            <a:spLocks noGrp="1"/>
          </p:cNvSpPr>
          <p:nvPr>
            <p:ph idx="1"/>
          </p:nvPr>
        </p:nvSpPr>
        <p:spPr/>
        <p:txBody>
          <a:bodyPr/>
          <a:lstStyle/>
          <a:p>
            <a:endParaRPr lang="nl-NL" dirty="0"/>
          </a:p>
        </p:txBody>
      </p:sp>
      <p:sp>
        <p:nvSpPr>
          <p:cNvPr id="4" name="Rechthoek 3">
            <a:extLst>
              <a:ext uri="{FF2B5EF4-FFF2-40B4-BE49-F238E27FC236}">
                <a16:creationId xmlns:a16="http://schemas.microsoft.com/office/drawing/2014/main" id="{B9938245-57A6-47FE-BF72-D3EC36B63060}"/>
              </a:ext>
            </a:extLst>
          </p:cNvPr>
          <p:cNvSpPr/>
          <p:nvPr/>
        </p:nvSpPr>
        <p:spPr>
          <a:xfrm>
            <a:off x="4174806" y="764704"/>
            <a:ext cx="4572000" cy="4081117"/>
          </a:xfrm>
          <a:prstGeom prst="rect">
            <a:avLst/>
          </a:prstGeom>
        </p:spPr>
        <p:txBody>
          <a:bodyPr>
            <a:spAutoFit/>
          </a:bodyPr>
          <a:lstStyle/>
          <a:p>
            <a:pPr algn="ctr" eaLnBrk="1" hangingPunct="1">
              <a:lnSpc>
                <a:spcPct val="80000"/>
              </a:lnSpc>
              <a:buFontTx/>
              <a:buNone/>
            </a:pPr>
            <a:r>
              <a:rPr lang="en-US" altLang="nl-NL" sz="1800" b="1" dirty="0" err="1">
                <a:solidFill>
                  <a:schemeClr val="tx2"/>
                </a:solidFill>
              </a:rPr>
              <a:t>Waarden</a:t>
            </a:r>
            <a:r>
              <a:rPr lang="en-US" altLang="nl-NL" sz="1800" b="1" dirty="0">
                <a:solidFill>
                  <a:schemeClr val="tx2"/>
                </a:solidFill>
              </a:rPr>
              <a:t> </a:t>
            </a:r>
            <a:r>
              <a:rPr lang="en-US" altLang="nl-NL" sz="1800" b="1" dirty="0" err="1">
                <a:solidFill>
                  <a:schemeClr val="tx2"/>
                </a:solidFill>
              </a:rPr>
              <a:t>perspectief</a:t>
            </a:r>
            <a:r>
              <a:rPr lang="en-US" altLang="nl-NL" sz="1800" b="1" dirty="0">
                <a:solidFill>
                  <a:schemeClr val="tx2"/>
                </a:solidFill>
              </a:rPr>
              <a:t> van</a:t>
            </a:r>
            <a:br>
              <a:rPr lang="en-US" altLang="nl-NL" sz="1800" b="1" dirty="0">
                <a:solidFill>
                  <a:schemeClr val="tx2"/>
                </a:solidFill>
              </a:rPr>
            </a:br>
            <a:r>
              <a:rPr lang="en-US" altLang="nl-NL" sz="1800" b="1" dirty="0" err="1">
                <a:solidFill>
                  <a:schemeClr val="tx2"/>
                </a:solidFill>
              </a:rPr>
              <a:t>bekende</a:t>
            </a:r>
            <a:r>
              <a:rPr lang="en-US" altLang="nl-NL" sz="1800" b="1" dirty="0">
                <a:solidFill>
                  <a:schemeClr val="tx2"/>
                </a:solidFill>
              </a:rPr>
              <a:t> </a:t>
            </a:r>
            <a:r>
              <a:rPr lang="en-US" altLang="nl-NL" sz="1800" b="1" dirty="0" err="1">
                <a:solidFill>
                  <a:schemeClr val="tx2"/>
                </a:solidFill>
              </a:rPr>
              <a:t>mensen</a:t>
            </a:r>
            <a:endParaRPr lang="en-US" altLang="nl-NL" sz="1800" b="1" dirty="0">
              <a:solidFill>
                <a:schemeClr val="tx2"/>
              </a:solidFill>
            </a:endParaRPr>
          </a:p>
          <a:p>
            <a:pPr algn="ctr" eaLnBrk="1" hangingPunct="1">
              <a:lnSpc>
                <a:spcPct val="80000"/>
              </a:lnSpc>
              <a:buFontTx/>
              <a:buNone/>
            </a:pPr>
            <a:endParaRPr lang="en-US" altLang="nl-NL" b="1" dirty="0">
              <a:solidFill>
                <a:schemeClr val="tx2"/>
              </a:solidFill>
            </a:endParaRPr>
          </a:p>
          <a:p>
            <a:pPr algn="ctr" eaLnBrk="1" hangingPunct="1">
              <a:lnSpc>
                <a:spcPct val="80000"/>
              </a:lnSpc>
              <a:buFontTx/>
              <a:buNone/>
            </a:pPr>
            <a:r>
              <a:rPr lang="en-US" altLang="nl-NL" sz="1800" b="1" dirty="0">
                <a:solidFill>
                  <a:schemeClr val="tx2"/>
                </a:solidFill>
              </a:rPr>
              <a:t>Type IV</a:t>
            </a:r>
          </a:p>
          <a:p>
            <a:pPr algn="ctr" eaLnBrk="1" hangingPunct="1">
              <a:lnSpc>
                <a:spcPct val="80000"/>
              </a:lnSpc>
              <a:buFontTx/>
              <a:buNone/>
            </a:pPr>
            <a:endParaRPr lang="en-US" altLang="nl-NL" dirty="0">
              <a:solidFill>
                <a:schemeClr val="tx2"/>
              </a:solidFill>
            </a:endParaRPr>
          </a:p>
          <a:p>
            <a:pPr algn="ctr" eaLnBrk="1" hangingPunct="1">
              <a:lnSpc>
                <a:spcPct val="80000"/>
              </a:lnSpc>
              <a:buFontTx/>
              <a:buNone/>
            </a:pPr>
            <a:endParaRPr lang="en-US" altLang="nl-NL" sz="1800" dirty="0">
              <a:solidFill>
                <a:schemeClr val="tx2"/>
              </a:solidFill>
            </a:endParaRPr>
          </a:p>
          <a:p>
            <a:pPr algn="ctr" eaLnBrk="1" hangingPunct="1">
              <a:lnSpc>
                <a:spcPct val="80000"/>
              </a:lnSpc>
              <a:buFontTx/>
              <a:buNone/>
            </a:pPr>
            <a:r>
              <a:rPr lang="en-US" altLang="nl-NL" dirty="0" err="1">
                <a:solidFill>
                  <a:schemeClr val="tx2"/>
                </a:solidFill>
              </a:rPr>
              <a:t>Ghandi</a:t>
            </a:r>
            <a:endParaRPr lang="en-US" altLang="nl-NL" dirty="0">
              <a:solidFill>
                <a:schemeClr val="tx2"/>
              </a:solidFill>
            </a:endParaRPr>
          </a:p>
          <a:p>
            <a:pPr algn="ctr" eaLnBrk="1" hangingPunct="1">
              <a:lnSpc>
                <a:spcPct val="80000"/>
              </a:lnSpc>
              <a:buFontTx/>
              <a:buNone/>
            </a:pPr>
            <a:r>
              <a:rPr lang="en-US" altLang="nl-NL" dirty="0">
                <a:solidFill>
                  <a:schemeClr val="tx2"/>
                </a:solidFill>
              </a:rPr>
              <a:t>Mandela</a:t>
            </a:r>
          </a:p>
          <a:p>
            <a:pPr algn="ctr" eaLnBrk="1" hangingPunct="1">
              <a:lnSpc>
                <a:spcPct val="80000"/>
              </a:lnSpc>
              <a:buFontTx/>
              <a:buNone/>
            </a:pPr>
            <a:r>
              <a:rPr lang="en-US" altLang="nl-NL" dirty="0">
                <a:solidFill>
                  <a:schemeClr val="tx2"/>
                </a:solidFill>
              </a:rPr>
              <a:t>Martin Luther King</a:t>
            </a:r>
          </a:p>
          <a:p>
            <a:pPr algn="ctr" eaLnBrk="1" hangingPunct="1">
              <a:lnSpc>
                <a:spcPct val="80000"/>
              </a:lnSpc>
              <a:buFontTx/>
              <a:buNone/>
            </a:pPr>
            <a:r>
              <a:rPr lang="en-US" altLang="nl-NL" dirty="0">
                <a:solidFill>
                  <a:schemeClr val="tx2"/>
                </a:solidFill>
              </a:rPr>
              <a:t>Malala Yousafzai</a:t>
            </a:r>
          </a:p>
          <a:p>
            <a:pPr algn="ctr" eaLnBrk="1" hangingPunct="1">
              <a:lnSpc>
                <a:spcPct val="80000"/>
              </a:lnSpc>
              <a:buFontTx/>
              <a:buNone/>
            </a:pPr>
            <a:endParaRPr lang="en-US" altLang="nl-NL" dirty="0">
              <a:solidFill>
                <a:schemeClr val="tx2"/>
              </a:solidFill>
            </a:endParaRPr>
          </a:p>
          <a:p>
            <a:pPr algn="ctr" eaLnBrk="1" hangingPunct="1">
              <a:lnSpc>
                <a:spcPct val="80000"/>
              </a:lnSpc>
              <a:buFontTx/>
              <a:buNone/>
            </a:pPr>
            <a:r>
              <a:rPr lang="en-US" altLang="nl-NL" dirty="0">
                <a:solidFill>
                  <a:schemeClr val="tx2"/>
                </a:solidFill>
              </a:rPr>
              <a:t>NL??</a:t>
            </a:r>
          </a:p>
          <a:p>
            <a:pPr algn="ctr" eaLnBrk="1" hangingPunct="1">
              <a:lnSpc>
                <a:spcPct val="80000"/>
              </a:lnSpc>
              <a:buFontTx/>
              <a:buNone/>
            </a:pPr>
            <a:r>
              <a:rPr lang="en-US" altLang="nl-NL" dirty="0">
                <a:solidFill>
                  <a:schemeClr val="tx2"/>
                </a:solidFill>
              </a:rPr>
              <a:t>Erica Terpstra</a:t>
            </a:r>
          </a:p>
          <a:p>
            <a:pPr algn="ctr" eaLnBrk="1" hangingPunct="1">
              <a:lnSpc>
                <a:spcPct val="80000"/>
              </a:lnSpc>
              <a:buFontTx/>
              <a:buNone/>
            </a:pPr>
            <a:r>
              <a:rPr lang="en-US" altLang="nl-NL" dirty="0" err="1">
                <a:solidFill>
                  <a:schemeClr val="tx2"/>
                </a:solidFill>
              </a:rPr>
              <a:t>Floortje</a:t>
            </a:r>
            <a:r>
              <a:rPr lang="en-US" altLang="nl-NL" dirty="0">
                <a:solidFill>
                  <a:schemeClr val="tx2"/>
                </a:solidFill>
              </a:rPr>
              <a:t> </a:t>
            </a:r>
            <a:r>
              <a:rPr lang="en-US" altLang="nl-NL" dirty="0" err="1">
                <a:solidFill>
                  <a:schemeClr val="tx2"/>
                </a:solidFill>
              </a:rPr>
              <a:t>Dessing</a:t>
            </a:r>
            <a:endParaRPr lang="en-US" altLang="nl-NL" dirty="0">
              <a:solidFill>
                <a:schemeClr val="tx2"/>
              </a:solidFill>
            </a:endParaRPr>
          </a:p>
          <a:p>
            <a:pPr algn="ctr" eaLnBrk="1" hangingPunct="1">
              <a:lnSpc>
                <a:spcPct val="80000"/>
              </a:lnSpc>
              <a:buFontTx/>
              <a:buNone/>
            </a:pPr>
            <a:r>
              <a:rPr lang="en-US" altLang="nl-NL" dirty="0" err="1">
                <a:solidFill>
                  <a:schemeClr val="tx2"/>
                </a:solidFill>
              </a:rPr>
              <a:t>Cruijff</a:t>
            </a:r>
            <a:endParaRPr lang="en-US" altLang="nl-NL" dirty="0">
              <a:solidFill>
                <a:schemeClr val="tx2"/>
              </a:solidFill>
            </a:endParaRPr>
          </a:p>
          <a:p>
            <a:pPr algn="ctr" eaLnBrk="1" hangingPunct="1">
              <a:lnSpc>
                <a:spcPct val="80000"/>
              </a:lnSpc>
              <a:buFontTx/>
              <a:buNone/>
            </a:pPr>
            <a:r>
              <a:rPr lang="en-US" altLang="nl-NL" dirty="0">
                <a:solidFill>
                  <a:schemeClr val="tx2"/>
                </a:solidFill>
              </a:rPr>
              <a:t>Johnny de Mol</a:t>
            </a:r>
          </a:p>
          <a:p>
            <a:pPr algn="ctr" eaLnBrk="1" hangingPunct="1">
              <a:lnSpc>
                <a:spcPct val="80000"/>
              </a:lnSpc>
              <a:buFontTx/>
              <a:buNone/>
            </a:pPr>
            <a:endParaRPr lang="en-US" altLang="nl-NL" sz="1800" dirty="0">
              <a:solidFill>
                <a:schemeClr val="tx2"/>
              </a:solidFill>
            </a:endParaRPr>
          </a:p>
          <a:p>
            <a:pPr algn="ctr" eaLnBrk="1" hangingPunct="1">
              <a:lnSpc>
                <a:spcPct val="80000"/>
              </a:lnSpc>
              <a:buFontTx/>
              <a:buNone/>
            </a:pPr>
            <a:endParaRPr lang="en-US" altLang="nl-NL" sz="1800" dirty="0">
              <a:solidFill>
                <a:schemeClr val="tx2"/>
              </a:solidFill>
            </a:endParaRPr>
          </a:p>
        </p:txBody>
      </p:sp>
      <p:pic>
        <p:nvPicPr>
          <p:cNvPr id="5" name="Afbeelding 4">
            <a:extLst>
              <a:ext uri="{FF2B5EF4-FFF2-40B4-BE49-F238E27FC236}">
                <a16:creationId xmlns:a16="http://schemas.microsoft.com/office/drawing/2014/main" id="{99D56943-1F93-476C-9105-8C7D04FCC0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7182" y="1598575"/>
            <a:ext cx="2135823" cy="2852066"/>
          </a:xfrm>
          <a:prstGeom prst="rect">
            <a:avLst/>
          </a:prstGeom>
        </p:spPr>
      </p:pic>
    </p:spTree>
    <p:extLst>
      <p:ext uri="{BB962C8B-B14F-4D97-AF65-F5344CB8AC3E}">
        <p14:creationId xmlns:p14="http://schemas.microsoft.com/office/powerpoint/2010/main" val="23947455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4ED8E596-B3F3-405B-AB14-2546397C5013}"/>
              </a:ext>
            </a:extLst>
          </p:cNvPr>
          <p:cNvSpPr/>
          <p:nvPr/>
        </p:nvSpPr>
        <p:spPr>
          <a:xfrm>
            <a:off x="971600" y="908720"/>
            <a:ext cx="7560840" cy="5078313"/>
          </a:xfrm>
          <a:prstGeom prst="rect">
            <a:avLst/>
          </a:prstGeom>
        </p:spPr>
        <p:txBody>
          <a:bodyPr wrap="square">
            <a:spAutoFit/>
          </a:bodyPr>
          <a:lstStyle/>
          <a:p>
            <a:r>
              <a:rPr lang="nl-NL" b="1" dirty="0"/>
              <a:t>Type IV</a:t>
            </a:r>
            <a:br>
              <a:rPr lang="nl-NL" dirty="0"/>
            </a:br>
            <a:endParaRPr lang="nl-NL" dirty="0"/>
          </a:p>
          <a:p>
            <a:pPr marL="285750" indent="-285750">
              <a:buFont typeface="Arial" panose="020B0604020202020204" pitchFamily="34" charset="0"/>
              <a:buChar char="•"/>
            </a:pPr>
            <a:r>
              <a:rPr lang="nl-NL" dirty="0"/>
              <a:t>Idealistisch</a:t>
            </a:r>
          </a:p>
          <a:p>
            <a:pPr marL="285750" indent="-285750">
              <a:buFont typeface="Arial" panose="020B0604020202020204" pitchFamily="34" charset="0"/>
              <a:buChar char="•"/>
            </a:pPr>
            <a:r>
              <a:rPr lang="nl-NL" dirty="0"/>
              <a:t>Gericht op verbindende principes</a:t>
            </a:r>
          </a:p>
          <a:p>
            <a:pPr marL="285750" indent="-285750">
              <a:buFont typeface="Arial" panose="020B0604020202020204" pitchFamily="34" charset="0"/>
              <a:buChar char="•"/>
            </a:pPr>
            <a:r>
              <a:rPr lang="nl-NL" dirty="0"/>
              <a:t>Focus op zichzelf en anderen</a:t>
            </a:r>
          </a:p>
          <a:p>
            <a:pPr marL="285750" indent="-285750">
              <a:buFont typeface="Arial" panose="020B0604020202020204" pitchFamily="34" charset="0"/>
              <a:buChar char="•"/>
            </a:pPr>
            <a:r>
              <a:rPr lang="nl-NL" dirty="0"/>
              <a:t>Gestructureerde aanpak</a:t>
            </a:r>
          </a:p>
          <a:p>
            <a:pPr marL="285750" indent="-285750">
              <a:buFont typeface="Arial" panose="020B0604020202020204" pitchFamily="34" charset="0"/>
              <a:buChar char="•"/>
            </a:pPr>
            <a:r>
              <a:rPr lang="nl-NL" dirty="0"/>
              <a:t>Persoonlijke rechten en verantwoordelijkheid</a:t>
            </a:r>
          </a:p>
          <a:p>
            <a:pPr marL="285750" indent="-285750">
              <a:buFont typeface="Arial" panose="020B0604020202020204" pitchFamily="34" charset="0"/>
              <a:buChar char="•"/>
            </a:pPr>
            <a:r>
              <a:rPr lang="nl-NL" dirty="0"/>
              <a:t>Zelfontplooiing, gevoel van persoonlijke voldoening</a:t>
            </a:r>
          </a:p>
          <a:p>
            <a:pPr marL="285750" indent="-285750">
              <a:buFont typeface="Arial" panose="020B0604020202020204" pitchFamily="34" charset="0"/>
              <a:buChar char="•"/>
            </a:pPr>
            <a:r>
              <a:rPr lang="nl-NL" dirty="0"/>
              <a:t>Toegewijd aan het zoeken naar universele waarheden</a:t>
            </a:r>
          </a:p>
          <a:p>
            <a:endParaRPr lang="nl-NL" dirty="0"/>
          </a:p>
          <a:p>
            <a:r>
              <a:rPr lang="nl-NL" dirty="0"/>
              <a:t>Doel:</a:t>
            </a:r>
          </a:p>
          <a:p>
            <a:pPr marL="285750" indent="-285750">
              <a:buFont typeface="Arial" panose="020B0604020202020204" pitchFamily="34" charset="0"/>
              <a:buChar char="•"/>
            </a:pPr>
            <a:r>
              <a:rPr lang="nl-NL" dirty="0"/>
              <a:t>Integratie van zelf met anderen</a:t>
            </a:r>
          </a:p>
          <a:p>
            <a:r>
              <a:rPr lang="nl-NL" dirty="0"/>
              <a:t>Angst:</a:t>
            </a:r>
          </a:p>
          <a:p>
            <a:pPr marL="285750" indent="-285750">
              <a:buFont typeface="Arial" panose="020B0604020202020204" pitchFamily="34" charset="0"/>
              <a:buChar char="•"/>
            </a:pPr>
            <a:r>
              <a:rPr lang="nl-NL" dirty="0"/>
              <a:t>Gebrek aan innerlijke congruentie</a:t>
            </a:r>
          </a:p>
          <a:p>
            <a:r>
              <a:rPr lang="nl-NL" dirty="0"/>
              <a:t>Perspectief:</a:t>
            </a:r>
          </a:p>
          <a:p>
            <a:pPr marL="285750" indent="-285750">
              <a:buFont typeface="Arial" panose="020B0604020202020204" pitchFamily="34" charset="0"/>
              <a:buChar char="•"/>
            </a:pPr>
            <a:r>
              <a:rPr lang="nl-NL" dirty="0"/>
              <a:t>Pragmatisch idealisme en gematigdheid</a:t>
            </a:r>
          </a:p>
          <a:p>
            <a:r>
              <a:rPr lang="nl-NL" dirty="0"/>
              <a:t>Levensstijl:</a:t>
            </a:r>
          </a:p>
          <a:p>
            <a:pPr marL="285750" indent="-285750">
              <a:buFont typeface="Arial" panose="020B0604020202020204" pitchFamily="34" charset="0"/>
              <a:buChar char="•"/>
            </a:pPr>
            <a:r>
              <a:rPr lang="nl-NL" dirty="0"/>
              <a:t>Persoonlijk activisme</a:t>
            </a:r>
          </a:p>
        </p:txBody>
      </p:sp>
    </p:spTree>
    <p:extLst>
      <p:ext uri="{BB962C8B-B14F-4D97-AF65-F5344CB8AC3E}">
        <p14:creationId xmlns:p14="http://schemas.microsoft.com/office/powerpoint/2010/main" val="269288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256E387-6F16-4AA0-9681-8A3BCC90B6A2}"/>
              </a:ext>
            </a:extLst>
          </p:cNvPr>
          <p:cNvSpPr txBox="1">
            <a:spLocks noChangeArrowheads="1"/>
          </p:cNvSpPr>
          <p:nvPr/>
        </p:nvSpPr>
        <p:spPr>
          <a:xfrm>
            <a:off x="614856" y="274638"/>
            <a:ext cx="10972800" cy="1123949"/>
          </a:xfrm>
          <a:prstGeom prst="rect">
            <a:avLst/>
          </a:prstGeom>
        </p:spPr>
        <p:txBody>
          <a:bodyPr/>
          <a:lstStyle>
            <a:lvl1pPr algn="l" rtl="0" eaLnBrk="0" fontAlgn="base" hangingPunct="0">
              <a:spcBef>
                <a:spcPct val="0"/>
              </a:spcBef>
              <a:spcAft>
                <a:spcPct val="0"/>
              </a:spcAft>
              <a:defRPr sz="3600" b="1" kern="1200">
                <a:solidFill>
                  <a:srgbClr val="FF8D3E"/>
                </a:solidFill>
                <a:effectLst>
                  <a:outerShdw blurRad="53975" dist="22860" dir="5400000" algn="tl" rotWithShape="0">
                    <a:srgbClr val="000000">
                      <a:alpha val="55000"/>
                    </a:srgbClr>
                  </a:outerShdw>
                </a:effectLst>
                <a:latin typeface="+mj-lt"/>
                <a:ea typeface="+mj-ea"/>
                <a:cs typeface="+mj-cs"/>
              </a:defRPr>
            </a:lvl1pPr>
            <a:lvl2pPr algn="l" rtl="0" eaLnBrk="0" fontAlgn="base" hangingPunct="0">
              <a:spcBef>
                <a:spcPct val="0"/>
              </a:spcBef>
              <a:spcAft>
                <a:spcPct val="0"/>
              </a:spcAft>
              <a:defRPr sz="3600" b="1">
                <a:solidFill>
                  <a:srgbClr val="FF8D3E"/>
                </a:solidFill>
                <a:latin typeface="Verdana" pitchFamily="34" charset="0"/>
              </a:defRPr>
            </a:lvl2pPr>
            <a:lvl3pPr algn="l" rtl="0" eaLnBrk="0" fontAlgn="base" hangingPunct="0">
              <a:spcBef>
                <a:spcPct val="0"/>
              </a:spcBef>
              <a:spcAft>
                <a:spcPct val="0"/>
              </a:spcAft>
              <a:defRPr sz="3600" b="1">
                <a:solidFill>
                  <a:srgbClr val="FF8D3E"/>
                </a:solidFill>
                <a:latin typeface="Verdana" pitchFamily="34" charset="0"/>
              </a:defRPr>
            </a:lvl3pPr>
            <a:lvl4pPr algn="l" rtl="0" eaLnBrk="0" fontAlgn="base" hangingPunct="0">
              <a:spcBef>
                <a:spcPct val="0"/>
              </a:spcBef>
              <a:spcAft>
                <a:spcPct val="0"/>
              </a:spcAft>
              <a:defRPr sz="3600" b="1">
                <a:solidFill>
                  <a:srgbClr val="FF8D3E"/>
                </a:solidFill>
                <a:latin typeface="Verdana" pitchFamily="34" charset="0"/>
              </a:defRPr>
            </a:lvl4pPr>
            <a:lvl5pPr algn="l" rtl="0" eaLnBrk="0" fontAlgn="base" hangingPunct="0">
              <a:spcBef>
                <a:spcPct val="0"/>
              </a:spcBef>
              <a:spcAft>
                <a:spcPct val="0"/>
              </a:spcAft>
              <a:defRPr sz="3600" b="1">
                <a:solidFill>
                  <a:srgbClr val="FF8D3E"/>
                </a:solidFill>
                <a:latin typeface="Verdana" pitchFamily="34" charset="0"/>
              </a:defRPr>
            </a:lvl5pPr>
            <a:lvl6pPr marL="457200" algn="l" rtl="0" fontAlgn="base">
              <a:spcBef>
                <a:spcPct val="0"/>
              </a:spcBef>
              <a:spcAft>
                <a:spcPct val="0"/>
              </a:spcAft>
              <a:defRPr sz="3600" b="1">
                <a:solidFill>
                  <a:srgbClr val="FF8D3E"/>
                </a:solidFill>
                <a:latin typeface="Verdana" pitchFamily="34" charset="0"/>
              </a:defRPr>
            </a:lvl6pPr>
            <a:lvl7pPr marL="914400" algn="l" rtl="0" fontAlgn="base">
              <a:spcBef>
                <a:spcPct val="0"/>
              </a:spcBef>
              <a:spcAft>
                <a:spcPct val="0"/>
              </a:spcAft>
              <a:defRPr sz="3600" b="1">
                <a:solidFill>
                  <a:srgbClr val="FF8D3E"/>
                </a:solidFill>
                <a:latin typeface="Verdana" pitchFamily="34" charset="0"/>
              </a:defRPr>
            </a:lvl7pPr>
            <a:lvl8pPr marL="1371600" algn="l" rtl="0" fontAlgn="base">
              <a:spcBef>
                <a:spcPct val="0"/>
              </a:spcBef>
              <a:spcAft>
                <a:spcPct val="0"/>
              </a:spcAft>
              <a:defRPr sz="3600" b="1">
                <a:solidFill>
                  <a:srgbClr val="FF8D3E"/>
                </a:solidFill>
                <a:latin typeface="Verdana" pitchFamily="34" charset="0"/>
              </a:defRPr>
            </a:lvl8pPr>
            <a:lvl9pPr marL="1828800" algn="l" rtl="0" fontAlgn="base">
              <a:spcBef>
                <a:spcPct val="0"/>
              </a:spcBef>
              <a:spcAft>
                <a:spcPct val="0"/>
              </a:spcAft>
              <a:defRPr sz="3600" b="1">
                <a:solidFill>
                  <a:srgbClr val="FF8D3E"/>
                </a:solidFill>
                <a:latin typeface="Verdana" pitchFamily="34" charset="0"/>
              </a:defRPr>
            </a:lvl9pPr>
            <a:extLst/>
          </a:lstStyle>
          <a:p>
            <a:pPr algn="ctr" eaLnBrk="1" hangingPunct="1"/>
            <a:r>
              <a:rPr lang="en-US" altLang="nl-NL" dirty="0" err="1"/>
              <a:t>Onze</a:t>
            </a:r>
            <a:r>
              <a:rPr lang="en-US" altLang="nl-NL" dirty="0"/>
              <a:t> </a:t>
            </a:r>
            <a:r>
              <a:rPr lang="en-US" altLang="nl-NL" dirty="0" err="1"/>
              <a:t>Waarden</a:t>
            </a:r>
            <a:r>
              <a:rPr lang="en-US" altLang="nl-NL" dirty="0"/>
              <a:t> </a:t>
            </a:r>
            <a:r>
              <a:rPr lang="en-US" altLang="nl-NL" dirty="0" err="1"/>
              <a:t>perspectief</a:t>
            </a:r>
            <a:endParaRPr lang="en-US" altLang="nl-NL" dirty="0"/>
          </a:p>
        </p:txBody>
      </p:sp>
      <p:sp>
        <p:nvSpPr>
          <p:cNvPr id="5" name="Rectangle 3">
            <a:extLst>
              <a:ext uri="{FF2B5EF4-FFF2-40B4-BE49-F238E27FC236}">
                <a16:creationId xmlns:a16="http://schemas.microsoft.com/office/drawing/2014/main" id="{7A97D5CA-8679-4F7D-8779-E834F63B5A24}"/>
              </a:ext>
            </a:extLst>
          </p:cNvPr>
          <p:cNvSpPr txBox="1">
            <a:spLocks noChangeArrowheads="1"/>
          </p:cNvSpPr>
          <p:nvPr/>
        </p:nvSpPr>
        <p:spPr>
          <a:xfrm>
            <a:off x="457200" y="1600200"/>
            <a:ext cx="8229600" cy="4525963"/>
          </a:xfrm>
          <a:prstGeom prst="rect">
            <a:avLst/>
          </a:prstGeom>
        </p:spPr>
        <p:txBody>
          <a:bodyPr/>
          <a:lstStyle>
            <a:lvl1pPr marL="265113" indent="-265113" algn="l" rtl="0" eaLnBrk="0" fontAlgn="base" hangingPunct="0">
              <a:spcBef>
                <a:spcPts val="250"/>
              </a:spcBef>
              <a:spcAft>
                <a:spcPct val="0"/>
              </a:spcAft>
              <a:buClr>
                <a:schemeClr val="accent1"/>
              </a:buClr>
              <a:buSzPct val="80000"/>
              <a:buFont typeface="Wingdings 2" panose="05020102010507070707" pitchFamily="18" charset="2"/>
              <a:buChar char=""/>
              <a:defRPr sz="2800" kern="1200">
                <a:solidFill>
                  <a:schemeClr val="tx1"/>
                </a:solidFill>
                <a:latin typeface="+mn-lt"/>
                <a:ea typeface="+mn-ea"/>
                <a:cs typeface="+mn-cs"/>
              </a:defRPr>
            </a:lvl1pPr>
            <a:lvl2pPr marL="547688" indent="-200025" algn="l" rtl="0" eaLnBrk="0" fontAlgn="base" hangingPunct="0">
              <a:spcBef>
                <a:spcPts val="250"/>
              </a:spcBef>
              <a:spcAft>
                <a:spcPct val="0"/>
              </a:spcAft>
              <a:buClr>
                <a:schemeClr val="accent1"/>
              </a:buClr>
              <a:buSzPct val="100000"/>
              <a:buFont typeface="Verdana" panose="020B0604030504040204" pitchFamily="34" charset="0"/>
              <a:buChar char="◦"/>
              <a:defRPr sz="2400" kern="1200">
                <a:solidFill>
                  <a:schemeClr val="tx1"/>
                </a:solidFill>
                <a:latin typeface="+mn-lt"/>
                <a:ea typeface="+mn-ea"/>
                <a:cs typeface="+mn-cs"/>
              </a:defRPr>
            </a:lvl2pPr>
            <a:lvl3pPr marL="785813" indent="-182563" algn="l" rtl="0" eaLnBrk="0" fontAlgn="base" hangingPunct="0">
              <a:spcBef>
                <a:spcPts val="250"/>
              </a:spcBef>
              <a:spcAft>
                <a:spcPct val="0"/>
              </a:spcAft>
              <a:buClr>
                <a:srgbClr val="ED3742"/>
              </a:buClr>
              <a:buSzPct val="100000"/>
              <a:buFont typeface="Wingdings 2" panose="05020102010507070707" pitchFamily="18" charset="2"/>
              <a:buChar char=""/>
              <a:defRPr sz="2200" kern="1200">
                <a:solidFill>
                  <a:schemeClr val="tx1"/>
                </a:solidFill>
                <a:latin typeface="+mn-lt"/>
                <a:ea typeface="+mn-ea"/>
                <a:cs typeface="+mn-cs"/>
              </a:defRPr>
            </a:lvl3pPr>
            <a:lvl4pPr marL="1023938" indent="-182563" algn="l" rtl="0" eaLnBrk="0" fontAlgn="base" hangingPunct="0">
              <a:spcBef>
                <a:spcPts val="225"/>
              </a:spcBef>
              <a:spcAft>
                <a:spcPct val="0"/>
              </a:spcAft>
              <a:buClr>
                <a:srgbClr val="ED3742"/>
              </a:buClr>
              <a:buSzPct val="112000"/>
              <a:buFont typeface="Verdana" panose="020B0604030504040204" pitchFamily="34" charset="0"/>
              <a:buChar char="◦"/>
              <a:defRPr sz="1900" kern="1200">
                <a:solidFill>
                  <a:schemeClr val="tx1"/>
                </a:solidFill>
                <a:latin typeface="+mn-lt"/>
                <a:ea typeface="+mn-ea"/>
                <a:cs typeface="+mn-cs"/>
              </a:defRPr>
            </a:lvl4pPr>
            <a:lvl5pPr marL="1279525" indent="-182563" algn="l" rtl="0" eaLnBrk="0" fontAlgn="base" hangingPunct="0">
              <a:spcBef>
                <a:spcPts val="250"/>
              </a:spcBef>
              <a:spcAft>
                <a:spcPct val="0"/>
              </a:spcAft>
              <a:buClr>
                <a:srgbClr val="4A85BF"/>
              </a:buClr>
              <a:buSzPct val="100000"/>
              <a:buFont typeface="Wingdings 2" panose="05020102010507070707" pitchFamily="18" charset="2"/>
              <a:buChar char=""/>
              <a:defRPr sz="20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a:lstStyle>
          <a:p>
            <a:pPr eaLnBrk="1" hangingPunct="1">
              <a:buFontTx/>
              <a:buNone/>
            </a:pPr>
            <a:r>
              <a:rPr lang="en-US" altLang="nl-NL"/>
              <a:t> </a:t>
            </a:r>
            <a:endParaRPr lang="en-US" altLang="nl-NL" dirty="0"/>
          </a:p>
        </p:txBody>
      </p:sp>
      <p:grpSp>
        <p:nvGrpSpPr>
          <p:cNvPr id="6" name="Group 4">
            <a:extLst>
              <a:ext uri="{FF2B5EF4-FFF2-40B4-BE49-F238E27FC236}">
                <a16:creationId xmlns:a16="http://schemas.microsoft.com/office/drawing/2014/main" id="{1BE9AF37-A6DE-4063-9E7F-45B21B9F5ABF}"/>
              </a:ext>
            </a:extLst>
          </p:cNvPr>
          <p:cNvGrpSpPr>
            <a:grpSpLocks/>
          </p:cNvGrpSpPr>
          <p:nvPr/>
        </p:nvGrpSpPr>
        <p:grpSpPr bwMode="auto">
          <a:xfrm>
            <a:off x="4431968" y="1528547"/>
            <a:ext cx="2154238" cy="4511675"/>
            <a:chOff x="2282" y="1126"/>
            <a:chExt cx="1357" cy="2842"/>
          </a:xfrm>
        </p:grpSpPr>
        <p:sp>
          <p:nvSpPr>
            <p:cNvPr id="7" name="Line 5">
              <a:extLst>
                <a:ext uri="{FF2B5EF4-FFF2-40B4-BE49-F238E27FC236}">
                  <a16:creationId xmlns:a16="http://schemas.microsoft.com/office/drawing/2014/main" id="{0C40428D-2AB2-4008-BFE5-ABC07996587B}"/>
                </a:ext>
              </a:extLst>
            </p:cNvPr>
            <p:cNvSpPr>
              <a:spLocks noChangeShapeType="1"/>
            </p:cNvSpPr>
            <p:nvPr/>
          </p:nvSpPr>
          <p:spPr bwMode="auto">
            <a:xfrm>
              <a:off x="2960" y="1630"/>
              <a:ext cx="1" cy="1800"/>
            </a:xfrm>
            <a:prstGeom prst="line">
              <a:avLst/>
            </a:prstGeom>
            <a:noFill/>
            <a:ln w="7620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nl-NL"/>
            </a:p>
          </p:txBody>
        </p:sp>
        <p:sp>
          <p:nvSpPr>
            <p:cNvPr id="8" name="Text Box 6">
              <a:extLst>
                <a:ext uri="{FF2B5EF4-FFF2-40B4-BE49-F238E27FC236}">
                  <a16:creationId xmlns:a16="http://schemas.microsoft.com/office/drawing/2014/main" id="{158A7E99-8A01-4CDB-9FF6-DFA897F4183E}"/>
                </a:ext>
              </a:extLst>
            </p:cNvPr>
            <p:cNvSpPr txBox="1">
              <a:spLocks noChangeArrowheads="1"/>
            </p:cNvSpPr>
            <p:nvPr/>
          </p:nvSpPr>
          <p:spPr bwMode="auto">
            <a:xfrm>
              <a:off x="2282" y="1126"/>
              <a:ext cx="1357" cy="504"/>
            </a:xfrm>
            <a:prstGeom prst="rect">
              <a:avLst/>
            </a:prstGeom>
            <a:solidFill>
              <a:srgbClr val="FF505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nl-NL" sz="2000" b="1" dirty="0" err="1">
                  <a:latin typeface="Garamond" panose="02020404030301010803" pitchFamily="18" charset="0"/>
                </a:rPr>
                <a:t>Gezamenlijke</a:t>
              </a:r>
              <a:r>
                <a:rPr lang="en-US" altLang="nl-NL" sz="2000" b="1" dirty="0">
                  <a:latin typeface="Garamond" panose="02020404030301010803" pitchFamily="18" charset="0"/>
                </a:rPr>
                <a:t> </a:t>
              </a:r>
              <a:r>
                <a:rPr lang="en-US" altLang="nl-NL" sz="2000" b="1" dirty="0" err="1">
                  <a:latin typeface="Garamond" panose="02020404030301010803" pitchFamily="18" charset="0"/>
                </a:rPr>
                <a:t>Doelen</a:t>
              </a:r>
              <a:endParaRPr lang="en-US" altLang="nl-NL" sz="2000" b="1" dirty="0">
                <a:latin typeface="Garamond" panose="02020404030301010803" pitchFamily="18" charset="0"/>
              </a:endParaRPr>
            </a:p>
          </p:txBody>
        </p:sp>
        <p:sp>
          <p:nvSpPr>
            <p:cNvPr id="9" name="Text Box 7">
              <a:extLst>
                <a:ext uri="{FF2B5EF4-FFF2-40B4-BE49-F238E27FC236}">
                  <a16:creationId xmlns:a16="http://schemas.microsoft.com/office/drawing/2014/main" id="{B0BFACAA-1A9E-468E-82E6-BD0AA8B05AAD}"/>
                </a:ext>
              </a:extLst>
            </p:cNvPr>
            <p:cNvSpPr txBox="1">
              <a:spLocks noChangeArrowheads="1"/>
            </p:cNvSpPr>
            <p:nvPr/>
          </p:nvSpPr>
          <p:spPr bwMode="auto">
            <a:xfrm>
              <a:off x="2475" y="3464"/>
              <a:ext cx="1008" cy="504"/>
            </a:xfrm>
            <a:prstGeom prst="rect">
              <a:avLst/>
            </a:prstGeom>
            <a:solidFill>
              <a:srgbClr val="FF505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nl-NL" sz="2000" b="1" dirty="0">
                  <a:latin typeface="Garamond" panose="02020404030301010803" pitchFamily="18" charset="0"/>
                </a:rPr>
                <a:t>Persoonlijke </a:t>
              </a:r>
              <a:r>
                <a:rPr lang="en-US" altLang="nl-NL" sz="2000" b="1" dirty="0" err="1">
                  <a:latin typeface="Garamond" panose="02020404030301010803" pitchFamily="18" charset="0"/>
                </a:rPr>
                <a:t>Doelen</a:t>
              </a:r>
              <a:endParaRPr lang="en-US" altLang="nl-NL" sz="2000" b="1" dirty="0">
                <a:latin typeface="Garamond" panose="02020404030301010803" pitchFamily="18" charset="0"/>
              </a:endParaRPr>
            </a:p>
          </p:txBody>
        </p:sp>
      </p:grpSp>
      <p:grpSp>
        <p:nvGrpSpPr>
          <p:cNvPr id="10" name="Group 8">
            <a:extLst>
              <a:ext uri="{FF2B5EF4-FFF2-40B4-BE49-F238E27FC236}">
                <a16:creationId xmlns:a16="http://schemas.microsoft.com/office/drawing/2014/main" id="{A225EB55-9228-4871-A724-3B761F218BBA}"/>
              </a:ext>
            </a:extLst>
          </p:cNvPr>
          <p:cNvGrpSpPr>
            <a:grpSpLocks/>
          </p:cNvGrpSpPr>
          <p:nvPr/>
        </p:nvGrpSpPr>
        <p:grpSpPr bwMode="auto">
          <a:xfrm>
            <a:off x="1763108" y="3460534"/>
            <a:ext cx="7759700" cy="809625"/>
            <a:chOff x="522" y="2352"/>
            <a:chExt cx="4888" cy="510"/>
          </a:xfrm>
        </p:grpSpPr>
        <p:sp>
          <p:nvSpPr>
            <p:cNvPr id="11" name="Line 9">
              <a:extLst>
                <a:ext uri="{FF2B5EF4-FFF2-40B4-BE49-F238E27FC236}">
                  <a16:creationId xmlns:a16="http://schemas.microsoft.com/office/drawing/2014/main" id="{738E32CA-874D-4C35-850F-6A7D9EAB9E17}"/>
                </a:ext>
              </a:extLst>
            </p:cNvPr>
            <p:cNvSpPr>
              <a:spLocks noChangeShapeType="1"/>
            </p:cNvSpPr>
            <p:nvPr/>
          </p:nvSpPr>
          <p:spPr bwMode="auto">
            <a:xfrm>
              <a:off x="1760" y="2547"/>
              <a:ext cx="2337" cy="18"/>
            </a:xfrm>
            <a:prstGeom prst="line">
              <a:avLst/>
            </a:prstGeom>
            <a:noFill/>
            <a:ln w="7620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nl-NL"/>
            </a:p>
          </p:txBody>
        </p:sp>
        <p:sp>
          <p:nvSpPr>
            <p:cNvPr id="12" name="Text Box 10">
              <a:extLst>
                <a:ext uri="{FF2B5EF4-FFF2-40B4-BE49-F238E27FC236}">
                  <a16:creationId xmlns:a16="http://schemas.microsoft.com/office/drawing/2014/main" id="{AB5909B8-E02F-4F30-8AF3-41FD0996CC69}"/>
                </a:ext>
              </a:extLst>
            </p:cNvPr>
            <p:cNvSpPr txBox="1">
              <a:spLocks noChangeArrowheads="1"/>
            </p:cNvSpPr>
            <p:nvPr/>
          </p:nvSpPr>
          <p:spPr bwMode="auto">
            <a:xfrm>
              <a:off x="4248" y="2357"/>
              <a:ext cx="1162" cy="505"/>
            </a:xfrm>
            <a:prstGeom prst="rect">
              <a:avLst/>
            </a:prstGeom>
            <a:solidFill>
              <a:srgbClr val="FF505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nl-NL" sz="2000" b="1" dirty="0" err="1">
                  <a:latin typeface="Garamond" panose="02020404030301010803" pitchFamily="18" charset="0"/>
                </a:rPr>
                <a:t>Gezamenlijke</a:t>
              </a:r>
              <a:r>
                <a:rPr lang="en-US" altLang="nl-NL" sz="2000" b="1" dirty="0">
                  <a:latin typeface="Garamond" panose="02020404030301010803" pitchFamily="18" charset="0"/>
                </a:rPr>
                <a:t> </a:t>
              </a:r>
              <a:r>
                <a:rPr lang="en-US" altLang="nl-NL" sz="2000" b="1" dirty="0" err="1">
                  <a:latin typeface="Garamond" panose="02020404030301010803" pitchFamily="18" charset="0"/>
                </a:rPr>
                <a:t>Inzet</a:t>
              </a:r>
              <a:endParaRPr lang="en-US" altLang="nl-NL" sz="1800" dirty="0"/>
            </a:p>
          </p:txBody>
        </p:sp>
        <p:sp>
          <p:nvSpPr>
            <p:cNvPr id="13" name="Text Box 11">
              <a:extLst>
                <a:ext uri="{FF2B5EF4-FFF2-40B4-BE49-F238E27FC236}">
                  <a16:creationId xmlns:a16="http://schemas.microsoft.com/office/drawing/2014/main" id="{61A134E4-6BD7-4669-8609-C6F15370194A}"/>
                </a:ext>
              </a:extLst>
            </p:cNvPr>
            <p:cNvSpPr txBox="1">
              <a:spLocks noChangeArrowheads="1"/>
            </p:cNvSpPr>
            <p:nvPr/>
          </p:nvSpPr>
          <p:spPr bwMode="auto">
            <a:xfrm>
              <a:off x="522" y="2352"/>
              <a:ext cx="1008" cy="504"/>
            </a:xfrm>
            <a:prstGeom prst="rect">
              <a:avLst/>
            </a:prstGeom>
            <a:solidFill>
              <a:srgbClr val="FF505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nl-NL" sz="2000" b="1" dirty="0">
                  <a:latin typeface="Garamond" panose="02020404030301010803" pitchFamily="18" charset="0"/>
                </a:rPr>
                <a:t>Persoonlijke </a:t>
              </a:r>
              <a:r>
                <a:rPr lang="en-US" altLang="nl-NL" sz="2000" b="1" dirty="0" err="1">
                  <a:latin typeface="Garamond" panose="02020404030301010803" pitchFamily="18" charset="0"/>
                </a:rPr>
                <a:t>Inzet</a:t>
              </a:r>
              <a:endParaRPr lang="en-US" altLang="nl-NL" sz="2000" b="1" dirty="0">
                <a:latin typeface="Garamond" panose="02020404030301010803" pitchFamily="18" charset="0"/>
              </a:endParaRPr>
            </a:p>
          </p:txBody>
        </p:sp>
      </p:grpSp>
    </p:spTree>
    <p:extLst>
      <p:ext uri="{BB962C8B-B14F-4D97-AF65-F5344CB8AC3E}">
        <p14:creationId xmlns:p14="http://schemas.microsoft.com/office/powerpoint/2010/main" val="2912297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000" fill="hold"/>
                                        <p:tgtEl>
                                          <p:spTgt spid="6"/>
                                        </p:tgtEl>
                                        <p:attrNameLst>
                                          <p:attrName>ppt_x</p:attrName>
                                        </p:attrNameLst>
                                      </p:cBhvr>
                                      <p:tavLst>
                                        <p:tav tm="0">
                                          <p:val>
                                            <p:strVal val="#ppt_x"/>
                                          </p:val>
                                        </p:tav>
                                        <p:tav tm="100000">
                                          <p:val>
                                            <p:strVal val="#ppt_x"/>
                                          </p:val>
                                        </p:tav>
                                      </p:tavLst>
                                    </p:anim>
                                    <p:anim calcmode="lin" valueType="num">
                                      <p:cBhvr additive="base">
                                        <p:cTn id="8" dur="20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7" presetClass="entr" presetSubtype="8"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2000" fill="hold"/>
                                        <p:tgtEl>
                                          <p:spTgt spid="10"/>
                                        </p:tgtEl>
                                        <p:attrNameLst>
                                          <p:attrName>ppt_x</p:attrName>
                                        </p:attrNameLst>
                                      </p:cBhvr>
                                      <p:tavLst>
                                        <p:tav tm="0">
                                          <p:val>
                                            <p:strVal val="0-#ppt_w/2"/>
                                          </p:val>
                                        </p:tav>
                                        <p:tav tm="100000">
                                          <p:val>
                                            <p:strVal val="#ppt_x"/>
                                          </p:val>
                                        </p:tav>
                                      </p:tavLst>
                                    </p:anim>
                                    <p:anim calcmode="lin" valueType="num">
                                      <p:cBhvr additive="base">
                                        <p:cTn id="14" dur="20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043DA6A-7F6A-4FA8-B229-A62CB27AB1E2}"/>
              </a:ext>
            </a:extLst>
          </p:cNvPr>
          <p:cNvSpPr txBox="1">
            <a:spLocks noChangeArrowheads="1"/>
          </p:cNvSpPr>
          <p:nvPr/>
        </p:nvSpPr>
        <p:spPr>
          <a:xfrm>
            <a:off x="609600" y="274638"/>
            <a:ext cx="10972800" cy="1143000"/>
          </a:xfrm>
          <a:prstGeom prst="rect">
            <a:avLst/>
          </a:prstGeom>
        </p:spPr>
        <p:txBody>
          <a:bodyPr/>
          <a:lstStyle>
            <a:lvl1pPr algn="l" rtl="0" eaLnBrk="0" fontAlgn="base" hangingPunct="0">
              <a:spcBef>
                <a:spcPct val="0"/>
              </a:spcBef>
              <a:spcAft>
                <a:spcPct val="0"/>
              </a:spcAft>
              <a:defRPr sz="3600" b="1" kern="1200">
                <a:solidFill>
                  <a:srgbClr val="FF8D3E"/>
                </a:solidFill>
                <a:effectLst>
                  <a:outerShdw blurRad="53975" dist="22860" dir="5400000" algn="tl" rotWithShape="0">
                    <a:srgbClr val="000000">
                      <a:alpha val="55000"/>
                    </a:srgbClr>
                  </a:outerShdw>
                </a:effectLst>
                <a:latin typeface="+mj-lt"/>
                <a:ea typeface="+mj-ea"/>
                <a:cs typeface="+mj-cs"/>
              </a:defRPr>
            </a:lvl1pPr>
            <a:lvl2pPr algn="l" rtl="0" eaLnBrk="0" fontAlgn="base" hangingPunct="0">
              <a:spcBef>
                <a:spcPct val="0"/>
              </a:spcBef>
              <a:spcAft>
                <a:spcPct val="0"/>
              </a:spcAft>
              <a:defRPr sz="3600" b="1">
                <a:solidFill>
                  <a:srgbClr val="FF8D3E"/>
                </a:solidFill>
                <a:latin typeface="Verdana" pitchFamily="34" charset="0"/>
              </a:defRPr>
            </a:lvl2pPr>
            <a:lvl3pPr algn="l" rtl="0" eaLnBrk="0" fontAlgn="base" hangingPunct="0">
              <a:spcBef>
                <a:spcPct val="0"/>
              </a:spcBef>
              <a:spcAft>
                <a:spcPct val="0"/>
              </a:spcAft>
              <a:defRPr sz="3600" b="1">
                <a:solidFill>
                  <a:srgbClr val="FF8D3E"/>
                </a:solidFill>
                <a:latin typeface="Verdana" pitchFamily="34" charset="0"/>
              </a:defRPr>
            </a:lvl3pPr>
            <a:lvl4pPr algn="l" rtl="0" eaLnBrk="0" fontAlgn="base" hangingPunct="0">
              <a:spcBef>
                <a:spcPct val="0"/>
              </a:spcBef>
              <a:spcAft>
                <a:spcPct val="0"/>
              </a:spcAft>
              <a:defRPr sz="3600" b="1">
                <a:solidFill>
                  <a:srgbClr val="FF8D3E"/>
                </a:solidFill>
                <a:latin typeface="Verdana" pitchFamily="34" charset="0"/>
              </a:defRPr>
            </a:lvl4pPr>
            <a:lvl5pPr algn="l" rtl="0" eaLnBrk="0" fontAlgn="base" hangingPunct="0">
              <a:spcBef>
                <a:spcPct val="0"/>
              </a:spcBef>
              <a:spcAft>
                <a:spcPct val="0"/>
              </a:spcAft>
              <a:defRPr sz="3600" b="1">
                <a:solidFill>
                  <a:srgbClr val="FF8D3E"/>
                </a:solidFill>
                <a:latin typeface="Verdana" pitchFamily="34" charset="0"/>
              </a:defRPr>
            </a:lvl5pPr>
            <a:lvl6pPr marL="457200" algn="l" rtl="0" fontAlgn="base">
              <a:spcBef>
                <a:spcPct val="0"/>
              </a:spcBef>
              <a:spcAft>
                <a:spcPct val="0"/>
              </a:spcAft>
              <a:defRPr sz="3600" b="1">
                <a:solidFill>
                  <a:srgbClr val="FF8D3E"/>
                </a:solidFill>
                <a:latin typeface="Verdana" pitchFamily="34" charset="0"/>
              </a:defRPr>
            </a:lvl6pPr>
            <a:lvl7pPr marL="914400" algn="l" rtl="0" fontAlgn="base">
              <a:spcBef>
                <a:spcPct val="0"/>
              </a:spcBef>
              <a:spcAft>
                <a:spcPct val="0"/>
              </a:spcAft>
              <a:defRPr sz="3600" b="1">
                <a:solidFill>
                  <a:srgbClr val="FF8D3E"/>
                </a:solidFill>
                <a:latin typeface="Verdana" pitchFamily="34" charset="0"/>
              </a:defRPr>
            </a:lvl7pPr>
            <a:lvl8pPr marL="1371600" algn="l" rtl="0" fontAlgn="base">
              <a:spcBef>
                <a:spcPct val="0"/>
              </a:spcBef>
              <a:spcAft>
                <a:spcPct val="0"/>
              </a:spcAft>
              <a:defRPr sz="3600" b="1">
                <a:solidFill>
                  <a:srgbClr val="FF8D3E"/>
                </a:solidFill>
                <a:latin typeface="Verdana" pitchFamily="34" charset="0"/>
              </a:defRPr>
            </a:lvl8pPr>
            <a:lvl9pPr marL="1828800" algn="l" rtl="0" fontAlgn="base">
              <a:spcBef>
                <a:spcPct val="0"/>
              </a:spcBef>
              <a:spcAft>
                <a:spcPct val="0"/>
              </a:spcAft>
              <a:defRPr sz="3600" b="1">
                <a:solidFill>
                  <a:srgbClr val="FF8D3E"/>
                </a:solidFill>
                <a:latin typeface="Verdana" pitchFamily="34" charset="0"/>
              </a:defRPr>
            </a:lvl9pPr>
            <a:extLst/>
          </a:lstStyle>
          <a:p>
            <a:pPr algn="ctr" eaLnBrk="1" hangingPunct="1"/>
            <a:r>
              <a:rPr lang="en-US" altLang="nl-NL" dirty="0" err="1"/>
              <a:t>Onze</a:t>
            </a:r>
            <a:r>
              <a:rPr lang="en-US" altLang="nl-NL" dirty="0"/>
              <a:t> Persoonlijke </a:t>
            </a:r>
            <a:r>
              <a:rPr lang="en-US" altLang="nl-NL" dirty="0" err="1"/>
              <a:t>Waarden</a:t>
            </a:r>
            <a:endParaRPr lang="en-US" altLang="nl-NL" dirty="0"/>
          </a:p>
        </p:txBody>
      </p:sp>
      <p:sp>
        <p:nvSpPr>
          <p:cNvPr id="5" name="Rectangle 3">
            <a:extLst>
              <a:ext uri="{FF2B5EF4-FFF2-40B4-BE49-F238E27FC236}">
                <a16:creationId xmlns:a16="http://schemas.microsoft.com/office/drawing/2014/main" id="{E6242069-8688-4DA5-A77F-5D54C11E0FB8}"/>
              </a:ext>
            </a:extLst>
          </p:cNvPr>
          <p:cNvSpPr txBox="1">
            <a:spLocks noChangeArrowheads="1"/>
          </p:cNvSpPr>
          <p:nvPr/>
        </p:nvSpPr>
        <p:spPr>
          <a:xfrm>
            <a:off x="1960167" y="3434203"/>
            <a:ext cx="4038600" cy="2740049"/>
          </a:xfrm>
          <a:prstGeom prst="rect">
            <a:avLst/>
          </a:prstGeom>
        </p:spPr>
        <p:txBody>
          <a:bodyPr/>
          <a:lstStyle>
            <a:lvl1pPr marL="265113" indent="-265113" algn="l" rtl="0" eaLnBrk="0" fontAlgn="base" hangingPunct="0">
              <a:spcBef>
                <a:spcPts val="250"/>
              </a:spcBef>
              <a:spcAft>
                <a:spcPct val="0"/>
              </a:spcAft>
              <a:buClr>
                <a:schemeClr val="accent1"/>
              </a:buClr>
              <a:buSzPct val="80000"/>
              <a:buFont typeface="Wingdings 2" panose="05020102010507070707" pitchFamily="18" charset="2"/>
              <a:buChar char=""/>
              <a:defRPr sz="2800" kern="1200">
                <a:solidFill>
                  <a:schemeClr val="tx1"/>
                </a:solidFill>
                <a:latin typeface="+mn-lt"/>
                <a:ea typeface="+mn-ea"/>
                <a:cs typeface="+mn-cs"/>
              </a:defRPr>
            </a:lvl1pPr>
            <a:lvl2pPr marL="547688" indent="-200025" algn="l" rtl="0" eaLnBrk="0" fontAlgn="base" hangingPunct="0">
              <a:spcBef>
                <a:spcPts val="250"/>
              </a:spcBef>
              <a:spcAft>
                <a:spcPct val="0"/>
              </a:spcAft>
              <a:buClr>
                <a:schemeClr val="accent1"/>
              </a:buClr>
              <a:buSzPct val="100000"/>
              <a:buFont typeface="Verdana" panose="020B0604030504040204" pitchFamily="34" charset="0"/>
              <a:buChar char="◦"/>
              <a:defRPr sz="2400" kern="1200">
                <a:solidFill>
                  <a:schemeClr val="tx1"/>
                </a:solidFill>
                <a:latin typeface="+mn-lt"/>
                <a:ea typeface="+mn-ea"/>
                <a:cs typeface="+mn-cs"/>
              </a:defRPr>
            </a:lvl2pPr>
            <a:lvl3pPr marL="785813" indent="-182563" algn="l" rtl="0" eaLnBrk="0" fontAlgn="base" hangingPunct="0">
              <a:spcBef>
                <a:spcPts val="250"/>
              </a:spcBef>
              <a:spcAft>
                <a:spcPct val="0"/>
              </a:spcAft>
              <a:buClr>
                <a:srgbClr val="ED3742"/>
              </a:buClr>
              <a:buSzPct val="100000"/>
              <a:buFont typeface="Wingdings 2" panose="05020102010507070707" pitchFamily="18" charset="2"/>
              <a:buChar char=""/>
              <a:defRPr sz="2200" kern="1200">
                <a:solidFill>
                  <a:schemeClr val="tx1"/>
                </a:solidFill>
                <a:latin typeface="+mn-lt"/>
                <a:ea typeface="+mn-ea"/>
                <a:cs typeface="+mn-cs"/>
              </a:defRPr>
            </a:lvl3pPr>
            <a:lvl4pPr marL="1023938" indent="-182563" algn="l" rtl="0" eaLnBrk="0" fontAlgn="base" hangingPunct="0">
              <a:spcBef>
                <a:spcPts val="225"/>
              </a:spcBef>
              <a:spcAft>
                <a:spcPct val="0"/>
              </a:spcAft>
              <a:buClr>
                <a:srgbClr val="ED3742"/>
              </a:buClr>
              <a:buSzPct val="112000"/>
              <a:buFont typeface="Verdana" panose="020B0604030504040204" pitchFamily="34" charset="0"/>
              <a:buChar char="◦"/>
              <a:defRPr sz="1900" kern="1200">
                <a:solidFill>
                  <a:schemeClr val="tx1"/>
                </a:solidFill>
                <a:latin typeface="+mn-lt"/>
                <a:ea typeface="+mn-ea"/>
                <a:cs typeface="+mn-cs"/>
              </a:defRPr>
            </a:lvl4pPr>
            <a:lvl5pPr marL="1279525" indent="-182563" algn="l" rtl="0" eaLnBrk="0" fontAlgn="base" hangingPunct="0">
              <a:spcBef>
                <a:spcPts val="250"/>
              </a:spcBef>
              <a:spcAft>
                <a:spcPct val="0"/>
              </a:spcAft>
              <a:buClr>
                <a:srgbClr val="4A85BF"/>
              </a:buClr>
              <a:buSzPct val="100000"/>
              <a:buFont typeface="Wingdings 2" panose="05020102010507070707" pitchFamily="18" charset="2"/>
              <a:buChar char=""/>
              <a:defRPr sz="20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a:lstStyle>
          <a:p>
            <a:pPr eaLnBrk="1" hangingPunct="1">
              <a:buFontTx/>
              <a:buNone/>
            </a:pPr>
            <a:r>
              <a:rPr lang="en-US" altLang="nl-NL" sz="1800" b="1" dirty="0"/>
              <a:t>PERSOONLIJKE </a:t>
            </a:r>
            <a:r>
              <a:rPr lang="en-US" altLang="nl-NL" sz="1800" b="1" dirty="0" err="1"/>
              <a:t>inzet</a:t>
            </a:r>
            <a:endParaRPr lang="en-US" altLang="nl-NL" sz="1800" b="1" dirty="0"/>
          </a:p>
          <a:p>
            <a:pPr eaLnBrk="1" hangingPunct="1">
              <a:lnSpc>
                <a:spcPct val="80000"/>
              </a:lnSpc>
            </a:pPr>
            <a:r>
              <a:rPr lang="nl-NL" altLang="nl-NL" sz="1800" dirty="0"/>
              <a:t>Ambitie</a:t>
            </a:r>
          </a:p>
          <a:p>
            <a:pPr eaLnBrk="1" hangingPunct="1">
              <a:lnSpc>
                <a:spcPct val="80000"/>
              </a:lnSpc>
            </a:pPr>
            <a:r>
              <a:rPr lang="nl-NL" altLang="nl-NL" sz="1800" dirty="0"/>
              <a:t>Bekwaam</a:t>
            </a:r>
          </a:p>
          <a:p>
            <a:pPr eaLnBrk="1" hangingPunct="1">
              <a:lnSpc>
                <a:spcPct val="80000"/>
              </a:lnSpc>
            </a:pPr>
            <a:r>
              <a:rPr lang="nl-NL" altLang="nl-NL" sz="1800" dirty="0"/>
              <a:t>Inventief</a:t>
            </a:r>
          </a:p>
          <a:p>
            <a:pPr eaLnBrk="1" hangingPunct="1">
              <a:lnSpc>
                <a:spcPct val="80000"/>
              </a:lnSpc>
            </a:pPr>
            <a:r>
              <a:rPr lang="nl-NL" altLang="nl-NL" sz="1800" dirty="0"/>
              <a:t>Onafhankelijk</a:t>
            </a:r>
          </a:p>
          <a:p>
            <a:pPr eaLnBrk="1" hangingPunct="1">
              <a:lnSpc>
                <a:spcPct val="80000"/>
              </a:lnSpc>
            </a:pPr>
            <a:r>
              <a:rPr lang="nl-NL" altLang="nl-NL" sz="1800" dirty="0"/>
              <a:t>Rationeel</a:t>
            </a:r>
          </a:p>
          <a:p>
            <a:pPr eaLnBrk="1" hangingPunct="1">
              <a:lnSpc>
                <a:spcPct val="80000"/>
              </a:lnSpc>
            </a:pPr>
            <a:r>
              <a:rPr lang="nl-NL" altLang="nl-NL" sz="1800" dirty="0"/>
              <a:t>Intellectueel</a:t>
            </a:r>
          </a:p>
          <a:p>
            <a:pPr eaLnBrk="1" hangingPunct="1">
              <a:lnSpc>
                <a:spcPct val="80000"/>
              </a:lnSpc>
            </a:pPr>
            <a:r>
              <a:rPr lang="nl-NL" altLang="nl-NL" sz="1800" dirty="0"/>
              <a:t>Ruimdenkend</a:t>
            </a:r>
            <a:endParaRPr lang="en-US" altLang="nl-NL" sz="1800" dirty="0"/>
          </a:p>
        </p:txBody>
      </p:sp>
      <p:sp>
        <p:nvSpPr>
          <p:cNvPr id="6" name="Rectangle 4">
            <a:extLst>
              <a:ext uri="{FF2B5EF4-FFF2-40B4-BE49-F238E27FC236}">
                <a16:creationId xmlns:a16="http://schemas.microsoft.com/office/drawing/2014/main" id="{DB88F848-0D51-4B84-BED3-652263DE7007}"/>
              </a:ext>
            </a:extLst>
          </p:cNvPr>
          <p:cNvSpPr txBox="1">
            <a:spLocks noChangeArrowheads="1"/>
          </p:cNvSpPr>
          <p:nvPr/>
        </p:nvSpPr>
        <p:spPr>
          <a:xfrm>
            <a:off x="6151167" y="3434203"/>
            <a:ext cx="4038600" cy="2740049"/>
          </a:xfrm>
          <a:prstGeom prst="rect">
            <a:avLst/>
          </a:prstGeom>
        </p:spPr>
        <p:txBody>
          <a:bodyPr/>
          <a:lstStyle>
            <a:lvl1pPr marL="265113" indent="-265113" algn="l" rtl="0" eaLnBrk="0" fontAlgn="base" hangingPunct="0">
              <a:spcBef>
                <a:spcPts val="250"/>
              </a:spcBef>
              <a:spcAft>
                <a:spcPct val="0"/>
              </a:spcAft>
              <a:buClr>
                <a:schemeClr val="accent1"/>
              </a:buClr>
              <a:buSzPct val="80000"/>
              <a:buFont typeface="Wingdings 2" panose="05020102010507070707" pitchFamily="18" charset="2"/>
              <a:buChar char=""/>
              <a:defRPr sz="2800" kern="1200">
                <a:solidFill>
                  <a:schemeClr val="tx1"/>
                </a:solidFill>
                <a:latin typeface="+mn-lt"/>
                <a:ea typeface="+mn-ea"/>
                <a:cs typeface="+mn-cs"/>
              </a:defRPr>
            </a:lvl1pPr>
            <a:lvl2pPr marL="547688" indent="-200025" algn="l" rtl="0" eaLnBrk="0" fontAlgn="base" hangingPunct="0">
              <a:spcBef>
                <a:spcPts val="250"/>
              </a:spcBef>
              <a:spcAft>
                <a:spcPct val="0"/>
              </a:spcAft>
              <a:buClr>
                <a:schemeClr val="accent1"/>
              </a:buClr>
              <a:buSzPct val="100000"/>
              <a:buFont typeface="Verdana" panose="020B0604030504040204" pitchFamily="34" charset="0"/>
              <a:buChar char="◦"/>
              <a:defRPr sz="2400" kern="1200">
                <a:solidFill>
                  <a:schemeClr val="tx1"/>
                </a:solidFill>
                <a:latin typeface="+mn-lt"/>
                <a:ea typeface="+mn-ea"/>
                <a:cs typeface="+mn-cs"/>
              </a:defRPr>
            </a:lvl2pPr>
            <a:lvl3pPr marL="785813" indent="-182563" algn="l" rtl="0" eaLnBrk="0" fontAlgn="base" hangingPunct="0">
              <a:spcBef>
                <a:spcPts val="250"/>
              </a:spcBef>
              <a:spcAft>
                <a:spcPct val="0"/>
              </a:spcAft>
              <a:buClr>
                <a:srgbClr val="ED3742"/>
              </a:buClr>
              <a:buSzPct val="100000"/>
              <a:buFont typeface="Wingdings 2" panose="05020102010507070707" pitchFamily="18" charset="2"/>
              <a:buChar char=""/>
              <a:defRPr sz="2200" kern="1200">
                <a:solidFill>
                  <a:schemeClr val="tx1"/>
                </a:solidFill>
                <a:latin typeface="+mn-lt"/>
                <a:ea typeface="+mn-ea"/>
                <a:cs typeface="+mn-cs"/>
              </a:defRPr>
            </a:lvl3pPr>
            <a:lvl4pPr marL="1023938" indent="-182563" algn="l" rtl="0" eaLnBrk="0" fontAlgn="base" hangingPunct="0">
              <a:spcBef>
                <a:spcPts val="225"/>
              </a:spcBef>
              <a:spcAft>
                <a:spcPct val="0"/>
              </a:spcAft>
              <a:buClr>
                <a:srgbClr val="ED3742"/>
              </a:buClr>
              <a:buSzPct val="112000"/>
              <a:buFont typeface="Verdana" panose="020B0604030504040204" pitchFamily="34" charset="0"/>
              <a:buChar char="◦"/>
              <a:defRPr sz="1900" kern="1200">
                <a:solidFill>
                  <a:schemeClr val="tx1"/>
                </a:solidFill>
                <a:latin typeface="+mn-lt"/>
                <a:ea typeface="+mn-ea"/>
                <a:cs typeface="+mn-cs"/>
              </a:defRPr>
            </a:lvl4pPr>
            <a:lvl5pPr marL="1279525" indent="-182563" algn="l" rtl="0" eaLnBrk="0" fontAlgn="base" hangingPunct="0">
              <a:spcBef>
                <a:spcPts val="250"/>
              </a:spcBef>
              <a:spcAft>
                <a:spcPct val="0"/>
              </a:spcAft>
              <a:buClr>
                <a:srgbClr val="4A85BF"/>
              </a:buClr>
              <a:buSzPct val="100000"/>
              <a:buFont typeface="Wingdings 2" panose="05020102010507070707" pitchFamily="18" charset="2"/>
              <a:buChar char=""/>
              <a:defRPr sz="20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a:lstStyle>
          <a:p>
            <a:pPr eaLnBrk="1" hangingPunct="1">
              <a:buFontTx/>
              <a:buNone/>
            </a:pPr>
            <a:r>
              <a:rPr lang="en-US" altLang="nl-NL" sz="1800" b="1" dirty="0"/>
              <a:t>GEZAMENLIJKE </a:t>
            </a:r>
            <a:r>
              <a:rPr lang="en-US" altLang="nl-NL" sz="1800" b="1" dirty="0" err="1"/>
              <a:t>inzet</a:t>
            </a:r>
            <a:endParaRPr lang="en-US" altLang="nl-NL" sz="1800" b="1" dirty="0"/>
          </a:p>
          <a:p>
            <a:pPr eaLnBrk="1" hangingPunct="1">
              <a:lnSpc>
                <a:spcPct val="80000"/>
              </a:lnSpc>
            </a:pPr>
            <a:r>
              <a:rPr lang="nl-NL" altLang="nl-NL" sz="1800" dirty="0"/>
              <a:t>Eerlijk</a:t>
            </a:r>
          </a:p>
          <a:p>
            <a:pPr eaLnBrk="1" hangingPunct="1">
              <a:lnSpc>
                <a:spcPct val="80000"/>
              </a:lnSpc>
            </a:pPr>
            <a:r>
              <a:rPr lang="nl-NL" altLang="nl-NL" sz="1800" dirty="0"/>
              <a:t>Moedig</a:t>
            </a:r>
          </a:p>
          <a:p>
            <a:pPr eaLnBrk="1" hangingPunct="1">
              <a:lnSpc>
                <a:spcPct val="80000"/>
              </a:lnSpc>
            </a:pPr>
            <a:r>
              <a:rPr lang="nl-NL" altLang="nl-NL" sz="1800" dirty="0"/>
              <a:t>Behulpzaam</a:t>
            </a:r>
          </a:p>
          <a:p>
            <a:pPr eaLnBrk="1" hangingPunct="1">
              <a:lnSpc>
                <a:spcPct val="80000"/>
              </a:lnSpc>
            </a:pPr>
            <a:r>
              <a:rPr lang="nl-NL" altLang="nl-NL" sz="1800" dirty="0"/>
              <a:t>Vergevensgezind</a:t>
            </a:r>
          </a:p>
          <a:p>
            <a:pPr eaLnBrk="1" hangingPunct="1">
              <a:lnSpc>
                <a:spcPct val="80000"/>
              </a:lnSpc>
            </a:pPr>
            <a:r>
              <a:rPr lang="nl-NL" altLang="nl-NL" sz="1800" dirty="0"/>
              <a:t>Opgewekt</a:t>
            </a:r>
          </a:p>
          <a:p>
            <a:pPr eaLnBrk="1" hangingPunct="1">
              <a:lnSpc>
                <a:spcPct val="80000"/>
              </a:lnSpc>
            </a:pPr>
            <a:r>
              <a:rPr lang="nl-NL" altLang="nl-NL" sz="1800" dirty="0"/>
              <a:t>Beleefd</a:t>
            </a:r>
          </a:p>
          <a:p>
            <a:pPr eaLnBrk="1" hangingPunct="1">
              <a:lnSpc>
                <a:spcPct val="80000"/>
              </a:lnSpc>
            </a:pPr>
            <a:r>
              <a:rPr lang="nl-NL" altLang="nl-NL" sz="1800" dirty="0"/>
              <a:t>Liefdevol</a:t>
            </a:r>
            <a:endParaRPr lang="en-US" altLang="nl-NL" sz="1800" dirty="0"/>
          </a:p>
        </p:txBody>
      </p:sp>
      <p:sp>
        <p:nvSpPr>
          <p:cNvPr id="7" name="Rectangle 5">
            <a:extLst>
              <a:ext uri="{FF2B5EF4-FFF2-40B4-BE49-F238E27FC236}">
                <a16:creationId xmlns:a16="http://schemas.microsoft.com/office/drawing/2014/main" id="{6BFEFEB9-4A37-40AA-AB93-5FA3BBF7A325}"/>
              </a:ext>
            </a:extLst>
          </p:cNvPr>
          <p:cNvSpPr txBox="1">
            <a:spLocks noChangeArrowheads="1"/>
          </p:cNvSpPr>
          <p:nvPr/>
        </p:nvSpPr>
        <p:spPr>
          <a:xfrm>
            <a:off x="6074967" y="1090643"/>
            <a:ext cx="4038600" cy="2187575"/>
          </a:xfrm>
          <a:prstGeom prst="rect">
            <a:avLst/>
          </a:prstGeom>
        </p:spPr>
        <p:txBody>
          <a:bodyPr/>
          <a:lstStyle>
            <a:lvl1pPr marL="265113" indent="-265113" algn="l" rtl="0" eaLnBrk="0" fontAlgn="base" hangingPunct="0">
              <a:spcBef>
                <a:spcPts val="250"/>
              </a:spcBef>
              <a:spcAft>
                <a:spcPct val="0"/>
              </a:spcAft>
              <a:buClr>
                <a:schemeClr val="accent1"/>
              </a:buClr>
              <a:buSzPct val="80000"/>
              <a:buFont typeface="Wingdings 2" panose="05020102010507070707" pitchFamily="18" charset="2"/>
              <a:buChar char=""/>
              <a:defRPr sz="2800" kern="1200">
                <a:solidFill>
                  <a:schemeClr val="tx1"/>
                </a:solidFill>
                <a:latin typeface="+mn-lt"/>
                <a:ea typeface="+mn-ea"/>
                <a:cs typeface="+mn-cs"/>
              </a:defRPr>
            </a:lvl1pPr>
            <a:lvl2pPr marL="547688" indent="-200025" algn="l" rtl="0" eaLnBrk="0" fontAlgn="base" hangingPunct="0">
              <a:spcBef>
                <a:spcPts val="250"/>
              </a:spcBef>
              <a:spcAft>
                <a:spcPct val="0"/>
              </a:spcAft>
              <a:buClr>
                <a:schemeClr val="accent1"/>
              </a:buClr>
              <a:buSzPct val="100000"/>
              <a:buFont typeface="Verdana" panose="020B0604030504040204" pitchFamily="34" charset="0"/>
              <a:buChar char="◦"/>
              <a:defRPr sz="2400" kern="1200">
                <a:solidFill>
                  <a:schemeClr val="tx1"/>
                </a:solidFill>
                <a:latin typeface="+mn-lt"/>
                <a:ea typeface="+mn-ea"/>
                <a:cs typeface="+mn-cs"/>
              </a:defRPr>
            </a:lvl2pPr>
            <a:lvl3pPr marL="785813" indent="-182563" algn="l" rtl="0" eaLnBrk="0" fontAlgn="base" hangingPunct="0">
              <a:spcBef>
                <a:spcPts val="250"/>
              </a:spcBef>
              <a:spcAft>
                <a:spcPct val="0"/>
              </a:spcAft>
              <a:buClr>
                <a:srgbClr val="ED3742"/>
              </a:buClr>
              <a:buSzPct val="100000"/>
              <a:buFont typeface="Wingdings 2" panose="05020102010507070707" pitchFamily="18" charset="2"/>
              <a:buChar char=""/>
              <a:defRPr sz="2200" kern="1200">
                <a:solidFill>
                  <a:schemeClr val="tx1"/>
                </a:solidFill>
                <a:latin typeface="+mn-lt"/>
                <a:ea typeface="+mn-ea"/>
                <a:cs typeface="+mn-cs"/>
              </a:defRPr>
            </a:lvl3pPr>
            <a:lvl4pPr marL="1023938" indent="-182563" algn="l" rtl="0" eaLnBrk="0" fontAlgn="base" hangingPunct="0">
              <a:spcBef>
                <a:spcPts val="225"/>
              </a:spcBef>
              <a:spcAft>
                <a:spcPct val="0"/>
              </a:spcAft>
              <a:buClr>
                <a:srgbClr val="ED3742"/>
              </a:buClr>
              <a:buSzPct val="112000"/>
              <a:buFont typeface="Verdana" panose="020B0604030504040204" pitchFamily="34" charset="0"/>
              <a:buChar char="◦"/>
              <a:defRPr sz="1900" kern="1200">
                <a:solidFill>
                  <a:schemeClr val="tx1"/>
                </a:solidFill>
                <a:latin typeface="+mn-lt"/>
                <a:ea typeface="+mn-ea"/>
                <a:cs typeface="+mn-cs"/>
              </a:defRPr>
            </a:lvl4pPr>
            <a:lvl5pPr marL="1279525" indent="-182563" algn="l" rtl="0" eaLnBrk="0" fontAlgn="base" hangingPunct="0">
              <a:spcBef>
                <a:spcPts val="250"/>
              </a:spcBef>
              <a:spcAft>
                <a:spcPct val="0"/>
              </a:spcAft>
              <a:buClr>
                <a:srgbClr val="4A85BF"/>
              </a:buClr>
              <a:buSzPct val="100000"/>
              <a:buFont typeface="Wingdings 2" panose="05020102010507070707" pitchFamily="18" charset="2"/>
              <a:buChar char=""/>
              <a:defRPr sz="20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a:lstStyle>
          <a:p>
            <a:pPr eaLnBrk="1" hangingPunct="1">
              <a:buFontTx/>
              <a:buNone/>
            </a:pPr>
            <a:r>
              <a:rPr lang="en-US" altLang="nl-NL" sz="1800" b="1" dirty="0"/>
              <a:t>GEZAMENLIJKE </a:t>
            </a:r>
            <a:r>
              <a:rPr lang="en-US" altLang="nl-NL" sz="1800" b="1" dirty="0" err="1"/>
              <a:t>inzet</a:t>
            </a:r>
            <a:endParaRPr lang="en-US" altLang="nl-NL" sz="1800" b="1" dirty="0"/>
          </a:p>
          <a:p>
            <a:pPr eaLnBrk="1" hangingPunct="1"/>
            <a:r>
              <a:rPr lang="nl-NL" altLang="nl-NL" sz="1800" dirty="0"/>
              <a:t>Wereldvrede</a:t>
            </a:r>
          </a:p>
          <a:p>
            <a:pPr eaLnBrk="1" hangingPunct="1"/>
            <a:r>
              <a:rPr lang="nl-NL" altLang="nl-NL" sz="1800" dirty="0"/>
              <a:t>Iedereen tevreden houden</a:t>
            </a:r>
            <a:endParaRPr lang="nl-NL" altLang="nl-NL" sz="1800" dirty="0">
              <a:highlight>
                <a:srgbClr val="FFFF00"/>
              </a:highlight>
            </a:endParaRPr>
          </a:p>
          <a:p>
            <a:pPr eaLnBrk="1" hangingPunct="1"/>
            <a:r>
              <a:rPr lang="nl-NL" altLang="nl-NL" sz="1800" dirty="0"/>
              <a:t>Familie welbevinden</a:t>
            </a:r>
            <a:endParaRPr lang="en-US" altLang="nl-NL" sz="1800" dirty="0"/>
          </a:p>
        </p:txBody>
      </p:sp>
      <p:sp>
        <p:nvSpPr>
          <p:cNvPr id="8" name="Rectangle 6">
            <a:extLst>
              <a:ext uri="{FF2B5EF4-FFF2-40B4-BE49-F238E27FC236}">
                <a16:creationId xmlns:a16="http://schemas.microsoft.com/office/drawing/2014/main" id="{28FE0301-2E2B-4C6E-A7F1-794319230E11}"/>
              </a:ext>
            </a:extLst>
          </p:cNvPr>
          <p:cNvSpPr txBox="1">
            <a:spLocks noChangeArrowheads="1"/>
          </p:cNvSpPr>
          <p:nvPr/>
        </p:nvSpPr>
        <p:spPr>
          <a:xfrm>
            <a:off x="1960167" y="1110102"/>
            <a:ext cx="4038600" cy="2187575"/>
          </a:xfrm>
          <a:prstGeom prst="rect">
            <a:avLst/>
          </a:prstGeom>
        </p:spPr>
        <p:txBody>
          <a:bodyPr/>
          <a:lstStyle>
            <a:lvl1pPr marL="265113" indent="-265113" algn="l" rtl="0" eaLnBrk="0" fontAlgn="base" hangingPunct="0">
              <a:spcBef>
                <a:spcPts val="250"/>
              </a:spcBef>
              <a:spcAft>
                <a:spcPct val="0"/>
              </a:spcAft>
              <a:buClr>
                <a:schemeClr val="accent1"/>
              </a:buClr>
              <a:buSzPct val="80000"/>
              <a:buFont typeface="Wingdings 2" panose="05020102010507070707" pitchFamily="18" charset="2"/>
              <a:buChar char=""/>
              <a:defRPr sz="2800" kern="1200">
                <a:solidFill>
                  <a:schemeClr val="tx1"/>
                </a:solidFill>
                <a:latin typeface="+mn-lt"/>
                <a:ea typeface="+mn-ea"/>
                <a:cs typeface="+mn-cs"/>
              </a:defRPr>
            </a:lvl1pPr>
            <a:lvl2pPr marL="547688" indent="-200025" algn="l" rtl="0" eaLnBrk="0" fontAlgn="base" hangingPunct="0">
              <a:spcBef>
                <a:spcPts val="250"/>
              </a:spcBef>
              <a:spcAft>
                <a:spcPct val="0"/>
              </a:spcAft>
              <a:buClr>
                <a:schemeClr val="accent1"/>
              </a:buClr>
              <a:buSzPct val="100000"/>
              <a:buFont typeface="Verdana" panose="020B0604030504040204" pitchFamily="34" charset="0"/>
              <a:buChar char="◦"/>
              <a:defRPr sz="2400" kern="1200">
                <a:solidFill>
                  <a:schemeClr val="tx1"/>
                </a:solidFill>
                <a:latin typeface="+mn-lt"/>
                <a:ea typeface="+mn-ea"/>
                <a:cs typeface="+mn-cs"/>
              </a:defRPr>
            </a:lvl2pPr>
            <a:lvl3pPr marL="785813" indent="-182563" algn="l" rtl="0" eaLnBrk="0" fontAlgn="base" hangingPunct="0">
              <a:spcBef>
                <a:spcPts val="250"/>
              </a:spcBef>
              <a:spcAft>
                <a:spcPct val="0"/>
              </a:spcAft>
              <a:buClr>
                <a:srgbClr val="ED3742"/>
              </a:buClr>
              <a:buSzPct val="100000"/>
              <a:buFont typeface="Wingdings 2" panose="05020102010507070707" pitchFamily="18" charset="2"/>
              <a:buChar char=""/>
              <a:defRPr sz="2200" kern="1200">
                <a:solidFill>
                  <a:schemeClr val="tx1"/>
                </a:solidFill>
                <a:latin typeface="+mn-lt"/>
                <a:ea typeface="+mn-ea"/>
                <a:cs typeface="+mn-cs"/>
              </a:defRPr>
            </a:lvl3pPr>
            <a:lvl4pPr marL="1023938" indent="-182563" algn="l" rtl="0" eaLnBrk="0" fontAlgn="base" hangingPunct="0">
              <a:spcBef>
                <a:spcPts val="225"/>
              </a:spcBef>
              <a:spcAft>
                <a:spcPct val="0"/>
              </a:spcAft>
              <a:buClr>
                <a:srgbClr val="ED3742"/>
              </a:buClr>
              <a:buSzPct val="112000"/>
              <a:buFont typeface="Verdana" panose="020B0604030504040204" pitchFamily="34" charset="0"/>
              <a:buChar char="◦"/>
              <a:defRPr sz="1900" kern="1200">
                <a:solidFill>
                  <a:schemeClr val="tx1"/>
                </a:solidFill>
                <a:latin typeface="+mn-lt"/>
                <a:ea typeface="+mn-ea"/>
                <a:cs typeface="+mn-cs"/>
              </a:defRPr>
            </a:lvl4pPr>
            <a:lvl5pPr marL="1279525" indent="-182563" algn="l" rtl="0" eaLnBrk="0" fontAlgn="base" hangingPunct="0">
              <a:spcBef>
                <a:spcPts val="250"/>
              </a:spcBef>
              <a:spcAft>
                <a:spcPct val="0"/>
              </a:spcAft>
              <a:buClr>
                <a:srgbClr val="4A85BF"/>
              </a:buClr>
              <a:buSzPct val="100000"/>
              <a:buFont typeface="Wingdings 2" panose="05020102010507070707" pitchFamily="18" charset="2"/>
              <a:buChar char=""/>
              <a:defRPr sz="20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a:lstStyle>
          <a:p>
            <a:pPr eaLnBrk="1" hangingPunct="1">
              <a:buFontTx/>
              <a:buNone/>
            </a:pPr>
            <a:r>
              <a:rPr lang="en-US" altLang="nl-NL" sz="1800" b="1" dirty="0"/>
              <a:t>PERSOONLIJKE </a:t>
            </a:r>
            <a:r>
              <a:rPr lang="en-US" altLang="nl-NL" sz="1800" b="1" dirty="0" err="1"/>
              <a:t>doelen</a:t>
            </a:r>
            <a:endParaRPr lang="en-US" altLang="nl-NL" sz="1800" b="1" dirty="0"/>
          </a:p>
          <a:p>
            <a:pPr eaLnBrk="1" hangingPunct="1"/>
            <a:r>
              <a:rPr lang="en-US" altLang="nl-NL" sz="1800" dirty="0" err="1"/>
              <a:t>Gemoedsrust</a:t>
            </a:r>
            <a:endParaRPr lang="en-US" altLang="nl-NL" sz="1800" dirty="0"/>
          </a:p>
          <a:p>
            <a:pPr eaLnBrk="1" hangingPunct="1"/>
            <a:r>
              <a:rPr lang="en-US" altLang="nl-NL" sz="1800" dirty="0" err="1"/>
              <a:t>Geluk</a:t>
            </a:r>
            <a:endParaRPr lang="en-US" altLang="nl-NL" sz="1800" dirty="0"/>
          </a:p>
          <a:p>
            <a:pPr eaLnBrk="1" hangingPunct="1"/>
            <a:r>
              <a:rPr lang="en-US" altLang="nl-NL" sz="1800" dirty="0" err="1"/>
              <a:t>Welvarend</a:t>
            </a:r>
            <a:r>
              <a:rPr lang="en-US" altLang="nl-NL" sz="1800" dirty="0"/>
              <a:t> </a:t>
            </a:r>
            <a:r>
              <a:rPr lang="en-US" altLang="nl-NL" sz="1800" dirty="0" err="1"/>
              <a:t>leven</a:t>
            </a:r>
            <a:endParaRPr lang="en-US" altLang="nl-NL" sz="1800" dirty="0"/>
          </a:p>
        </p:txBody>
      </p:sp>
    </p:spTree>
    <p:extLst>
      <p:ext uri="{BB962C8B-B14F-4D97-AF65-F5344CB8AC3E}">
        <p14:creationId xmlns:p14="http://schemas.microsoft.com/office/powerpoint/2010/main" val="2009407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20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fade">
                                      <p:cBhvr>
                                        <p:cTn id="22"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EBBEE44-9416-4135-B832-39C569CCD862}"/>
              </a:ext>
            </a:extLst>
          </p:cNvPr>
          <p:cNvSpPr txBox="1">
            <a:spLocks noChangeArrowheads="1"/>
          </p:cNvSpPr>
          <p:nvPr/>
        </p:nvSpPr>
        <p:spPr>
          <a:xfrm>
            <a:off x="1981200" y="188640"/>
            <a:ext cx="8229600" cy="720080"/>
          </a:xfrm>
          <a:prstGeom prst="rect">
            <a:avLst/>
          </a:prstGeom>
        </p:spPr>
        <p:txBody>
          <a:bodyPr/>
          <a:lstStyle>
            <a:lvl1pPr algn="l" rtl="0" eaLnBrk="0" fontAlgn="base" hangingPunct="0">
              <a:spcBef>
                <a:spcPct val="0"/>
              </a:spcBef>
              <a:spcAft>
                <a:spcPct val="0"/>
              </a:spcAft>
              <a:defRPr sz="3600" b="1" kern="1200">
                <a:solidFill>
                  <a:srgbClr val="FF8D3E"/>
                </a:solidFill>
                <a:effectLst>
                  <a:outerShdw blurRad="53975" dist="22860" dir="5400000" algn="tl" rotWithShape="0">
                    <a:srgbClr val="000000">
                      <a:alpha val="55000"/>
                    </a:srgbClr>
                  </a:outerShdw>
                </a:effectLst>
                <a:latin typeface="+mj-lt"/>
                <a:ea typeface="+mj-ea"/>
                <a:cs typeface="+mj-cs"/>
              </a:defRPr>
            </a:lvl1pPr>
            <a:lvl2pPr algn="l" rtl="0" eaLnBrk="0" fontAlgn="base" hangingPunct="0">
              <a:spcBef>
                <a:spcPct val="0"/>
              </a:spcBef>
              <a:spcAft>
                <a:spcPct val="0"/>
              </a:spcAft>
              <a:defRPr sz="3600" b="1">
                <a:solidFill>
                  <a:srgbClr val="FF8D3E"/>
                </a:solidFill>
                <a:latin typeface="Verdana" pitchFamily="34" charset="0"/>
              </a:defRPr>
            </a:lvl2pPr>
            <a:lvl3pPr algn="l" rtl="0" eaLnBrk="0" fontAlgn="base" hangingPunct="0">
              <a:spcBef>
                <a:spcPct val="0"/>
              </a:spcBef>
              <a:spcAft>
                <a:spcPct val="0"/>
              </a:spcAft>
              <a:defRPr sz="3600" b="1">
                <a:solidFill>
                  <a:srgbClr val="FF8D3E"/>
                </a:solidFill>
                <a:latin typeface="Verdana" pitchFamily="34" charset="0"/>
              </a:defRPr>
            </a:lvl3pPr>
            <a:lvl4pPr algn="l" rtl="0" eaLnBrk="0" fontAlgn="base" hangingPunct="0">
              <a:spcBef>
                <a:spcPct val="0"/>
              </a:spcBef>
              <a:spcAft>
                <a:spcPct val="0"/>
              </a:spcAft>
              <a:defRPr sz="3600" b="1">
                <a:solidFill>
                  <a:srgbClr val="FF8D3E"/>
                </a:solidFill>
                <a:latin typeface="Verdana" pitchFamily="34" charset="0"/>
              </a:defRPr>
            </a:lvl4pPr>
            <a:lvl5pPr algn="l" rtl="0" eaLnBrk="0" fontAlgn="base" hangingPunct="0">
              <a:spcBef>
                <a:spcPct val="0"/>
              </a:spcBef>
              <a:spcAft>
                <a:spcPct val="0"/>
              </a:spcAft>
              <a:defRPr sz="3600" b="1">
                <a:solidFill>
                  <a:srgbClr val="FF8D3E"/>
                </a:solidFill>
                <a:latin typeface="Verdana" pitchFamily="34" charset="0"/>
              </a:defRPr>
            </a:lvl5pPr>
            <a:lvl6pPr marL="457200" algn="l" rtl="0" fontAlgn="base">
              <a:spcBef>
                <a:spcPct val="0"/>
              </a:spcBef>
              <a:spcAft>
                <a:spcPct val="0"/>
              </a:spcAft>
              <a:defRPr sz="3600" b="1">
                <a:solidFill>
                  <a:srgbClr val="FF8D3E"/>
                </a:solidFill>
                <a:latin typeface="Verdana" pitchFamily="34" charset="0"/>
              </a:defRPr>
            </a:lvl6pPr>
            <a:lvl7pPr marL="914400" algn="l" rtl="0" fontAlgn="base">
              <a:spcBef>
                <a:spcPct val="0"/>
              </a:spcBef>
              <a:spcAft>
                <a:spcPct val="0"/>
              </a:spcAft>
              <a:defRPr sz="3600" b="1">
                <a:solidFill>
                  <a:srgbClr val="FF8D3E"/>
                </a:solidFill>
                <a:latin typeface="Verdana" pitchFamily="34" charset="0"/>
              </a:defRPr>
            </a:lvl7pPr>
            <a:lvl8pPr marL="1371600" algn="l" rtl="0" fontAlgn="base">
              <a:spcBef>
                <a:spcPct val="0"/>
              </a:spcBef>
              <a:spcAft>
                <a:spcPct val="0"/>
              </a:spcAft>
              <a:defRPr sz="3600" b="1">
                <a:solidFill>
                  <a:srgbClr val="FF8D3E"/>
                </a:solidFill>
                <a:latin typeface="Verdana" pitchFamily="34" charset="0"/>
              </a:defRPr>
            </a:lvl8pPr>
            <a:lvl9pPr marL="1828800" algn="l" rtl="0" fontAlgn="base">
              <a:spcBef>
                <a:spcPct val="0"/>
              </a:spcBef>
              <a:spcAft>
                <a:spcPct val="0"/>
              </a:spcAft>
              <a:defRPr sz="3600" b="1">
                <a:solidFill>
                  <a:srgbClr val="FF8D3E"/>
                </a:solidFill>
                <a:latin typeface="Verdana" pitchFamily="34" charset="0"/>
              </a:defRPr>
            </a:lvl9pPr>
            <a:extLst/>
          </a:lstStyle>
          <a:p>
            <a:pPr eaLnBrk="1" hangingPunct="1"/>
            <a:r>
              <a:rPr lang="en-US" altLang="nl-NL" dirty="0" err="1"/>
              <a:t>Voorbeeld</a:t>
            </a:r>
            <a:r>
              <a:rPr lang="en-US" altLang="nl-NL" dirty="0"/>
              <a:t>: </a:t>
            </a:r>
            <a:r>
              <a:rPr lang="en-US" altLang="nl-NL" dirty="0" err="1"/>
              <a:t>Economische</a:t>
            </a:r>
            <a:r>
              <a:rPr lang="en-US" altLang="nl-NL" dirty="0"/>
              <a:t> </a:t>
            </a:r>
            <a:r>
              <a:rPr lang="en-US" altLang="nl-NL" dirty="0" err="1"/>
              <a:t>rijkdom</a:t>
            </a:r>
            <a:endParaRPr lang="en-US" altLang="nl-NL" dirty="0"/>
          </a:p>
        </p:txBody>
      </p:sp>
      <p:sp>
        <p:nvSpPr>
          <p:cNvPr id="5" name="Tekstvak 4">
            <a:extLst>
              <a:ext uri="{FF2B5EF4-FFF2-40B4-BE49-F238E27FC236}">
                <a16:creationId xmlns:a16="http://schemas.microsoft.com/office/drawing/2014/main" id="{81A3F0D4-7681-4A06-A604-1D724822AE76}"/>
              </a:ext>
            </a:extLst>
          </p:cNvPr>
          <p:cNvSpPr txBox="1"/>
          <p:nvPr/>
        </p:nvSpPr>
        <p:spPr>
          <a:xfrm>
            <a:off x="2011747" y="913406"/>
            <a:ext cx="7704856" cy="5262979"/>
          </a:xfrm>
          <a:prstGeom prst="rect">
            <a:avLst/>
          </a:prstGeom>
          <a:noFill/>
        </p:spPr>
        <p:txBody>
          <a:bodyPr wrap="square" rtlCol="0">
            <a:spAutoFit/>
          </a:bodyPr>
          <a:lstStyle/>
          <a:p>
            <a:r>
              <a:rPr lang="nl-NL" sz="1600" b="1" dirty="0">
                <a:latin typeface="+mn-lt"/>
              </a:rPr>
              <a:t>Type I</a:t>
            </a:r>
          </a:p>
          <a:p>
            <a:r>
              <a:rPr lang="nl-NL" sz="1600" dirty="0">
                <a:latin typeface="+mn-lt"/>
              </a:rPr>
              <a:t>Mensen moeten rijkdom kunnen verkrijgen, behouden, voor zichzelf kunnen houden en er mee doen wat ze willen.</a:t>
            </a:r>
          </a:p>
          <a:p>
            <a:r>
              <a:rPr lang="nl-NL" sz="1600" b="1" dirty="0">
                <a:latin typeface="+mn-lt"/>
              </a:rPr>
              <a:t>Gewenste Kern (eind)waarde </a:t>
            </a:r>
            <a:r>
              <a:rPr lang="nl-NL" sz="1600" b="1" dirty="0">
                <a:latin typeface="+mn-lt"/>
                <a:sym typeface="Wingdings" panose="05000000000000000000" pitchFamily="2" charset="2"/>
              </a:rPr>
              <a:t></a:t>
            </a:r>
            <a:r>
              <a:rPr lang="nl-NL" sz="1600" b="1" dirty="0">
                <a:latin typeface="+mn-lt"/>
              </a:rPr>
              <a:t> Een welvarend leven</a:t>
            </a:r>
          </a:p>
          <a:p>
            <a:endParaRPr lang="nl-NL" sz="1600" dirty="0">
              <a:latin typeface="+mn-lt"/>
            </a:endParaRPr>
          </a:p>
          <a:p>
            <a:r>
              <a:rPr lang="nl-NL" sz="1600" b="1" dirty="0">
                <a:latin typeface="+mn-lt"/>
              </a:rPr>
              <a:t>Type II</a:t>
            </a:r>
          </a:p>
          <a:p>
            <a:r>
              <a:rPr lang="nl-NL" sz="1600" dirty="0">
                <a:latin typeface="+mn-lt"/>
              </a:rPr>
              <a:t>Hoe meer rijkdom je in je leven kunt verwerven en voor je eigen plezier en geluk kunt aanwenden, des te beter. </a:t>
            </a:r>
          </a:p>
          <a:p>
            <a:r>
              <a:rPr lang="nl-NL" sz="1600" b="1" dirty="0">
                <a:latin typeface="+mn-lt"/>
              </a:rPr>
              <a:t>Gewenste Kern (eind)waarde </a:t>
            </a:r>
            <a:r>
              <a:rPr lang="nl-NL" sz="1600" b="1" dirty="0">
                <a:latin typeface="+mn-lt"/>
                <a:sym typeface="Wingdings" panose="05000000000000000000" pitchFamily="2" charset="2"/>
              </a:rPr>
              <a:t></a:t>
            </a:r>
            <a:r>
              <a:rPr lang="nl-NL" sz="1600" b="1" dirty="0">
                <a:latin typeface="+mn-lt"/>
              </a:rPr>
              <a:t> Persoonlijk welzijn</a:t>
            </a:r>
          </a:p>
          <a:p>
            <a:endParaRPr lang="nl-NL" sz="1600" dirty="0">
              <a:latin typeface="+mn-lt"/>
            </a:endParaRPr>
          </a:p>
          <a:p>
            <a:r>
              <a:rPr lang="nl-NL" sz="1600" b="1" dirty="0">
                <a:latin typeface="+mn-lt"/>
              </a:rPr>
              <a:t>Type III</a:t>
            </a:r>
          </a:p>
          <a:p>
            <a:r>
              <a:rPr lang="nl-NL" sz="1600" dirty="0">
                <a:latin typeface="+mn-lt"/>
              </a:rPr>
              <a:t>Mensen hebben recht op de rijkdom die ze hebben verdiend en moeten dit verstandig en verantwoord gebruiken.</a:t>
            </a:r>
          </a:p>
          <a:p>
            <a:r>
              <a:rPr lang="nl-NL" sz="1600" b="1" dirty="0">
                <a:latin typeface="+mn-lt"/>
              </a:rPr>
              <a:t>Gewenste Kern (eind)waarde </a:t>
            </a:r>
            <a:r>
              <a:rPr lang="nl-NL" sz="1600" b="1" dirty="0">
                <a:latin typeface="+mn-lt"/>
                <a:sym typeface="Wingdings" panose="05000000000000000000" pitchFamily="2" charset="2"/>
              </a:rPr>
              <a:t></a:t>
            </a:r>
            <a:r>
              <a:rPr lang="nl-NL" sz="1600" b="1" dirty="0">
                <a:latin typeface="+mn-lt"/>
              </a:rPr>
              <a:t> Het welzijn van de groep waartoe zij behoren (inclusief zichzelf als deelgenoot van die groep)</a:t>
            </a:r>
          </a:p>
          <a:p>
            <a:endParaRPr lang="nl-NL" sz="1600" dirty="0">
              <a:latin typeface="+mn-lt"/>
            </a:endParaRPr>
          </a:p>
          <a:p>
            <a:r>
              <a:rPr lang="nl-NL" sz="1600" b="1" dirty="0">
                <a:latin typeface="+mn-lt"/>
              </a:rPr>
              <a:t>Type IV</a:t>
            </a:r>
          </a:p>
          <a:p>
            <a:r>
              <a:rPr lang="nl-NL" sz="1600" dirty="0">
                <a:latin typeface="+mn-lt"/>
              </a:rPr>
              <a:t>"Rijkdom wordt voortgebracht uit zowel de beschikbare middelen als uit het onbegrensde menselijk potentieel. Het moet eerlijk gedeeld worden met de hele mensheid."</a:t>
            </a:r>
          </a:p>
          <a:p>
            <a:r>
              <a:rPr lang="nl-NL" sz="1600" b="1" dirty="0">
                <a:latin typeface="+mn-lt"/>
              </a:rPr>
              <a:t>Gewenste Kern (eind)waarde </a:t>
            </a:r>
            <a:r>
              <a:rPr lang="nl-NL" sz="1600" b="1" dirty="0">
                <a:latin typeface="+mn-lt"/>
                <a:sym typeface="Wingdings" panose="05000000000000000000" pitchFamily="2" charset="2"/>
              </a:rPr>
              <a:t></a:t>
            </a:r>
            <a:r>
              <a:rPr lang="nl-NL" sz="1600" b="1" dirty="0">
                <a:latin typeface="+mn-lt"/>
              </a:rPr>
              <a:t> Eerlijke en rechtvaardige verdeling van de rijkdom (voor anderen en henzelf)</a:t>
            </a:r>
          </a:p>
        </p:txBody>
      </p:sp>
    </p:spTree>
    <p:extLst>
      <p:ext uri="{BB962C8B-B14F-4D97-AF65-F5344CB8AC3E}">
        <p14:creationId xmlns:p14="http://schemas.microsoft.com/office/powerpoint/2010/main" val="16474459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192B0BA-F6C8-47E5-AC23-322B8DDD17C9}"/>
              </a:ext>
            </a:extLst>
          </p:cNvPr>
          <p:cNvSpPr txBox="1">
            <a:spLocks noChangeArrowheads="1"/>
          </p:cNvSpPr>
          <p:nvPr/>
        </p:nvSpPr>
        <p:spPr>
          <a:xfrm>
            <a:off x="605332" y="548680"/>
            <a:ext cx="10972800" cy="720080"/>
          </a:xfrm>
          <a:prstGeom prst="rect">
            <a:avLst/>
          </a:prstGeom>
        </p:spPr>
        <p:txBody>
          <a:bodyPr/>
          <a:lstStyle>
            <a:lvl1pPr algn="l" rtl="0" eaLnBrk="0" fontAlgn="base" hangingPunct="0">
              <a:spcBef>
                <a:spcPct val="0"/>
              </a:spcBef>
              <a:spcAft>
                <a:spcPct val="0"/>
              </a:spcAft>
              <a:defRPr sz="3600" b="1" kern="1200">
                <a:solidFill>
                  <a:srgbClr val="FF8D3E"/>
                </a:solidFill>
                <a:effectLst>
                  <a:outerShdw blurRad="53975" dist="22860" dir="5400000" algn="tl" rotWithShape="0">
                    <a:srgbClr val="000000">
                      <a:alpha val="55000"/>
                    </a:srgbClr>
                  </a:outerShdw>
                </a:effectLst>
                <a:latin typeface="+mj-lt"/>
                <a:ea typeface="+mj-ea"/>
                <a:cs typeface="+mj-cs"/>
              </a:defRPr>
            </a:lvl1pPr>
            <a:lvl2pPr algn="l" rtl="0" eaLnBrk="0" fontAlgn="base" hangingPunct="0">
              <a:spcBef>
                <a:spcPct val="0"/>
              </a:spcBef>
              <a:spcAft>
                <a:spcPct val="0"/>
              </a:spcAft>
              <a:defRPr sz="3600" b="1">
                <a:solidFill>
                  <a:srgbClr val="FF8D3E"/>
                </a:solidFill>
                <a:latin typeface="Verdana" pitchFamily="34" charset="0"/>
              </a:defRPr>
            </a:lvl2pPr>
            <a:lvl3pPr algn="l" rtl="0" eaLnBrk="0" fontAlgn="base" hangingPunct="0">
              <a:spcBef>
                <a:spcPct val="0"/>
              </a:spcBef>
              <a:spcAft>
                <a:spcPct val="0"/>
              </a:spcAft>
              <a:defRPr sz="3600" b="1">
                <a:solidFill>
                  <a:srgbClr val="FF8D3E"/>
                </a:solidFill>
                <a:latin typeface="Verdana" pitchFamily="34" charset="0"/>
              </a:defRPr>
            </a:lvl3pPr>
            <a:lvl4pPr algn="l" rtl="0" eaLnBrk="0" fontAlgn="base" hangingPunct="0">
              <a:spcBef>
                <a:spcPct val="0"/>
              </a:spcBef>
              <a:spcAft>
                <a:spcPct val="0"/>
              </a:spcAft>
              <a:defRPr sz="3600" b="1">
                <a:solidFill>
                  <a:srgbClr val="FF8D3E"/>
                </a:solidFill>
                <a:latin typeface="Verdana" pitchFamily="34" charset="0"/>
              </a:defRPr>
            </a:lvl4pPr>
            <a:lvl5pPr algn="l" rtl="0" eaLnBrk="0" fontAlgn="base" hangingPunct="0">
              <a:spcBef>
                <a:spcPct val="0"/>
              </a:spcBef>
              <a:spcAft>
                <a:spcPct val="0"/>
              </a:spcAft>
              <a:defRPr sz="3600" b="1">
                <a:solidFill>
                  <a:srgbClr val="FF8D3E"/>
                </a:solidFill>
                <a:latin typeface="Verdana" pitchFamily="34" charset="0"/>
              </a:defRPr>
            </a:lvl5pPr>
            <a:lvl6pPr marL="457200" algn="l" rtl="0" fontAlgn="base">
              <a:spcBef>
                <a:spcPct val="0"/>
              </a:spcBef>
              <a:spcAft>
                <a:spcPct val="0"/>
              </a:spcAft>
              <a:defRPr sz="3600" b="1">
                <a:solidFill>
                  <a:srgbClr val="FF8D3E"/>
                </a:solidFill>
                <a:latin typeface="Verdana" pitchFamily="34" charset="0"/>
              </a:defRPr>
            </a:lvl6pPr>
            <a:lvl7pPr marL="914400" algn="l" rtl="0" fontAlgn="base">
              <a:spcBef>
                <a:spcPct val="0"/>
              </a:spcBef>
              <a:spcAft>
                <a:spcPct val="0"/>
              </a:spcAft>
              <a:defRPr sz="3600" b="1">
                <a:solidFill>
                  <a:srgbClr val="FF8D3E"/>
                </a:solidFill>
                <a:latin typeface="Verdana" pitchFamily="34" charset="0"/>
              </a:defRPr>
            </a:lvl7pPr>
            <a:lvl8pPr marL="1371600" algn="l" rtl="0" fontAlgn="base">
              <a:spcBef>
                <a:spcPct val="0"/>
              </a:spcBef>
              <a:spcAft>
                <a:spcPct val="0"/>
              </a:spcAft>
              <a:defRPr sz="3600" b="1">
                <a:solidFill>
                  <a:srgbClr val="FF8D3E"/>
                </a:solidFill>
                <a:latin typeface="Verdana" pitchFamily="34" charset="0"/>
              </a:defRPr>
            </a:lvl8pPr>
            <a:lvl9pPr marL="1828800" algn="l" rtl="0" fontAlgn="base">
              <a:spcBef>
                <a:spcPct val="0"/>
              </a:spcBef>
              <a:spcAft>
                <a:spcPct val="0"/>
              </a:spcAft>
              <a:defRPr sz="3600" b="1">
                <a:solidFill>
                  <a:srgbClr val="FF8D3E"/>
                </a:solidFill>
                <a:latin typeface="Verdana" pitchFamily="34" charset="0"/>
              </a:defRPr>
            </a:lvl9pPr>
            <a:extLst/>
          </a:lstStyle>
          <a:p>
            <a:pPr algn="ctr" eaLnBrk="1" hangingPunct="1"/>
            <a:r>
              <a:rPr lang="en-US" altLang="nl-NL" dirty="0" err="1"/>
              <a:t>Voorbeeld</a:t>
            </a:r>
            <a:r>
              <a:rPr lang="en-US" altLang="nl-NL" dirty="0"/>
              <a:t>: </a:t>
            </a:r>
            <a:r>
              <a:rPr lang="en-US" altLang="nl-NL" dirty="0" err="1"/>
              <a:t>Economische</a:t>
            </a:r>
            <a:r>
              <a:rPr lang="en-US" altLang="nl-NL" dirty="0"/>
              <a:t> </a:t>
            </a:r>
            <a:r>
              <a:rPr lang="en-US" altLang="nl-NL" dirty="0" err="1"/>
              <a:t>rijkdom</a:t>
            </a:r>
            <a:endParaRPr lang="en-US" altLang="nl-NL" dirty="0"/>
          </a:p>
        </p:txBody>
      </p:sp>
      <p:sp>
        <p:nvSpPr>
          <p:cNvPr id="5" name="Tekstvak 4">
            <a:extLst>
              <a:ext uri="{FF2B5EF4-FFF2-40B4-BE49-F238E27FC236}">
                <a16:creationId xmlns:a16="http://schemas.microsoft.com/office/drawing/2014/main" id="{27761B2D-21A5-48F4-AF13-F2B79A1A7F44}"/>
              </a:ext>
            </a:extLst>
          </p:cNvPr>
          <p:cNvSpPr txBox="1"/>
          <p:nvPr/>
        </p:nvSpPr>
        <p:spPr>
          <a:xfrm>
            <a:off x="613868" y="1052736"/>
            <a:ext cx="7704856" cy="5262979"/>
          </a:xfrm>
          <a:prstGeom prst="rect">
            <a:avLst/>
          </a:prstGeom>
          <a:noFill/>
        </p:spPr>
        <p:txBody>
          <a:bodyPr wrap="square" rtlCol="0">
            <a:spAutoFit/>
          </a:bodyPr>
          <a:lstStyle/>
          <a:p>
            <a:r>
              <a:rPr lang="nl-NL" sz="1600" b="1" dirty="0">
                <a:latin typeface="+mn-lt"/>
              </a:rPr>
              <a:t>Type I</a:t>
            </a:r>
          </a:p>
          <a:p>
            <a:r>
              <a:rPr lang="nl-NL" sz="1600" dirty="0">
                <a:latin typeface="+mn-lt"/>
              </a:rPr>
              <a:t>Mensen moeten rijkdom kunnen verkrijgen, behouden, voor zichzelf kunnen houden en er mee doen wat ze willen.</a:t>
            </a:r>
          </a:p>
          <a:p>
            <a:r>
              <a:rPr lang="nl-NL" sz="1600" b="1" dirty="0">
                <a:latin typeface="+mn-lt"/>
              </a:rPr>
              <a:t>Gewenste Kern (eind)waarde </a:t>
            </a:r>
            <a:r>
              <a:rPr lang="nl-NL" sz="1600" b="1" dirty="0">
                <a:latin typeface="+mn-lt"/>
                <a:sym typeface="Wingdings" panose="05000000000000000000" pitchFamily="2" charset="2"/>
              </a:rPr>
              <a:t></a:t>
            </a:r>
            <a:r>
              <a:rPr lang="nl-NL" sz="1600" b="1" dirty="0">
                <a:latin typeface="+mn-lt"/>
              </a:rPr>
              <a:t> Een welvarend leven</a:t>
            </a:r>
          </a:p>
          <a:p>
            <a:endParaRPr lang="nl-NL" sz="1600" dirty="0">
              <a:latin typeface="+mn-lt"/>
            </a:endParaRPr>
          </a:p>
          <a:p>
            <a:r>
              <a:rPr lang="nl-NL" sz="1600" b="1" dirty="0">
                <a:latin typeface="+mn-lt"/>
              </a:rPr>
              <a:t>Type II</a:t>
            </a:r>
          </a:p>
          <a:p>
            <a:r>
              <a:rPr lang="nl-NL" sz="1600" dirty="0">
                <a:latin typeface="+mn-lt"/>
              </a:rPr>
              <a:t>Hoe meer rijkdom je in je leven kunt verwerven en voor je eigen plezier en geluk kunt aanwenden, des te beter. </a:t>
            </a:r>
          </a:p>
          <a:p>
            <a:r>
              <a:rPr lang="nl-NL" sz="1600" b="1" dirty="0">
                <a:latin typeface="+mn-lt"/>
              </a:rPr>
              <a:t>Gewenste Kern (eind)waarde </a:t>
            </a:r>
            <a:r>
              <a:rPr lang="nl-NL" sz="1600" b="1" dirty="0">
                <a:latin typeface="+mn-lt"/>
                <a:sym typeface="Wingdings" panose="05000000000000000000" pitchFamily="2" charset="2"/>
              </a:rPr>
              <a:t></a:t>
            </a:r>
            <a:r>
              <a:rPr lang="nl-NL" sz="1600" b="1" dirty="0">
                <a:latin typeface="+mn-lt"/>
              </a:rPr>
              <a:t> Persoonlijk welzijn</a:t>
            </a:r>
          </a:p>
          <a:p>
            <a:endParaRPr lang="nl-NL" sz="1600" dirty="0">
              <a:latin typeface="+mn-lt"/>
            </a:endParaRPr>
          </a:p>
          <a:p>
            <a:r>
              <a:rPr lang="nl-NL" sz="1600" b="1" dirty="0">
                <a:latin typeface="+mn-lt"/>
              </a:rPr>
              <a:t>Type III</a:t>
            </a:r>
          </a:p>
          <a:p>
            <a:r>
              <a:rPr lang="nl-NL" sz="1600" dirty="0">
                <a:latin typeface="+mn-lt"/>
              </a:rPr>
              <a:t>Mensen hebben recht op de rijkdom die ze hebben verdiend en moeten dit verstandig en verantwoord gebruiken.</a:t>
            </a:r>
          </a:p>
          <a:p>
            <a:r>
              <a:rPr lang="nl-NL" sz="1600" b="1" dirty="0">
                <a:latin typeface="+mn-lt"/>
              </a:rPr>
              <a:t>Gewenste Kern (eind)waarde </a:t>
            </a:r>
            <a:r>
              <a:rPr lang="nl-NL" sz="1600" b="1" dirty="0">
                <a:latin typeface="+mn-lt"/>
                <a:sym typeface="Wingdings" panose="05000000000000000000" pitchFamily="2" charset="2"/>
              </a:rPr>
              <a:t></a:t>
            </a:r>
            <a:r>
              <a:rPr lang="nl-NL" sz="1600" b="1" dirty="0">
                <a:latin typeface="+mn-lt"/>
              </a:rPr>
              <a:t> Het welzijn van de groep waartoe zij behoren (inclusief zichzelf als deelgenoot van die groep)</a:t>
            </a:r>
          </a:p>
          <a:p>
            <a:endParaRPr lang="nl-NL" sz="1600" dirty="0">
              <a:latin typeface="+mn-lt"/>
            </a:endParaRPr>
          </a:p>
          <a:p>
            <a:r>
              <a:rPr lang="nl-NL" sz="1600" b="1" dirty="0">
                <a:latin typeface="+mn-lt"/>
              </a:rPr>
              <a:t>Type IV</a:t>
            </a:r>
          </a:p>
          <a:p>
            <a:r>
              <a:rPr lang="nl-NL" sz="1600" dirty="0">
                <a:latin typeface="+mn-lt"/>
              </a:rPr>
              <a:t>"Rijkdom wordt voortgebracht uit zowel de beschikbare middelen als uit het onbegrensde menselijk potentieel. Het moet eerlijk gedeeld worden met de hele mensheid."</a:t>
            </a:r>
          </a:p>
          <a:p>
            <a:r>
              <a:rPr lang="nl-NL" sz="1600" b="1" dirty="0">
                <a:latin typeface="+mn-lt"/>
              </a:rPr>
              <a:t>Gewenste Kern (eind)waarde </a:t>
            </a:r>
            <a:r>
              <a:rPr lang="nl-NL" sz="1600" b="1" dirty="0">
                <a:latin typeface="+mn-lt"/>
                <a:sym typeface="Wingdings" panose="05000000000000000000" pitchFamily="2" charset="2"/>
              </a:rPr>
              <a:t></a:t>
            </a:r>
            <a:r>
              <a:rPr lang="nl-NL" sz="1600" b="1" dirty="0">
                <a:latin typeface="+mn-lt"/>
              </a:rPr>
              <a:t> Eerlijke en rechtvaardige verdeling van de rijkdom (voor anderen en henzelf)</a:t>
            </a:r>
          </a:p>
        </p:txBody>
      </p:sp>
    </p:spTree>
    <p:extLst>
      <p:ext uri="{BB962C8B-B14F-4D97-AF65-F5344CB8AC3E}">
        <p14:creationId xmlns:p14="http://schemas.microsoft.com/office/powerpoint/2010/main" val="14748133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1CB9D15-1BB9-4CCF-AEAB-37010981BCF8}"/>
              </a:ext>
            </a:extLst>
          </p:cNvPr>
          <p:cNvSpPr txBox="1">
            <a:spLocks noChangeArrowheads="1"/>
          </p:cNvSpPr>
          <p:nvPr/>
        </p:nvSpPr>
        <p:spPr>
          <a:xfrm>
            <a:off x="609600" y="274638"/>
            <a:ext cx="10972800" cy="490066"/>
          </a:xfrm>
          <a:prstGeom prst="rect">
            <a:avLst/>
          </a:prstGeom>
        </p:spPr>
        <p:txBody>
          <a:bodyPr/>
          <a:lstStyle>
            <a:lvl1pPr algn="l" rtl="0" eaLnBrk="0" fontAlgn="base" hangingPunct="0">
              <a:spcBef>
                <a:spcPct val="0"/>
              </a:spcBef>
              <a:spcAft>
                <a:spcPct val="0"/>
              </a:spcAft>
              <a:defRPr sz="3600" b="1" kern="1200">
                <a:solidFill>
                  <a:srgbClr val="FF8D3E"/>
                </a:solidFill>
                <a:effectLst>
                  <a:outerShdw blurRad="53975" dist="22860" dir="5400000" algn="tl" rotWithShape="0">
                    <a:srgbClr val="000000">
                      <a:alpha val="55000"/>
                    </a:srgbClr>
                  </a:outerShdw>
                </a:effectLst>
                <a:latin typeface="+mj-lt"/>
                <a:ea typeface="+mj-ea"/>
                <a:cs typeface="+mj-cs"/>
              </a:defRPr>
            </a:lvl1pPr>
            <a:lvl2pPr algn="l" rtl="0" eaLnBrk="0" fontAlgn="base" hangingPunct="0">
              <a:spcBef>
                <a:spcPct val="0"/>
              </a:spcBef>
              <a:spcAft>
                <a:spcPct val="0"/>
              </a:spcAft>
              <a:defRPr sz="3600" b="1">
                <a:solidFill>
                  <a:srgbClr val="FF8D3E"/>
                </a:solidFill>
                <a:latin typeface="Verdana" pitchFamily="34" charset="0"/>
              </a:defRPr>
            </a:lvl2pPr>
            <a:lvl3pPr algn="l" rtl="0" eaLnBrk="0" fontAlgn="base" hangingPunct="0">
              <a:spcBef>
                <a:spcPct val="0"/>
              </a:spcBef>
              <a:spcAft>
                <a:spcPct val="0"/>
              </a:spcAft>
              <a:defRPr sz="3600" b="1">
                <a:solidFill>
                  <a:srgbClr val="FF8D3E"/>
                </a:solidFill>
                <a:latin typeface="Verdana" pitchFamily="34" charset="0"/>
              </a:defRPr>
            </a:lvl3pPr>
            <a:lvl4pPr algn="l" rtl="0" eaLnBrk="0" fontAlgn="base" hangingPunct="0">
              <a:spcBef>
                <a:spcPct val="0"/>
              </a:spcBef>
              <a:spcAft>
                <a:spcPct val="0"/>
              </a:spcAft>
              <a:defRPr sz="3600" b="1">
                <a:solidFill>
                  <a:srgbClr val="FF8D3E"/>
                </a:solidFill>
                <a:latin typeface="Verdana" pitchFamily="34" charset="0"/>
              </a:defRPr>
            </a:lvl4pPr>
            <a:lvl5pPr algn="l" rtl="0" eaLnBrk="0" fontAlgn="base" hangingPunct="0">
              <a:spcBef>
                <a:spcPct val="0"/>
              </a:spcBef>
              <a:spcAft>
                <a:spcPct val="0"/>
              </a:spcAft>
              <a:defRPr sz="3600" b="1">
                <a:solidFill>
                  <a:srgbClr val="FF8D3E"/>
                </a:solidFill>
                <a:latin typeface="Verdana" pitchFamily="34" charset="0"/>
              </a:defRPr>
            </a:lvl5pPr>
            <a:lvl6pPr marL="457200" algn="l" rtl="0" fontAlgn="base">
              <a:spcBef>
                <a:spcPct val="0"/>
              </a:spcBef>
              <a:spcAft>
                <a:spcPct val="0"/>
              </a:spcAft>
              <a:defRPr sz="3600" b="1">
                <a:solidFill>
                  <a:srgbClr val="FF8D3E"/>
                </a:solidFill>
                <a:latin typeface="Verdana" pitchFamily="34" charset="0"/>
              </a:defRPr>
            </a:lvl6pPr>
            <a:lvl7pPr marL="914400" algn="l" rtl="0" fontAlgn="base">
              <a:spcBef>
                <a:spcPct val="0"/>
              </a:spcBef>
              <a:spcAft>
                <a:spcPct val="0"/>
              </a:spcAft>
              <a:defRPr sz="3600" b="1">
                <a:solidFill>
                  <a:srgbClr val="FF8D3E"/>
                </a:solidFill>
                <a:latin typeface="Verdana" pitchFamily="34" charset="0"/>
              </a:defRPr>
            </a:lvl7pPr>
            <a:lvl8pPr marL="1371600" algn="l" rtl="0" fontAlgn="base">
              <a:spcBef>
                <a:spcPct val="0"/>
              </a:spcBef>
              <a:spcAft>
                <a:spcPct val="0"/>
              </a:spcAft>
              <a:defRPr sz="3600" b="1">
                <a:solidFill>
                  <a:srgbClr val="FF8D3E"/>
                </a:solidFill>
                <a:latin typeface="Verdana" pitchFamily="34" charset="0"/>
              </a:defRPr>
            </a:lvl8pPr>
            <a:lvl9pPr marL="1828800" algn="l" rtl="0" fontAlgn="base">
              <a:spcBef>
                <a:spcPct val="0"/>
              </a:spcBef>
              <a:spcAft>
                <a:spcPct val="0"/>
              </a:spcAft>
              <a:defRPr sz="3600" b="1">
                <a:solidFill>
                  <a:srgbClr val="FF8D3E"/>
                </a:solidFill>
                <a:latin typeface="Verdana" pitchFamily="34" charset="0"/>
              </a:defRPr>
            </a:lvl9pPr>
            <a:extLst/>
          </a:lstStyle>
          <a:p>
            <a:pPr eaLnBrk="1" hangingPunct="1"/>
            <a:r>
              <a:rPr lang="en-US" altLang="nl-NL" dirty="0" err="1"/>
              <a:t>Overzicht</a:t>
            </a:r>
            <a:r>
              <a:rPr lang="en-US" altLang="nl-NL" dirty="0"/>
              <a:t> van de </a:t>
            </a:r>
            <a:r>
              <a:rPr lang="en-US" altLang="nl-NL" dirty="0" err="1"/>
              <a:t>vier</a:t>
            </a:r>
            <a:r>
              <a:rPr lang="en-US" altLang="nl-NL" dirty="0"/>
              <a:t> </a:t>
            </a:r>
            <a:r>
              <a:rPr lang="en-US" altLang="nl-NL" dirty="0" err="1"/>
              <a:t>Waarden</a:t>
            </a:r>
            <a:r>
              <a:rPr lang="en-US" altLang="nl-NL" dirty="0"/>
              <a:t> </a:t>
            </a:r>
            <a:r>
              <a:rPr lang="en-US" altLang="nl-NL" dirty="0" err="1"/>
              <a:t>perspectieven</a:t>
            </a:r>
            <a:endParaRPr lang="en-US" altLang="nl-NL" dirty="0"/>
          </a:p>
        </p:txBody>
      </p:sp>
      <p:graphicFrame>
        <p:nvGraphicFramePr>
          <p:cNvPr id="5" name="Group 78">
            <a:extLst>
              <a:ext uri="{FF2B5EF4-FFF2-40B4-BE49-F238E27FC236}">
                <a16:creationId xmlns:a16="http://schemas.microsoft.com/office/drawing/2014/main" id="{83583624-828E-49AB-B6F6-9947C63AB744}"/>
              </a:ext>
            </a:extLst>
          </p:cNvPr>
          <p:cNvGraphicFramePr>
            <a:graphicFrameLocks/>
          </p:cNvGraphicFramePr>
          <p:nvPr>
            <p:extLst>
              <p:ext uri="{D42A27DB-BD31-4B8C-83A1-F6EECF244321}">
                <p14:modId xmlns:p14="http://schemas.microsoft.com/office/powerpoint/2010/main" val="3817990925"/>
              </p:ext>
            </p:extLst>
          </p:nvPr>
        </p:nvGraphicFramePr>
        <p:xfrm>
          <a:off x="609599" y="861849"/>
          <a:ext cx="10016360" cy="5352166"/>
        </p:xfrm>
        <a:graphic>
          <a:graphicData uri="http://schemas.openxmlformats.org/drawingml/2006/table">
            <a:tbl>
              <a:tblPr/>
              <a:tblGrid>
                <a:gridCol w="2040369">
                  <a:extLst>
                    <a:ext uri="{9D8B030D-6E8A-4147-A177-3AD203B41FA5}">
                      <a16:colId xmlns:a16="http://schemas.microsoft.com/office/drawing/2014/main" val="20000"/>
                    </a:ext>
                  </a:extLst>
                </a:gridCol>
                <a:gridCol w="1966947">
                  <a:extLst>
                    <a:ext uri="{9D8B030D-6E8A-4147-A177-3AD203B41FA5}">
                      <a16:colId xmlns:a16="http://schemas.microsoft.com/office/drawing/2014/main" val="20001"/>
                    </a:ext>
                  </a:extLst>
                </a:gridCol>
                <a:gridCol w="2001726">
                  <a:extLst>
                    <a:ext uri="{9D8B030D-6E8A-4147-A177-3AD203B41FA5}">
                      <a16:colId xmlns:a16="http://schemas.microsoft.com/office/drawing/2014/main" val="20002"/>
                    </a:ext>
                  </a:extLst>
                </a:gridCol>
                <a:gridCol w="2003659">
                  <a:extLst>
                    <a:ext uri="{9D8B030D-6E8A-4147-A177-3AD203B41FA5}">
                      <a16:colId xmlns:a16="http://schemas.microsoft.com/office/drawing/2014/main" val="20003"/>
                    </a:ext>
                  </a:extLst>
                </a:gridCol>
                <a:gridCol w="2003659">
                  <a:extLst>
                    <a:ext uri="{9D8B030D-6E8A-4147-A177-3AD203B41FA5}">
                      <a16:colId xmlns:a16="http://schemas.microsoft.com/office/drawing/2014/main" val="20004"/>
                    </a:ext>
                  </a:extLst>
                </a:gridCol>
              </a:tblGrid>
              <a:tr h="34381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a:ln>
                            <a:noFill/>
                          </a:ln>
                          <a:solidFill>
                            <a:schemeClr val="tx1"/>
                          </a:solidFill>
                          <a:effectLst/>
                          <a:latin typeface="Arial" charset="0"/>
                        </a:rPr>
                        <a:t>Kenmerken</a:t>
                      </a:r>
                      <a:endParaRPr kumimoji="0" lang="en-US" sz="1600" b="1"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7C80">
                        <a:alpha val="39999"/>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charset="0"/>
                        </a:rPr>
                        <a:t>Type 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505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charset="0"/>
                        </a:rPr>
                        <a:t>Type II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505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charset="0"/>
                        </a:rPr>
                        <a:t>Type III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505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charset="0"/>
                        </a:rPr>
                        <a:t>Type IV</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5050"/>
                    </a:solidFill>
                  </a:tcPr>
                </a:tc>
                <a:extLst>
                  <a:ext uri="{0D108BD9-81ED-4DB2-BD59-A6C34878D82A}">
                    <a16:rowId xmlns:a16="http://schemas.microsoft.com/office/drawing/2014/main" val="10000"/>
                  </a:ext>
                </a:extLst>
              </a:tr>
              <a:tr h="64968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a:ln>
                            <a:noFill/>
                          </a:ln>
                          <a:solidFill>
                            <a:schemeClr val="tx1"/>
                          </a:solidFill>
                          <a:effectLst/>
                          <a:latin typeface="Arial" charset="0"/>
                        </a:rPr>
                        <a:t>Eind</a:t>
                      </a:r>
                      <a:r>
                        <a:rPr kumimoji="0" lang="en-US" sz="1600" b="1" i="0" u="none" strike="noStrike" cap="none" normalizeH="0" baseline="0" dirty="0">
                          <a:ln>
                            <a:noFill/>
                          </a:ln>
                          <a:solidFill>
                            <a:schemeClr val="tx1"/>
                          </a:solidFill>
                          <a:effectLst/>
                          <a:latin typeface="Arial" charset="0"/>
                        </a:rPr>
                        <a:t> </a:t>
                      </a:r>
                      <a:r>
                        <a:rPr kumimoji="0" lang="en-US" sz="1600" b="1" i="0" u="none" strike="noStrike" cap="none" normalizeH="0" baseline="0" dirty="0" err="1">
                          <a:ln>
                            <a:noFill/>
                          </a:ln>
                          <a:solidFill>
                            <a:schemeClr val="tx1"/>
                          </a:solidFill>
                          <a:effectLst/>
                          <a:latin typeface="Arial" charset="0"/>
                        </a:rPr>
                        <a:t>Waarden</a:t>
                      </a:r>
                      <a:endParaRPr kumimoji="0" lang="en-US" sz="1600" b="1" i="0" u="none" strike="noStrike" cap="none" normalizeH="0" baseline="0" dirty="0">
                        <a:ln>
                          <a:noFill/>
                        </a:ln>
                        <a:solidFill>
                          <a:schemeClr val="tx1"/>
                        </a:solidFill>
                        <a:effectLst/>
                        <a:latin typeface="Arial"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charset="0"/>
                        </a:rPr>
                        <a:t>(</a:t>
                      </a:r>
                      <a:r>
                        <a:rPr kumimoji="0" lang="en-US" sz="1600" b="1" i="0" u="none" strike="noStrike" cap="none" normalizeH="0" baseline="0" dirty="0" err="1">
                          <a:ln>
                            <a:noFill/>
                          </a:ln>
                          <a:solidFill>
                            <a:schemeClr val="tx1"/>
                          </a:solidFill>
                          <a:effectLst/>
                          <a:latin typeface="Arial" charset="0"/>
                        </a:rPr>
                        <a:t>doelen</a:t>
                      </a:r>
                      <a:r>
                        <a:rPr kumimoji="0" lang="en-US" sz="1600" b="1" i="0" u="none" strike="noStrike" cap="none" normalizeH="0" baseline="0" dirty="0">
                          <a:ln>
                            <a:noFill/>
                          </a:ln>
                          <a:solidFill>
                            <a:schemeClr val="tx1"/>
                          </a:solidFill>
                          <a:effectLst/>
                          <a:latin typeface="Arial"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7C80">
                        <a:alpha val="39999"/>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rPr>
                        <a:t>Persoonlijk</a:t>
                      </a:r>
                      <a:r>
                        <a:rPr kumimoji="0" lang="en-US" sz="1200" b="0" i="0" u="none" strike="noStrike" cap="none" normalizeH="0" baseline="0" dirty="0">
                          <a:ln>
                            <a:noFill/>
                          </a:ln>
                          <a:solidFill>
                            <a:schemeClr val="tx1"/>
                          </a:solidFill>
                          <a:effectLst/>
                          <a:latin typeface="Arial"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rPr>
                        <a:t>Zelfbehoud</a:t>
                      </a:r>
                      <a:r>
                        <a:rPr kumimoji="0" lang="en-US" sz="1200" b="0" i="0" u="none" strike="noStrike" cap="none" normalizeH="0" baseline="0" dirty="0">
                          <a:ln>
                            <a:noFill/>
                          </a:ln>
                          <a:solidFill>
                            <a:schemeClr val="tx1"/>
                          </a:solidFill>
                          <a:effectLst/>
                          <a:latin typeface="Arial" charset="0"/>
                        </a:rPr>
                        <a:t> en </a:t>
                      </a:r>
                      <a:r>
                        <a:rPr kumimoji="0" lang="en-US" sz="1200" b="0" i="0" u="none" strike="noStrike" cap="none" normalizeH="0" baseline="0" dirty="0" err="1">
                          <a:ln>
                            <a:noFill/>
                          </a:ln>
                          <a:solidFill>
                            <a:schemeClr val="tx1"/>
                          </a:solidFill>
                          <a:effectLst/>
                          <a:latin typeface="Arial" charset="0"/>
                        </a:rPr>
                        <a:t>voldoening</a:t>
                      </a: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rPr>
                        <a:t>Persoonlijk</a:t>
                      </a:r>
                      <a:r>
                        <a:rPr kumimoji="0" lang="en-US" sz="1200" b="0" i="0" u="none" strike="noStrike" cap="none" normalizeH="0" baseline="0" dirty="0">
                          <a:ln>
                            <a:noFill/>
                          </a:ln>
                          <a:solidFill>
                            <a:schemeClr val="tx1"/>
                          </a:solidFill>
                          <a:effectLst/>
                          <a:latin typeface="Arial"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Zelfontplooiing en </a:t>
                      </a:r>
                      <a:r>
                        <a:rPr kumimoji="0" lang="en-US" sz="1200" b="0" i="0" u="none" strike="noStrike" cap="none" normalizeH="0" baseline="0" dirty="0" err="1">
                          <a:ln>
                            <a:noFill/>
                          </a:ln>
                          <a:solidFill>
                            <a:schemeClr val="tx1"/>
                          </a:solidFill>
                          <a:effectLst/>
                          <a:latin typeface="Arial" charset="0"/>
                        </a:rPr>
                        <a:t>geluk</a:t>
                      </a: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rPr>
                        <a:t>Gezamenlijk</a:t>
                      </a:r>
                      <a:r>
                        <a:rPr kumimoji="0" lang="en-US" sz="1200" b="0" i="0" u="none" strike="noStrike" cap="none" normalizeH="0" baseline="0" dirty="0">
                          <a:ln>
                            <a:noFill/>
                          </a:ln>
                          <a:solidFill>
                            <a:schemeClr val="tx1"/>
                          </a:solidFill>
                          <a:effectLst/>
                          <a:latin typeface="Arial"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rPr>
                        <a:t>Verantwoordelijk</a:t>
                      </a:r>
                      <a:r>
                        <a:rPr kumimoji="0" lang="en-US" sz="1200" b="0" i="0" u="none" strike="noStrike" cap="none" normalizeH="0" baseline="0" dirty="0">
                          <a:ln>
                            <a:noFill/>
                          </a:ln>
                          <a:solidFill>
                            <a:schemeClr val="tx1"/>
                          </a:solidFill>
                          <a:effectLst/>
                          <a:latin typeface="Arial" charset="0"/>
                        </a:rPr>
                        <a:t> </a:t>
                      </a:r>
                      <a:r>
                        <a:rPr kumimoji="0" lang="en-US" sz="1200" b="0" i="0" u="none" strike="noStrike" cap="none" normalizeH="0" baseline="0" dirty="0" err="1">
                          <a:ln>
                            <a:noFill/>
                          </a:ln>
                          <a:solidFill>
                            <a:schemeClr val="tx1"/>
                          </a:solidFill>
                          <a:effectLst/>
                          <a:latin typeface="Arial" charset="0"/>
                        </a:rPr>
                        <a:t>leven</a:t>
                      </a: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rPr>
                        <a:t>Gezamenlijk</a:t>
                      </a:r>
                      <a:r>
                        <a:rPr kumimoji="0" lang="en-US" sz="1200" b="0" i="0" u="none" strike="noStrike" cap="none" normalizeH="0" baseline="0" dirty="0">
                          <a:ln>
                            <a:noFill/>
                          </a:ln>
                          <a:solidFill>
                            <a:schemeClr val="tx1"/>
                          </a:solidFill>
                          <a:effectLst/>
                          <a:latin typeface="Arial" charset="0"/>
                        </a:rPr>
                        <a:t>:</a:t>
                      </a:r>
                    </a:p>
                    <a:p>
                      <a:pPr marL="0" indent="0">
                        <a:buFont typeface="Arial" panose="020B0604020202020204" pitchFamily="34" charset="0"/>
                        <a:buNone/>
                      </a:pPr>
                      <a:r>
                        <a:rPr lang="nl-NL" sz="1200" dirty="0"/>
                        <a:t>Integratie van zelf met anderen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6031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charset="0"/>
                        </a:rPr>
                        <a:t> </a:t>
                      </a:r>
                      <a:r>
                        <a:rPr kumimoji="0" lang="en-US" sz="1600" b="1" i="0" u="none" strike="noStrike" cap="none" normalizeH="0" baseline="0" dirty="0" err="1">
                          <a:ln>
                            <a:noFill/>
                          </a:ln>
                          <a:solidFill>
                            <a:schemeClr val="tx1"/>
                          </a:solidFill>
                          <a:effectLst/>
                          <a:latin typeface="Arial" charset="0"/>
                        </a:rPr>
                        <a:t>Waarden</a:t>
                      </a:r>
                      <a:r>
                        <a:rPr kumimoji="0" lang="en-US" sz="1600" b="1" i="0" u="none" strike="noStrike" cap="none" normalizeH="0" baseline="0" dirty="0">
                          <a:ln>
                            <a:noFill/>
                          </a:ln>
                          <a:solidFill>
                            <a:schemeClr val="tx1"/>
                          </a:solidFill>
                          <a:effectLst/>
                          <a:latin typeface="Arial" charset="0"/>
                        </a:rPr>
                        <a:t> </a:t>
                      </a:r>
                      <a:r>
                        <a:rPr kumimoji="0" lang="en-US" sz="1600" b="1" i="0" u="none" strike="noStrike" cap="none" normalizeH="0" baseline="0" dirty="0" err="1">
                          <a:ln>
                            <a:noFill/>
                          </a:ln>
                          <a:solidFill>
                            <a:schemeClr val="tx1"/>
                          </a:solidFill>
                          <a:effectLst/>
                          <a:latin typeface="Arial" charset="0"/>
                        </a:rPr>
                        <a:t>inzet</a:t>
                      </a:r>
                      <a:endParaRPr kumimoji="0" lang="en-US" sz="1600" b="1"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7C80">
                        <a:alpha val="39999"/>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rPr>
                        <a:t>Ik-gericht</a:t>
                      </a:r>
                      <a:r>
                        <a:rPr kumimoji="0" lang="en-US" sz="1200" b="0" i="0" u="none" strike="noStrike" cap="none" normalizeH="0" baseline="0" dirty="0">
                          <a:ln>
                            <a:noFill/>
                          </a:ln>
                          <a:solidFill>
                            <a:schemeClr val="tx1"/>
                          </a:solidFill>
                          <a:effectLst/>
                          <a:latin typeface="Arial" charset="0"/>
                        </a:rPr>
                        <a:t> :</a:t>
                      </a:r>
                    </a:p>
                    <a:p>
                      <a:pPr marL="171450" marR="0" lvl="0" indent="-171450" algn="l" defTabSz="914400" rtl="0" eaLnBrk="1" fontAlgn="base" latinLnBrk="0" hangingPunct="1">
                        <a:lnSpc>
                          <a:spcPct val="100000"/>
                        </a:lnSpc>
                        <a:spcBef>
                          <a:spcPct val="20000"/>
                        </a:spcBef>
                        <a:spcAft>
                          <a:spcPct val="0"/>
                        </a:spcAft>
                        <a:buClr>
                          <a:schemeClr val="hlink"/>
                        </a:buClr>
                        <a:buSzTx/>
                        <a:buFont typeface="Arial" panose="020B0604020202020204" pitchFamily="34" charset="0"/>
                        <a:buChar char="•"/>
                        <a:tabLst/>
                      </a:pPr>
                      <a:r>
                        <a:rPr kumimoji="0" lang="en-US" sz="1200" b="0" i="0" u="none" strike="noStrike" cap="none" normalizeH="0" baseline="0" dirty="0" err="1">
                          <a:ln>
                            <a:noFill/>
                          </a:ln>
                          <a:solidFill>
                            <a:schemeClr val="tx1"/>
                          </a:solidFill>
                          <a:effectLst/>
                          <a:latin typeface="Arial" charset="0"/>
                        </a:rPr>
                        <a:t>Onafhankelijkheid</a:t>
                      </a:r>
                      <a:endParaRPr kumimoji="0" lang="en-US" sz="1200" b="0" i="0" u="none" strike="noStrike" cap="none" normalizeH="0" baseline="0" dirty="0">
                        <a:ln>
                          <a:noFill/>
                        </a:ln>
                        <a:solidFill>
                          <a:schemeClr val="tx1"/>
                        </a:solidFill>
                        <a:effectLst/>
                        <a:latin typeface="Arial" charset="0"/>
                      </a:endParaRPr>
                    </a:p>
                    <a:p>
                      <a:pPr marL="171450" marR="0" lvl="0" indent="-171450" algn="l" defTabSz="914400" rtl="0" eaLnBrk="1" fontAlgn="base" latinLnBrk="0" hangingPunct="1">
                        <a:lnSpc>
                          <a:spcPct val="100000"/>
                        </a:lnSpc>
                        <a:spcBef>
                          <a:spcPct val="20000"/>
                        </a:spcBef>
                        <a:spcAft>
                          <a:spcPct val="0"/>
                        </a:spcAft>
                        <a:buClr>
                          <a:schemeClr val="hlink"/>
                        </a:buClr>
                        <a:buSzTx/>
                        <a:buFont typeface="Arial" panose="020B0604020202020204" pitchFamily="34" charset="0"/>
                        <a:buChar char="•"/>
                        <a:tabLst/>
                      </a:pPr>
                      <a:r>
                        <a:rPr kumimoji="0" lang="en-US" sz="1200" b="0" i="0" u="none" strike="noStrike" cap="none" normalizeH="0" baseline="0" dirty="0" err="1">
                          <a:ln>
                            <a:noFill/>
                          </a:ln>
                          <a:solidFill>
                            <a:schemeClr val="tx1"/>
                          </a:solidFill>
                          <a:effectLst/>
                          <a:latin typeface="Arial" charset="0"/>
                        </a:rPr>
                        <a:t>Vrijheid</a:t>
                      </a:r>
                      <a:endParaRPr kumimoji="0" lang="en-US" sz="1200" b="0" i="0" u="none" strike="noStrike" cap="none" normalizeH="0" baseline="0" dirty="0">
                        <a:ln>
                          <a:noFill/>
                        </a:ln>
                        <a:solidFill>
                          <a:schemeClr val="tx1"/>
                        </a:solidFill>
                        <a:effectLst/>
                        <a:latin typeface="Arial" charset="0"/>
                      </a:endParaRPr>
                    </a:p>
                    <a:p>
                      <a:pPr marL="171450" marR="0" lvl="0" indent="-171450" algn="l" defTabSz="914400" rtl="0" eaLnBrk="1" fontAlgn="base" latinLnBrk="0" hangingPunct="1">
                        <a:lnSpc>
                          <a:spcPct val="100000"/>
                        </a:lnSpc>
                        <a:spcBef>
                          <a:spcPct val="20000"/>
                        </a:spcBef>
                        <a:spcAft>
                          <a:spcPct val="0"/>
                        </a:spcAft>
                        <a:buClr>
                          <a:schemeClr val="hlink"/>
                        </a:buClr>
                        <a:buSzTx/>
                        <a:buFont typeface="Arial" panose="020B0604020202020204" pitchFamily="34" charset="0"/>
                        <a:buChar char="•"/>
                        <a:tabLst/>
                      </a:pPr>
                      <a:r>
                        <a:rPr kumimoji="0" lang="en-US" sz="1200" b="0" i="0" u="none" strike="noStrike" cap="none" normalizeH="0" baseline="0" dirty="0" err="1">
                          <a:ln>
                            <a:noFill/>
                          </a:ln>
                          <a:solidFill>
                            <a:schemeClr val="tx1"/>
                          </a:solidFill>
                          <a:effectLst/>
                          <a:latin typeface="Arial" charset="0"/>
                        </a:rPr>
                        <a:t>Ambitie</a:t>
                      </a: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rPr>
                        <a:t>Wij-gericht</a:t>
                      </a:r>
                      <a:r>
                        <a:rPr kumimoji="0" lang="en-US" sz="1200" b="0" i="0" u="none" strike="noStrike" cap="none" normalizeH="0" baseline="0" dirty="0">
                          <a:ln>
                            <a:noFill/>
                          </a:ln>
                          <a:solidFill>
                            <a:schemeClr val="tx1"/>
                          </a:solidFill>
                          <a:effectLst/>
                          <a:latin typeface="Arial" charset="0"/>
                        </a:rPr>
                        <a:t>:</a:t>
                      </a:r>
                    </a:p>
                    <a:p>
                      <a:pPr marL="171450" marR="0" lvl="0" indent="-171450" algn="l" defTabSz="914400" rtl="0" eaLnBrk="1" fontAlgn="base" latinLnBrk="0" hangingPunct="1">
                        <a:lnSpc>
                          <a:spcPct val="100000"/>
                        </a:lnSpc>
                        <a:spcBef>
                          <a:spcPct val="20000"/>
                        </a:spcBef>
                        <a:spcAft>
                          <a:spcPct val="0"/>
                        </a:spcAft>
                        <a:buClr>
                          <a:schemeClr val="hlink"/>
                        </a:buClr>
                        <a:buSzTx/>
                        <a:buFont typeface="Arial" panose="020B0604020202020204" pitchFamily="34" charset="0"/>
                        <a:buChar char="•"/>
                        <a:tabLst/>
                      </a:pPr>
                      <a:r>
                        <a:rPr kumimoji="0" lang="en-US" sz="1200" b="0" i="0" u="none" strike="noStrike" cap="none" normalizeH="0" baseline="0" dirty="0" err="1">
                          <a:ln>
                            <a:noFill/>
                          </a:ln>
                          <a:solidFill>
                            <a:schemeClr val="tx1"/>
                          </a:solidFill>
                          <a:effectLst/>
                          <a:latin typeface="Arial" charset="0"/>
                        </a:rPr>
                        <a:t>Groei</a:t>
                      </a:r>
                      <a:endParaRPr kumimoji="0" lang="en-US" sz="1200" b="0" i="0" u="none" strike="noStrike" cap="none" normalizeH="0" baseline="0" dirty="0">
                        <a:ln>
                          <a:noFill/>
                        </a:ln>
                        <a:solidFill>
                          <a:schemeClr val="tx1"/>
                        </a:solidFill>
                        <a:effectLst/>
                        <a:latin typeface="Arial" charset="0"/>
                      </a:endParaRPr>
                    </a:p>
                    <a:p>
                      <a:pPr marL="171450" marR="0" lvl="0" indent="-171450" algn="l" defTabSz="914400" rtl="0" eaLnBrk="1" fontAlgn="base" latinLnBrk="0" hangingPunct="1">
                        <a:lnSpc>
                          <a:spcPct val="100000"/>
                        </a:lnSpc>
                        <a:spcBef>
                          <a:spcPct val="20000"/>
                        </a:spcBef>
                        <a:spcAft>
                          <a:spcPct val="0"/>
                        </a:spcAft>
                        <a:buClr>
                          <a:schemeClr val="hlink"/>
                        </a:buClr>
                        <a:buSzTx/>
                        <a:buFont typeface="Arial" panose="020B0604020202020204" pitchFamily="34" charset="0"/>
                        <a:buChar char="•"/>
                        <a:tabLst/>
                      </a:pPr>
                      <a:r>
                        <a:rPr kumimoji="0" lang="en-US" sz="1200" b="0" i="0" u="none" strike="noStrike" cap="none" normalizeH="0" baseline="0" dirty="0" err="1">
                          <a:ln>
                            <a:noFill/>
                          </a:ln>
                          <a:solidFill>
                            <a:schemeClr val="tx1"/>
                          </a:solidFill>
                          <a:effectLst/>
                          <a:latin typeface="Arial" charset="0"/>
                        </a:rPr>
                        <a:t>Gelijkheid</a:t>
                      </a:r>
                      <a:endParaRPr kumimoji="0" lang="en-US" sz="1200" b="0" i="0" u="none" strike="noStrike" cap="none" normalizeH="0" baseline="0" dirty="0">
                        <a:ln>
                          <a:noFill/>
                        </a:ln>
                        <a:solidFill>
                          <a:schemeClr val="tx1"/>
                        </a:solidFill>
                        <a:effectLst/>
                        <a:latin typeface="Arial" charset="0"/>
                      </a:endParaRPr>
                    </a:p>
                    <a:p>
                      <a:pPr marL="171450" marR="0" lvl="0" indent="-171450" algn="l" defTabSz="914400" rtl="0" eaLnBrk="1" fontAlgn="base" latinLnBrk="0" hangingPunct="1">
                        <a:lnSpc>
                          <a:spcPct val="100000"/>
                        </a:lnSpc>
                        <a:spcBef>
                          <a:spcPct val="20000"/>
                        </a:spcBef>
                        <a:spcAft>
                          <a:spcPct val="0"/>
                        </a:spcAft>
                        <a:buClr>
                          <a:schemeClr val="hlink"/>
                        </a:buClr>
                        <a:buSzTx/>
                        <a:buFont typeface="Arial" panose="020B0604020202020204" pitchFamily="34" charset="0"/>
                        <a:buChar char="•"/>
                        <a:tabLst/>
                      </a:pPr>
                      <a:r>
                        <a:rPr kumimoji="0" lang="en-US" sz="1200" b="0" i="0" u="none" strike="noStrike" cap="none" normalizeH="0" baseline="0" dirty="0" err="1">
                          <a:ln>
                            <a:noFill/>
                          </a:ln>
                          <a:solidFill>
                            <a:schemeClr val="tx1"/>
                          </a:solidFill>
                          <a:effectLst/>
                          <a:latin typeface="Arial" charset="0"/>
                        </a:rPr>
                        <a:t>Behulpzaamheid</a:t>
                      </a: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rPr>
                        <a:t>Wij-gericht</a:t>
                      </a:r>
                      <a:r>
                        <a:rPr kumimoji="0" lang="en-US" sz="1200" b="0" i="0" u="none" strike="noStrike" cap="none" normalizeH="0" baseline="0" dirty="0">
                          <a:ln>
                            <a:noFill/>
                          </a:ln>
                          <a:solidFill>
                            <a:schemeClr val="tx1"/>
                          </a:solidFill>
                          <a:effectLst/>
                          <a:latin typeface="Arial" charset="0"/>
                        </a:rPr>
                        <a:t>:</a:t>
                      </a:r>
                    </a:p>
                    <a:p>
                      <a:pPr marL="171450" marR="0" lvl="0" indent="-171450" algn="l" defTabSz="914400" rtl="0" eaLnBrk="1" fontAlgn="base" latinLnBrk="0" hangingPunct="1">
                        <a:lnSpc>
                          <a:spcPct val="100000"/>
                        </a:lnSpc>
                        <a:spcBef>
                          <a:spcPct val="20000"/>
                        </a:spcBef>
                        <a:spcAft>
                          <a:spcPct val="0"/>
                        </a:spcAft>
                        <a:buClr>
                          <a:schemeClr val="hlink"/>
                        </a:buClr>
                        <a:buSzTx/>
                        <a:buFont typeface="Arial" panose="020B0604020202020204" pitchFamily="34" charset="0"/>
                        <a:buChar char="•"/>
                        <a:tabLst/>
                      </a:pPr>
                      <a:r>
                        <a:rPr kumimoji="0" lang="en-US" sz="1200" b="0" i="0" u="none" strike="noStrike" cap="none" normalizeH="0" baseline="0" dirty="0" err="1">
                          <a:ln>
                            <a:noFill/>
                          </a:ln>
                          <a:solidFill>
                            <a:schemeClr val="tx1"/>
                          </a:solidFill>
                          <a:effectLst/>
                          <a:latin typeface="Arial" charset="0"/>
                        </a:rPr>
                        <a:t>Toewijding</a:t>
                      </a:r>
                      <a:endParaRPr kumimoji="0" lang="en-US" sz="1200" b="0" i="0" u="none" strike="noStrike" cap="none" normalizeH="0" baseline="0" dirty="0">
                        <a:ln>
                          <a:noFill/>
                        </a:ln>
                        <a:solidFill>
                          <a:schemeClr val="tx1"/>
                        </a:solidFill>
                        <a:effectLst/>
                        <a:latin typeface="Arial" charset="0"/>
                      </a:endParaRPr>
                    </a:p>
                    <a:p>
                      <a:pPr marL="171450" marR="0" lvl="0" indent="-171450" algn="l" defTabSz="914400" rtl="0" eaLnBrk="1" fontAlgn="base" latinLnBrk="0" hangingPunct="1">
                        <a:lnSpc>
                          <a:spcPct val="100000"/>
                        </a:lnSpc>
                        <a:spcBef>
                          <a:spcPct val="20000"/>
                        </a:spcBef>
                        <a:spcAft>
                          <a:spcPct val="0"/>
                        </a:spcAft>
                        <a:buClr>
                          <a:schemeClr val="hlink"/>
                        </a:buClr>
                        <a:buSzTx/>
                        <a:buFont typeface="Arial" panose="020B0604020202020204" pitchFamily="34" charset="0"/>
                        <a:buChar char="•"/>
                        <a:tabLst/>
                      </a:pPr>
                      <a:r>
                        <a:rPr kumimoji="0" lang="en-US" sz="1200" b="0" i="0" u="none" strike="noStrike" cap="none" normalizeH="0" baseline="0" dirty="0" err="1">
                          <a:ln>
                            <a:noFill/>
                          </a:ln>
                          <a:solidFill>
                            <a:schemeClr val="tx1"/>
                          </a:solidFill>
                          <a:effectLst/>
                          <a:latin typeface="Arial" charset="0"/>
                        </a:rPr>
                        <a:t>Loyaliteit</a:t>
                      </a:r>
                      <a:endParaRPr kumimoji="0" lang="en-US" sz="1200" b="0" i="0" u="none" strike="noStrike" cap="none" normalizeH="0" baseline="0" dirty="0">
                        <a:ln>
                          <a:noFill/>
                        </a:ln>
                        <a:solidFill>
                          <a:schemeClr val="tx1"/>
                        </a:solidFill>
                        <a:effectLst/>
                        <a:latin typeface="Arial" charset="0"/>
                      </a:endParaRPr>
                    </a:p>
                    <a:p>
                      <a:pPr marL="171450" marR="0" lvl="0" indent="-171450" algn="l" defTabSz="914400" rtl="0" eaLnBrk="1" fontAlgn="base" latinLnBrk="0" hangingPunct="1">
                        <a:lnSpc>
                          <a:spcPct val="100000"/>
                        </a:lnSpc>
                        <a:spcBef>
                          <a:spcPct val="20000"/>
                        </a:spcBef>
                        <a:spcAft>
                          <a:spcPct val="0"/>
                        </a:spcAft>
                        <a:buClr>
                          <a:schemeClr val="hlink"/>
                        </a:buClr>
                        <a:buSzTx/>
                        <a:buFont typeface="Arial" panose="020B0604020202020204" pitchFamily="34" charset="0"/>
                        <a:buChar char="•"/>
                        <a:tabLst/>
                      </a:pPr>
                      <a:r>
                        <a:rPr kumimoji="0" lang="en-US" sz="1200" b="0" i="0" u="none" strike="noStrike" cap="none" normalizeH="0" baseline="0" dirty="0" err="1">
                          <a:ln>
                            <a:noFill/>
                          </a:ln>
                          <a:solidFill>
                            <a:schemeClr val="tx1"/>
                          </a:solidFill>
                          <a:effectLst/>
                          <a:latin typeface="Arial" charset="0"/>
                        </a:rPr>
                        <a:t>Betrouwbaarheid</a:t>
                      </a: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rPr>
                        <a:t>Ik-gericht</a:t>
                      </a:r>
                      <a:r>
                        <a:rPr kumimoji="0" lang="en-US" sz="1200" b="0" i="0" u="none" strike="noStrike" cap="none" normalizeH="0" baseline="0" dirty="0">
                          <a:ln>
                            <a:noFill/>
                          </a:ln>
                          <a:solidFill>
                            <a:schemeClr val="tx1"/>
                          </a:solidFill>
                          <a:effectLst/>
                          <a:latin typeface="Arial" charset="0"/>
                        </a:rPr>
                        <a:t>:</a:t>
                      </a:r>
                    </a:p>
                    <a:p>
                      <a:pPr marL="171450" marR="0" lvl="0" indent="-171450" algn="l" defTabSz="914400" rtl="0" eaLnBrk="1" fontAlgn="base" latinLnBrk="0" hangingPunct="1">
                        <a:lnSpc>
                          <a:spcPct val="100000"/>
                        </a:lnSpc>
                        <a:spcBef>
                          <a:spcPct val="20000"/>
                        </a:spcBef>
                        <a:spcAft>
                          <a:spcPct val="0"/>
                        </a:spcAft>
                        <a:buClr>
                          <a:schemeClr val="hlink"/>
                        </a:buClr>
                        <a:buSzTx/>
                        <a:buFont typeface="Arial" panose="020B0604020202020204" pitchFamily="34" charset="0"/>
                        <a:buChar char="•"/>
                        <a:tabLst/>
                      </a:pPr>
                      <a:r>
                        <a:rPr kumimoji="0" lang="en-US" sz="1200" b="0" i="0" u="none" strike="noStrike" cap="none" normalizeH="0" baseline="0" dirty="0">
                          <a:ln>
                            <a:noFill/>
                          </a:ln>
                          <a:solidFill>
                            <a:schemeClr val="tx1"/>
                          </a:solidFill>
                          <a:effectLst/>
                          <a:latin typeface="Arial" charset="0"/>
                        </a:rPr>
                        <a:t>Logica</a:t>
                      </a:r>
                    </a:p>
                    <a:p>
                      <a:pPr marL="171450" marR="0" lvl="0" indent="-171450" algn="l" defTabSz="914400" rtl="0" eaLnBrk="1" fontAlgn="base" latinLnBrk="0" hangingPunct="1">
                        <a:lnSpc>
                          <a:spcPct val="100000"/>
                        </a:lnSpc>
                        <a:spcBef>
                          <a:spcPct val="20000"/>
                        </a:spcBef>
                        <a:spcAft>
                          <a:spcPct val="0"/>
                        </a:spcAft>
                        <a:buClr>
                          <a:schemeClr val="hlink"/>
                        </a:buClr>
                        <a:buSzTx/>
                        <a:buFont typeface="Arial" panose="020B0604020202020204" pitchFamily="34" charset="0"/>
                        <a:buChar char="•"/>
                        <a:tabLst/>
                      </a:pPr>
                      <a:r>
                        <a:rPr kumimoji="0" lang="en-US" sz="1200" b="0" i="0" u="none" strike="noStrike" cap="none" normalizeH="0" baseline="0" dirty="0" err="1">
                          <a:ln>
                            <a:noFill/>
                          </a:ln>
                          <a:solidFill>
                            <a:schemeClr val="tx1"/>
                          </a:solidFill>
                          <a:effectLst/>
                          <a:latin typeface="Arial" charset="0"/>
                        </a:rPr>
                        <a:t>Rechtvaardigheid</a:t>
                      </a:r>
                      <a:endParaRPr kumimoji="0" lang="en-US" sz="1200" b="0" i="0" u="none" strike="noStrike" cap="none" normalizeH="0" baseline="0" dirty="0">
                        <a:ln>
                          <a:noFill/>
                        </a:ln>
                        <a:solidFill>
                          <a:schemeClr val="tx1"/>
                        </a:solidFill>
                        <a:effectLst/>
                        <a:latin typeface="Arial" charset="0"/>
                      </a:endParaRPr>
                    </a:p>
                    <a:p>
                      <a:pPr marL="171450" marR="0" lvl="0" indent="-171450" algn="l" defTabSz="914400" rtl="0" eaLnBrk="1" fontAlgn="base" latinLnBrk="0" hangingPunct="1">
                        <a:lnSpc>
                          <a:spcPct val="100000"/>
                        </a:lnSpc>
                        <a:spcBef>
                          <a:spcPct val="20000"/>
                        </a:spcBef>
                        <a:spcAft>
                          <a:spcPct val="0"/>
                        </a:spcAft>
                        <a:buClr>
                          <a:schemeClr val="hlink"/>
                        </a:buClr>
                        <a:buSzTx/>
                        <a:buFont typeface="Arial" panose="020B0604020202020204" pitchFamily="34" charset="0"/>
                        <a:buChar char="•"/>
                        <a:tabLst/>
                      </a:pPr>
                      <a:r>
                        <a:rPr kumimoji="0" lang="en-US" sz="1200" b="0" i="0" u="none" strike="noStrike" cap="none" normalizeH="0" baseline="0" dirty="0" err="1">
                          <a:ln>
                            <a:noFill/>
                          </a:ln>
                          <a:solidFill>
                            <a:schemeClr val="tx1"/>
                          </a:solidFill>
                          <a:effectLst/>
                          <a:latin typeface="Arial" charset="0"/>
                        </a:rPr>
                        <a:t>Innerlijke</a:t>
                      </a:r>
                      <a:r>
                        <a:rPr kumimoji="0" lang="en-US" sz="1200" b="0" i="0" u="none" strike="noStrike" cap="none" normalizeH="0" baseline="0" dirty="0">
                          <a:ln>
                            <a:noFill/>
                          </a:ln>
                          <a:solidFill>
                            <a:schemeClr val="tx1"/>
                          </a:solidFill>
                          <a:effectLst/>
                          <a:latin typeface="Arial" charset="0"/>
                        </a:rPr>
                        <a:t> </a:t>
                      </a:r>
                      <a:r>
                        <a:rPr kumimoji="0" lang="en-US" sz="1200" b="0" i="0" u="none" strike="noStrike" cap="none" normalizeH="0" baseline="0" dirty="0" err="1">
                          <a:ln>
                            <a:noFill/>
                          </a:ln>
                          <a:solidFill>
                            <a:schemeClr val="tx1"/>
                          </a:solidFill>
                          <a:effectLst/>
                          <a:latin typeface="Arial" charset="0"/>
                        </a:rPr>
                        <a:t>congruentie</a:t>
                      </a: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83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charset="0"/>
                        </a:rPr>
                        <a:t>Angst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7C80">
                        <a:alpha val="39999"/>
                      </a:srgbClr>
                    </a:solidFill>
                  </a:tcPr>
                </a:tc>
                <a:tc>
                  <a:txBody>
                    <a:bodyPr/>
                    <a:lstStyle/>
                    <a:p>
                      <a:pPr marL="0" indent="0">
                        <a:buFont typeface="Arial" panose="020B0604020202020204" pitchFamily="34" charset="0"/>
                        <a:buNone/>
                      </a:pPr>
                      <a:r>
                        <a:rPr lang="nl-NL" sz="1200" dirty="0"/>
                        <a:t>Verlies van persoonlijk welzijn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l-NL" sz="1200" b="0" i="0" u="none" strike="noStrike" cap="none" normalizeH="0" baseline="0" dirty="0">
                          <a:ln>
                            <a:noFill/>
                          </a:ln>
                          <a:solidFill>
                            <a:schemeClr val="tx1"/>
                          </a:solidFill>
                          <a:effectLst/>
                          <a:latin typeface="Arial" charset="0"/>
                        </a:rPr>
                        <a:t>Niet voldoen aan eigen en andermans doelstellingen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indent="0">
                        <a:buFont typeface="Arial" panose="020B0604020202020204" pitchFamily="34" charset="0"/>
                        <a:buNone/>
                      </a:pPr>
                      <a:r>
                        <a:rPr lang="nl-NL" sz="1200" dirty="0"/>
                        <a:t>Verlies van sociaal respect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indent="0">
                        <a:buFont typeface="Arial" panose="020B0604020202020204" pitchFamily="34" charset="0"/>
                        <a:buNone/>
                      </a:pPr>
                      <a:r>
                        <a:rPr lang="nl-NL" sz="1200" dirty="0"/>
                        <a:t>Gebrek aan innerlijke congruentie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83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a:ln>
                            <a:noFill/>
                          </a:ln>
                          <a:solidFill>
                            <a:schemeClr val="tx1"/>
                          </a:solidFill>
                          <a:effectLst/>
                          <a:latin typeface="Arial" charset="0"/>
                        </a:rPr>
                        <a:t>Algemeen</a:t>
                      </a:r>
                      <a:r>
                        <a:rPr kumimoji="0" lang="en-US" sz="1600" b="1" i="0" u="none" strike="noStrike" cap="none" normalizeH="0" baseline="0" dirty="0">
                          <a:ln>
                            <a:noFill/>
                          </a:ln>
                          <a:solidFill>
                            <a:schemeClr val="tx1"/>
                          </a:solidFill>
                          <a:effectLst/>
                          <a:latin typeface="Arial" charset="0"/>
                        </a:rPr>
                        <a:t> </a:t>
                      </a:r>
                      <a:r>
                        <a:rPr kumimoji="0" lang="en-US" sz="1600" b="1" i="0" u="none" strike="noStrike" cap="none" normalizeH="0" baseline="0" dirty="0" err="1">
                          <a:ln>
                            <a:noFill/>
                          </a:ln>
                          <a:solidFill>
                            <a:schemeClr val="tx1"/>
                          </a:solidFill>
                          <a:effectLst/>
                          <a:latin typeface="Arial" charset="0"/>
                        </a:rPr>
                        <a:t>perspectief</a:t>
                      </a:r>
                      <a:endParaRPr kumimoji="0" lang="en-US" sz="1600" b="1"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7C80">
                        <a:alpha val="39999"/>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rPr>
                        <a:t>Overleven</a:t>
                      </a:r>
                      <a:r>
                        <a:rPr kumimoji="0" lang="en-US" sz="1200" b="0" i="0" u="none" strike="noStrike" cap="none" normalizeH="0" baseline="0" dirty="0">
                          <a:ln>
                            <a:noFill/>
                          </a:ln>
                          <a:solidFill>
                            <a:schemeClr val="tx1"/>
                          </a:solidFill>
                          <a:effectLst/>
                          <a:latin typeface="Arial" charset="0"/>
                        </a:rPr>
                        <a:t> en </a:t>
                      </a:r>
                      <a:r>
                        <a:rPr kumimoji="0" lang="en-US" sz="1200" b="0" i="0" u="none" strike="noStrike" cap="none" normalizeH="0" baseline="0" dirty="0" err="1">
                          <a:ln>
                            <a:noFill/>
                          </a:ln>
                          <a:solidFill>
                            <a:schemeClr val="tx1"/>
                          </a:solidFill>
                          <a:effectLst/>
                          <a:latin typeface="Arial" charset="0"/>
                        </a:rPr>
                        <a:t>pessimisme</a:t>
                      </a: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(Persoonlijke) </a:t>
                      </a:r>
                      <a:r>
                        <a:rPr kumimoji="0" lang="en-US" sz="1200" b="0" i="0" u="none" strike="noStrike" cap="none" normalizeH="0" baseline="0" dirty="0" err="1">
                          <a:ln>
                            <a:noFill/>
                          </a:ln>
                          <a:solidFill>
                            <a:schemeClr val="tx1"/>
                          </a:solidFill>
                          <a:effectLst/>
                          <a:latin typeface="Arial" charset="0"/>
                        </a:rPr>
                        <a:t>groei</a:t>
                      </a:r>
                      <a:r>
                        <a:rPr kumimoji="0" lang="en-US" sz="1200" b="0" i="0" u="none" strike="noStrike" cap="none" normalizeH="0" baseline="0" dirty="0">
                          <a:ln>
                            <a:noFill/>
                          </a:ln>
                          <a:solidFill>
                            <a:schemeClr val="tx1"/>
                          </a:solidFill>
                          <a:effectLst/>
                          <a:latin typeface="Arial" charset="0"/>
                        </a:rPr>
                        <a:t> en optimism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rPr>
                        <a:t>Loyaliteit</a:t>
                      </a:r>
                      <a:r>
                        <a:rPr kumimoji="0" lang="en-US" sz="1200" b="0" i="0" u="none" strike="noStrike" cap="none" normalizeH="0" baseline="0" dirty="0">
                          <a:ln>
                            <a:noFill/>
                          </a:ln>
                          <a:solidFill>
                            <a:schemeClr val="tx1"/>
                          </a:solidFill>
                          <a:effectLst/>
                          <a:latin typeface="Arial" charset="0"/>
                        </a:rPr>
                        <a:t> (</a:t>
                      </a:r>
                      <a:r>
                        <a:rPr kumimoji="0" lang="en-US" sz="1200" b="0" i="0" u="none" strike="noStrike" cap="none" normalizeH="0" baseline="0" dirty="0" err="1">
                          <a:ln>
                            <a:noFill/>
                          </a:ln>
                          <a:solidFill>
                            <a:schemeClr val="tx1"/>
                          </a:solidFill>
                          <a:effectLst/>
                          <a:latin typeface="Arial" charset="0"/>
                        </a:rPr>
                        <a:t>naar</a:t>
                      </a:r>
                      <a:r>
                        <a:rPr kumimoji="0" lang="en-US" sz="1200" b="0" i="0" u="none" strike="noStrike" cap="none" normalizeH="0" baseline="0" dirty="0">
                          <a:ln>
                            <a:noFill/>
                          </a:ln>
                          <a:solidFill>
                            <a:schemeClr val="tx1"/>
                          </a:solidFill>
                          <a:effectLst/>
                          <a:latin typeface="Arial" charset="0"/>
                        </a:rPr>
                        <a:t> </a:t>
                      </a:r>
                      <a:r>
                        <a:rPr kumimoji="0" lang="en-US" sz="1200" b="0" i="0" u="none" strike="noStrike" cap="none" normalizeH="0" baseline="0" dirty="0" err="1">
                          <a:ln>
                            <a:noFill/>
                          </a:ln>
                          <a:solidFill>
                            <a:schemeClr val="tx1"/>
                          </a:solidFill>
                          <a:effectLst/>
                          <a:latin typeface="Arial" charset="0"/>
                        </a:rPr>
                        <a:t>anderen</a:t>
                      </a:r>
                      <a:r>
                        <a:rPr kumimoji="0" lang="en-US" sz="1200" b="0" i="0" u="none" strike="noStrike" cap="none" normalizeH="0" baseline="0" dirty="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rPr>
                        <a:t>Pragmatisch</a:t>
                      </a:r>
                      <a:r>
                        <a:rPr kumimoji="0" lang="en-US" sz="1200" b="0" i="0" u="none" strike="noStrike" cap="none" normalizeH="0" baseline="0" dirty="0">
                          <a:ln>
                            <a:noFill/>
                          </a:ln>
                          <a:solidFill>
                            <a:schemeClr val="tx1"/>
                          </a:solidFill>
                          <a:effectLst/>
                          <a:latin typeface="Arial" charset="0"/>
                        </a:rPr>
                        <a:t> </a:t>
                      </a:r>
                      <a:r>
                        <a:rPr kumimoji="0" lang="en-US" sz="1200" b="0" i="0" u="none" strike="noStrike" cap="none" normalizeH="0" baseline="0" dirty="0" err="1">
                          <a:ln>
                            <a:noFill/>
                          </a:ln>
                          <a:solidFill>
                            <a:schemeClr val="tx1"/>
                          </a:solidFill>
                          <a:effectLst/>
                          <a:latin typeface="Arial" charset="0"/>
                        </a:rPr>
                        <a:t>idealisme</a:t>
                      </a:r>
                      <a:r>
                        <a:rPr kumimoji="0" lang="en-US" sz="1200" b="0" i="0" u="none" strike="noStrike" cap="none" normalizeH="0" baseline="0" dirty="0">
                          <a:ln>
                            <a:noFill/>
                          </a:ln>
                          <a:solidFill>
                            <a:schemeClr val="tx1"/>
                          </a:solidFill>
                          <a:effectLst/>
                          <a:latin typeface="Arial" charset="0"/>
                        </a:rPr>
                        <a:t> en </a:t>
                      </a:r>
                      <a:r>
                        <a:rPr kumimoji="0" lang="en-US" sz="1200" b="0" i="0" u="none" strike="noStrike" cap="none" normalizeH="0" baseline="0" dirty="0" err="1">
                          <a:ln>
                            <a:noFill/>
                          </a:ln>
                          <a:solidFill>
                            <a:schemeClr val="tx1"/>
                          </a:solidFill>
                          <a:effectLst/>
                          <a:latin typeface="Arial" charset="0"/>
                        </a:rPr>
                        <a:t>gematigdheid</a:t>
                      </a: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4968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a:ln>
                            <a:noFill/>
                          </a:ln>
                          <a:solidFill>
                            <a:schemeClr val="tx1"/>
                          </a:solidFill>
                          <a:effectLst/>
                          <a:latin typeface="Arial" charset="0"/>
                        </a:rPr>
                        <a:t>Werkwijze</a:t>
                      </a:r>
                      <a:endParaRPr kumimoji="0" lang="en-US" sz="1600" b="1"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7C80">
                        <a:alpha val="39999"/>
                      </a:srgbClr>
                    </a:solidFill>
                  </a:tcPr>
                </a:tc>
                <a:tc>
                  <a:txBody>
                    <a:bodyPr/>
                    <a:lstStyle/>
                    <a:p>
                      <a:pPr marL="0" indent="0">
                        <a:buFont typeface="Arial" panose="020B0604020202020204" pitchFamily="34" charset="0"/>
                        <a:buNone/>
                      </a:pPr>
                      <a:r>
                        <a:rPr lang="nl-NL" sz="1200" dirty="0"/>
                        <a:t>Zelf expressieve individualiteit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indent="0">
                        <a:buFont typeface="Arial" panose="020B0604020202020204" pitchFamily="34" charset="0"/>
                        <a:buNone/>
                      </a:pPr>
                      <a:r>
                        <a:rPr lang="nl-NL" sz="1200" dirty="0"/>
                        <a:t>Maatschappelijk geaccepteerde individualiteit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Hard </a:t>
                      </a:r>
                      <a:r>
                        <a:rPr kumimoji="0" lang="en-US" sz="1200" b="0" i="0" u="none" strike="noStrike" cap="none" normalizeH="0" baseline="0" dirty="0" err="1">
                          <a:ln>
                            <a:noFill/>
                          </a:ln>
                          <a:solidFill>
                            <a:schemeClr val="tx1"/>
                          </a:solidFill>
                          <a:effectLst/>
                          <a:latin typeface="Arial" charset="0"/>
                        </a:rPr>
                        <a:t>werken</a:t>
                      </a:r>
                      <a:r>
                        <a:rPr kumimoji="0" lang="en-US" sz="1200" b="0" i="0" u="none" strike="noStrike" cap="none" normalizeH="0" baseline="0" dirty="0">
                          <a:ln>
                            <a:noFill/>
                          </a:ln>
                          <a:solidFill>
                            <a:schemeClr val="tx1"/>
                          </a:solidFill>
                          <a:effectLst/>
                          <a:latin typeface="Arial" charset="0"/>
                        </a:rPr>
                        <a:t> en </a:t>
                      </a:r>
                      <a:r>
                        <a:rPr kumimoji="0" lang="en-US" sz="1200" b="0" i="0" u="none" strike="noStrike" cap="none" normalizeH="0" baseline="0" dirty="0" err="1">
                          <a:ln>
                            <a:noFill/>
                          </a:ln>
                          <a:solidFill>
                            <a:schemeClr val="tx1"/>
                          </a:solidFill>
                          <a:effectLst/>
                          <a:latin typeface="Arial" charset="0"/>
                        </a:rPr>
                        <a:t>conformeren</a:t>
                      </a:r>
                      <a:r>
                        <a:rPr kumimoji="0" lang="en-US" sz="1200" b="0" i="0" u="none" strike="noStrike" cap="none" normalizeH="0" baseline="0" dirty="0">
                          <a:ln>
                            <a:noFill/>
                          </a:ln>
                          <a:solidFill>
                            <a:schemeClr val="tx1"/>
                          </a:solidFill>
                          <a:effectLst/>
                          <a:latin typeface="Arial" charset="0"/>
                        </a:rPr>
                        <a:t> (</a:t>
                      </a:r>
                      <a:r>
                        <a:rPr kumimoji="0" lang="en-US" sz="1200" b="0" i="0" u="none" strike="noStrike" cap="none" normalizeH="0" baseline="0" dirty="0" err="1">
                          <a:ln>
                            <a:noFill/>
                          </a:ln>
                          <a:solidFill>
                            <a:schemeClr val="tx1"/>
                          </a:solidFill>
                          <a:effectLst/>
                          <a:latin typeface="Arial" charset="0"/>
                        </a:rPr>
                        <a:t>aan</a:t>
                      </a:r>
                      <a:r>
                        <a:rPr kumimoji="0" lang="en-US" sz="1200" b="0" i="0" u="none" strike="noStrike" cap="none" normalizeH="0" baseline="0" dirty="0">
                          <a:ln>
                            <a:noFill/>
                          </a:ln>
                          <a:solidFill>
                            <a:schemeClr val="tx1"/>
                          </a:solidFill>
                          <a:effectLst/>
                          <a:latin typeface="Arial" charset="0"/>
                        </a:rPr>
                        <a:t> de </a:t>
                      </a:r>
                      <a:r>
                        <a:rPr kumimoji="0" lang="en-US" sz="1200" b="0" i="0" u="none" strike="noStrike" cap="none" normalizeH="0" baseline="0" dirty="0" err="1">
                          <a:ln>
                            <a:noFill/>
                          </a:ln>
                          <a:solidFill>
                            <a:schemeClr val="tx1"/>
                          </a:solidFill>
                          <a:effectLst/>
                          <a:latin typeface="Arial" charset="0"/>
                        </a:rPr>
                        <a:t>groep</a:t>
                      </a:r>
                      <a:r>
                        <a:rPr kumimoji="0" lang="en-US" sz="1200" b="0" i="0" u="none" strike="noStrike" cap="none" normalizeH="0" baseline="0" dirty="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indent="0">
                        <a:buFont typeface="Arial" panose="020B0604020202020204" pitchFamily="34" charset="0"/>
                        <a:buNone/>
                      </a:pPr>
                      <a:r>
                        <a:rPr lang="nl-NL" sz="1200" dirty="0"/>
                        <a:t>Persoonlijk activisme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8220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a:ln>
                            <a:noFill/>
                          </a:ln>
                          <a:solidFill>
                            <a:schemeClr val="tx1"/>
                          </a:solidFill>
                          <a:effectLst/>
                          <a:latin typeface="Arial" charset="0"/>
                        </a:rPr>
                        <a:t>Ontwikkel</a:t>
                      </a:r>
                      <a:r>
                        <a:rPr kumimoji="0" lang="en-US" sz="1600" b="1" i="0" u="none" strike="noStrike" cap="none" normalizeH="0" baseline="0" dirty="0">
                          <a:ln>
                            <a:noFill/>
                          </a:ln>
                          <a:solidFill>
                            <a:schemeClr val="tx1"/>
                          </a:solidFill>
                          <a:effectLst/>
                          <a:latin typeface="Arial" charset="0"/>
                        </a:rPr>
                        <a:t> </a:t>
                      </a:r>
                      <a:r>
                        <a:rPr kumimoji="0" lang="en-US" sz="1600" b="1" i="0" u="none" strike="noStrike" cap="none" normalizeH="0" baseline="0" dirty="0" err="1">
                          <a:ln>
                            <a:noFill/>
                          </a:ln>
                          <a:solidFill>
                            <a:schemeClr val="tx1"/>
                          </a:solidFill>
                          <a:effectLst/>
                          <a:latin typeface="Arial" charset="0"/>
                        </a:rPr>
                        <a:t>acties</a:t>
                      </a:r>
                      <a:endParaRPr kumimoji="0" lang="en-US" sz="1600" b="1"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7C80">
                        <a:alpha val="39999"/>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l-NL" sz="1200" b="0" i="0" u="none" strike="noStrike" cap="none" normalizeH="0" baseline="0" dirty="0">
                          <a:ln>
                            <a:noFill/>
                          </a:ln>
                          <a:solidFill>
                            <a:schemeClr val="tx1"/>
                          </a:solidFill>
                          <a:effectLst/>
                          <a:latin typeface="Arial" charset="0"/>
                        </a:rPr>
                        <a:t>rekening houden met de impact op anderen en betrokkenheid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l-NL" sz="1200" b="0" i="0" u="none" strike="noStrike" cap="none" normalizeH="0" baseline="0" dirty="0">
                          <a:ln>
                            <a:noFill/>
                          </a:ln>
                          <a:solidFill>
                            <a:schemeClr val="tx1"/>
                          </a:solidFill>
                          <a:effectLst/>
                          <a:latin typeface="Arial" charset="0"/>
                        </a:rPr>
                        <a:t>Bewust zijn van de ervaring uit het verleden en realistisch idealisme</a:t>
                      </a: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rPr>
                        <a:t>Flexibiliteit</a:t>
                      </a:r>
                      <a:r>
                        <a:rPr kumimoji="0" lang="en-US" sz="1200" b="0" i="0" u="none" strike="noStrike" cap="none" normalizeH="0" baseline="0" dirty="0">
                          <a:ln>
                            <a:noFill/>
                          </a:ln>
                          <a:solidFill>
                            <a:schemeClr val="tx1"/>
                          </a:solidFill>
                          <a:effectLst/>
                          <a:latin typeface="Arial" charset="0"/>
                        </a:rPr>
                        <a:t> en </a:t>
                      </a:r>
                      <a:r>
                        <a:rPr kumimoji="0" lang="en-US" sz="1200" b="0" i="0" u="none" strike="noStrike" cap="none" normalizeH="0" baseline="0" dirty="0" err="1">
                          <a:ln>
                            <a:noFill/>
                          </a:ln>
                          <a:solidFill>
                            <a:schemeClr val="tx1"/>
                          </a:solidFill>
                          <a:effectLst/>
                          <a:latin typeface="Arial" charset="0"/>
                        </a:rPr>
                        <a:t>samenwerking</a:t>
                      </a: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rPr>
                        <a:t>Grotere</a:t>
                      </a:r>
                      <a:r>
                        <a:rPr kumimoji="0" lang="en-US" sz="1200" b="0" i="0" u="none" strike="noStrike" cap="none" normalizeH="0" baseline="0" dirty="0">
                          <a:ln>
                            <a:noFill/>
                          </a:ln>
                          <a:solidFill>
                            <a:schemeClr val="tx1"/>
                          </a:solidFill>
                          <a:effectLst/>
                          <a:latin typeface="Arial" charset="0"/>
                        </a:rPr>
                        <a:t> </a:t>
                      </a:r>
                      <a:r>
                        <a:rPr kumimoji="0" lang="en-US" sz="1200" b="0" i="0" u="none" strike="noStrike" cap="none" normalizeH="0" baseline="0" dirty="0" err="1">
                          <a:ln>
                            <a:noFill/>
                          </a:ln>
                          <a:solidFill>
                            <a:schemeClr val="tx1"/>
                          </a:solidFill>
                          <a:effectLst/>
                          <a:latin typeface="Arial" charset="0"/>
                        </a:rPr>
                        <a:t>zelf-verdraagzaamheid</a:t>
                      </a:r>
                      <a:r>
                        <a:rPr kumimoji="0" lang="en-US" sz="1200" b="0" i="0" u="none" strike="noStrike" cap="none" normalizeH="0" baseline="0" dirty="0">
                          <a:ln>
                            <a:noFill/>
                          </a:ln>
                          <a:solidFill>
                            <a:schemeClr val="tx1"/>
                          </a:solidFill>
                          <a:effectLst/>
                          <a:latin typeface="Arial" charset="0"/>
                        </a:rPr>
                        <a:t> en </a:t>
                      </a:r>
                      <a:r>
                        <a:rPr kumimoji="0" lang="en-US" sz="1200" b="0" i="0" u="none" strike="noStrike" cap="none" normalizeH="0" baseline="0" dirty="0" err="1">
                          <a:ln>
                            <a:noFill/>
                          </a:ln>
                          <a:solidFill>
                            <a:schemeClr val="tx1"/>
                          </a:solidFill>
                          <a:effectLst/>
                          <a:latin typeface="Arial" charset="0"/>
                        </a:rPr>
                        <a:t>selectiviteit</a:t>
                      </a: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4968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a:ln>
                            <a:noFill/>
                          </a:ln>
                          <a:solidFill>
                            <a:schemeClr val="tx1"/>
                          </a:solidFill>
                          <a:effectLst/>
                          <a:latin typeface="Arial" charset="0"/>
                        </a:rPr>
                        <a:t>Actieplan</a:t>
                      </a:r>
                      <a:endParaRPr kumimoji="0" lang="en-US" sz="1600" b="1"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7C80">
                        <a:alpha val="39999"/>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l-NL" sz="1200" b="0" i="0" u="none" strike="noStrike" cap="none" normalizeH="0" baseline="0" dirty="0">
                          <a:ln>
                            <a:noFill/>
                          </a:ln>
                          <a:solidFill>
                            <a:schemeClr val="tx1"/>
                          </a:solidFill>
                          <a:effectLst/>
                          <a:latin typeface="Arial" charset="0"/>
                        </a:rPr>
                        <a:t>Ontwikkeling van meer betrokkenheid en tolerantie</a:t>
                      </a: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l-NL" sz="1200" b="0" i="0" u="none" strike="noStrike" cap="none" normalizeH="0" baseline="0" dirty="0">
                          <a:ln>
                            <a:noFill/>
                          </a:ln>
                          <a:solidFill>
                            <a:schemeClr val="tx1"/>
                          </a:solidFill>
                          <a:effectLst/>
                          <a:latin typeface="Arial" charset="0"/>
                        </a:rPr>
                        <a:t>Ontwikkelen van objectiviteit en realistisch idealisme</a:t>
                      </a: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l-NL" sz="1200" b="0" i="0" u="none" strike="noStrike" cap="none" normalizeH="0" baseline="0" dirty="0">
                          <a:ln>
                            <a:noFill/>
                          </a:ln>
                          <a:solidFill>
                            <a:schemeClr val="tx1"/>
                          </a:solidFill>
                          <a:effectLst/>
                          <a:latin typeface="Arial" charset="0"/>
                        </a:rPr>
                        <a:t>Ontwikkelen van flexibiliteit en samenwerking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nl-NL" sz="1200" b="0" i="0" u="none" strike="noStrike" cap="none" normalizeH="0" baseline="0" dirty="0">
                          <a:ln>
                            <a:noFill/>
                          </a:ln>
                          <a:solidFill>
                            <a:schemeClr val="tx1"/>
                          </a:solidFill>
                          <a:effectLst/>
                          <a:latin typeface="Arial" charset="0"/>
                        </a:rPr>
                        <a:t>Ontwikkelen van een grotere selectiviteit en zelftolerantie</a:t>
                      </a: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448154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94A138-3382-47E3-8301-D7F76F0BF524}"/>
              </a:ext>
            </a:extLst>
          </p:cNvPr>
          <p:cNvSpPr>
            <a:spLocks noGrp="1"/>
          </p:cNvSpPr>
          <p:nvPr>
            <p:ph type="title"/>
          </p:nvPr>
        </p:nvSpPr>
        <p:spPr/>
        <p:txBody>
          <a:bodyPr/>
          <a:lstStyle/>
          <a:p>
            <a:endParaRPr lang="nl-NL" dirty="0"/>
          </a:p>
        </p:txBody>
      </p:sp>
      <p:sp>
        <p:nvSpPr>
          <p:cNvPr id="3" name="Tijdelijke aanduiding voor inhoud 2">
            <a:extLst>
              <a:ext uri="{FF2B5EF4-FFF2-40B4-BE49-F238E27FC236}">
                <a16:creationId xmlns:a16="http://schemas.microsoft.com/office/drawing/2014/main" id="{C516281C-DD77-4D8A-9F55-C86E207F7687}"/>
              </a:ext>
            </a:extLst>
          </p:cNvPr>
          <p:cNvSpPr>
            <a:spLocks noGrp="1"/>
          </p:cNvSpPr>
          <p:nvPr>
            <p:ph idx="1"/>
          </p:nvPr>
        </p:nvSpPr>
        <p:spPr/>
        <p:txBody>
          <a:bodyPr/>
          <a:lstStyle/>
          <a:p>
            <a:endParaRPr lang="nl-NL" dirty="0"/>
          </a:p>
        </p:txBody>
      </p:sp>
      <p:sp>
        <p:nvSpPr>
          <p:cNvPr id="4" name="Tekstvak 3">
            <a:extLst>
              <a:ext uri="{FF2B5EF4-FFF2-40B4-BE49-F238E27FC236}">
                <a16:creationId xmlns:a16="http://schemas.microsoft.com/office/drawing/2014/main" id="{F48E5993-D826-4C7F-A496-9A859E18EA15}"/>
              </a:ext>
            </a:extLst>
          </p:cNvPr>
          <p:cNvSpPr txBox="1"/>
          <p:nvPr/>
        </p:nvSpPr>
        <p:spPr>
          <a:xfrm>
            <a:off x="4114800" y="2973977"/>
            <a:ext cx="914400" cy="914400"/>
          </a:xfrm>
          <a:prstGeom prst="rect">
            <a:avLst/>
          </a:prstGeom>
          <a:noFill/>
        </p:spPr>
        <p:txBody>
          <a:bodyPr wrap="square" rtlCol="0">
            <a:spAutoFit/>
          </a:bodyPr>
          <a:lstStyle/>
          <a:p>
            <a:endParaRPr lang="nl-NL"/>
          </a:p>
        </p:txBody>
      </p:sp>
      <p:sp>
        <p:nvSpPr>
          <p:cNvPr id="5" name="Tekstvak 4">
            <a:extLst>
              <a:ext uri="{FF2B5EF4-FFF2-40B4-BE49-F238E27FC236}">
                <a16:creationId xmlns:a16="http://schemas.microsoft.com/office/drawing/2014/main" id="{5F6C9E6F-C444-4E20-96D7-8D96DF0E2265}"/>
              </a:ext>
            </a:extLst>
          </p:cNvPr>
          <p:cNvSpPr txBox="1"/>
          <p:nvPr/>
        </p:nvSpPr>
        <p:spPr>
          <a:xfrm>
            <a:off x="2447764" y="1582340"/>
            <a:ext cx="4248472" cy="3693319"/>
          </a:xfrm>
          <a:prstGeom prst="rect">
            <a:avLst/>
          </a:prstGeom>
          <a:noFill/>
        </p:spPr>
        <p:txBody>
          <a:bodyPr wrap="square" rtlCol="0">
            <a:spAutoFit/>
          </a:bodyPr>
          <a:lstStyle/>
          <a:p>
            <a:r>
              <a:rPr lang="nl-NL" dirty="0">
                <a:highlight>
                  <a:srgbClr val="FFFF00"/>
                </a:highlight>
              </a:rPr>
              <a:t>Nog toevoegen? Dia’s van personen met dezelfde waarden maar verschillende DISC stijlen en andersom…</a:t>
            </a:r>
          </a:p>
          <a:p>
            <a:endParaRPr lang="nl-NL" dirty="0">
              <a:highlight>
                <a:srgbClr val="FFFF00"/>
              </a:highlight>
            </a:endParaRPr>
          </a:p>
          <a:p>
            <a:endParaRPr lang="nl-NL" dirty="0">
              <a:highlight>
                <a:srgbClr val="FFFF00"/>
              </a:highlight>
            </a:endParaRPr>
          </a:p>
          <a:p>
            <a:endParaRPr lang="nl-NL" dirty="0">
              <a:highlight>
                <a:srgbClr val="FFFF00"/>
              </a:highlight>
            </a:endParaRPr>
          </a:p>
          <a:p>
            <a:r>
              <a:rPr lang="nl-NL" dirty="0">
                <a:highlight>
                  <a:srgbClr val="FFFF00"/>
                </a:highlight>
              </a:rPr>
              <a:t>Onderstaande dia’s zijn eigen ontwerp – niet zo gebruikt in oorspronkelijke.</a:t>
            </a:r>
          </a:p>
          <a:p>
            <a:endParaRPr lang="nl-NL" dirty="0">
              <a:highlight>
                <a:srgbClr val="FFFF00"/>
              </a:highlight>
            </a:endParaRPr>
          </a:p>
          <a:p>
            <a:r>
              <a:rPr lang="nl-NL" dirty="0">
                <a:highlight>
                  <a:srgbClr val="FFFF00"/>
                </a:highlight>
              </a:rPr>
              <a:t>Kunnen deze in/bij voegen.</a:t>
            </a:r>
          </a:p>
          <a:p>
            <a:endParaRPr lang="nl-NL" dirty="0">
              <a:highlight>
                <a:srgbClr val="FFFF00"/>
              </a:highlight>
            </a:endParaRPr>
          </a:p>
          <a:p>
            <a:endParaRPr lang="nl-NL" dirty="0">
              <a:highlight>
                <a:srgbClr val="FFFF00"/>
              </a:highlight>
            </a:endParaRPr>
          </a:p>
        </p:txBody>
      </p:sp>
    </p:spTree>
    <p:extLst>
      <p:ext uri="{BB962C8B-B14F-4D97-AF65-F5344CB8AC3E}">
        <p14:creationId xmlns:p14="http://schemas.microsoft.com/office/powerpoint/2010/main" val="20084646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94A138-3382-47E3-8301-D7F76F0BF524}"/>
              </a:ext>
            </a:extLst>
          </p:cNvPr>
          <p:cNvSpPr>
            <a:spLocks noGrp="1"/>
          </p:cNvSpPr>
          <p:nvPr>
            <p:ph type="title"/>
          </p:nvPr>
        </p:nvSpPr>
        <p:spPr/>
        <p:txBody>
          <a:bodyPr/>
          <a:lstStyle/>
          <a:p>
            <a:endParaRPr lang="nl-NL" dirty="0"/>
          </a:p>
        </p:txBody>
      </p:sp>
      <p:sp>
        <p:nvSpPr>
          <p:cNvPr id="5" name="Tijdelijke aanduiding voor inhoud 4">
            <a:extLst>
              <a:ext uri="{FF2B5EF4-FFF2-40B4-BE49-F238E27FC236}">
                <a16:creationId xmlns:a16="http://schemas.microsoft.com/office/drawing/2014/main" id="{13897194-49AF-414C-91F9-94654D492BD3}"/>
              </a:ext>
            </a:extLst>
          </p:cNvPr>
          <p:cNvSpPr>
            <a:spLocks noGrp="1"/>
          </p:cNvSpPr>
          <p:nvPr>
            <p:ph idx="1"/>
          </p:nvPr>
        </p:nvSpPr>
        <p:spPr/>
        <p:txBody>
          <a:bodyPr/>
          <a:lstStyle/>
          <a:p>
            <a:endParaRPr lang="nl-NL"/>
          </a:p>
        </p:txBody>
      </p:sp>
    </p:spTree>
    <p:extLst>
      <p:ext uri="{BB962C8B-B14F-4D97-AF65-F5344CB8AC3E}">
        <p14:creationId xmlns:p14="http://schemas.microsoft.com/office/powerpoint/2010/main" val="37467943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9BB39F2B-C9F2-4863-8D91-72CEE4CA308B}"/>
              </a:ext>
            </a:extLst>
          </p:cNvPr>
          <p:cNvSpPr txBox="1">
            <a:spLocks/>
          </p:cNvSpPr>
          <p:nvPr/>
        </p:nvSpPr>
        <p:spPr bwMode="auto">
          <a:xfrm>
            <a:off x="500063" y="571500"/>
            <a:ext cx="9648496" cy="7858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defRPr/>
            </a:pPr>
            <a:r>
              <a:rPr lang="en-US" sz="3600">
                <a:solidFill>
                  <a:srgbClr val="7030A0"/>
                </a:solidFill>
                <a:effectLst>
                  <a:outerShdw blurRad="38100" dist="38100" dir="2700000" algn="tl">
                    <a:srgbClr val="000000"/>
                  </a:outerShdw>
                </a:effectLst>
                <a:latin typeface="Frutiger LT Std 45 Light" panose="020B0402020204020204" pitchFamily="34" charset="0"/>
                <a:cs typeface="Arial" charset="0"/>
              </a:rPr>
              <a:t>Type II</a:t>
            </a:r>
            <a:endParaRPr lang="nl-NL" sz="3600">
              <a:solidFill>
                <a:srgbClr val="7030A0"/>
              </a:solidFill>
              <a:effectLst>
                <a:outerShdw blurRad="38100" dist="38100" dir="2700000" algn="tl">
                  <a:srgbClr val="000000"/>
                </a:outerShdw>
              </a:effectLst>
              <a:latin typeface="Frutiger LT Std 45 Light" panose="020B0402020204020204" pitchFamily="34" charset="0"/>
              <a:cs typeface="Arial" charset="0"/>
            </a:endParaRPr>
          </a:p>
        </p:txBody>
      </p:sp>
      <p:sp>
        <p:nvSpPr>
          <p:cNvPr id="5" name="Tijdelijke aanduiding voor inhoud 2">
            <a:extLst>
              <a:ext uri="{FF2B5EF4-FFF2-40B4-BE49-F238E27FC236}">
                <a16:creationId xmlns:a16="http://schemas.microsoft.com/office/drawing/2014/main" id="{F1639FC6-8059-4217-A992-87999529B494}"/>
              </a:ext>
            </a:extLst>
          </p:cNvPr>
          <p:cNvSpPr txBox="1">
            <a:spLocks/>
          </p:cNvSpPr>
          <p:nvPr/>
        </p:nvSpPr>
        <p:spPr bwMode="auto">
          <a:xfrm>
            <a:off x="609600" y="1600200"/>
            <a:ext cx="9648497" cy="4525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endParaRPr lang="nl-NL" altLang="nl-NL">
              <a:latin typeface="Frutiger LT Std 45 Light" panose="020B0402020204020204" pitchFamily="34" charset="0"/>
              <a:cs typeface="Arial" panose="020B0604020202020204" pitchFamily="34" charset="0"/>
            </a:endParaRPr>
          </a:p>
          <a:p>
            <a:pPr eaLnBrk="1" hangingPunct="1">
              <a:buClr>
                <a:srgbClr val="7030A0"/>
              </a:buClr>
            </a:pPr>
            <a:r>
              <a:rPr lang="nl-NL" altLang="nl-NL" sz="2200">
                <a:latin typeface="Frutiger LT Std 45 Light" panose="020B0402020204020204" pitchFamily="34" charset="0"/>
                <a:cs typeface="Arial" panose="020B0604020202020204" pitchFamily="34" charset="0"/>
              </a:rPr>
              <a:t>'Ik- Wij'</a:t>
            </a:r>
          </a:p>
          <a:p>
            <a:pPr eaLnBrk="1" hangingPunct="1">
              <a:buClr>
                <a:srgbClr val="7030A0"/>
              </a:buClr>
            </a:pPr>
            <a:r>
              <a:rPr lang="nl-NL" altLang="nl-NL" sz="2200">
                <a:latin typeface="Frutiger LT Std 45 Light" panose="020B0402020204020204" pitchFamily="34" charset="0"/>
                <a:cs typeface="Arial" panose="020B0604020202020204" pitchFamily="34" charset="0"/>
              </a:rPr>
              <a:t>Harmonie en mogelijkheden</a:t>
            </a:r>
          </a:p>
          <a:p>
            <a:pPr eaLnBrk="1" hangingPunct="1">
              <a:buClr>
                <a:srgbClr val="7030A0"/>
              </a:buClr>
            </a:pPr>
            <a:r>
              <a:rPr lang="nl-NL" altLang="nl-NL" sz="2200">
                <a:latin typeface="Frutiger LT Std 45 Light" panose="020B0402020204020204" pitchFamily="34" charset="0"/>
                <a:cs typeface="Arial" panose="020B0604020202020204" pitchFamily="34" charset="0"/>
              </a:rPr>
              <a:t>Gericht op eigen, persoonlijke doelen.</a:t>
            </a:r>
          </a:p>
          <a:p>
            <a:pPr eaLnBrk="1" hangingPunct="1">
              <a:buClr>
                <a:srgbClr val="7030A0"/>
              </a:buClr>
              <a:buFont typeface="Arial" panose="020B0604020202020204" pitchFamily="34" charset="0"/>
              <a:buNone/>
            </a:pPr>
            <a:endParaRPr lang="nl-NL" altLang="nl-NL" sz="2200">
              <a:latin typeface="Frutiger LT Std 45 Light" panose="020B0402020204020204" pitchFamily="34" charset="0"/>
              <a:cs typeface="Arial" panose="020B0604020202020204" pitchFamily="34" charset="0"/>
            </a:endParaRPr>
          </a:p>
          <a:p>
            <a:pPr eaLnBrk="1" hangingPunct="1">
              <a:buClr>
                <a:srgbClr val="7030A0"/>
              </a:buClr>
            </a:pPr>
            <a:r>
              <a:rPr lang="nl-NL" altLang="nl-NL" sz="2200">
                <a:latin typeface="Frutiger LT Std 45 Light" panose="020B0402020204020204" pitchFamily="34" charset="0"/>
                <a:cs typeface="Arial" panose="020B0604020202020204" pitchFamily="34" charset="0"/>
              </a:rPr>
              <a:t>Bereikt deze doelen in overeenstemming en samen met anderen.</a:t>
            </a:r>
          </a:p>
          <a:p>
            <a:pPr eaLnBrk="1" hangingPunct="1">
              <a:buFont typeface="Arial" panose="020B0604020202020204" pitchFamily="34" charset="0"/>
              <a:buNone/>
            </a:pPr>
            <a:endParaRPr lang="nl-NL" altLang="nl-NL">
              <a:latin typeface="Frutiger LT Std 45 Light" panose="020B0402020204020204" pitchFamily="34" charset="0"/>
            </a:endParaRPr>
          </a:p>
        </p:txBody>
      </p:sp>
    </p:spTree>
    <p:extLst>
      <p:ext uri="{BB962C8B-B14F-4D97-AF65-F5344CB8AC3E}">
        <p14:creationId xmlns:p14="http://schemas.microsoft.com/office/powerpoint/2010/main" val="29330008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C516281C-DD77-4D8A-9F55-C86E207F7687}"/>
              </a:ext>
            </a:extLst>
          </p:cNvPr>
          <p:cNvSpPr>
            <a:spLocks noGrp="1"/>
          </p:cNvSpPr>
          <p:nvPr>
            <p:ph idx="1"/>
          </p:nvPr>
        </p:nvSpPr>
        <p:spPr/>
        <p:txBody>
          <a:bodyPr/>
          <a:lstStyle/>
          <a:p>
            <a:endParaRPr lang="nl-NL" dirty="0"/>
          </a:p>
        </p:txBody>
      </p:sp>
      <p:sp>
        <p:nvSpPr>
          <p:cNvPr id="4" name="Titel 1">
            <a:extLst>
              <a:ext uri="{FF2B5EF4-FFF2-40B4-BE49-F238E27FC236}">
                <a16:creationId xmlns:a16="http://schemas.microsoft.com/office/drawing/2014/main" id="{3C218485-C6D8-4129-85C6-D1B94D95650C}"/>
              </a:ext>
            </a:extLst>
          </p:cNvPr>
          <p:cNvSpPr txBox="1">
            <a:spLocks/>
          </p:cNvSpPr>
          <p:nvPr/>
        </p:nvSpPr>
        <p:spPr bwMode="auto">
          <a:xfrm>
            <a:off x="609600" y="527160"/>
            <a:ext cx="8183562" cy="714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defRPr/>
            </a:pPr>
            <a:r>
              <a:rPr lang="en-US" sz="3600">
                <a:solidFill>
                  <a:srgbClr val="0070C0"/>
                </a:solidFill>
                <a:effectLst>
                  <a:outerShdw blurRad="38100" dist="38100" dir="2700000" algn="tl">
                    <a:srgbClr val="000000"/>
                  </a:outerShdw>
                </a:effectLst>
                <a:latin typeface="Frutiger LT Std 45 Light" panose="020B0402020204020204" pitchFamily="34" charset="0"/>
                <a:cs typeface="Arial" charset="0"/>
              </a:rPr>
              <a:t>Type III</a:t>
            </a:r>
            <a:endParaRPr lang="nl-NL" sz="3600">
              <a:solidFill>
                <a:srgbClr val="0070C0"/>
              </a:solidFill>
              <a:effectLst>
                <a:outerShdw blurRad="38100" dist="38100" dir="2700000" algn="tl">
                  <a:srgbClr val="000000"/>
                </a:outerShdw>
              </a:effectLst>
              <a:latin typeface="Frutiger LT Std 45 Light" panose="020B0402020204020204" pitchFamily="34" charset="0"/>
              <a:cs typeface="Arial" charset="0"/>
            </a:endParaRPr>
          </a:p>
        </p:txBody>
      </p:sp>
      <p:sp>
        <p:nvSpPr>
          <p:cNvPr id="5" name="Tijdelijke aanduiding voor inhoud 2">
            <a:extLst>
              <a:ext uri="{FF2B5EF4-FFF2-40B4-BE49-F238E27FC236}">
                <a16:creationId xmlns:a16="http://schemas.microsoft.com/office/drawing/2014/main" id="{729D37CE-3251-4C98-95EA-EFD88CADD38A}"/>
              </a:ext>
            </a:extLst>
          </p:cNvPr>
          <p:cNvSpPr txBox="1">
            <a:spLocks/>
          </p:cNvSpPr>
          <p:nvPr/>
        </p:nvSpPr>
        <p:spPr bwMode="auto">
          <a:xfrm>
            <a:off x="609600" y="1600203"/>
            <a:ext cx="8229600" cy="3900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endParaRPr lang="nl-NL" altLang="nl-NL">
              <a:latin typeface="Frutiger LT Std 45 Light" panose="020B0402020204020204" pitchFamily="34" charset="0"/>
              <a:cs typeface="Arial" panose="020B0604020202020204" pitchFamily="34" charset="0"/>
            </a:endParaRPr>
          </a:p>
          <a:p>
            <a:pPr eaLnBrk="1" hangingPunct="1">
              <a:buClr>
                <a:srgbClr val="0070C0"/>
              </a:buClr>
            </a:pPr>
            <a:r>
              <a:rPr lang="nl-NL" altLang="nl-NL" sz="2200">
                <a:latin typeface="Frutiger LT Std 45 Light" panose="020B0402020204020204" pitchFamily="34" charset="0"/>
                <a:cs typeface="Arial" panose="020B0604020202020204" pitchFamily="34" charset="0"/>
              </a:rPr>
              <a:t>'Wij-Wij'</a:t>
            </a:r>
          </a:p>
          <a:p>
            <a:pPr eaLnBrk="1" hangingPunct="1">
              <a:buClr>
                <a:srgbClr val="0070C0"/>
              </a:buClr>
            </a:pPr>
            <a:r>
              <a:rPr lang="nl-NL" altLang="nl-NL" sz="2200">
                <a:latin typeface="Frutiger LT Std 45 Light" panose="020B0402020204020204" pitchFamily="34" charset="0"/>
                <a:cs typeface="Arial" panose="020B0604020202020204" pitchFamily="34" charset="0"/>
              </a:rPr>
              <a:t>Verantwoordelijkheid en loyaliteit</a:t>
            </a:r>
          </a:p>
          <a:p>
            <a:pPr eaLnBrk="1" hangingPunct="1">
              <a:buClr>
                <a:srgbClr val="0070C0"/>
              </a:buClr>
            </a:pPr>
            <a:r>
              <a:rPr lang="nl-NL" altLang="nl-NL" sz="2200">
                <a:latin typeface="Frutiger LT Std 45 Light" panose="020B0402020204020204" pitchFamily="34" charset="0"/>
                <a:cs typeface="Arial" panose="020B0604020202020204" pitchFamily="34" charset="0"/>
              </a:rPr>
              <a:t>Gericht op gezamenlijke doelen.</a:t>
            </a:r>
          </a:p>
          <a:p>
            <a:pPr eaLnBrk="1" hangingPunct="1">
              <a:buClr>
                <a:srgbClr val="0070C0"/>
              </a:buClr>
              <a:buFont typeface="Arial" panose="020B0604020202020204" pitchFamily="34" charset="0"/>
              <a:buNone/>
            </a:pPr>
            <a:endParaRPr lang="nl-NL" altLang="nl-NL" sz="2200">
              <a:latin typeface="Frutiger LT Std 45 Light" panose="020B0402020204020204" pitchFamily="34" charset="0"/>
              <a:cs typeface="Arial" panose="020B0604020202020204" pitchFamily="34" charset="0"/>
            </a:endParaRPr>
          </a:p>
          <a:p>
            <a:pPr eaLnBrk="1" hangingPunct="1">
              <a:buClr>
                <a:srgbClr val="0070C0"/>
              </a:buClr>
            </a:pPr>
            <a:r>
              <a:rPr lang="nl-NL" altLang="nl-NL" sz="2200">
                <a:latin typeface="Frutiger LT Std 45 Light" panose="020B0402020204020204" pitchFamily="34" charset="0"/>
                <a:cs typeface="Arial" panose="020B0604020202020204" pitchFamily="34" charset="0"/>
              </a:rPr>
              <a:t>Bereikt deze doelen doordat eenieder zijn verantwoordelijkheid neemt en zijn bijdrage levert, door samen te werken.</a:t>
            </a:r>
          </a:p>
          <a:p>
            <a:pPr eaLnBrk="1" hangingPunct="1">
              <a:buFont typeface="Arial" panose="020B0604020202020204" pitchFamily="34" charset="0"/>
              <a:buNone/>
            </a:pPr>
            <a:endParaRPr lang="nl-NL" altLang="nl-NL">
              <a:latin typeface="Frutiger LT Std 45 Light" panose="020B0402020204020204" pitchFamily="34" charset="0"/>
            </a:endParaRPr>
          </a:p>
        </p:txBody>
      </p:sp>
    </p:spTree>
    <p:extLst>
      <p:ext uri="{BB962C8B-B14F-4D97-AF65-F5344CB8AC3E}">
        <p14:creationId xmlns:p14="http://schemas.microsoft.com/office/powerpoint/2010/main" val="157102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DB7B31D9-EE31-4236-8CEB-D42504FF173E}"/>
              </a:ext>
            </a:extLst>
          </p:cNvPr>
          <p:cNvSpPr txBox="1">
            <a:spLocks/>
          </p:cNvSpPr>
          <p:nvPr/>
        </p:nvSpPr>
        <p:spPr bwMode="auto">
          <a:xfrm>
            <a:off x="606423" y="500063"/>
            <a:ext cx="10972800" cy="714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defRPr/>
            </a:pPr>
            <a:r>
              <a:rPr lang="en-US" sz="3600">
                <a:solidFill>
                  <a:srgbClr val="0070C0"/>
                </a:solidFill>
                <a:effectLst>
                  <a:outerShdw blurRad="38100" dist="38100" dir="2700000" algn="tl">
                    <a:srgbClr val="000000"/>
                  </a:outerShdw>
                </a:effectLst>
                <a:latin typeface="Frutiger LT Std 45 Light" panose="020B0402020204020204" pitchFamily="34" charset="0"/>
                <a:cs typeface="Arial" charset="0"/>
              </a:rPr>
              <a:t>Type III</a:t>
            </a:r>
            <a:endParaRPr lang="nl-NL" sz="3600">
              <a:solidFill>
                <a:srgbClr val="0070C0"/>
              </a:solidFill>
              <a:effectLst>
                <a:outerShdw blurRad="38100" dist="38100" dir="2700000" algn="tl">
                  <a:srgbClr val="000000"/>
                </a:outerShdw>
              </a:effectLst>
              <a:latin typeface="Frutiger LT Std 45 Light" panose="020B0402020204020204" pitchFamily="34" charset="0"/>
              <a:cs typeface="Arial" charset="0"/>
            </a:endParaRPr>
          </a:p>
        </p:txBody>
      </p:sp>
      <p:sp>
        <p:nvSpPr>
          <p:cNvPr id="5" name="Tijdelijke aanduiding voor inhoud 2">
            <a:extLst>
              <a:ext uri="{FF2B5EF4-FFF2-40B4-BE49-F238E27FC236}">
                <a16:creationId xmlns:a16="http://schemas.microsoft.com/office/drawing/2014/main" id="{C61AF505-9F00-4C0E-BB9A-97BD6407C31C}"/>
              </a:ext>
            </a:extLst>
          </p:cNvPr>
          <p:cNvSpPr txBox="1">
            <a:spLocks/>
          </p:cNvSpPr>
          <p:nvPr/>
        </p:nvSpPr>
        <p:spPr bwMode="auto">
          <a:xfrm>
            <a:off x="609600" y="1600200"/>
            <a:ext cx="8077200" cy="3900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endParaRPr lang="nl-NL" altLang="nl-NL" sz="1800">
              <a:latin typeface="Frutiger LT Std 45 Light" panose="020B0402020204020204" pitchFamily="34" charset="0"/>
              <a:cs typeface="Arial" panose="020B0604020202020204" pitchFamily="34" charset="0"/>
            </a:endParaRPr>
          </a:p>
          <a:p>
            <a:pPr eaLnBrk="1" hangingPunct="1">
              <a:buClr>
                <a:srgbClr val="0070C0"/>
              </a:buClr>
            </a:pPr>
            <a:r>
              <a:rPr lang="nl-NL" altLang="nl-NL" sz="1800">
                <a:latin typeface="Frutiger LT Std 45 Light" panose="020B0402020204020204" pitchFamily="34" charset="0"/>
                <a:cs typeface="Arial" panose="020B0604020202020204" pitchFamily="34" charset="0"/>
              </a:rPr>
              <a:t>'Wij-Wij'</a:t>
            </a:r>
          </a:p>
          <a:p>
            <a:pPr eaLnBrk="1" hangingPunct="1">
              <a:buClr>
                <a:srgbClr val="0070C0"/>
              </a:buClr>
            </a:pPr>
            <a:r>
              <a:rPr lang="nl-NL" altLang="nl-NL" sz="1800">
                <a:latin typeface="Frutiger LT Std 45 Light" panose="020B0402020204020204" pitchFamily="34" charset="0"/>
                <a:cs typeface="Arial" panose="020B0604020202020204" pitchFamily="34" charset="0"/>
              </a:rPr>
              <a:t>Verantwoordelijkheid en loyaliteit</a:t>
            </a:r>
          </a:p>
          <a:p>
            <a:pPr eaLnBrk="1" hangingPunct="1">
              <a:buClr>
                <a:srgbClr val="0070C0"/>
              </a:buClr>
            </a:pPr>
            <a:r>
              <a:rPr lang="nl-NL" altLang="nl-NL" sz="1800">
                <a:latin typeface="Frutiger LT Std 45 Light" panose="020B0402020204020204" pitchFamily="34" charset="0"/>
                <a:cs typeface="Arial" panose="020B0604020202020204" pitchFamily="34" charset="0"/>
              </a:rPr>
              <a:t>Gericht op gezamenlijke doelen.</a:t>
            </a:r>
          </a:p>
          <a:p>
            <a:pPr eaLnBrk="1" hangingPunct="1">
              <a:buClr>
                <a:srgbClr val="0070C0"/>
              </a:buClr>
              <a:buFont typeface="Arial" panose="020B0604020202020204" pitchFamily="34" charset="0"/>
              <a:buNone/>
            </a:pPr>
            <a:endParaRPr lang="nl-NL" altLang="nl-NL" sz="1800">
              <a:latin typeface="Frutiger LT Std 45 Light" panose="020B0402020204020204" pitchFamily="34" charset="0"/>
              <a:cs typeface="Arial" panose="020B0604020202020204" pitchFamily="34" charset="0"/>
            </a:endParaRPr>
          </a:p>
          <a:p>
            <a:pPr eaLnBrk="1" hangingPunct="1">
              <a:buClr>
                <a:srgbClr val="0070C0"/>
              </a:buClr>
            </a:pPr>
            <a:r>
              <a:rPr lang="nl-NL" altLang="nl-NL" sz="1800">
                <a:latin typeface="Frutiger LT Std 45 Light" panose="020B0402020204020204" pitchFamily="34" charset="0"/>
                <a:cs typeface="Arial" panose="020B0604020202020204" pitchFamily="34" charset="0"/>
              </a:rPr>
              <a:t>Bereikt deze doelen doordat eenieder zijn verantwoordelijkheid neemt en zijn bijdrage levert, door samen te werken.</a:t>
            </a:r>
          </a:p>
          <a:p>
            <a:pPr eaLnBrk="1" hangingPunct="1">
              <a:buFont typeface="Arial" panose="020B0604020202020204" pitchFamily="34" charset="0"/>
              <a:buNone/>
            </a:pPr>
            <a:endParaRPr lang="nl-NL" altLang="nl-NL" sz="1800">
              <a:latin typeface="Frutiger LT Std 45 Light" panose="020B0402020204020204" pitchFamily="34" charset="0"/>
            </a:endParaRPr>
          </a:p>
        </p:txBody>
      </p:sp>
    </p:spTree>
    <p:extLst>
      <p:ext uri="{BB962C8B-B14F-4D97-AF65-F5344CB8AC3E}">
        <p14:creationId xmlns:p14="http://schemas.microsoft.com/office/powerpoint/2010/main" val="838197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kstvak 5">
            <a:extLst>
              <a:ext uri="{FF2B5EF4-FFF2-40B4-BE49-F238E27FC236}">
                <a16:creationId xmlns:a16="http://schemas.microsoft.com/office/drawing/2014/main" id="{D1A88F1E-8C0B-4E32-8B5D-C93ADAC61B12}"/>
              </a:ext>
            </a:extLst>
          </p:cNvPr>
          <p:cNvSpPr txBox="1">
            <a:spLocks noChangeArrowheads="1"/>
          </p:cNvSpPr>
          <p:nvPr/>
        </p:nvSpPr>
        <p:spPr bwMode="auto">
          <a:xfrm>
            <a:off x="609600" y="428625"/>
            <a:ext cx="109728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algn="ctr" eaLnBrk="1" hangingPunct="1">
              <a:spcBef>
                <a:spcPct val="0"/>
              </a:spcBef>
              <a:buClrTx/>
              <a:buSzTx/>
              <a:buFontTx/>
              <a:buNone/>
            </a:pPr>
            <a:r>
              <a:rPr lang="nl-NL" altLang="nl-NL" sz="4400" dirty="0">
                <a:solidFill>
                  <a:srgbClr val="911D20"/>
                </a:solidFill>
                <a:latin typeface="Arial" panose="020B0604020202020204" pitchFamily="34" charset="0"/>
                <a:cs typeface="Arial" panose="020B0604020202020204" pitchFamily="34" charset="0"/>
              </a:rPr>
              <a:t>De 4 waarden types</a:t>
            </a:r>
          </a:p>
        </p:txBody>
      </p:sp>
      <p:sp>
        <p:nvSpPr>
          <p:cNvPr id="5" name="Maan 4">
            <a:extLst>
              <a:ext uri="{FF2B5EF4-FFF2-40B4-BE49-F238E27FC236}">
                <a16:creationId xmlns:a16="http://schemas.microsoft.com/office/drawing/2014/main" id="{56B4D1CD-E5E0-4245-8CA7-E0CE00C7F392}"/>
              </a:ext>
            </a:extLst>
          </p:cNvPr>
          <p:cNvSpPr/>
          <p:nvPr/>
        </p:nvSpPr>
        <p:spPr>
          <a:xfrm rot="2631267">
            <a:off x="2398713" y="825500"/>
            <a:ext cx="766762" cy="2419350"/>
          </a:xfrm>
          <a:prstGeom prst="moon">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nl-NL">
              <a:solidFill>
                <a:srgbClr val="000000"/>
              </a:solidFill>
            </a:endParaRPr>
          </a:p>
        </p:txBody>
      </p:sp>
      <p:sp>
        <p:nvSpPr>
          <p:cNvPr id="6" name="Maan 5">
            <a:extLst>
              <a:ext uri="{FF2B5EF4-FFF2-40B4-BE49-F238E27FC236}">
                <a16:creationId xmlns:a16="http://schemas.microsoft.com/office/drawing/2014/main" id="{5215A04E-2A7B-44A7-9CE6-39134C5A84AF}"/>
              </a:ext>
            </a:extLst>
          </p:cNvPr>
          <p:cNvSpPr/>
          <p:nvPr/>
        </p:nvSpPr>
        <p:spPr>
          <a:xfrm rot="8134074">
            <a:off x="5535613" y="747713"/>
            <a:ext cx="722312" cy="2667000"/>
          </a:xfrm>
          <a:prstGeom prst="moon">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nl-NL">
              <a:solidFill>
                <a:srgbClr val="000000"/>
              </a:solidFill>
            </a:endParaRPr>
          </a:p>
        </p:txBody>
      </p:sp>
      <p:sp>
        <p:nvSpPr>
          <p:cNvPr id="7" name="Maan 6">
            <a:extLst>
              <a:ext uri="{FF2B5EF4-FFF2-40B4-BE49-F238E27FC236}">
                <a16:creationId xmlns:a16="http://schemas.microsoft.com/office/drawing/2014/main" id="{B51C9BCF-D59E-4C69-8D91-78A97D6F74BB}"/>
              </a:ext>
            </a:extLst>
          </p:cNvPr>
          <p:cNvSpPr/>
          <p:nvPr/>
        </p:nvSpPr>
        <p:spPr>
          <a:xfrm rot="18514823">
            <a:off x="2685257" y="3733006"/>
            <a:ext cx="852488" cy="2803525"/>
          </a:xfrm>
          <a:prstGeom prst="moon">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nl-NL">
              <a:solidFill>
                <a:srgbClr val="000000"/>
              </a:solidFill>
            </a:endParaRPr>
          </a:p>
        </p:txBody>
      </p:sp>
      <p:sp>
        <p:nvSpPr>
          <p:cNvPr id="8" name="Maan 7">
            <a:extLst>
              <a:ext uri="{FF2B5EF4-FFF2-40B4-BE49-F238E27FC236}">
                <a16:creationId xmlns:a16="http://schemas.microsoft.com/office/drawing/2014/main" id="{A71EC314-C710-4EF0-BE75-1E9CB4D7B2F9}"/>
              </a:ext>
            </a:extLst>
          </p:cNvPr>
          <p:cNvSpPr/>
          <p:nvPr/>
        </p:nvSpPr>
        <p:spPr>
          <a:xfrm rot="13078027">
            <a:off x="5678488" y="3513138"/>
            <a:ext cx="642937" cy="2422525"/>
          </a:xfrm>
          <a:prstGeom prst="moon">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nl-NL">
              <a:solidFill>
                <a:srgbClr val="000000"/>
              </a:solidFill>
            </a:endParaRPr>
          </a:p>
        </p:txBody>
      </p:sp>
      <p:pic>
        <p:nvPicPr>
          <p:cNvPr id="10" name="Picture 9" descr="S:\Marketing\9999\Huistijl\Q4 Profiles\Q4 Profiles Grids\Waarden Type Grid.jpg">
            <a:extLst>
              <a:ext uri="{FF2B5EF4-FFF2-40B4-BE49-F238E27FC236}">
                <a16:creationId xmlns:a16="http://schemas.microsoft.com/office/drawing/2014/main" id="{4A9AC813-2B4C-49C3-98A7-CD785B486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13" t="6236" r="5113" b="7452"/>
          <a:stretch>
            <a:fillRect/>
          </a:stretch>
        </p:blipFill>
        <p:spPr bwMode="auto">
          <a:xfrm>
            <a:off x="3111501" y="1553368"/>
            <a:ext cx="6707187" cy="417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32545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
            <a:extLst>
              <a:ext uri="{FF2B5EF4-FFF2-40B4-BE49-F238E27FC236}">
                <a16:creationId xmlns:a16="http://schemas.microsoft.com/office/drawing/2014/main" id="{00A68501-A526-4DD2-A1B7-A5FE0FBC3152}"/>
              </a:ext>
            </a:extLst>
          </p:cNvPr>
          <p:cNvSpPr txBox="1">
            <a:spLocks/>
          </p:cNvSpPr>
          <p:nvPr/>
        </p:nvSpPr>
        <p:spPr bwMode="auto">
          <a:xfrm>
            <a:off x="609601" y="500063"/>
            <a:ext cx="10972799" cy="7858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defRPr/>
            </a:pPr>
            <a:r>
              <a:rPr lang="en-US" sz="3600" err="1">
                <a:solidFill>
                  <a:srgbClr val="911D20"/>
                </a:solidFill>
                <a:effectLst>
                  <a:outerShdw blurRad="38100" dist="38100" dir="2700000" algn="tl">
                    <a:srgbClr val="000000"/>
                  </a:outerShdw>
                </a:effectLst>
                <a:latin typeface="Frutiger LT Std 45 Light" panose="020B0402020204020204" pitchFamily="34" charset="0"/>
                <a:cs typeface="Arial" charset="0"/>
              </a:rPr>
              <a:t>Doelen</a:t>
            </a:r>
            <a:r>
              <a:rPr lang="en-US" sz="3600">
                <a:solidFill>
                  <a:srgbClr val="911D20"/>
                </a:solidFill>
                <a:effectLst>
                  <a:outerShdw blurRad="38100" dist="38100" dir="2700000" algn="tl">
                    <a:srgbClr val="000000"/>
                  </a:outerShdw>
                </a:effectLst>
                <a:latin typeface="Frutiger LT Std 45 Light" panose="020B0402020204020204" pitchFamily="34" charset="0"/>
                <a:cs typeface="Arial" charset="0"/>
              </a:rPr>
              <a:t> versus </a:t>
            </a:r>
            <a:r>
              <a:rPr lang="en-US" sz="3600" err="1">
                <a:solidFill>
                  <a:srgbClr val="911D20"/>
                </a:solidFill>
                <a:effectLst>
                  <a:outerShdw blurRad="38100" dist="38100" dir="2700000" algn="tl">
                    <a:srgbClr val="000000"/>
                  </a:outerShdw>
                </a:effectLst>
                <a:latin typeface="Frutiger LT Std 45 Light" panose="020B0402020204020204" pitchFamily="34" charset="0"/>
                <a:cs typeface="Arial" charset="0"/>
              </a:rPr>
              <a:t>Inzet</a:t>
            </a:r>
            <a:endParaRPr lang="nl-NL" sz="3600">
              <a:solidFill>
                <a:srgbClr val="911D20"/>
              </a:solidFill>
              <a:effectLst>
                <a:outerShdw blurRad="38100" dist="38100" dir="2700000" algn="tl">
                  <a:srgbClr val="000000"/>
                </a:outerShdw>
              </a:effectLst>
              <a:latin typeface="Frutiger LT Std 45 Light" panose="020B0402020204020204" pitchFamily="34" charset="0"/>
              <a:cs typeface="Arial" charset="0"/>
            </a:endParaRPr>
          </a:p>
        </p:txBody>
      </p:sp>
      <p:sp>
        <p:nvSpPr>
          <p:cNvPr id="12" name="Tijdelijke aanduiding voor inhoud 2">
            <a:extLst>
              <a:ext uri="{FF2B5EF4-FFF2-40B4-BE49-F238E27FC236}">
                <a16:creationId xmlns:a16="http://schemas.microsoft.com/office/drawing/2014/main" id="{523C658F-E656-41A8-A67C-B1ECBEDD5C2D}"/>
              </a:ext>
            </a:extLst>
          </p:cNvPr>
          <p:cNvSpPr txBox="1">
            <a:spLocks/>
          </p:cNvSpPr>
          <p:nvPr/>
        </p:nvSpPr>
        <p:spPr bwMode="auto">
          <a:xfrm>
            <a:off x="609601" y="1600203"/>
            <a:ext cx="8229600" cy="3971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buFont typeface="Arial" panose="020B0604020202020204" pitchFamily="34" charset="0"/>
              <a:buNone/>
            </a:pPr>
            <a:r>
              <a:rPr lang="nl-NL" altLang="nl-NL" sz="2200" b="1">
                <a:solidFill>
                  <a:srgbClr val="00B5F1"/>
                </a:solidFill>
                <a:latin typeface="Frutiger LT Std 45 Light" panose="020B0402020204020204" pitchFamily="34" charset="0"/>
                <a:cs typeface="Arial" panose="020B0604020202020204" pitchFamily="34" charset="0"/>
              </a:rPr>
              <a:t>Doelen</a:t>
            </a:r>
            <a:endParaRPr lang="nl-NL" altLang="nl-NL" sz="2200">
              <a:solidFill>
                <a:srgbClr val="00B5F1"/>
              </a:solidFill>
              <a:latin typeface="Frutiger LT Std 45 Light" panose="020B0402020204020204" pitchFamily="34" charset="0"/>
              <a:cs typeface="Arial" panose="020B0604020202020204" pitchFamily="34" charset="0"/>
            </a:endParaRPr>
          </a:p>
          <a:p>
            <a:pPr eaLnBrk="1" hangingPunct="1">
              <a:buFont typeface="Arial" panose="020B0604020202020204" pitchFamily="34" charset="0"/>
              <a:buNone/>
            </a:pPr>
            <a:r>
              <a:rPr lang="nl-NL" altLang="nl-NL" sz="2200">
                <a:latin typeface="Frutiger LT Std 45 Light" panose="020B0402020204020204" pitchFamily="34" charset="0"/>
                <a:cs typeface="Arial" panose="020B0604020202020204" pitchFamily="34" charset="0"/>
              </a:rPr>
              <a:t>Wat wil ik bereiken? </a:t>
            </a:r>
          </a:p>
          <a:p>
            <a:pPr eaLnBrk="1" hangingPunct="1">
              <a:buFont typeface="Arial" panose="020B0604020202020204" pitchFamily="34" charset="0"/>
              <a:buNone/>
            </a:pPr>
            <a:r>
              <a:rPr lang="en-US" altLang="nl-NL" sz="2200">
                <a:latin typeface="Frutiger LT Std 45 Light" panose="020B0402020204020204" pitchFamily="34" charset="0"/>
                <a:cs typeface="Arial" panose="020B0604020202020204" pitchFamily="34" charset="0"/>
              </a:rPr>
              <a:t>Wat is </a:t>
            </a:r>
            <a:r>
              <a:rPr lang="en-US" altLang="nl-NL" sz="2200" err="1">
                <a:latin typeface="Frutiger LT Std 45 Light" panose="020B0402020204020204" pitchFamily="34" charset="0"/>
                <a:cs typeface="Arial" panose="020B0604020202020204" pitchFamily="34" charset="0"/>
              </a:rPr>
              <a:t>mijn</a:t>
            </a:r>
            <a:r>
              <a:rPr lang="en-US" altLang="nl-NL" sz="2200">
                <a:latin typeface="Frutiger LT Std 45 Light" panose="020B0402020204020204" pitchFamily="34" charset="0"/>
                <a:cs typeface="Arial" panose="020B0604020202020204" pitchFamily="34" charset="0"/>
              </a:rPr>
              <a:t> (</a:t>
            </a:r>
            <a:r>
              <a:rPr lang="en-US" altLang="nl-NL" sz="2200" err="1">
                <a:latin typeface="Frutiger LT Std 45 Light" panose="020B0402020204020204" pitchFamily="34" charset="0"/>
                <a:cs typeface="Arial" panose="020B0604020202020204" pitchFamily="34" charset="0"/>
              </a:rPr>
              <a:t>eind</a:t>
            </a:r>
            <a:r>
              <a:rPr lang="en-US" altLang="nl-NL" sz="2200">
                <a:latin typeface="Frutiger LT Std 45 Light" panose="020B0402020204020204" pitchFamily="34" charset="0"/>
                <a:cs typeface="Arial" panose="020B0604020202020204" pitchFamily="34" charset="0"/>
              </a:rPr>
              <a:t>)</a:t>
            </a:r>
            <a:r>
              <a:rPr lang="en-US" altLang="nl-NL" sz="2200" err="1">
                <a:latin typeface="Frutiger LT Std 45 Light" panose="020B0402020204020204" pitchFamily="34" charset="0"/>
                <a:cs typeface="Arial" panose="020B0604020202020204" pitchFamily="34" charset="0"/>
              </a:rPr>
              <a:t>doel</a:t>
            </a:r>
            <a:r>
              <a:rPr lang="en-US" altLang="nl-NL" sz="2200">
                <a:latin typeface="Frutiger LT Std 45 Light" panose="020B0402020204020204" pitchFamily="34" charset="0"/>
                <a:cs typeface="Arial" panose="020B0604020202020204" pitchFamily="34" charset="0"/>
              </a:rPr>
              <a:t>?</a:t>
            </a:r>
            <a:endParaRPr lang="nl-NL" altLang="nl-NL" sz="2200">
              <a:latin typeface="Frutiger LT Std 45 Light" panose="020B0402020204020204" pitchFamily="34" charset="0"/>
              <a:cs typeface="Arial" panose="020B0604020202020204" pitchFamily="34" charset="0"/>
            </a:endParaRPr>
          </a:p>
          <a:p>
            <a:pPr eaLnBrk="1" hangingPunct="1">
              <a:buFont typeface="Arial" panose="020B0604020202020204" pitchFamily="34" charset="0"/>
              <a:buNone/>
            </a:pPr>
            <a:endParaRPr lang="nl-NL" altLang="nl-NL" sz="2200">
              <a:latin typeface="Frutiger LT Std 45 Light" panose="020B0402020204020204" pitchFamily="34" charset="0"/>
              <a:cs typeface="Arial" panose="020B0604020202020204" pitchFamily="34" charset="0"/>
            </a:endParaRPr>
          </a:p>
          <a:p>
            <a:pPr eaLnBrk="1" hangingPunct="1">
              <a:buFont typeface="Arial" panose="020B0604020202020204" pitchFamily="34" charset="0"/>
              <a:buNone/>
            </a:pPr>
            <a:r>
              <a:rPr lang="nl-NL" altLang="nl-NL" sz="2200" b="1">
                <a:solidFill>
                  <a:srgbClr val="00B5F1"/>
                </a:solidFill>
                <a:latin typeface="Frutiger LT Std 45 Light" panose="020B0402020204020204" pitchFamily="34" charset="0"/>
                <a:cs typeface="Arial" panose="020B0604020202020204" pitchFamily="34" charset="0"/>
              </a:rPr>
              <a:t>Inzet</a:t>
            </a:r>
            <a:endParaRPr lang="nl-NL" altLang="nl-NL" sz="2200">
              <a:solidFill>
                <a:srgbClr val="00B5F1"/>
              </a:solidFill>
              <a:latin typeface="Frutiger LT Std 45 Light" panose="020B0402020204020204" pitchFamily="34" charset="0"/>
              <a:cs typeface="Arial" panose="020B0604020202020204" pitchFamily="34" charset="0"/>
            </a:endParaRPr>
          </a:p>
          <a:p>
            <a:pPr eaLnBrk="1" hangingPunct="1">
              <a:buFont typeface="Arial" panose="020B0604020202020204" pitchFamily="34" charset="0"/>
              <a:buNone/>
            </a:pPr>
            <a:r>
              <a:rPr lang="en-US" altLang="nl-NL" sz="2200" err="1">
                <a:latin typeface="Frutiger LT Std 45 Light" panose="020B0402020204020204" pitchFamily="34" charset="0"/>
                <a:cs typeface="Arial" panose="020B0604020202020204" pitchFamily="34" charset="0"/>
              </a:rPr>
              <a:t>Welke</a:t>
            </a:r>
            <a:r>
              <a:rPr lang="en-US" altLang="nl-NL" sz="2200">
                <a:latin typeface="Frutiger LT Std 45 Light" panose="020B0402020204020204" pitchFamily="34" charset="0"/>
                <a:cs typeface="Arial" panose="020B0604020202020204" pitchFamily="34" charset="0"/>
              </a:rPr>
              <a:t> </a:t>
            </a:r>
            <a:r>
              <a:rPr lang="en-US" altLang="nl-NL" sz="2200" err="1">
                <a:latin typeface="Frutiger LT Std 45 Light" panose="020B0402020204020204" pitchFamily="34" charset="0"/>
                <a:cs typeface="Arial" panose="020B0604020202020204" pitchFamily="34" charset="0"/>
              </a:rPr>
              <a:t>inzet</a:t>
            </a:r>
            <a:r>
              <a:rPr lang="en-US" altLang="nl-NL" sz="2200">
                <a:latin typeface="Frutiger LT Std 45 Light" panose="020B0402020204020204" pitchFamily="34" charset="0"/>
                <a:cs typeface="Arial" panose="020B0604020202020204" pitchFamily="34" charset="0"/>
              </a:rPr>
              <a:t> is </a:t>
            </a:r>
            <a:r>
              <a:rPr lang="en-US" altLang="nl-NL" sz="2200" err="1">
                <a:latin typeface="Frutiger LT Std 45 Light" panose="020B0402020204020204" pitchFamily="34" charset="0"/>
                <a:cs typeface="Arial" panose="020B0604020202020204" pitchFamily="34" charset="0"/>
              </a:rPr>
              <a:t>daarvoor</a:t>
            </a:r>
            <a:r>
              <a:rPr lang="en-US" altLang="nl-NL" sz="2200">
                <a:latin typeface="Frutiger LT Std 45 Light" panose="020B0402020204020204" pitchFamily="34" charset="0"/>
                <a:cs typeface="Arial" panose="020B0604020202020204" pitchFamily="34" charset="0"/>
              </a:rPr>
              <a:t> </a:t>
            </a:r>
            <a:r>
              <a:rPr lang="en-US" altLang="nl-NL" sz="2200" err="1">
                <a:latin typeface="Frutiger LT Std 45 Light" panose="020B0402020204020204" pitchFamily="34" charset="0"/>
                <a:cs typeface="Arial" panose="020B0604020202020204" pitchFamily="34" charset="0"/>
              </a:rPr>
              <a:t>nodig</a:t>
            </a:r>
            <a:r>
              <a:rPr lang="en-US" altLang="nl-NL" sz="2200">
                <a:latin typeface="Frutiger LT Std 45 Light" panose="020B0402020204020204" pitchFamily="34" charset="0"/>
                <a:cs typeface="Arial" panose="020B0604020202020204" pitchFamily="34" charset="0"/>
              </a:rPr>
              <a:t>?</a:t>
            </a:r>
          </a:p>
          <a:p>
            <a:pPr eaLnBrk="1" hangingPunct="1">
              <a:buFont typeface="Arial" panose="020B0604020202020204" pitchFamily="34" charset="0"/>
              <a:buNone/>
            </a:pPr>
            <a:r>
              <a:rPr lang="en-US" altLang="nl-NL" sz="2200">
                <a:latin typeface="Frutiger LT Std 45 Light" panose="020B0402020204020204" pitchFamily="34" charset="0"/>
                <a:cs typeface="Arial" panose="020B0604020202020204" pitchFamily="34" charset="0"/>
              </a:rPr>
              <a:t>Hoe </a:t>
            </a:r>
            <a:r>
              <a:rPr lang="en-US" altLang="nl-NL" sz="2200" err="1">
                <a:latin typeface="Frutiger LT Std 45 Light" panose="020B0402020204020204" pitchFamily="34" charset="0"/>
                <a:cs typeface="Arial" panose="020B0604020202020204" pitchFamily="34" charset="0"/>
              </a:rPr>
              <a:t>ik</a:t>
            </a:r>
            <a:r>
              <a:rPr lang="en-US" altLang="nl-NL" sz="2200">
                <a:latin typeface="Frutiger LT Std 45 Light" panose="020B0402020204020204" pitchFamily="34" charset="0"/>
                <a:cs typeface="Arial" panose="020B0604020202020204" pitchFamily="34" charset="0"/>
              </a:rPr>
              <a:t> </a:t>
            </a:r>
            <a:r>
              <a:rPr lang="en-US" altLang="nl-NL" sz="2200" err="1">
                <a:latin typeface="Frutiger LT Std 45 Light" panose="020B0402020204020204" pitchFamily="34" charset="0"/>
                <a:cs typeface="Arial" panose="020B0604020202020204" pitchFamily="34" charset="0"/>
              </a:rPr>
              <a:t>mijn</a:t>
            </a:r>
            <a:r>
              <a:rPr lang="en-US" altLang="nl-NL" sz="2200">
                <a:latin typeface="Frutiger LT Std 45 Light" panose="020B0402020204020204" pitchFamily="34" charset="0"/>
                <a:cs typeface="Arial" panose="020B0604020202020204" pitchFamily="34" charset="0"/>
              </a:rPr>
              <a:t> </a:t>
            </a:r>
            <a:r>
              <a:rPr lang="en-US" altLang="nl-NL" sz="2200" err="1">
                <a:latin typeface="Frutiger LT Std 45 Light" panose="020B0402020204020204" pitchFamily="34" charset="0"/>
                <a:cs typeface="Arial" panose="020B0604020202020204" pitchFamily="34" charset="0"/>
              </a:rPr>
              <a:t>doelen</a:t>
            </a:r>
            <a:r>
              <a:rPr lang="en-US" altLang="nl-NL" sz="2200">
                <a:latin typeface="Frutiger LT Std 45 Light" panose="020B0402020204020204" pitchFamily="34" charset="0"/>
                <a:cs typeface="Arial" panose="020B0604020202020204" pitchFamily="34" charset="0"/>
              </a:rPr>
              <a:t> </a:t>
            </a:r>
            <a:r>
              <a:rPr lang="en-US" altLang="nl-NL" sz="2200" err="1">
                <a:latin typeface="Frutiger LT Std 45 Light" panose="020B0402020204020204" pitchFamily="34" charset="0"/>
                <a:cs typeface="Arial" panose="020B0604020202020204" pitchFamily="34" charset="0"/>
              </a:rPr>
              <a:t>bereik</a:t>
            </a:r>
            <a:r>
              <a:rPr lang="en-US" altLang="nl-NL" sz="2200">
                <a:latin typeface="Frutiger LT Std 45 Light" panose="020B0402020204020204" pitchFamily="34" charset="0"/>
                <a:cs typeface="Arial" panose="020B0604020202020204" pitchFamily="34" charset="0"/>
              </a:rPr>
              <a:t>.</a:t>
            </a:r>
            <a:endParaRPr lang="nl-NL" altLang="nl-NL" sz="2200">
              <a:latin typeface="Frutiger LT Std 45 Light" panose="020B0402020204020204" pitchFamily="34" charset="0"/>
              <a:cs typeface="Arial" panose="020B0604020202020204" pitchFamily="34" charset="0"/>
            </a:endParaRPr>
          </a:p>
          <a:p>
            <a:pPr eaLnBrk="1" hangingPunct="1">
              <a:buFont typeface="Arial" panose="020B0604020202020204" pitchFamily="34" charset="0"/>
              <a:buNone/>
            </a:pPr>
            <a:r>
              <a:rPr lang="en-US" altLang="nl-NL" sz="2200" err="1">
                <a:latin typeface="Frutiger LT Std 45 Light" panose="020B0402020204020204" pitchFamily="34" charset="0"/>
                <a:cs typeface="Arial" panose="020B0604020202020204" pitchFamily="34" charset="0"/>
              </a:rPr>
              <a:t>Welke</a:t>
            </a:r>
            <a:r>
              <a:rPr lang="en-US" altLang="nl-NL" sz="2200">
                <a:latin typeface="Frutiger LT Std 45 Light" panose="020B0402020204020204" pitchFamily="34" charset="0"/>
                <a:cs typeface="Arial" panose="020B0604020202020204" pitchFamily="34" charset="0"/>
              </a:rPr>
              <a:t> </a:t>
            </a:r>
            <a:r>
              <a:rPr lang="en-US" altLang="nl-NL" sz="2200" err="1">
                <a:latin typeface="Frutiger LT Std 45 Light" panose="020B0402020204020204" pitchFamily="34" charset="0"/>
                <a:cs typeface="Arial" panose="020B0604020202020204" pitchFamily="34" charset="0"/>
              </a:rPr>
              <a:t>middelen</a:t>
            </a:r>
            <a:r>
              <a:rPr lang="en-US" altLang="nl-NL" sz="2200">
                <a:latin typeface="Frutiger LT Std 45 Light" panose="020B0402020204020204" pitchFamily="34" charset="0"/>
                <a:cs typeface="Arial" panose="020B0604020202020204" pitchFamily="34" charset="0"/>
              </a:rPr>
              <a:t> </a:t>
            </a:r>
            <a:r>
              <a:rPr lang="en-US" altLang="nl-NL" sz="2200" err="1">
                <a:latin typeface="Frutiger LT Std 45 Light" panose="020B0402020204020204" pitchFamily="34" charset="0"/>
                <a:cs typeface="Arial" panose="020B0604020202020204" pitchFamily="34" charset="0"/>
              </a:rPr>
              <a:t>zijn</a:t>
            </a:r>
            <a:r>
              <a:rPr lang="en-US" altLang="nl-NL" sz="2200">
                <a:latin typeface="Frutiger LT Std 45 Light" panose="020B0402020204020204" pitchFamily="34" charset="0"/>
                <a:cs typeface="Arial" panose="020B0604020202020204" pitchFamily="34" charset="0"/>
              </a:rPr>
              <a:t> </a:t>
            </a:r>
            <a:r>
              <a:rPr lang="en-US" altLang="nl-NL" sz="2200" err="1">
                <a:latin typeface="Frutiger LT Std 45 Light" panose="020B0402020204020204" pitchFamily="34" charset="0"/>
                <a:cs typeface="Arial" panose="020B0604020202020204" pitchFamily="34" charset="0"/>
              </a:rPr>
              <a:t>daar</a:t>
            </a:r>
            <a:r>
              <a:rPr lang="en-US" altLang="nl-NL" sz="2200">
                <a:latin typeface="Frutiger LT Std 45 Light" panose="020B0402020204020204" pitchFamily="34" charset="0"/>
                <a:cs typeface="Arial" panose="020B0604020202020204" pitchFamily="34" charset="0"/>
              </a:rPr>
              <a:t> </a:t>
            </a:r>
            <a:r>
              <a:rPr lang="en-US" altLang="nl-NL" sz="2200" err="1">
                <a:latin typeface="Frutiger LT Std 45 Light" panose="020B0402020204020204" pitchFamily="34" charset="0"/>
                <a:cs typeface="Arial" panose="020B0604020202020204" pitchFamily="34" charset="0"/>
              </a:rPr>
              <a:t>voor</a:t>
            </a:r>
            <a:r>
              <a:rPr lang="en-US" altLang="nl-NL" sz="2200">
                <a:latin typeface="Frutiger LT Std 45 Light" panose="020B0402020204020204" pitchFamily="34" charset="0"/>
                <a:cs typeface="Arial" panose="020B0604020202020204" pitchFamily="34" charset="0"/>
              </a:rPr>
              <a:t> </a:t>
            </a:r>
            <a:r>
              <a:rPr lang="en-US" altLang="nl-NL" sz="2200" err="1">
                <a:latin typeface="Frutiger LT Std 45 Light" panose="020B0402020204020204" pitchFamily="34" charset="0"/>
                <a:cs typeface="Arial" panose="020B0604020202020204" pitchFamily="34" charset="0"/>
              </a:rPr>
              <a:t>nodig</a:t>
            </a:r>
            <a:r>
              <a:rPr lang="en-US" altLang="nl-NL" sz="2200">
                <a:latin typeface="Frutiger LT Std 45 Light" panose="020B0402020204020204" pitchFamily="34" charset="0"/>
                <a:cs typeface="Arial" panose="020B0604020202020204" pitchFamily="34" charset="0"/>
              </a:rPr>
              <a:t>?</a:t>
            </a:r>
            <a:endParaRPr lang="nl-NL" altLang="nl-NL" sz="2200">
              <a:latin typeface="Frutiger LT Std 45 Light" panose="020B0402020204020204" pitchFamily="34" charset="0"/>
              <a:cs typeface="Arial" panose="020B0604020202020204" pitchFamily="34" charset="0"/>
            </a:endParaRPr>
          </a:p>
        </p:txBody>
      </p:sp>
    </p:spTree>
    <p:extLst>
      <p:ext uri="{BB962C8B-B14F-4D97-AF65-F5344CB8AC3E}">
        <p14:creationId xmlns:p14="http://schemas.microsoft.com/office/powerpoint/2010/main" val="5595461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6F9B4760-5B51-42D6-B69A-DB3756A0479E}"/>
              </a:ext>
            </a:extLst>
          </p:cNvPr>
          <p:cNvSpPr txBox="1">
            <a:spLocks/>
          </p:cNvSpPr>
          <p:nvPr/>
        </p:nvSpPr>
        <p:spPr bwMode="auto">
          <a:xfrm>
            <a:off x="894412" y="485073"/>
            <a:ext cx="10512713" cy="7858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defRPr/>
            </a:pPr>
            <a:r>
              <a:rPr lang="en-US" sz="3600" err="1">
                <a:solidFill>
                  <a:srgbClr val="911D20"/>
                </a:solidFill>
                <a:effectLst>
                  <a:outerShdw blurRad="38100" dist="38100" dir="2700000" algn="tl">
                    <a:srgbClr val="000000"/>
                  </a:outerShdw>
                </a:effectLst>
                <a:latin typeface="Frutiger LT Std 45 Light" panose="020B0402020204020204" pitchFamily="34" charset="0"/>
                <a:cs typeface="Arial" charset="0"/>
              </a:rPr>
              <a:t>Doelen</a:t>
            </a:r>
            <a:r>
              <a:rPr lang="en-US" sz="3600">
                <a:solidFill>
                  <a:srgbClr val="911D20"/>
                </a:solidFill>
                <a:effectLst>
                  <a:outerShdw blurRad="38100" dist="38100" dir="2700000" algn="tl">
                    <a:srgbClr val="000000"/>
                  </a:outerShdw>
                </a:effectLst>
                <a:latin typeface="Frutiger LT Std 45 Light" panose="020B0402020204020204" pitchFamily="34" charset="0"/>
                <a:cs typeface="Arial" charset="0"/>
              </a:rPr>
              <a:t> versus </a:t>
            </a:r>
            <a:r>
              <a:rPr lang="en-US" sz="3600" err="1">
                <a:solidFill>
                  <a:srgbClr val="911D20"/>
                </a:solidFill>
                <a:effectLst>
                  <a:outerShdw blurRad="38100" dist="38100" dir="2700000" algn="tl">
                    <a:srgbClr val="000000"/>
                  </a:outerShdw>
                </a:effectLst>
                <a:latin typeface="Frutiger LT Std 45 Light" panose="020B0402020204020204" pitchFamily="34" charset="0"/>
                <a:cs typeface="Arial" charset="0"/>
              </a:rPr>
              <a:t>Inzet</a:t>
            </a:r>
            <a:endParaRPr lang="nl-NL" sz="3600">
              <a:solidFill>
                <a:srgbClr val="911D20"/>
              </a:solidFill>
              <a:effectLst>
                <a:outerShdw blurRad="38100" dist="38100" dir="2700000" algn="tl">
                  <a:srgbClr val="000000"/>
                </a:outerShdw>
              </a:effectLst>
              <a:latin typeface="Frutiger LT Std 45 Light" panose="020B0402020204020204" pitchFamily="34" charset="0"/>
              <a:cs typeface="Arial" charset="0"/>
            </a:endParaRPr>
          </a:p>
        </p:txBody>
      </p:sp>
      <p:sp>
        <p:nvSpPr>
          <p:cNvPr id="5" name="Tijdelijke aanduiding voor inhoud 2">
            <a:extLst>
              <a:ext uri="{FF2B5EF4-FFF2-40B4-BE49-F238E27FC236}">
                <a16:creationId xmlns:a16="http://schemas.microsoft.com/office/drawing/2014/main" id="{5094E8B6-799D-4E38-B006-709276C70922}"/>
              </a:ext>
            </a:extLst>
          </p:cNvPr>
          <p:cNvSpPr txBox="1">
            <a:spLocks/>
          </p:cNvSpPr>
          <p:nvPr/>
        </p:nvSpPr>
        <p:spPr bwMode="auto">
          <a:xfrm>
            <a:off x="894412" y="1585210"/>
            <a:ext cx="8229600" cy="3971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buFont typeface="Arial" panose="020B0604020202020204" pitchFamily="34" charset="0"/>
              <a:buNone/>
            </a:pPr>
            <a:r>
              <a:rPr lang="nl-NL" altLang="nl-NL" sz="1800" b="1">
                <a:solidFill>
                  <a:srgbClr val="00B5F1"/>
                </a:solidFill>
                <a:latin typeface="Frutiger LT Std 45 Light" panose="020B0402020204020204" pitchFamily="34" charset="0"/>
                <a:cs typeface="Arial" panose="020B0604020202020204" pitchFamily="34" charset="0"/>
              </a:rPr>
              <a:t>Doelen</a:t>
            </a:r>
            <a:endParaRPr lang="nl-NL" altLang="nl-NL" sz="1800">
              <a:solidFill>
                <a:srgbClr val="00B5F1"/>
              </a:solidFill>
              <a:latin typeface="Frutiger LT Std 45 Light" panose="020B0402020204020204" pitchFamily="34" charset="0"/>
              <a:cs typeface="Arial" panose="020B0604020202020204" pitchFamily="34" charset="0"/>
            </a:endParaRPr>
          </a:p>
          <a:p>
            <a:pPr eaLnBrk="1" hangingPunct="1">
              <a:buFont typeface="Arial" panose="020B0604020202020204" pitchFamily="34" charset="0"/>
              <a:buNone/>
            </a:pPr>
            <a:r>
              <a:rPr lang="nl-NL" altLang="nl-NL" sz="1800">
                <a:latin typeface="Frutiger LT Std 45 Light" panose="020B0402020204020204" pitchFamily="34" charset="0"/>
                <a:cs typeface="Arial" panose="020B0604020202020204" pitchFamily="34" charset="0"/>
              </a:rPr>
              <a:t>Wat wil ik bereiken? </a:t>
            </a:r>
          </a:p>
          <a:p>
            <a:pPr eaLnBrk="1" hangingPunct="1">
              <a:buFont typeface="Arial" panose="020B0604020202020204" pitchFamily="34" charset="0"/>
              <a:buNone/>
            </a:pPr>
            <a:r>
              <a:rPr lang="en-US" altLang="nl-NL" sz="1800">
                <a:latin typeface="Frutiger LT Std 45 Light" panose="020B0402020204020204" pitchFamily="34" charset="0"/>
                <a:cs typeface="Arial" panose="020B0604020202020204" pitchFamily="34" charset="0"/>
              </a:rPr>
              <a:t>Wat is </a:t>
            </a:r>
            <a:r>
              <a:rPr lang="en-US" altLang="nl-NL" sz="1800" err="1">
                <a:latin typeface="Frutiger LT Std 45 Light" panose="020B0402020204020204" pitchFamily="34" charset="0"/>
                <a:cs typeface="Arial" panose="020B0604020202020204" pitchFamily="34" charset="0"/>
              </a:rPr>
              <a:t>mijn</a:t>
            </a:r>
            <a:r>
              <a:rPr lang="en-US" altLang="nl-NL" sz="1800">
                <a:latin typeface="Frutiger LT Std 45 Light" panose="020B0402020204020204" pitchFamily="34" charset="0"/>
                <a:cs typeface="Arial" panose="020B0604020202020204" pitchFamily="34" charset="0"/>
              </a:rPr>
              <a:t> (</a:t>
            </a:r>
            <a:r>
              <a:rPr lang="en-US" altLang="nl-NL" sz="1800" err="1">
                <a:latin typeface="Frutiger LT Std 45 Light" panose="020B0402020204020204" pitchFamily="34" charset="0"/>
                <a:cs typeface="Arial" panose="020B0604020202020204" pitchFamily="34" charset="0"/>
              </a:rPr>
              <a:t>eind</a:t>
            </a:r>
            <a:r>
              <a:rPr lang="en-US" altLang="nl-NL" sz="1800">
                <a:latin typeface="Frutiger LT Std 45 Light" panose="020B0402020204020204" pitchFamily="34" charset="0"/>
                <a:cs typeface="Arial" panose="020B0604020202020204" pitchFamily="34" charset="0"/>
              </a:rPr>
              <a:t>)</a:t>
            </a:r>
            <a:r>
              <a:rPr lang="en-US" altLang="nl-NL" sz="1800" err="1">
                <a:latin typeface="Frutiger LT Std 45 Light" panose="020B0402020204020204" pitchFamily="34" charset="0"/>
                <a:cs typeface="Arial" panose="020B0604020202020204" pitchFamily="34" charset="0"/>
              </a:rPr>
              <a:t>doel</a:t>
            </a:r>
            <a:r>
              <a:rPr lang="en-US" altLang="nl-NL" sz="1800">
                <a:latin typeface="Frutiger LT Std 45 Light" panose="020B0402020204020204" pitchFamily="34" charset="0"/>
                <a:cs typeface="Arial" panose="020B0604020202020204" pitchFamily="34" charset="0"/>
              </a:rPr>
              <a:t>?</a:t>
            </a:r>
            <a:endParaRPr lang="nl-NL" altLang="nl-NL" sz="1800">
              <a:latin typeface="Frutiger LT Std 45 Light" panose="020B0402020204020204" pitchFamily="34" charset="0"/>
              <a:cs typeface="Arial" panose="020B0604020202020204" pitchFamily="34" charset="0"/>
            </a:endParaRPr>
          </a:p>
          <a:p>
            <a:pPr eaLnBrk="1" hangingPunct="1">
              <a:buFont typeface="Arial" panose="020B0604020202020204" pitchFamily="34" charset="0"/>
              <a:buNone/>
            </a:pPr>
            <a:endParaRPr lang="nl-NL" altLang="nl-NL" sz="1800">
              <a:latin typeface="Frutiger LT Std 45 Light" panose="020B0402020204020204" pitchFamily="34" charset="0"/>
              <a:cs typeface="Arial" panose="020B0604020202020204" pitchFamily="34" charset="0"/>
            </a:endParaRPr>
          </a:p>
          <a:p>
            <a:pPr eaLnBrk="1" hangingPunct="1">
              <a:buFont typeface="Arial" panose="020B0604020202020204" pitchFamily="34" charset="0"/>
              <a:buNone/>
            </a:pPr>
            <a:r>
              <a:rPr lang="nl-NL" altLang="nl-NL" sz="1800" b="1">
                <a:solidFill>
                  <a:srgbClr val="00B5F1"/>
                </a:solidFill>
                <a:latin typeface="Frutiger LT Std 45 Light" panose="020B0402020204020204" pitchFamily="34" charset="0"/>
                <a:cs typeface="Arial" panose="020B0604020202020204" pitchFamily="34" charset="0"/>
              </a:rPr>
              <a:t>Inzet</a:t>
            </a:r>
            <a:endParaRPr lang="nl-NL" altLang="nl-NL" sz="1800">
              <a:solidFill>
                <a:srgbClr val="00B5F1"/>
              </a:solidFill>
              <a:latin typeface="Frutiger LT Std 45 Light" panose="020B0402020204020204" pitchFamily="34" charset="0"/>
              <a:cs typeface="Arial" panose="020B0604020202020204" pitchFamily="34" charset="0"/>
            </a:endParaRPr>
          </a:p>
          <a:p>
            <a:pPr eaLnBrk="1" hangingPunct="1">
              <a:buFont typeface="Arial" panose="020B0604020202020204" pitchFamily="34" charset="0"/>
              <a:buNone/>
            </a:pPr>
            <a:r>
              <a:rPr lang="en-US" altLang="nl-NL" sz="1800" err="1">
                <a:latin typeface="Frutiger LT Std 45 Light" panose="020B0402020204020204" pitchFamily="34" charset="0"/>
                <a:cs typeface="Arial" panose="020B0604020202020204" pitchFamily="34" charset="0"/>
              </a:rPr>
              <a:t>Welke</a:t>
            </a:r>
            <a:r>
              <a:rPr lang="en-US" altLang="nl-NL" sz="1800">
                <a:latin typeface="Frutiger LT Std 45 Light" panose="020B0402020204020204" pitchFamily="34" charset="0"/>
                <a:cs typeface="Arial" panose="020B0604020202020204" pitchFamily="34" charset="0"/>
              </a:rPr>
              <a:t> </a:t>
            </a:r>
            <a:r>
              <a:rPr lang="en-US" altLang="nl-NL" sz="1800" err="1">
                <a:latin typeface="Frutiger LT Std 45 Light" panose="020B0402020204020204" pitchFamily="34" charset="0"/>
                <a:cs typeface="Arial" panose="020B0604020202020204" pitchFamily="34" charset="0"/>
              </a:rPr>
              <a:t>inzet</a:t>
            </a:r>
            <a:r>
              <a:rPr lang="en-US" altLang="nl-NL" sz="1800">
                <a:latin typeface="Frutiger LT Std 45 Light" panose="020B0402020204020204" pitchFamily="34" charset="0"/>
                <a:cs typeface="Arial" panose="020B0604020202020204" pitchFamily="34" charset="0"/>
              </a:rPr>
              <a:t> is </a:t>
            </a:r>
            <a:r>
              <a:rPr lang="en-US" altLang="nl-NL" sz="1800" err="1">
                <a:latin typeface="Frutiger LT Std 45 Light" panose="020B0402020204020204" pitchFamily="34" charset="0"/>
                <a:cs typeface="Arial" panose="020B0604020202020204" pitchFamily="34" charset="0"/>
              </a:rPr>
              <a:t>daarvoor</a:t>
            </a:r>
            <a:r>
              <a:rPr lang="en-US" altLang="nl-NL" sz="1800">
                <a:latin typeface="Frutiger LT Std 45 Light" panose="020B0402020204020204" pitchFamily="34" charset="0"/>
                <a:cs typeface="Arial" panose="020B0604020202020204" pitchFamily="34" charset="0"/>
              </a:rPr>
              <a:t> </a:t>
            </a:r>
            <a:r>
              <a:rPr lang="en-US" altLang="nl-NL" sz="1800" err="1">
                <a:latin typeface="Frutiger LT Std 45 Light" panose="020B0402020204020204" pitchFamily="34" charset="0"/>
                <a:cs typeface="Arial" panose="020B0604020202020204" pitchFamily="34" charset="0"/>
              </a:rPr>
              <a:t>nodig</a:t>
            </a:r>
            <a:r>
              <a:rPr lang="en-US" altLang="nl-NL" sz="1800">
                <a:latin typeface="Frutiger LT Std 45 Light" panose="020B0402020204020204" pitchFamily="34" charset="0"/>
                <a:cs typeface="Arial" panose="020B0604020202020204" pitchFamily="34" charset="0"/>
              </a:rPr>
              <a:t>?</a:t>
            </a:r>
          </a:p>
          <a:p>
            <a:pPr eaLnBrk="1" hangingPunct="1">
              <a:buFont typeface="Arial" panose="020B0604020202020204" pitchFamily="34" charset="0"/>
              <a:buNone/>
            </a:pPr>
            <a:r>
              <a:rPr lang="en-US" altLang="nl-NL" sz="1800">
                <a:latin typeface="Frutiger LT Std 45 Light" panose="020B0402020204020204" pitchFamily="34" charset="0"/>
                <a:cs typeface="Arial" panose="020B0604020202020204" pitchFamily="34" charset="0"/>
              </a:rPr>
              <a:t>Hoe </a:t>
            </a:r>
            <a:r>
              <a:rPr lang="en-US" altLang="nl-NL" sz="1800" err="1">
                <a:latin typeface="Frutiger LT Std 45 Light" panose="020B0402020204020204" pitchFamily="34" charset="0"/>
                <a:cs typeface="Arial" panose="020B0604020202020204" pitchFamily="34" charset="0"/>
              </a:rPr>
              <a:t>ik</a:t>
            </a:r>
            <a:r>
              <a:rPr lang="en-US" altLang="nl-NL" sz="1800">
                <a:latin typeface="Frutiger LT Std 45 Light" panose="020B0402020204020204" pitchFamily="34" charset="0"/>
                <a:cs typeface="Arial" panose="020B0604020202020204" pitchFamily="34" charset="0"/>
              </a:rPr>
              <a:t> </a:t>
            </a:r>
            <a:r>
              <a:rPr lang="en-US" altLang="nl-NL" sz="1800" err="1">
                <a:latin typeface="Frutiger LT Std 45 Light" panose="020B0402020204020204" pitchFamily="34" charset="0"/>
                <a:cs typeface="Arial" panose="020B0604020202020204" pitchFamily="34" charset="0"/>
              </a:rPr>
              <a:t>mijn</a:t>
            </a:r>
            <a:r>
              <a:rPr lang="en-US" altLang="nl-NL" sz="1800">
                <a:latin typeface="Frutiger LT Std 45 Light" panose="020B0402020204020204" pitchFamily="34" charset="0"/>
                <a:cs typeface="Arial" panose="020B0604020202020204" pitchFamily="34" charset="0"/>
              </a:rPr>
              <a:t> </a:t>
            </a:r>
            <a:r>
              <a:rPr lang="en-US" altLang="nl-NL" sz="1800" err="1">
                <a:latin typeface="Frutiger LT Std 45 Light" panose="020B0402020204020204" pitchFamily="34" charset="0"/>
                <a:cs typeface="Arial" panose="020B0604020202020204" pitchFamily="34" charset="0"/>
              </a:rPr>
              <a:t>doelen</a:t>
            </a:r>
            <a:r>
              <a:rPr lang="en-US" altLang="nl-NL" sz="1800">
                <a:latin typeface="Frutiger LT Std 45 Light" panose="020B0402020204020204" pitchFamily="34" charset="0"/>
                <a:cs typeface="Arial" panose="020B0604020202020204" pitchFamily="34" charset="0"/>
              </a:rPr>
              <a:t> </a:t>
            </a:r>
            <a:r>
              <a:rPr lang="en-US" altLang="nl-NL" sz="1800" err="1">
                <a:latin typeface="Frutiger LT Std 45 Light" panose="020B0402020204020204" pitchFamily="34" charset="0"/>
                <a:cs typeface="Arial" panose="020B0604020202020204" pitchFamily="34" charset="0"/>
              </a:rPr>
              <a:t>bereik</a:t>
            </a:r>
            <a:r>
              <a:rPr lang="en-US" altLang="nl-NL" sz="1800">
                <a:latin typeface="Frutiger LT Std 45 Light" panose="020B0402020204020204" pitchFamily="34" charset="0"/>
                <a:cs typeface="Arial" panose="020B0604020202020204" pitchFamily="34" charset="0"/>
              </a:rPr>
              <a:t>.</a:t>
            </a:r>
            <a:endParaRPr lang="nl-NL" altLang="nl-NL" sz="1800">
              <a:latin typeface="Frutiger LT Std 45 Light" panose="020B0402020204020204" pitchFamily="34" charset="0"/>
              <a:cs typeface="Arial" panose="020B0604020202020204" pitchFamily="34" charset="0"/>
            </a:endParaRPr>
          </a:p>
          <a:p>
            <a:pPr eaLnBrk="1" hangingPunct="1">
              <a:buFont typeface="Arial" panose="020B0604020202020204" pitchFamily="34" charset="0"/>
              <a:buNone/>
            </a:pPr>
            <a:r>
              <a:rPr lang="en-US" altLang="nl-NL" sz="1800" err="1">
                <a:latin typeface="Frutiger LT Std 45 Light" panose="020B0402020204020204" pitchFamily="34" charset="0"/>
                <a:cs typeface="Arial" panose="020B0604020202020204" pitchFamily="34" charset="0"/>
              </a:rPr>
              <a:t>Welke</a:t>
            </a:r>
            <a:r>
              <a:rPr lang="en-US" altLang="nl-NL" sz="1800">
                <a:latin typeface="Frutiger LT Std 45 Light" panose="020B0402020204020204" pitchFamily="34" charset="0"/>
                <a:cs typeface="Arial" panose="020B0604020202020204" pitchFamily="34" charset="0"/>
              </a:rPr>
              <a:t> </a:t>
            </a:r>
            <a:r>
              <a:rPr lang="en-US" altLang="nl-NL" sz="1800" err="1">
                <a:latin typeface="Frutiger LT Std 45 Light" panose="020B0402020204020204" pitchFamily="34" charset="0"/>
                <a:cs typeface="Arial" panose="020B0604020202020204" pitchFamily="34" charset="0"/>
              </a:rPr>
              <a:t>middelen</a:t>
            </a:r>
            <a:r>
              <a:rPr lang="en-US" altLang="nl-NL" sz="1800">
                <a:latin typeface="Frutiger LT Std 45 Light" panose="020B0402020204020204" pitchFamily="34" charset="0"/>
                <a:cs typeface="Arial" panose="020B0604020202020204" pitchFamily="34" charset="0"/>
              </a:rPr>
              <a:t> </a:t>
            </a:r>
            <a:r>
              <a:rPr lang="en-US" altLang="nl-NL" sz="1800" err="1">
                <a:latin typeface="Frutiger LT Std 45 Light" panose="020B0402020204020204" pitchFamily="34" charset="0"/>
                <a:cs typeface="Arial" panose="020B0604020202020204" pitchFamily="34" charset="0"/>
              </a:rPr>
              <a:t>zijn</a:t>
            </a:r>
            <a:r>
              <a:rPr lang="en-US" altLang="nl-NL" sz="1800">
                <a:latin typeface="Frutiger LT Std 45 Light" panose="020B0402020204020204" pitchFamily="34" charset="0"/>
                <a:cs typeface="Arial" panose="020B0604020202020204" pitchFamily="34" charset="0"/>
              </a:rPr>
              <a:t> </a:t>
            </a:r>
            <a:r>
              <a:rPr lang="en-US" altLang="nl-NL" sz="1800" err="1">
                <a:latin typeface="Frutiger LT Std 45 Light" panose="020B0402020204020204" pitchFamily="34" charset="0"/>
                <a:cs typeface="Arial" panose="020B0604020202020204" pitchFamily="34" charset="0"/>
              </a:rPr>
              <a:t>daar</a:t>
            </a:r>
            <a:r>
              <a:rPr lang="en-US" altLang="nl-NL" sz="1800">
                <a:latin typeface="Frutiger LT Std 45 Light" panose="020B0402020204020204" pitchFamily="34" charset="0"/>
                <a:cs typeface="Arial" panose="020B0604020202020204" pitchFamily="34" charset="0"/>
              </a:rPr>
              <a:t> </a:t>
            </a:r>
            <a:r>
              <a:rPr lang="en-US" altLang="nl-NL" sz="1800" err="1">
                <a:latin typeface="Frutiger LT Std 45 Light" panose="020B0402020204020204" pitchFamily="34" charset="0"/>
                <a:cs typeface="Arial" panose="020B0604020202020204" pitchFamily="34" charset="0"/>
              </a:rPr>
              <a:t>voor</a:t>
            </a:r>
            <a:r>
              <a:rPr lang="en-US" altLang="nl-NL" sz="1800">
                <a:latin typeface="Frutiger LT Std 45 Light" panose="020B0402020204020204" pitchFamily="34" charset="0"/>
                <a:cs typeface="Arial" panose="020B0604020202020204" pitchFamily="34" charset="0"/>
              </a:rPr>
              <a:t> </a:t>
            </a:r>
            <a:r>
              <a:rPr lang="en-US" altLang="nl-NL" sz="1800" err="1">
                <a:latin typeface="Frutiger LT Std 45 Light" panose="020B0402020204020204" pitchFamily="34" charset="0"/>
                <a:cs typeface="Arial" panose="020B0604020202020204" pitchFamily="34" charset="0"/>
              </a:rPr>
              <a:t>nodig</a:t>
            </a:r>
            <a:r>
              <a:rPr lang="en-US" altLang="nl-NL" sz="1800">
                <a:latin typeface="Frutiger LT Std 45 Light" panose="020B0402020204020204" pitchFamily="34" charset="0"/>
                <a:cs typeface="Arial" panose="020B0604020202020204" pitchFamily="34" charset="0"/>
              </a:rPr>
              <a:t>?</a:t>
            </a:r>
            <a:endParaRPr lang="nl-NL" altLang="nl-NL" sz="1800">
              <a:latin typeface="Frutiger LT Std 45 Light" panose="020B0402020204020204" pitchFamily="34" charset="0"/>
              <a:cs typeface="Arial" panose="020B0604020202020204" pitchFamily="34" charset="0"/>
            </a:endParaRPr>
          </a:p>
        </p:txBody>
      </p:sp>
    </p:spTree>
    <p:extLst>
      <p:ext uri="{BB962C8B-B14F-4D97-AF65-F5344CB8AC3E}">
        <p14:creationId xmlns:p14="http://schemas.microsoft.com/office/powerpoint/2010/main" val="36679868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kstvak 5">
            <a:extLst>
              <a:ext uri="{FF2B5EF4-FFF2-40B4-BE49-F238E27FC236}">
                <a16:creationId xmlns:a16="http://schemas.microsoft.com/office/drawing/2014/main" id="{8D15D98C-F4FA-4E9D-A142-147C92B549A4}"/>
              </a:ext>
            </a:extLst>
          </p:cNvPr>
          <p:cNvSpPr txBox="1">
            <a:spLocks noChangeArrowheads="1"/>
          </p:cNvSpPr>
          <p:nvPr/>
        </p:nvSpPr>
        <p:spPr bwMode="auto">
          <a:xfrm>
            <a:off x="609600" y="571500"/>
            <a:ext cx="10972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algn="ctr" eaLnBrk="1" hangingPunct="1">
              <a:spcBef>
                <a:spcPct val="0"/>
              </a:spcBef>
              <a:buClrTx/>
              <a:buSzTx/>
              <a:buFontTx/>
              <a:buNone/>
            </a:pPr>
            <a:r>
              <a:rPr lang="nl-NL" altLang="nl-NL" b="1" dirty="0">
                <a:solidFill>
                  <a:srgbClr val="911D20"/>
                </a:solidFill>
                <a:latin typeface="Arial" panose="020B0604020202020204" pitchFamily="34" charset="0"/>
                <a:cs typeface="Arial" panose="020B0604020202020204" pitchFamily="34" charset="0"/>
              </a:rPr>
              <a:t>De 4 fundamentele waarden typen</a:t>
            </a:r>
          </a:p>
        </p:txBody>
      </p:sp>
      <p:pic>
        <p:nvPicPr>
          <p:cNvPr id="6" name="Picture 6" descr="S:\Marketing\9999\Huistijl\Q4 Profiles\Q4 Profiles Grids\Waarden Type Grid.jpg">
            <a:extLst>
              <a:ext uri="{FF2B5EF4-FFF2-40B4-BE49-F238E27FC236}">
                <a16:creationId xmlns:a16="http://schemas.microsoft.com/office/drawing/2014/main" id="{797B7F29-B584-46E2-9D3B-C76BF4013A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3585" y="1581040"/>
            <a:ext cx="7016750" cy="454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94248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A9F40DC7-768B-470A-AC9B-4EC4242DB490}"/>
              </a:ext>
            </a:extLst>
          </p:cNvPr>
          <p:cNvSpPr txBox="1">
            <a:spLocks/>
          </p:cNvSpPr>
          <p:nvPr/>
        </p:nvSpPr>
        <p:spPr bwMode="auto">
          <a:xfrm>
            <a:off x="609600" y="500063"/>
            <a:ext cx="10972799" cy="6064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defRPr/>
            </a:pPr>
            <a:r>
              <a:rPr lang="en-US" sz="3600">
                <a:solidFill>
                  <a:srgbClr val="911D20"/>
                </a:solidFill>
                <a:effectLst>
                  <a:outerShdw blurRad="38100" dist="38100" dir="2700000" algn="tl">
                    <a:srgbClr val="000000"/>
                  </a:outerShdw>
                </a:effectLst>
                <a:latin typeface="Frutiger LT Std 45 Light" panose="020B0402020204020204" pitchFamily="34" charset="0"/>
                <a:cs typeface="Arial" charset="0"/>
              </a:rPr>
              <a:t>De 4 Types</a:t>
            </a:r>
            <a:endParaRPr lang="nl-NL" sz="3600">
              <a:solidFill>
                <a:srgbClr val="911D20"/>
              </a:solidFill>
              <a:effectLst>
                <a:outerShdw blurRad="38100" dist="38100" dir="2700000" algn="tl">
                  <a:srgbClr val="000000"/>
                </a:outerShdw>
              </a:effectLst>
              <a:latin typeface="Frutiger LT Std 45 Light" panose="020B0402020204020204" pitchFamily="34" charset="0"/>
              <a:cs typeface="Arial" charset="0"/>
            </a:endParaRPr>
          </a:p>
        </p:txBody>
      </p:sp>
      <p:sp>
        <p:nvSpPr>
          <p:cNvPr id="5" name="Tijdelijke aanduiding voor inhoud 2">
            <a:extLst>
              <a:ext uri="{FF2B5EF4-FFF2-40B4-BE49-F238E27FC236}">
                <a16:creationId xmlns:a16="http://schemas.microsoft.com/office/drawing/2014/main" id="{243BF256-A7A1-46FA-8E9A-9D9BD9F7A1ED}"/>
              </a:ext>
            </a:extLst>
          </p:cNvPr>
          <p:cNvSpPr txBox="1">
            <a:spLocks/>
          </p:cNvSpPr>
          <p:nvPr/>
        </p:nvSpPr>
        <p:spPr bwMode="auto">
          <a:xfrm>
            <a:off x="609600" y="1349372"/>
            <a:ext cx="8229600" cy="47781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lnSpc>
                <a:spcPct val="80000"/>
              </a:lnSpc>
              <a:buFont typeface="Arial" panose="020B0604020202020204" pitchFamily="34" charset="0"/>
              <a:buNone/>
            </a:pPr>
            <a:endParaRPr lang="nl-NL" altLang="nl-NL" sz="1800" b="1">
              <a:solidFill>
                <a:srgbClr val="FFC000"/>
              </a:solidFill>
              <a:latin typeface="Frutiger LT Std 45 Light" panose="020B0402020204020204" pitchFamily="34" charset="0"/>
              <a:cs typeface="Arial" panose="020B0604020202020204" pitchFamily="34" charset="0"/>
            </a:endParaRPr>
          </a:p>
          <a:p>
            <a:pPr eaLnBrk="1" hangingPunct="1">
              <a:lnSpc>
                <a:spcPct val="80000"/>
              </a:lnSpc>
              <a:buFont typeface="Arial" panose="020B0604020202020204" pitchFamily="34" charset="0"/>
              <a:buNone/>
            </a:pPr>
            <a:r>
              <a:rPr lang="nl-NL" altLang="nl-NL" sz="1800" b="1">
                <a:solidFill>
                  <a:srgbClr val="FFC000"/>
                </a:solidFill>
                <a:latin typeface="Frutiger LT Std 45 Light" panose="020B0402020204020204" pitchFamily="34" charset="0"/>
                <a:cs typeface="Arial" panose="020B0604020202020204" pitchFamily="34" charset="0"/>
              </a:rPr>
              <a:t>Type I</a:t>
            </a:r>
            <a:endParaRPr lang="nl-NL" altLang="nl-NL" sz="1800">
              <a:solidFill>
                <a:srgbClr val="FFC000"/>
              </a:solidFill>
              <a:latin typeface="Frutiger LT Std 45 Light" panose="020B0402020204020204" pitchFamily="34" charset="0"/>
              <a:cs typeface="Arial" panose="020B0604020202020204" pitchFamily="34" charset="0"/>
            </a:endParaRPr>
          </a:p>
          <a:p>
            <a:pPr eaLnBrk="1" hangingPunct="1">
              <a:lnSpc>
                <a:spcPct val="80000"/>
              </a:lnSpc>
              <a:buFont typeface="Arial" panose="020B0604020202020204" pitchFamily="34" charset="0"/>
              <a:buChar char="•"/>
            </a:pPr>
            <a:r>
              <a:rPr lang="nl-NL" altLang="nl-NL" sz="1800">
                <a:latin typeface="Frutiger LT Std 45 Light" panose="020B0402020204020204" pitchFamily="34" charset="0"/>
                <a:cs typeface="Arial" panose="020B0604020202020204" pitchFamily="34" charset="0"/>
              </a:rPr>
              <a:t>Gericht op zijn of haar eigen rechten (</a:t>
            </a:r>
            <a:r>
              <a:rPr lang="nl-NL" altLang="nl-NL" sz="1800">
                <a:solidFill>
                  <a:srgbClr val="00B5F1"/>
                </a:solidFill>
                <a:latin typeface="Frutiger LT Std 45 Light" panose="020B0402020204020204" pitchFamily="34" charset="0"/>
                <a:cs typeface="Arial" panose="020B0604020202020204" pitchFamily="34" charset="0"/>
              </a:rPr>
              <a:t>persoonlijke doelen </a:t>
            </a:r>
            <a:r>
              <a:rPr lang="nl-NL" altLang="nl-NL" sz="1800">
                <a:latin typeface="Frutiger LT Std 45 Light" panose="020B0402020204020204" pitchFamily="34" charset="0"/>
                <a:cs typeface="Arial" panose="020B0604020202020204" pitchFamily="34" charset="0"/>
              </a:rPr>
              <a:t>en door middel van </a:t>
            </a:r>
            <a:r>
              <a:rPr lang="nl-NL" altLang="nl-NL" sz="1800">
                <a:solidFill>
                  <a:srgbClr val="00B5F1"/>
                </a:solidFill>
                <a:latin typeface="Frutiger LT Std 45 Light" panose="020B0402020204020204" pitchFamily="34" charset="0"/>
                <a:cs typeface="Arial" panose="020B0604020202020204" pitchFamily="34" charset="0"/>
              </a:rPr>
              <a:t>persoonlijke inzet</a:t>
            </a:r>
            <a:r>
              <a:rPr lang="nl-NL" altLang="nl-NL" sz="1800">
                <a:latin typeface="Frutiger LT Std 45 Light" panose="020B0402020204020204" pitchFamily="34" charset="0"/>
                <a:cs typeface="Arial" panose="020B0604020202020204" pitchFamily="34" charset="0"/>
              </a:rPr>
              <a:t>)</a:t>
            </a:r>
          </a:p>
          <a:p>
            <a:pPr eaLnBrk="1" hangingPunct="1">
              <a:lnSpc>
                <a:spcPct val="80000"/>
              </a:lnSpc>
              <a:buFont typeface="Arial" panose="020B0604020202020204" pitchFamily="34" charset="0"/>
              <a:buNone/>
            </a:pPr>
            <a:r>
              <a:rPr lang="nl-NL" altLang="nl-NL" sz="1800">
                <a:latin typeface="Frutiger LT Std 45 Light" panose="020B0402020204020204" pitchFamily="34" charset="0"/>
                <a:cs typeface="Arial" panose="020B0604020202020204" pitchFamily="34" charset="0"/>
              </a:rPr>
              <a:t> </a:t>
            </a:r>
          </a:p>
          <a:p>
            <a:pPr eaLnBrk="1" hangingPunct="1">
              <a:lnSpc>
                <a:spcPct val="80000"/>
              </a:lnSpc>
              <a:buFont typeface="Arial" panose="020B0604020202020204" pitchFamily="34" charset="0"/>
              <a:buNone/>
            </a:pPr>
            <a:r>
              <a:rPr lang="nl-NL" altLang="nl-NL" sz="1800" b="1">
                <a:solidFill>
                  <a:srgbClr val="7030A0"/>
                </a:solidFill>
                <a:latin typeface="Frutiger LT Std 45 Light" panose="020B0402020204020204" pitchFamily="34" charset="0"/>
                <a:cs typeface="Arial" panose="020B0604020202020204" pitchFamily="34" charset="0"/>
              </a:rPr>
              <a:t>Type II</a:t>
            </a:r>
            <a:endParaRPr lang="nl-NL" altLang="nl-NL" sz="1800">
              <a:solidFill>
                <a:srgbClr val="7030A0"/>
              </a:solidFill>
              <a:latin typeface="Frutiger LT Std 45 Light" panose="020B0402020204020204" pitchFamily="34" charset="0"/>
              <a:cs typeface="Arial" panose="020B0604020202020204" pitchFamily="34" charset="0"/>
            </a:endParaRPr>
          </a:p>
          <a:p>
            <a:pPr eaLnBrk="1" hangingPunct="1">
              <a:lnSpc>
                <a:spcPct val="80000"/>
              </a:lnSpc>
              <a:buFont typeface="Arial" panose="020B0604020202020204" pitchFamily="34" charset="0"/>
              <a:buChar char="•"/>
            </a:pPr>
            <a:r>
              <a:rPr lang="nl-NL" altLang="nl-NL" sz="1800">
                <a:latin typeface="Frutiger LT Std 45 Light" panose="020B0402020204020204" pitchFamily="34" charset="0"/>
                <a:cs typeface="Arial" panose="020B0604020202020204" pitchFamily="34" charset="0"/>
              </a:rPr>
              <a:t>Gericht op zijn of haar eigen rechten (</a:t>
            </a:r>
            <a:r>
              <a:rPr lang="nl-NL" altLang="nl-NL" sz="1800">
                <a:solidFill>
                  <a:srgbClr val="00B5F1"/>
                </a:solidFill>
                <a:latin typeface="Frutiger LT Std 45 Light" panose="020B0402020204020204" pitchFamily="34" charset="0"/>
                <a:cs typeface="Arial" panose="020B0604020202020204" pitchFamily="34" charset="0"/>
              </a:rPr>
              <a:t>persoonlijke doelen</a:t>
            </a:r>
            <a:r>
              <a:rPr lang="nl-NL" altLang="nl-NL" sz="1800">
                <a:latin typeface="Frutiger LT Std 45 Light" panose="020B0402020204020204" pitchFamily="34" charset="0"/>
                <a:cs typeface="Arial" panose="020B0604020202020204" pitchFamily="34" charset="0"/>
              </a:rPr>
              <a:t>) en dan de rechten van anderen (d.m.v. </a:t>
            </a:r>
            <a:r>
              <a:rPr lang="nl-NL" altLang="nl-NL" sz="1800">
                <a:solidFill>
                  <a:srgbClr val="00B5F1"/>
                </a:solidFill>
                <a:latin typeface="Frutiger LT Std 45 Light" panose="020B0402020204020204" pitchFamily="34" charset="0"/>
                <a:cs typeface="Arial" panose="020B0604020202020204" pitchFamily="34" charset="0"/>
              </a:rPr>
              <a:t>gezamenlijke inzet</a:t>
            </a:r>
            <a:r>
              <a:rPr lang="nl-NL" altLang="nl-NL" sz="1800">
                <a:latin typeface="Frutiger LT Std 45 Light" panose="020B0402020204020204" pitchFamily="34" charset="0"/>
                <a:cs typeface="Arial" panose="020B0604020202020204" pitchFamily="34" charset="0"/>
              </a:rPr>
              <a:t>)</a:t>
            </a:r>
          </a:p>
          <a:p>
            <a:pPr eaLnBrk="1" hangingPunct="1">
              <a:lnSpc>
                <a:spcPct val="80000"/>
              </a:lnSpc>
              <a:buFont typeface="Arial" panose="020B0604020202020204" pitchFamily="34" charset="0"/>
              <a:buNone/>
            </a:pPr>
            <a:r>
              <a:rPr lang="nl-NL" altLang="nl-NL" sz="1800">
                <a:latin typeface="Frutiger LT Std 45 Light" panose="020B0402020204020204" pitchFamily="34" charset="0"/>
                <a:cs typeface="Arial" panose="020B0604020202020204" pitchFamily="34" charset="0"/>
              </a:rPr>
              <a:t> </a:t>
            </a:r>
          </a:p>
          <a:p>
            <a:pPr eaLnBrk="1" hangingPunct="1">
              <a:lnSpc>
                <a:spcPct val="80000"/>
              </a:lnSpc>
              <a:buFont typeface="Arial" panose="020B0604020202020204" pitchFamily="34" charset="0"/>
              <a:buNone/>
            </a:pPr>
            <a:r>
              <a:rPr lang="nl-NL" altLang="nl-NL" sz="1800" b="1">
                <a:solidFill>
                  <a:srgbClr val="0070C0"/>
                </a:solidFill>
                <a:latin typeface="Frutiger LT Std 45 Light" panose="020B0402020204020204" pitchFamily="34" charset="0"/>
                <a:cs typeface="Arial" panose="020B0604020202020204" pitchFamily="34" charset="0"/>
              </a:rPr>
              <a:t>Type III</a:t>
            </a:r>
            <a:endParaRPr lang="nl-NL" altLang="nl-NL" sz="1800">
              <a:solidFill>
                <a:srgbClr val="0070C0"/>
              </a:solidFill>
              <a:latin typeface="Frutiger LT Std 45 Light" panose="020B0402020204020204" pitchFamily="34" charset="0"/>
              <a:cs typeface="Arial" panose="020B0604020202020204" pitchFamily="34" charset="0"/>
            </a:endParaRPr>
          </a:p>
          <a:p>
            <a:pPr eaLnBrk="1" hangingPunct="1">
              <a:lnSpc>
                <a:spcPct val="80000"/>
              </a:lnSpc>
              <a:buFont typeface="Arial" panose="020B0604020202020204" pitchFamily="34" charset="0"/>
              <a:buChar char="•"/>
            </a:pPr>
            <a:r>
              <a:rPr lang="nl-NL" altLang="nl-NL" sz="1800">
                <a:latin typeface="Frutiger LT Std 45 Light" panose="020B0402020204020204" pitchFamily="34" charset="0"/>
                <a:cs typeface="Arial" panose="020B0604020202020204" pitchFamily="34" charset="0"/>
              </a:rPr>
              <a:t>Gericht op de verantwoordelijkheden van anderen (</a:t>
            </a:r>
            <a:r>
              <a:rPr lang="nl-NL" altLang="nl-NL" sz="1800">
                <a:solidFill>
                  <a:srgbClr val="00B5F1"/>
                </a:solidFill>
                <a:latin typeface="Frutiger LT Std 45 Light" panose="020B0402020204020204" pitchFamily="34" charset="0"/>
                <a:cs typeface="Arial" panose="020B0604020202020204" pitchFamily="34" charset="0"/>
              </a:rPr>
              <a:t>gezamenlijke doelen</a:t>
            </a:r>
            <a:r>
              <a:rPr lang="nl-NL" altLang="nl-NL" sz="1800">
                <a:latin typeface="Frutiger LT Std 45 Light" panose="020B0402020204020204" pitchFamily="34" charset="0"/>
                <a:cs typeface="Arial" panose="020B0604020202020204" pitchFamily="34" charset="0"/>
              </a:rPr>
              <a:t>) en dan op de eigen verantwoordelijkheden (d.m.v. </a:t>
            </a:r>
            <a:r>
              <a:rPr lang="nl-NL" altLang="nl-NL" sz="1800">
                <a:solidFill>
                  <a:srgbClr val="00B5F1"/>
                </a:solidFill>
                <a:latin typeface="Frutiger LT Std 45 Light" panose="020B0402020204020204" pitchFamily="34" charset="0"/>
                <a:cs typeface="Arial" panose="020B0604020202020204" pitchFamily="34" charset="0"/>
              </a:rPr>
              <a:t>gezamenlijke inzet</a:t>
            </a:r>
            <a:r>
              <a:rPr lang="nl-NL" altLang="nl-NL" sz="1800">
                <a:latin typeface="Frutiger LT Std 45 Light" panose="020B0402020204020204" pitchFamily="34" charset="0"/>
                <a:cs typeface="Arial" panose="020B0604020202020204" pitchFamily="34" charset="0"/>
              </a:rPr>
              <a:t>)</a:t>
            </a:r>
          </a:p>
          <a:p>
            <a:pPr eaLnBrk="1" hangingPunct="1">
              <a:lnSpc>
                <a:spcPct val="80000"/>
              </a:lnSpc>
              <a:buFont typeface="Arial" panose="020B0604020202020204" pitchFamily="34" charset="0"/>
              <a:buNone/>
            </a:pPr>
            <a:r>
              <a:rPr lang="nl-NL" altLang="nl-NL" sz="1800">
                <a:latin typeface="Frutiger LT Std 45 Light" panose="020B0402020204020204" pitchFamily="34" charset="0"/>
                <a:cs typeface="Arial" panose="020B0604020202020204" pitchFamily="34" charset="0"/>
              </a:rPr>
              <a:t> </a:t>
            </a:r>
          </a:p>
          <a:p>
            <a:pPr eaLnBrk="1" hangingPunct="1">
              <a:lnSpc>
                <a:spcPct val="80000"/>
              </a:lnSpc>
              <a:buFont typeface="Arial" panose="020B0604020202020204" pitchFamily="34" charset="0"/>
              <a:buNone/>
            </a:pPr>
            <a:r>
              <a:rPr lang="nl-NL" altLang="nl-NL" sz="1800" b="1">
                <a:solidFill>
                  <a:srgbClr val="00B050"/>
                </a:solidFill>
                <a:latin typeface="Frutiger LT Std 45 Light" panose="020B0402020204020204" pitchFamily="34" charset="0"/>
                <a:cs typeface="Arial" panose="020B0604020202020204" pitchFamily="34" charset="0"/>
              </a:rPr>
              <a:t>Type IV</a:t>
            </a:r>
            <a:endParaRPr lang="nl-NL" altLang="nl-NL" sz="1800">
              <a:solidFill>
                <a:srgbClr val="00B050"/>
              </a:solidFill>
              <a:latin typeface="Frutiger LT Std 45 Light" panose="020B0402020204020204" pitchFamily="34" charset="0"/>
              <a:cs typeface="Arial" panose="020B0604020202020204" pitchFamily="34" charset="0"/>
            </a:endParaRPr>
          </a:p>
          <a:p>
            <a:pPr eaLnBrk="1" hangingPunct="1">
              <a:lnSpc>
                <a:spcPct val="80000"/>
              </a:lnSpc>
              <a:buFont typeface="Arial" panose="020B0604020202020204" pitchFamily="34" charset="0"/>
              <a:buChar char="•"/>
            </a:pPr>
            <a:r>
              <a:rPr lang="nl-NL" altLang="nl-NL" sz="1800">
                <a:latin typeface="Frutiger LT Std 45 Light" panose="020B0402020204020204" pitchFamily="34" charset="0"/>
                <a:cs typeface="Arial" panose="020B0604020202020204" pitchFamily="34" charset="0"/>
              </a:rPr>
              <a:t>Gericht op zowel zijn of haar eigen verantwoordelijkheid als de verantwoordelijkheid van anderen (</a:t>
            </a:r>
            <a:r>
              <a:rPr lang="nl-NL" altLang="nl-NL" sz="1800">
                <a:solidFill>
                  <a:srgbClr val="00B5F1"/>
                </a:solidFill>
                <a:latin typeface="Frutiger LT Std 45 Light" panose="020B0402020204020204" pitchFamily="34" charset="0"/>
                <a:cs typeface="Arial" panose="020B0604020202020204" pitchFamily="34" charset="0"/>
              </a:rPr>
              <a:t>gezamenlijke doelen</a:t>
            </a:r>
            <a:r>
              <a:rPr lang="nl-NL" altLang="nl-NL" sz="1800">
                <a:latin typeface="Frutiger LT Std 45 Light" panose="020B0402020204020204" pitchFamily="34" charset="0"/>
                <a:cs typeface="Arial" panose="020B0604020202020204" pitchFamily="34" charset="0"/>
              </a:rPr>
              <a:t>). En op zijn eigen rechten als de rechten van anderen (d.m.v. </a:t>
            </a:r>
            <a:r>
              <a:rPr lang="nl-NL" altLang="nl-NL" sz="1800">
                <a:solidFill>
                  <a:srgbClr val="00B5F1"/>
                </a:solidFill>
                <a:latin typeface="Frutiger LT Std 45 Light" panose="020B0402020204020204" pitchFamily="34" charset="0"/>
                <a:cs typeface="Arial" panose="020B0604020202020204" pitchFamily="34" charset="0"/>
              </a:rPr>
              <a:t>persoonlijke inzet</a:t>
            </a:r>
            <a:r>
              <a:rPr lang="nl-NL" altLang="nl-NL" sz="1800">
                <a:latin typeface="Frutiger LT Std 45 Light" panose="020B0402020204020204" pitchFamily="34" charset="0"/>
                <a:cs typeface="Arial" panose="020B0604020202020204" pitchFamily="34" charset="0"/>
              </a:rPr>
              <a:t>)</a:t>
            </a:r>
          </a:p>
          <a:p>
            <a:pPr eaLnBrk="1" hangingPunct="1">
              <a:lnSpc>
                <a:spcPct val="80000"/>
              </a:lnSpc>
              <a:buFont typeface="Arial" panose="020B0604020202020204" pitchFamily="34" charset="0"/>
              <a:buChar char="•"/>
            </a:pPr>
            <a:endParaRPr lang="nl-NL" altLang="nl-NL" sz="1800">
              <a:latin typeface="Frutiger LT Std 45 Light" panose="020B0402020204020204" pitchFamily="34" charset="0"/>
            </a:endParaRPr>
          </a:p>
        </p:txBody>
      </p:sp>
    </p:spTree>
    <p:extLst>
      <p:ext uri="{BB962C8B-B14F-4D97-AF65-F5344CB8AC3E}">
        <p14:creationId xmlns:p14="http://schemas.microsoft.com/office/powerpoint/2010/main" val="30950814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kstvak 10">
            <a:extLst>
              <a:ext uri="{FF2B5EF4-FFF2-40B4-BE49-F238E27FC236}">
                <a16:creationId xmlns:a16="http://schemas.microsoft.com/office/drawing/2014/main" id="{32F9EB8F-4BBD-40D0-B930-0A0C0D073E3C}"/>
              </a:ext>
            </a:extLst>
          </p:cNvPr>
          <p:cNvSpPr txBox="1">
            <a:spLocks noChangeArrowheads="1"/>
          </p:cNvSpPr>
          <p:nvPr/>
        </p:nvSpPr>
        <p:spPr bwMode="auto">
          <a:xfrm>
            <a:off x="1878527" y="4610313"/>
            <a:ext cx="2714625"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Welvarend (</a:t>
            </a:r>
            <a:r>
              <a:rPr lang="nl-NL" altLang="nl-NL" sz="1600">
                <a:solidFill>
                  <a:srgbClr val="FFC000"/>
                </a:solidFill>
                <a:latin typeface="Frutiger LT Std 45 Light" panose="020B0402020204020204" pitchFamily="34" charset="0"/>
                <a:cs typeface="Arial" panose="020B0604020202020204" pitchFamily="34" charset="0"/>
              </a:rPr>
              <a:t>Type I</a:t>
            </a:r>
            <a:r>
              <a:rPr lang="nl-NL" altLang="nl-NL" sz="1600">
                <a:latin typeface="Frutiger LT Std 45 Light" panose="020B0402020204020204" pitchFamily="34" charset="0"/>
                <a:cs typeface="Arial" panose="020B0604020202020204" pitchFamily="34" charset="0"/>
              </a:rPr>
              <a:t>)</a:t>
            </a:r>
          </a:p>
          <a:p>
            <a:pP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Gemoedsrust (</a:t>
            </a:r>
            <a:r>
              <a:rPr lang="nl-NL" altLang="nl-NL" sz="1600">
                <a:solidFill>
                  <a:srgbClr val="7030A0"/>
                </a:solidFill>
                <a:latin typeface="Frutiger LT Std 45 Light" panose="020B0402020204020204" pitchFamily="34" charset="0"/>
                <a:cs typeface="Arial" panose="020B0604020202020204" pitchFamily="34" charset="0"/>
              </a:rPr>
              <a:t>Type II</a:t>
            </a:r>
            <a:r>
              <a:rPr lang="nl-NL" altLang="nl-NL" sz="1600">
                <a:latin typeface="Frutiger LT Std 45 Light" panose="020B0402020204020204" pitchFamily="34" charset="0"/>
                <a:cs typeface="Arial" panose="020B0604020202020204" pitchFamily="34" charset="0"/>
              </a:rPr>
              <a:t>)</a:t>
            </a:r>
          </a:p>
          <a:p>
            <a:pP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Persoonlijk geluk (</a:t>
            </a:r>
            <a:r>
              <a:rPr lang="nl-NL" altLang="nl-NL" sz="1600">
                <a:solidFill>
                  <a:srgbClr val="7030A0"/>
                </a:solidFill>
                <a:latin typeface="Frutiger LT Std 45 Light" panose="020B0402020204020204" pitchFamily="34" charset="0"/>
                <a:cs typeface="Arial" panose="020B0604020202020204" pitchFamily="34" charset="0"/>
              </a:rPr>
              <a:t>Type II</a:t>
            </a:r>
            <a:r>
              <a:rPr lang="nl-NL" altLang="nl-NL" sz="1600">
                <a:latin typeface="Frutiger LT Std 45 Light" panose="020B0402020204020204" pitchFamily="34" charset="0"/>
                <a:cs typeface="Arial" panose="020B0604020202020204" pitchFamily="34" charset="0"/>
              </a:rPr>
              <a:t>)</a:t>
            </a:r>
          </a:p>
          <a:p>
            <a:pPr eaLnBrk="1" hangingPunct="1">
              <a:spcBef>
                <a:spcPct val="0"/>
              </a:spcBef>
              <a:buClrTx/>
              <a:buSzTx/>
              <a:buFontTx/>
              <a:buNone/>
            </a:pPr>
            <a:r>
              <a:rPr lang="nl-NL" altLang="nl-NL" sz="2000" b="1">
                <a:solidFill>
                  <a:srgbClr val="00B5F1"/>
                </a:solidFill>
                <a:latin typeface="Frutiger LT Std 45 Light" panose="020B0402020204020204" pitchFamily="34" charset="0"/>
                <a:cs typeface="Arial" panose="020B0604020202020204" pitchFamily="34" charset="0"/>
              </a:rPr>
              <a:t>Persoonlijke Doelen</a:t>
            </a:r>
            <a:endParaRPr lang="nl-NL" altLang="nl-NL" sz="2000">
              <a:solidFill>
                <a:srgbClr val="00B5F1"/>
              </a:solidFill>
              <a:latin typeface="Frutiger LT Std 45 Light" panose="020B0402020204020204" pitchFamily="34" charset="0"/>
              <a:cs typeface="Arial" panose="020B0604020202020204" pitchFamily="34" charset="0"/>
            </a:endParaRPr>
          </a:p>
        </p:txBody>
      </p:sp>
      <p:sp>
        <p:nvSpPr>
          <p:cNvPr id="5" name="Tekstvak 11">
            <a:extLst>
              <a:ext uri="{FF2B5EF4-FFF2-40B4-BE49-F238E27FC236}">
                <a16:creationId xmlns:a16="http://schemas.microsoft.com/office/drawing/2014/main" id="{B6EE5ABE-028C-48DF-92DC-0301CA54B420}"/>
              </a:ext>
            </a:extLst>
          </p:cNvPr>
          <p:cNvSpPr txBox="1">
            <a:spLocks noChangeArrowheads="1"/>
          </p:cNvSpPr>
          <p:nvPr/>
        </p:nvSpPr>
        <p:spPr bwMode="auto">
          <a:xfrm>
            <a:off x="1878527" y="1181313"/>
            <a:ext cx="321468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eaLnBrk="1" hangingPunct="1">
              <a:spcBef>
                <a:spcPct val="0"/>
              </a:spcBef>
              <a:buClrTx/>
              <a:buSzTx/>
              <a:buFontTx/>
              <a:buNone/>
            </a:pPr>
            <a:r>
              <a:rPr lang="nl-NL" altLang="nl-NL" sz="2000" b="1" dirty="0">
                <a:solidFill>
                  <a:srgbClr val="00B5F1"/>
                </a:solidFill>
                <a:latin typeface="Frutiger LT Std 45 Light" panose="020B0402020204020204" pitchFamily="34" charset="0"/>
                <a:cs typeface="Arial" panose="020B0604020202020204" pitchFamily="34" charset="0"/>
              </a:rPr>
              <a:t>Persoonlijke Inzet</a:t>
            </a:r>
            <a:endParaRPr lang="nl-NL" altLang="nl-NL" sz="2000" dirty="0">
              <a:solidFill>
                <a:srgbClr val="00B5F1"/>
              </a:solidFill>
              <a:latin typeface="Frutiger LT Std 45 Light" panose="020B0402020204020204" pitchFamily="34" charset="0"/>
              <a:cs typeface="Arial" panose="020B0604020202020204" pitchFamily="34" charset="0"/>
            </a:endParaRPr>
          </a:p>
          <a:p>
            <a:pPr eaLnBrk="1" hangingPunct="1">
              <a:spcBef>
                <a:spcPct val="0"/>
              </a:spcBef>
              <a:buClrTx/>
              <a:buSzTx/>
              <a:buFontTx/>
              <a:buNone/>
            </a:pPr>
            <a:r>
              <a:rPr lang="nl-NL" altLang="nl-NL" sz="1600" dirty="0">
                <a:latin typeface="Frutiger LT Std 45 Light" panose="020B0402020204020204" pitchFamily="34" charset="0"/>
                <a:cs typeface="Arial" panose="020B0604020202020204" pitchFamily="34" charset="0"/>
              </a:rPr>
              <a:t>Logisch redenerend (</a:t>
            </a:r>
            <a:r>
              <a:rPr lang="nl-NL" altLang="nl-NL" sz="1600" dirty="0">
                <a:solidFill>
                  <a:srgbClr val="00B050"/>
                </a:solidFill>
                <a:latin typeface="Frutiger LT Std 45 Light" panose="020B0402020204020204" pitchFamily="34" charset="0"/>
                <a:cs typeface="Arial" panose="020B0604020202020204" pitchFamily="34" charset="0"/>
              </a:rPr>
              <a:t>Type IV</a:t>
            </a:r>
            <a:r>
              <a:rPr lang="nl-NL" altLang="nl-NL" sz="1600" dirty="0">
                <a:latin typeface="Frutiger LT Std 45 Light" panose="020B0402020204020204" pitchFamily="34" charset="0"/>
                <a:cs typeface="Arial" panose="020B0604020202020204" pitchFamily="34" charset="0"/>
              </a:rPr>
              <a:t>)</a:t>
            </a:r>
          </a:p>
          <a:p>
            <a:pPr eaLnBrk="1" hangingPunct="1">
              <a:spcBef>
                <a:spcPct val="0"/>
              </a:spcBef>
              <a:buClrTx/>
              <a:buSzTx/>
              <a:buFontTx/>
              <a:buNone/>
            </a:pPr>
            <a:r>
              <a:rPr lang="nl-NL" altLang="nl-NL" sz="1600" dirty="0">
                <a:latin typeface="Frutiger LT Std 45 Light" panose="020B0402020204020204" pitchFamily="34" charset="0"/>
                <a:cs typeface="Arial" panose="020B0604020202020204" pitchFamily="34" charset="0"/>
              </a:rPr>
              <a:t>Ruimdenkend (</a:t>
            </a:r>
            <a:r>
              <a:rPr lang="nl-NL" altLang="nl-NL" sz="1600" dirty="0">
                <a:solidFill>
                  <a:srgbClr val="00B050"/>
                </a:solidFill>
                <a:latin typeface="Frutiger LT Std 45 Light" panose="020B0402020204020204" pitchFamily="34" charset="0"/>
                <a:cs typeface="Arial" panose="020B0604020202020204" pitchFamily="34" charset="0"/>
              </a:rPr>
              <a:t>Type IV</a:t>
            </a:r>
            <a:r>
              <a:rPr lang="nl-NL" altLang="nl-NL" sz="1600" dirty="0">
                <a:latin typeface="Frutiger LT Std 45 Light" panose="020B0402020204020204" pitchFamily="34" charset="0"/>
                <a:cs typeface="Arial" panose="020B0604020202020204" pitchFamily="34" charset="0"/>
              </a:rPr>
              <a:t>)</a:t>
            </a:r>
          </a:p>
          <a:p>
            <a:pPr eaLnBrk="1" hangingPunct="1">
              <a:spcBef>
                <a:spcPct val="0"/>
              </a:spcBef>
              <a:buClrTx/>
              <a:buSzTx/>
              <a:buFontTx/>
              <a:buNone/>
            </a:pPr>
            <a:r>
              <a:rPr lang="nl-NL" altLang="nl-NL" sz="1600" dirty="0">
                <a:latin typeface="Frutiger LT Std 45 Light" panose="020B0402020204020204" pitchFamily="34" charset="0"/>
                <a:cs typeface="Arial" panose="020B0604020202020204" pitchFamily="34" charset="0"/>
              </a:rPr>
              <a:t>Onafhankelijk (</a:t>
            </a:r>
            <a:r>
              <a:rPr lang="nl-NL" altLang="nl-NL" sz="1600" dirty="0">
                <a:solidFill>
                  <a:srgbClr val="FFC000"/>
                </a:solidFill>
                <a:latin typeface="Frutiger LT Std 45 Light" panose="020B0402020204020204" pitchFamily="34" charset="0"/>
                <a:cs typeface="Arial" panose="020B0604020202020204" pitchFamily="34" charset="0"/>
              </a:rPr>
              <a:t>Type I</a:t>
            </a:r>
            <a:r>
              <a:rPr lang="nl-NL" altLang="nl-NL" sz="1600" dirty="0">
                <a:latin typeface="Frutiger LT Std 45 Light" panose="020B0402020204020204" pitchFamily="34" charset="0"/>
                <a:cs typeface="Arial" panose="020B0604020202020204" pitchFamily="34" charset="0"/>
              </a:rPr>
              <a:t>)</a:t>
            </a:r>
          </a:p>
          <a:p>
            <a:pPr eaLnBrk="1" hangingPunct="1">
              <a:spcBef>
                <a:spcPct val="0"/>
              </a:spcBef>
              <a:buClrTx/>
              <a:buSzTx/>
              <a:buFontTx/>
              <a:buNone/>
            </a:pPr>
            <a:r>
              <a:rPr lang="nl-NL" altLang="nl-NL" sz="1600" dirty="0">
                <a:latin typeface="Frutiger LT Std 45 Light" panose="020B0402020204020204" pitchFamily="34" charset="0"/>
                <a:cs typeface="Arial" panose="020B0604020202020204" pitchFamily="34" charset="0"/>
              </a:rPr>
              <a:t>Ambitieus (</a:t>
            </a:r>
            <a:r>
              <a:rPr lang="nl-NL" altLang="nl-NL" sz="1600" dirty="0">
                <a:solidFill>
                  <a:srgbClr val="FFC000"/>
                </a:solidFill>
                <a:latin typeface="Frutiger LT Std 45 Light" panose="020B0402020204020204" pitchFamily="34" charset="0"/>
                <a:cs typeface="Arial" panose="020B0604020202020204" pitchFamily="34" charset="0"/>
              </a:rPr>
              <a:t>Type I</a:t>
            </a:r>
            <a:r>
              <a:rPr lang="nl-NL" altLang="nl-NL" sz="1600" dirty="0">
                <a:latin typeface="Frutiger LT Std 45 Light" panose="020B0402020204020204" pitchFamily="34" charset="0"/>
                <a:cs typeface="Arial" panose="020B0604020202020204" pitchFamily="34" charset="0"/>
              </a:rPr>
              <a:t>)</a:t>
            </a:r>
          </a:p>
        </p:txBody>
      </p:sp>
      <p:sp>
        <p:nvSpPr>
          <p:cNvPr id="6" name="Tekstvak 13">
            <a:extLst>
              <a:ext uri="{FF2B5EF4-FFF2-40B4-BE49-F238E27FC236}">
                <a16:creationId xmlns:a16="http://schemas.microsoft.com/office/drawing/2014/main" id="{89B72824-AAD8-4654-AA75-11F89814DFE5}"/>
              </a:ext>
            </a:extLst>
          </p:cNvPr>
          <p:cNvSpPr txBox="1">
            <a:spLocks noChangeArrowheads="1"/>
          </p:cNvSpPr>
          <p:nvPr/>
        </p:nvSpPr>
        <p:spPr bwMode="auto">
          <a:xfrm>
            <a:off x="7164902" y="3610188"/>
            <a:ext cx="3000375"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algn="r" eaLnBrk="1" hangingPunct="1">
              <a:spcBef>
                <a:spcPct val="0"/>
              </a:spcBef>
              <a:buClrTx/>
              <a:buSzTx/>
              <a:buFontTx/>
              <a:buNone/>
            </a:pPr>
            <a:endParaRPr lang="nl-NL" altLang="nl-NL" sz="1600">
              <a:solidFill>
                <a:srgbClr val="00B0F0"/>
              </a:solidFill>
              <a:latin typeface="Frutiger LT Std 45 Light" panose="020B0402020204020204" pitchFamily="34" charset="0"/>
              <a:cs typeface="Arial" panose="020B0604020202020204" pitchFamily="34" charset="0"/>
            </a:endParaRPr>
          </a:p>
          <a:p>
            <a:pPr algn="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Hulpvaardig (</a:t>
            </a:r>
            <a:r>
              <a:rPr lang="nl-NL" altLang="nl-NL" sz="1600">
                <a:solidFill>
                  <a:srgbClr val="7030A0"/>
                </a:solidFill>
                <a:latin typeface="Frutiger LT Std 45 Light" panose="020B0402020204020204" pitchFamily="34" charset="0"/>
                <a:cs typeface="Arial" panose="020B0604020202020204" pitchFamily="34" charset="0"/>
              </a:rPr>
              <a:t>Type II</a:t>
            </a:r>
            <a:r>
              <a:rPr lang="nl-NL" altLang="nl-NL" sz="160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Vergevend (</a:t>
            </a:r>
            <a:r>
              <a:rPr lang="nl-NL" altLang="nl-NL" sz="1600">
                <a:solidFill>
                  <a:srgbClr val="7030A0"/>
                </a:solidFill>
                <a:latin typeface="Frutiger LT Std 45 Light" panose="020B0402020204020204" pitchFamily="34" charset="0"/>
                <a:cs typeface="Arial" panose="020B0604020202020204" pitchFamily="34" charset="0"/>
              </a:rPr>
              <a:t>Type II</a:t>
            </a:r>
            <a:r>
              <a:rPr lang="nl-NL" altLang="nl-NL" sz="160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Opgewekt (</a:t>
            </a:r>
            <a:r>
              <a:rPr lang="nl-NL" altLang="nl-NL" sz="1600">
                <a:solidFill>
                  <a:srgbClr val="7030A0"/>
                </a:solidFill>
                <a:latin typeface="Frutiger LT Std 45 Light" panose="020B0402020204020204" pitchFamily="34" charset="0"/>
                <a:cs typeface="Arial" panose="020B0604020202020204" pitchFamily="34" charset="0"/>
              </a:rPr>
              <a:t>Type II</a:t>
            </a:r>
            <a:r>
              <a:rPr lang="nl-NL" altLang="nl-NL" sz="160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Moedig (</a:t>
            </a:r>
            <a:r>
              <a:rPr lang="nl-NL" altLang="nl-NL" sz="1600">
                <a:solidFill>
                  <a:srgbClr val="0070C0"/>
                </a:solidFill>
                <a:latin typeface="Frutiger LT Std 45 Light" panose="020B0402020204020204" pitchFamily="34" charset="0"/>
                <a:cs typeface="Arial" panose="020B0604020202020204" pitchFamily="34" charset="0"/>
              </a:rPr>
              <a:t>Type III</a:t>
            </a:r>
            <a:r>
              <a:rPr lang="nl-NL" altLang="nl-NL" sz="160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Beleefd (</a:t>
            </a:r>
            <a:r>
              <a:rPr lang="nl-NL" altLang="nl-NL" sz="1600">
                <a:solidFill>
                  <a:srgbClr val="0070C0"/>
                </a:solidFill>
                <a:latin typeface="Frutiger LT Std 45 Light" panose="020B0402020204020204" pitchFamily="34" charset="0"/>
                <a:cs typeface="Arial" panose="020B0604020202020204" pitchFamily="34" charset="0"/>
              </a:rPr>
              <a:t>Type III</a:t>
            </a:r>
            <a:r>
              <a:rPr lang="nl-NL" altLang="nl-NL" sz="160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Rechtschapenheid (</a:t>
            </a:r>
            <a:r>
              <a:rPr lang="nl-NL" altLang="nl-NL" sz="1600">
                <a:solidFill>
                  <a:srgbClr val="0070C0"/>
                </a:solidFill>
                <a:latin typeface="Frutiger LT Std 45 Light" panose="020B0402020204020204" pitchFamily="34" charset="0"/>
                <a:cs typeface="Arial" panose="020B0604020202020204" pitchFamily="34" charset="0"/>
              </a:rPr>
              <a:t>Type III</a:t>
            </a:r>
            <a:r>
              <a:rPr lang="nl-NL" altLang="nl-NL" sz="160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2000" b="1">
                <a:solidFill>
                  <a:srgbClr val="00B5F1"/>
                </a:solidFill>
                <a:latin typeface="Frutiger LT Std 45 Light" panose="020B0402020204020204" pitchFamily="34" charset="0"/>
                <a:cs typeface="Arial" panose="020B0604020202020204" pitchFamily="34" charset="0"/>
              </a:rPr>
              <a:t>Gezamenlijke Inzet</a:t>
            </a:r>
          </a:p>
        </p:txBody>
      </p:sp>
      <p:sp>
        <p:nvSpPr>
          <p:cNvPr id="7" name="Tekstvak 16">
            <a:extLst>
              <a:ext uri="{FF2B5EF4-FFF2-40B4-BE49-F238E27FC236}">
                <a16:creationId xmlns:a16="http://schemas.microsoft.com/office/drawing/2014/main" id="{8EA82C37-C6E8-47A2-AF14-299B850055FE}"/>
              </a:ext>
            </a:extLst>
          </p:cNvPr>
          <p:cNvSpPr txBox="1">
            <a:spLocks noChangeArrowheads="1"/>
          </p:cNvSpPr>
          <p:nvPr/>
        </p:nvSpPr>
        <p:spPr bwMode="auto">
          <a:xfrm>
            <a:off x="6450527" y="1181313"/>
            <a:ext cx="3786188"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algn="r" eaLnBrk="1" hangingPunct="1">
              <a:spcBef>
                <a:spcPct val="0"/>
              </a:spcBef>
              <a:buClrTx/>
              <a:buSzTx/>
              <a:buFontTx/>
              <a:buNone/>
            </a:pPr>
            <a:r>
              <a:rPr lang="nl-NL" altLang="nl-NL" sz="2000" b="1" dirty="0">
                <a:solidFill>
                  <a:srgbClr val="00B5F1"/>
                </a:solidFill>
                <a:latin typeface="Frutiger LT Std 45 Light" panose="020B0402020204020204" pitchFamily="34" charset="0"/>
                <a:cs typeface="Arial" panose="020B0604020202020204" pitchFamily="34" charset="0"/>
              </a:rPr>
              <a:t>Gezamenlijke Doelen</a:t>
            </a:r>
            <a:endParaRPr lang="nl-NL" altLang="nl-NL" sz="2000" dirty="0">
              <a:solidFill>
                <a:srgbClr val="00B5F1"/>
              </a:solidFill>
              <a:latin typeface="Frutiger LT Std 45 Light" panose="020B0402020204020204" pitchFamily="34" charset="0"/>
              <a:cs typeface="Arial" panose="020B0604020202020204" pitchFamily="34" charset="0"/>
            </a:endParaRPr>
          </a:p>
          <a:p>
            <a:pPr algn="r" eaLnBrk="1" hangingPunct="1">
              <a:spcBef>
                <a:spcPct val="0"/>
              </a:spcBef>
              <a:buClrTx/>
              <a:buSzTx/>
              <a:buFontTx/>
              <a:buNone/>
            </a:pPr>
            <a:r>
              <a:rPr lang="nl-NL" altLang="nl-NL" sz="1600" dirty="0">
                <a:latin typeface="Frutiger LT Std 45 Light" panose="020B0402020204020204" pitchFamily="34" charset="0"/>
                <a:cs typeface="Arial" panose="020B0604020202020204" pitchFamily="34" charset="0"/>
              </a:rPr>
              <a:t>Tevreden belanghebbenden (</a:t>
            </a:r>
            <a:r>
              <a:rPr lang="nl-NL" altLang="nl-NL" sz="1600" dirty="0">
                <a:solidFill>
                  <a:srgbClr val="00B050"/>
                </a:solidFill>
                <a:latin typeface="Frutiger LT Std 45 Light" panose="020B0402020204020204" pitchFamily="34" charset="0"/>
                <a:cs typeface="Arial" panose="020B0604020202020204" pitchFamily="34" charset="0"/>
              </a:rPr>
              <a:t>Type IV</a:t>
            </a:r>
            <a:r>
              <a:rPr lang="nl-NL" altLang="nl-NL" sz="1600" dirty="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1600" dirty="0">
                <a:latin typeface="Frutiger LT Std 45 Light" panose="020B0402020204020204" pitchFamily="34" charset="0"/>
                <a:cs typeface="Arial" panose="020B0604020202020204" pitchFamily="34" charset="0"/>
              </a:rPr>
              <a:t>Wereldvrede (</a:t>
            </a:r>
            <a:r>
              <a:rPr lang="nl-NL" altLang="nl-NL" sz="1600" dirty="0">
                <a:solidFill>
                  <a:srgbClr val="00B050"/>
                </a:solidFill>
                <a:latin typeface="Frutiger LT Std 45 Light" panose="020B0402020204020204" pitchFamily="34" charset="0"/>
                <a:cs typeface="Arial" panose="020B0604020202020204" pitchFamily="34" charset="0"/>
              </a:rPr>
              <a:t>Type IV</a:t>
            </a:r>
            <a:r>
              <a:rPr lang="nl-NL" altLang="nl-NL" sz="1600" dirty="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1600" dirty="0">
                <a:latin typeface="Frutiger LT Std 45 Light" panose="020B0402020204020204" pitchFamily="34" charset="0"/>
                <a:cs typeface="Arial" panose="020B0604020202020204" pitchFamily="34" charset="0"/>
              </a:rPr>
              <a:t>Welzijn familie (</a:t>
            </a:r>
            <a:r>
              <a:rPr lang="nl-NL" altLang="nl-NL" sz="1600" dirty="0">
                <a:solidFill>
                  <a:srgbClr val="0070C0"/>
                </a:solidFill>
                <a:latin typeface="Frutiger LT Std 45 Light" panose="020B0402020204020204" pitchFamily="34" charset="0"/>
                <a:cs typeface="Arial" panose="020B0604020202020204" pitchFamily="34" charset="0"/>
              </a:rPr>
              <a:t>Type III</a:t>
            </a:r>
            <a:r>
              <a:rPr lang="nl-NL" altLang="nl-NL" sz="1600" dirty="0">
                <a:latin typeface="Frutiger LT Std 45 Light" panose="020B0402020204020204" pitchFamily="34" charset="0"/>
                <a:cs typeface="Arial" panose="020B0604020202020204" pitchFamily="34" charset="0"/>
              </a:rPr>
              <a:t>)</a:t>
            </a:r>
          </a:p>
        </p:txBody>
      </p:sp>
      <p:sp>
        <p:nvSpPr>
          <p:cNvPr id="8" name="Tekstvak 17">
            <a:extLst>
              <a:ext uri="{FF2B5EF4-FFF2-40B4-BE49-F238E27FC236}">
                <a16:creationId xmlns:a16="http://schemas.microsoft.com/office/drawing/2014/main" id="{C316F5A1-F6D6-477D-9799-9155FCE62FD6}"/>
              </a:ext>
            </a:extLst>
          </p:cNvPr>
          <p:cNvSpPr txBox="1">
            <a:spLocks noChangeArrowheads="1"/>
          </p:cNvSpPr>
          <p:nvPr/>
        </p:nvSpPr>
        <p:spPr bwMode="auto">
          <a:xfrm>
            <a:off x="924390" y="321223"/>
            <a:ext cx="10972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algn="ctr" eaLnBrk="1" hangingPunct="1">
              <a:spcBef>
                <a:spcPct val="0"/>
              </a:spcBef>
              <a:buClrTx/>
              <a:buSzTx/>
              <a:buFontTx/>
              <a:buNone/>
            </a:pPr>
            <a:r>
              <a:rPr lang="en-US" altLang="nl-NL" sz="3600" b="1" dirty="0" err="1">
                <a:solidFill>
                  <a:srgbClr val="911D20"/>
                </a:solidFill>
                <a:latin typeface="Frutiger LT Std 45 Light" panose="020B0402020204020204" pitchFamily="34" charset="0"/>
                <a:cs typeface="Arial" panose="020B0604020202020204" pitchFamily="34" charset="0"/>
              </a:rPr>
              <a:t>Voorbeelden</a:t>
            </a:r>
            <a:r>
              <a:rPr lang="en-US" altLang="nl-NL" sz="3600" b="1" dirty="0">
                <a:solidFill>
                  <a:srgbClr val="911D20"/>
                </a:solidFill>
                <a:latin typeface="Frutiger LT Std 45 Light" panose="020B0402020204020204" pitchFamily="34" charset="0"/>
                <a:cs typeface="Arial" panose="020B0604020202020204" pitchFamily="34" charset="0"/>
              </a:rPr>
              <a:t> van </a:t>
            </a:r>
            <a:r>
              <a:rPr lang="en-US" altLang="nl-NL" sz="3600" b="1" dirty="0" err="1">
                <a:solidFill>
                  <a:srgbClr val="911D20"/>
                </a:solidFill>
                <a:latin typeface="Frutiger LT Std 45 Light" panose="020B0402020204020204" pitchFamily="34" charset="0"/>
                <a:cs typeface="Arial" panose="020B0604020202020204" pitchFamily="34" charset="0"/>
              </a:rPr>
              <a:t>Inzet</a:t>
            </a:r>
            <a:r>
              <a:rPr lang="en-US" altLang="nl-NL" sz="3600" b="1" dirty="0">
                <a:solidFill>
                  <a:srgbClr val="911D20"/>
                </a:solidFill>
                <a:latin typeface="Frutiger LT Std 45 Light" panose="020B0402020204020204" pitchFamily="34" charset="0"/>
                <a:cs typeface="Arial" panose="020B0604020202020204" pitchFamily="34" charset="0"/>
              </a:rPr>
              <a:t> </a:t>
            </a:r>
            <a:r>
              <a:rPr lang="en-US" altLang="nl-NL" sz="3600" b="1" dirty="0" err="1">
                <a:solidFill>
                  <a:srgbClr val="911D20"/>
                </a:solidFill>
                <a:latin typeface="Frutiger LT Std 45 Light" panose="020B0402020204020204" pitchFamily="34" charset="0"/>
                <a:cs typeface="Arial" panose="020B0604020202020204" pitchFamily="34" charset="0"/>
              </a:rPr>
              <a:t>en</a:t>
            </a:r>
            <a:r>
              <a:rPr lang="en-US" altLang="nl-NL" sz="3600" b="1" dirty="0">
                <a:solidFill>
                  <a:srgbClr val="911D20"/>
                </a:solidFill>
                <a:latin typeface="Frutiger LT Std 45 Light" panose="020B0402020204020204" pitchFamily="34" charset="0"/>
                <a:cs typeface="Arial" panose="020B0604020202020204" pitchFamily="34" charset="0"/>
              </a:rPr>
              <a:t> </a:t>
            </a:r>
            <a:r>
              <a:rPr lang="en-US" altLang="nl-NL" sz="3600" b="1" dirty="0" err="1">
                <a:solidFill>
                  <a:srgbClr val="911D20"/>
                </a:solidFill>
                <a:latin typeface="Frutiger LT Std 45 Light" panose="020B0402020204020204" pitchFamily="34" charset="0"/>
                <a:cs typeface="Arial" panose="020B0604020202020204" pitchFamily="34" charset="0"/>
              </a:rPr>
              <a:t>Doelen</a:t>
            </a:r>
            <a:endParaRPr lang="nl-NL" altLang="nl-NL" sz="3600" b="1" dirty="0">
              <a:solidFill>
                <a:srgbClr val="911D20"/>
              </a:solidFill>
              <a:latin typeface="Frutiger LT Std 45 Light" panose="020B0402020204020204" pitchFamily="34" charset="0"/>
              <a:cs typeface="Arial" panose="020B0604020202020204" pitchFamily="34" charset="0"/>
            </a:endParaRPr>
          </a:p>
        </p:txBody>
      </p:sp>
      <p:pic>
        <p:nvPicPr>
          <p:cNvPr id="10" name="Picture 9" descr="S:\Marketing\9999\Huistijl\Q4 Profiles\Q4 Profiles Grids\Waarden Type Grid.jpg">
            <a:extLst>
              <a:ext uri="{FF2B5EF4-FFF2-40B4-BE49-F238E27FC236}">
                <a16:creationId xmlns:a16="http://schemas.microsoft.com/office/drawing/2014/main" id="{6F25AC87-F828-4D1A-AF93-A308E4A64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9877" y="2243350"/>
            <a:ext cx="4140200" cy="268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29665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94A138-3382-47E3-8301-D7F76F0BF524}"/>
              </a:ext>
            </a:extLst>
          </p:cNvPr>
          <p:cNvSpPr>
            <a:spLocks noGrp="1"/>
          </p:cNvSpPr>
          <p:nvPr>
            <p:ph type="title"/>
          </p:nvPr>
        </p:nvSpPr>
        <p:spPr/>
        <p:txBody>
          <a:bodyPr/>
          <a:lstStyle/>
          <a:p>
            <a:endParaRPr lang="nl-NL" dirty="0"/>
          </a:p>
        </p:txBody>
      </p:sp>
      <p:sp>
        <p:nvSpPr>
          <p:cNvPr id="3" name="Tijdelijke aanduiding voor inhoud 2">
            <a:extLst>
              <a:ext uri="{FF2B5EF4-FFF2-40B4-BE49-F238E27FC236}">
                <a16:creationId xmlns:a16="http://schemas.microsoft.com/office/drawing/2014/main" id="{C516281C-DD77-4D8A-9F55-C86E207F7687}"/>
              </a:ext>
            </a:extLst>
          </p:cNvPr>
          <p:cNvSpPr>
            <a:spLocks noGrp="1"/>
          </p:cNvSpPr>
          <p:nvPr>
            <p:ph idx="1"/>
          </p:nvPr>
        </p:nvSpPr>
        <p:spPr/>
        <p:txBody>
          <a:bodyPr/>
          <a:lstStyle/>
          <a:p>
            <a:endParaRPr lang="nl-NL" dirty="0"/>
          </a:p>
        </p:txBody>
      </p:sp>
      <p:sp>
        <p:nvSpPr>
          <p:cNvPr id="4" name="Tekstvak 10">
            <a:extLst>
              <a:ext uri="{FF2B5EF4-FFF2-40B4-BE49-F238E27FC236}">
                <a16:creationId xmlns:a16="http://schemas.microsoft.com/office/drawing/2014/main" id="{7DBF3E15-521D-433C-BC89-813F91A666B6}"/>
              </a:ext>
            </a:extLst>
          </p:cNvPr>
          <p:cNvSpPr txBox="1">
            <a:spLocks noChangeArrowheads="1"/>
          </p:cNvSpPr>
          <p:nvPr/>
        </p:nvSpPr>
        <p:spPr bwMode="auto">
          <a:xfrm>
            <a:off x="1537895" y="4440603"/>
            <a:ext cx="2714625"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Welvarend (</a:t>
            </a:r>
            <a:r>
              <a:rPr lang="nl-NL" altLang="nl-NL" sz="1600">
                <a:solidFill>
                  <a:srgbClr val="FFC000"/>
                </a:solidFill>
                <a:latin typeface="Frutiger LT Std 45 Light" panose="020B0402020204020204" pitchFamily="34" charset="0"/>
                <a:cs typeface="Arial" panose="020B0604020202020204" pitchFamily="34" charset="0"/>
              </a:rPr>
              <a:t>Type I</a:t>
            </a:r>
            <a:r>
              <a:rPr lang="nl-NL" altLang="nl-NL" sz="1600">
                <a:latin typeface="Frutiger LT Std 45 Light" panose="020B0402020204020204" pitchFamily="34" charset="0"/>
                <a:cs typeface="Arial" panose="020B0604020202020204" pitchFamily="34" charset="0"/>
              </a:rPr>
              <a:t>)</a:t>
            </a:r>
          </a:p>
          <a:p>
            <a:pP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Gemoedsrust (</a:t>
            </a:r>
            <a:r>
              <a:rPr lang="nl-NL" altLang="nl-NL" sz="1600">
                <a:solidFill>
                  <a:srgbClr val="7030A0"/>
                </a:solidFill>
                <a:latin typeface="Frutiger LT Std 45 Light" panose="020B0402020204020204" pitchFamily="34" charset="0"/>
                <a:cs typeface="Arial" panose="020B0604020202020204" pitchFamily="34" charset="0"/>
              </a:rPr>
              <a:t>Type II</a:t>
            </a:r>
            <a:r>
              <a:rPr lang="nl-NL" altLang="nl-NL" sz="1600">
                <a:latin typeface="Frutiger LT Std 45 Light" panose="020B0402020204020204" pitchFamily="34" charset="0"/>
                <a:cs typeface="Arial" panose="020B0604020202020204" pitchFamily="34" charset="0"/>
              </a:rPr>
              <a:t>)</a:t>
            </a:r>
          </a:p>
          <a:p>
            <a:pP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Persoonlijk geluk (</a:t>
            </a:r>
            <a:r>
              <a:rPr lang="nl-NL" altLang="nl-NL" sz="1600">
                <a:solidFill>
                  <a:srgbClr val="7030A0"/>
                </a:solidFill>
                <a:latin typeface="Frutiger LT Std 45 Light" panose="020B0402020204020204" pitchFamily="34" charset="0"/>
                <a:cs typeface="Arial" panose="020B0604020202020204" pitchFamily="34" charset="0"/>
              </a:rPr>
              <a:t>Type II</a:t>
            </a:r>
            <a:r>
              <a:rPr lang="nl-NL" altLang="nl-NL" sz="1600">
                <a:latin typeface="Frutiger LT Std 45 Light" panose="020B0402020204020204" pitchFamily="34" charset="0"/>
                <a:cs typeface="Arial" panose="020B0604020202020204" pitchFamily="34" charset="0"/>
              </a:rPr>
              <a:t>)</a:t>
            </a:r>
          </a:p>
          <a:p>
            <a:pPr eaLnBrk="1" hangingPunct="1">
              <a:spcBef>
                <a:spcPct val="0"/>
              </a:spcBef>
              <a:buClrTx/>
              <a:buSzTx/>
              <a:buFontTx/>
              <a:buNone/>
            </a:pPr>
            <a:r>
              <a:rPr lang="nl-NL" altLang="nl-NL" sz="2000" b="1">
                <a:solidFill>
                  <a:srgbClr val="00B5F1"/>
                </a:solidFill>
                <a:latin typeface="Frutiger LT Std 45 Light" panose="020B0402020204020204" pitchFamily="34" charset="0"/>
                <a:cs typeface="Arial" panose="020B0604020202020204" pitchFamily="34" charset="0"/>
              </a:rPr>
              <a:t>Persoonlijke Doelen</a:t>
            </a:r>
            <a:endParaRPr lang="nl-NL" altLang="nl-NL" sz="2000">
              <a:solidFill>
                <a:srgbClr val="00B5F1"/>
              </a:solidFill>
              <a:latin typeface="Frutiger LT Std 45 Light" panose="020B0402020204020204" pitchFamily="34" charset="0"/>
              <a:cs typeface="Arial" panose="020B0604020202020204" pitchFamily="34" charset="0"/>
            </a:endParaRPr>
          </a:p>
        </p:txBody>
      </p:sp>
      <p:sp>
        <p:nvSpPr>
          <p:cNvPr id="5" name="Tekstvak 11">
            <a:extLst>
              <a:ext uri="{FF2B5EF4-FFF2-40B4-BE49-F238E27FC236}">
                <a16:creationId xmlns:a16="http://schemas.microsoft.com/office/drawing/2014/main" id="{D95F7439-B368-44B7-8F08-97AE1A6EE8D3}"/>
              </a:ext>
            </a:extLst>
          </p:cNvPr>
          <p:cNvSpPr txBox="1">
            <a:spLocks noChangeArrowheads="1"/>
          </p:cNvSpPr>
          <p:nvPr/>
        </p:nvSpPr>
        <p:spPr bwMode="auto">
          <a:xfrm>
            <a:off x="1537895" y="1011603"/>
            <a:ext cx="321468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eaLnBrk="1" hangingPunct="1">
              <a:spcBef>
                <a:spcPct val="0"/>
              </a:spcBef>
              <a:buClrTx/>
              <a:buSzTx/>
              <a:buFontTx/>
              <a:buNone/>
            </a:pPr>
            <a:r>
              <a:rPr lang="nl-NL" altLang="nl-NL" sz="2000" b="1">
                <a:solidFill>
                  <a:srgbClr val="00B5F1"/>
                </a:solidFill>
                <a:latin typeface="Frutiger LT Std 45 Light" panose="020B0402020204020204" pitchFamily="34" charset="0"/>
                <a:cs typeface="Arial" panose="020B0604020202020204" pitchFamily="34" charset="0"/>
              </a:rPr>
              <a:t>Persoonlijke Inzet</a:t>
            </a:r>
            <a:endParaRPr lang="nl-NL" altLang="nl-NL" sz="2000">
              <a:solidFill>
                <a:srgbClr val="00B5F1"/>
              </a:solidFill>
              <a:latin typeface="Frutiger LT Std 45 Light" panose="020B0402020204020204" pitchFamily="34" charset="0"/>
              <a:cs typeface="Arial" panose="020B0604020202020204" pitchFamily="34" charset="0"/>
            </a:endParaRPr>
          </a:p>
          <a:p>
            <a:pP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Logisch redenerend (</a:t>
            </a:r>
            <a:r>
              <a:rPr lang="nl-NL" altLang="nl-NL" sz="1600">
                <a:solidFill>
                  <a:srgbClr val="00B050"/>
                </a:solidFill>
                <a:latin typeface="Frutiger LT Std 45 Light" panose="020B0402020204020204" pitchFamily="34" charset="0"/>
                <a:cs typeface="Arial" panose="020B0604020202020204" pitchFamily="34" charset="0"/>
              </a:rPr>
              <a:t>Type IV</a:t>
            </a:r>
            <a:r>
              <a:rPr lang="nl-NL" altLang="nl-NL" sz="1600">
                <a:latin typeface="Frutiger LT Std 45 Light" panose="020B0402020204020204" pitchFamily="34" charset="0"/>
                <a:cs typeface="Arial" panose="020B0604020202020204" pitchFamily="34" charset="0"/>
              </a:rPr>
              <a:t>)</a:t>
            </a:r>
          </a:p>
          <a:p>
            <a:pP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Ruimdenkend (</a:t>
            </a:r>
            <a:r>
              <a:rPr lang="nl-NL" altLang="nl-NL" sz="1600">
                <a:solidFill>
                  <a:srgbClr val="00B050"/>
                </a:solidFill>
                <a:latin typeface="Frutiger LT Std 45 Light" panose="020B0402020204020204" pitchFamily="34" charset="0"/>
                <a:cs typeface="Arial" panose="020B0604020202020204" pitchFamily="34" charset="0"/>
              </a:rPr>
              <a:t>Type IV</a:t>
            </a:r>
            <a:r>
              <a:rPr lang="nl-NL" altLang="nl-NL" sz="1600">
                <a:latin typeface="Frutiger LT Std 45 Light" panose="020B0402020204020204" pitchFamily="34" charset="0"/>
                <a:cs typeface="Arial" panose="020B0604020202020204" pitchFamily="34" charset="0"/>
              </a:rPr>
              <a:t>)</a:t>
            </a:r>
          </a:p>
          <a:p>
            <a:pP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Onafhankelijk (</a:t>
            </a:r>
            <a:r>
              <a:rPr lang="nl-NL" altLang="nl-NL" sz="1600">
                <a:solidFill>
                  <a:srgbClr val="FFC000"/>
                </a:solidFill>
                <a:latin typeface="Frutiger LT Std 45 Light" panose="020B0402020204020204" pitchFamily="34" charset="0"/>
                <a:cs typeface="Arial" panose="020B0604020202020204" pitchFamily="34" charset="0"/>
              </a:rPr>
              <a:t>Type I</a:t>
            </a:r>
            <a:r>
              <a:rPr lang="nl-NL" altLang="nl-NL" sz="1600">
                <a:latin typeface="Frutiger LT Std 45 Light" panose="020B0402020204020204" pitchFamily="34" charset="0"/>
                <a:cs typeface="Arial" panose="020B0604020202020204" pitchFamily="34" charset="0"/>
              </a:rPr>
              <a:t>)</a:t>
            </a:r>
          </a:p>
          <a:p>
            <a:pP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Ambitieus (</a:t>
            </a:r>
            <a:r>
              <a:rPr lang="nl-NL" altLang="nl-NL" sz="1600">
                <a:solidFill>
                  <a:srgbClr val="FFC000"/>
                </a:solidFill>
                <a:latin typeface="Frutiger LT Std 45 Light" panose="020B0402020204020204" pitchFamily="34" charset="0"/>
                <a:cs typeface="Arial" panose="020B0604020202020204" pitchFamily="34" charset="0"/>
              </a:rPr>
              <a:t>Type I</a:t>
            </a:r>
            <a:r>
              <a:rPr lang="nl-NL" altLang="nl-NL" sz="1600">
                <a:latin typeface="Frutiger LT Std 45 Light" panose="020B0402020204020204" pitchFamily="34" charset="0"/>
                <a:cs typeface="Arial" panose="020B0604020202020204" pitchFamily="34" charset="0"/>
              </a:rPr>
              <a:t>)</a:t>
            </a:r>
          </a:p>
        </p:txBody>
      </p:sp>
      <p:sp>
        <p:nvSpPr>
          <p:cNvPr id="6" name="Tekstvak 13">
            <a:extLst>
              <a:ext uri="{FF2B5EF4-FFF2-40B4-BE49-F238E27FC236}">
                <a16:creationId xmlns:a16="http://schemas.microsoft.com/office/drawing/2014/main" id="{337F0787-EE2B-46FA-AC19-C438D4504E53}"/>
              </a:ext>
            </a:extLst>
          </p:cNvPr>
          <p:cNvSpPr txBox="1">
            <a:spLocks noChangeArrowheads="1"/>
          </p:cNvSpPr>
          <p:nvPr/>
        </p:nvSpPr>
        <p:spPr bwMode="auto">
          <a:xfrm>
            <a:off x="6824270" y="3440478"/>
            <a:ext cx="3000375"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algn="r" eaLnBrk="1" hangingPunct="1">
              <a:spcBef>
                <a:spcPct val="0"/>
              </a:spcBef>
              <a:buClrTx/>
              <a:buSzTx/>
              <a:buFontTx/>
              <a:buNone/>
            </a:pPr>
            <a:endParaRPr lang="nl-NL" altLang="nl-NL" sz="1600">
              <a:solidFill>
                <a:srgbClr val="00B0F0"/>
              </a:solidFill>
              <a:latin typeface="Frutiger LT Std 45 Light" panose="020B0402020204020204" pitchFamily="34" charset="0"/>
              <a:cs typeface="Arial" panose="020B0604020202020204" pitchFamily="34" charset="0"/>
            </a:endParaRPr>
          </a:p>
          <a:p>
            <a:pPr algn="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Hulpvaardig (</a:t>
            </a:r>
            <a:r>
              <a:rPr lang="nl-NL" altLang="nl-NL" sz="1600">
                <a:solidFill>
                  <a:srgbClr val="7030A0"/>
                </a:solidFill>
                <a:latin typeface="Frutiger LT Std 45 Light" panose="020B0402020204020204" pitchFamily="34" charset="0"/>
                <a:cs typeface="Arial" panose="020B0604020202020204" pitchFamily="34" charset="0"/>
              </a:rPr>
              <a:t>Type II</a:t>
            </a:r>
            <a:r>
              <a:rPr lang="nl-NL" altLang="nl-NL" sz="160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Vergevend (</a:t>
            </a:r>
            <a:r>
              <a:rPr lang="nl-NL" altLang="nl-NL" sz="1600">
                <a:solidFill>
                  <a:srgbClr val="7030A0"/>
                </a:solidFill>
                <a:latin typeface="Frutiger LT Std 45 Light" panose="020B0402020204020204" pitchFamily="34" charset="0"/>
                <a:cs typeface="Arial" panose="020B0604020202020204" pitchFamily="34" charset="0"/>
              </a:rPr>
              <a:t>Type II</a:t>
            </a:r>
            <a:r>
              <a:rPr lang="nl-NL" altLang="nl-NL" sz="160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Opgewekt (</a:t>
            </a:r>
            <a:r>
              <a:rPr lang="nl-NL" altLang="nl-NL" sz="1600">
                <a:solidFill>
                  <a:srgbClr val="7030A0"/>
                </a:solidFill>
                <a:latin typeface="Frutiger LT Std 45 Light" panose="020B0402020204020204" pitchFamily="34" charset="0"/>
                <a:cs typeface="Arial" panose="020B0604020202020204" pitchFamily="34" charset="0"/>
              </a:rPr>
              <a:t>Type II</a:t>
            </a:r>
            <a:r>
              <a:rPr lang="nl-NL" altLang="nl-NL" sz="160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Moedig (</a:t>
            </a:r>
            <a:r>
              <a:rPr lang="nl-NL" altLang="nl-NL" sz="1600">
                <a:solidFill>
                  <a:srgbClr val="0070C0"/>
                </a:solidFill>
                <a:latin typeface="Frutiger LT Std 45 Light" panose="020B0402020204020204" pitchFamily="34" charset="0"/>
                <a:cs typeface="Arial" panose="020B0604020202020204" pitchFamily="34" charset="0"/>
              </a:rPr>
              <a:t>Type III</a:t>
            </a:r>
            <a:r>
              <a:rPr lang="nl-NL" altLang="nl-NL" sz="160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Beleefd (</a:t>
            </a:r>
            <a:r>
              <a:rPr lang="nl-NL" altLang="nl-NL" sz="1600">
                <a:solidFill>
                  <a:srgbClr val="0070C0"/>
                </a:solidFill>
                <a:latin typeface="Frutiger LT Std 45 Light" panose="020B0402020204020204" pitchFamily="34" charset="0"/>
                <a:cs typeface="Arial" panose="020B0604020202020204" pitchFamily="34" charset="0"/>
              </a:rPr>
              <a:t>Type III</a:t>
            </a:r>
            <a:r>
              <a:rPr lang="nl-NL" altLang="nl-NL" sz="160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Rechtschapenheid (</a:t>
            </a:r>
            <a:r>
              <a:rPr lang="nl-NL" altLang="nl-NL" sz="1600">
                <a:solidFill>
                  <a:srgbClr val="0070C0"/>
                </a:solidFill>
                <a:latin typeface="Frutiger LT Std 45 Light" panose="020B0402020204020204" pitchFamily="34" charset="0"/>
                <a:cs typeface="Arial" panose="020B0604020202020204" pitchFamily="34" charset="0"/>
              </a:rPr>
              <a:t>Type III</a:t>
            </a:r>
            <a:r>
              <a:rPr lang="nl-NL" altLang="nl-NL" sz="160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2000" b="1">
                <a:solidFill>
                  <a:srgbClr val="00B5F1"/>
                </a:solidFill>
                <a:latin typeface="Frutiger LT Std 45 Light" panose="020B0402020204020204" pitchFamily="34" charset="0"/>
                <a:cs typeface="Arial" panose="020B0604020202020204" pitchFamily="34" charset="0"/>
              </a:rPr>
              <a:t>Gezamenlijke Inzet</a:t>
            </a:r>
          </a:p>
        </p:txBody>
      </p:sp>
      <p:sp>
        <p:nvSpPr>
          <p:cNvPr id="7" name="Tekstvak 16">
            <a:extLst>
              <a:ext uri="{FF2B5EF4-FFF2-40B4-BE49-F238E27FC236}">
                <a16:creationId xmlns:a16="http://schemas.microsoft.com/office/drawing/2014/main" id="{C464C309-0F9B-4A4F-8C85-B133566FE984}"/>
              </a:ext>
            </a:extLst>
          </p:cNvPr>
          <p:cNvSpPr txBox="1">
            <a:spLocks noChangeArrowheads="1"/>
          </p:cNvSpPr>
          <p:nvPr/>
        </p:nvSpPr>
        <p:spPr bwMode="auto">
          <a:xfrm>
            <a:off x="6109895" y="1011603"/>
            <a:ext cx="3786188"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algn="r" eaLnBrk="1" hangingPunct="1">
              <a:spcBef>
                <a:spcPct val="0"/>
              </a:spcBef>
              <a:buClrTx/>
              <a:buSzTx/>
              <a:buFontTx/>
              <a:buNone/>
            </a:pPr>
            <a:r>
              <a:rPr lang="nl-NL" altLang="nl-NL" sz="2000" b="1">
                <a:solidFill>
                  <a:srgbClr val="00B5F1"/>
                </a:solidFill>
                <a:latin typeface="Frutiger LT Std 45 Light" panose="020B0402020204020204" pitchFamily="34" charset="0"/>
                <a:cs typeface="Arial" panose="020B0604020202020204" pitchFamily="34" charset="0"/>
              </a:rPr>
              <a:t>Gezamenlijke Doelen</a:t>
            </a:r>
            <a:endParaRPr lang="nl-NL" altLang="nl-NL" sz="2000">
              <a:solidFill>
                <a:srgbClr val="00B5F1"/>
              </a:solidFill>
              <a:latin typeface="Frutiger LT Std 45 Light" panose="020B0402020204020204" pitchFamily="34" charset="0"/>
              <a:cs typeface="Arial" panose="020B0604020202020204" pitchFamily="34" charset="0"/>
            </a:endParaRPr>
          </a:p>
          <a:p>
            <a:pPr algn="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Tevreden belanghebbenden (</a:t>
            </a:r>
            <a:r>
              <a:rPr lang="nl-NL" altLang="nl-NL" sz="1600">
                <a:solidFill>
                  <a:srgbClr val="00B050"/>
                </a:solidFill>
                <a:latin typeface="Frutiger LT Std 45 Light" panose="020B0402020204020204" pitchFamily="34" charset="0"/>
                <a:cs typeface="Arial" panose="020B0604020202020204" pitchFamily="34" charset="0"/>
              </a:rPr>
              <a:t>Type IV</a:t>
            </a:r>
            <a:r>
              <a:rPr lang="nl-NL" altLang="nl-NL" sz="160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Wereldvrede (</a:t>
            </a:r>
            <a:r>
              <a:rPr lang="nl-NL" altLang="nl-NL" sz="1600">
                <a:solidFill>
                  <a:srgbClr val="00B050"/>
                </a:solidFill>
                <a:latin typeface="Frutiger LT Std 45 Light" panose="020B0402020204020204" pitchFamily="34" charset="0"/>
                <a:cs typeface="Arial" panose="020B0604020202020204" pitchFamily="34" charset="0"/>
              </a:rPr>
              <a:t>Type IV</a:t>
            </a:r>
            <a:r>
              <a:rPr lang="nl-NL" altLang="nl-NL" sz="1600">
                <a:latin typeface="Frutiger LT Std 45 Light" panose="020B0402020204020204" pitchFamily="34" charset="0"/>
                <a:cs typeface="Arial" panose="020B0604020202020204" pitchFamily="34" charset="0"/>
              </a:rPr>
              <a:t>)</a:t>
            </a:r>
          </a:p>
          <a:p>
            <a:pPr algn="r" eaLnBrk="1" hangingPunct="1">
              <a:spcBef>
                <a:spcPct val="0"/>
              </a:spcBef>
              <a:buClrTx/>
              <a:buSzTx/>
              <a:buFontTx/>
              <a:buNone/>
            </a:pPr>
            <a:r>
              <a:rPr lang="nl-NL" altLang="nl-NL" sz="1600">
                <a:latin typeface="Frutiger LT Std 45 Light" panose="020B0402020204020204" pitchFamily="34" charset="0"/>
                <a:cs typeface="Arial" panose="020B0604020202020204" pitchFamily="34" charset="0"/>
              </a:rPr>
              <a:t>Welzijn familie (</a:t>
            </a:r>
            <a:r>
              <a:rPr lang="nl-NL" altLang="nl-NL" sz="1600">
                <a:solidFill>
                  <a:srgbClr val="0070C0"/>
                </a:solidFill>
                <a:latin typeface="Frutiger LT Std 45 Light" panose="020B0402020204020204" pitchFamily="34" charset="0"/>
                <a:cs typeface="Arial" panose="020B0604020202020204" pitchFamily="34" charset="0"/>
              </a:rPr>
              <a:t>Type III</a:t>
            </a:r>
            <a:r>
              <a:rPr lang="nl-NL" altLang="nl-NL" sz="1600">
                <a:latin typeface="Frutiger LT Std 45 Light" panose="020B0402020204020204" pitchFamily="34" charset="0"/>
                <a:cs typeface="Arial" panose="020B0604020202020204" pitchFamily="34" charset="0"/>
              </a:rPr>
              <a:t>)</a:t>
            </a:r>
          </a:p>
        </p:txBody>
      </p:sp>
      <p:sp>
        <p:nvSpPr>
          <p:cNvPr id="8" name="Tekstvak 17">
            <a:extLst>
              <a:ext uri="{FF2B5EF4-FFF2-40B4-BE49-F238E27FC236}">
                <a16:creationId xmlns:a16="http://schemas.microsoft.com/office/drawing/2014/main" id="{E1DB70FB-0955-4995-BA80-4F94414966DB}"/>
              </a:ext>
            </a:extLst>
          </p:cNvPr>
          <p:cNvSpPr txBox="1">
            <a:spLocks noChangeArrowheads="1"/>
          </p:cNvSpPr>
          <p:nvPr/>
        </p:nvSpPr>
        <p:spPr bwMode="auto">
          <a:xfrm>
            <a:off x="1323583" y="297228"/>
            <a:ext cx="8715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algn="ctr" eaLnBrk="1" hangingPunct="1">
              <a:spcBef>
                <a:spcPct val="0"/>
              </a:spcBef>
              <a:buClrTx/>
              <a:buSzTx/>
              <a:buFontTx/>
              <a:buNone/>
            </a:pPr>
            <a:r>
              <a:rPr lang="en-US" altLang="nl-NL" b="1">
                <a:solidFill>
                  <a:srgbClr val="911D20"/>
                </a:solidFill>
                <a:latin typeface="Frutiger LT Std 45 Light" panose="020B0402020204020204" pitchFamily="34" charset="0"/>
                <a:cs typeface="Arial" panose="020B0604020202020204" pitchFamily="34" charset="0"/>
              </a:rPr>
              <a:t>Voorbeelden van Inzet en Doelen</a:t>
            </a:r>
            <a:endParaRPr lang="nl-NL" altLang="nl-NL" b="1">
              <a:solidFill>
                <a:srgbClr val="911D20"/>
              </a:solidFill>
              <a:latin typeface="Frutiger LT Std 45 Light" panose="020B0402020204020204" pitchFamily="34" charset="0"/>
              <a:cs typeface="Arial" panose="020B0604020202020204" pitchFamily="34" charset="0"/>
            </a:endParaRPr>
          </a:p>
        </p:txBody>
      </p:sp>
      <p:pic>
        <p:nvPicPr>
          <p:cNvPr id="10" name="Picture 9" descr="S:\Marketing\9999\Huistijl\Q4 Profiles\Q4 Profiles Grids\Waarden Type Grid.jpg">
            <a:extLst>
              <a:ext uri="{FF2B5EF4-FFF2-40B4-BE49-F238E27FC236}">
                <a16:creationId xmlns:a16="http://schemas.microsoft.com/office/drawing/2014/main" id="{98065592-A7C9-4FFE-B1A9-8212B4A3C7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9245" y="2073640"/>
            <a:ext cx="4140200" cy="268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30408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43D83704-44C3-4493-875D-B2B24EF2E4C4}"/>
              </a:ext>
            </a:extLst>
          </p:cNvPr>
          <p:cNvSpPr txBox="1">
            <a:spLocks/>
          </p:cNvSpPr>
          <p:nvPr/>
        </p:nvSpPr>
        <p:spPr bwMode="auto">
          <a:xfrm>
            <a:off x="609599" y="500063"/>
            <a:ext cx="10972799" cy="7858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defRPr/>
            </a:pPr>
            <a:r>
              <a:rPr lang="en-US" sz="3600">
                <a:solidFill>
                  <a:srgbClr val="FFC000"/>
                </a:solidFill>
                <a:effectLst>
                  <a:outerShdw blurRad="38100" dist="38100" dir="2700000" algn="tl">
                    <a:srgbClr val="000000"/>
                  </a:outerShdw>
                </a:effectLst>
                <a:latin typeface="Frutiger LT Std 45 Light" panose="020B0402020204020204" pitchFamily="34" charset="0"/>
                <a:cs typeface="Arial" charset="0"/>
              </a:rPr>
              <a:t>Type I</a:t>
            </a:r>
            <a:endParaRPr lang="nl-NL" sz="3600">
              <a:solidFill>
                <a:srgbClr val="FFC000"/>
              </a:solidFill>
              <a:effectLst>
                <a:outerShdw blurRad="38100" dist="38100" dir="2700000" algn="tl">
                  <a:srgbClr val="000000"/>
                </a:outerShdw>
              </a:effectLst>
              <a:latin typeface="Frutiger LT Std 45 Light" panose="020B0402020204020204" pitchFamily="34" charset="0"/>
              <a:cs typeface="Arial" charset="0"/>
            </a:endParaRPr>
          </a:p>
        </p:txBody>
      </p:sp>
      <p:sp>
        <p:nvSpPr>
          <p:cNvPr id="5" name="Tijdelijke aanduiding voor inhoud 2">
            <a:extLst>
              <a:ext uri="{FF2B5EF4-FFF2-40B4-BE49-F238E27FC236}">
                <a16:creationId xmlns:a16="http://schemas.microsoft.com/office/drawing/2014/main" id="{EFD7DC29-6DBA-4059-B3CF-8CDBADC6BFBD}"/>
              </a:ext>
            </a:extLst>
          </p:cNvPr>
          <p:cNvSpPr txBox="1">
            <a:spLocks/>
          </p:cNvSpPr>
          <p:nvPr/>
        </p:nvSpPr>
        <p:spPr bwMode="auto">
          <a:xfrm>
            <a:off x="2207172" y="1474898"/>
            <a:ext cx="8229600" cy="44831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r>
              <a:rPr lang="nl-NL" altLang="nl-NL" sz="1800">
                <a:solidFill>
                  <a:srgbClr val="FFC000"/>
                </a:solidFill>
                <a:latin typeface="Frutiger LT Std 45 Light" panose="020B0402020204020204" pitchFamily="34" charset="0"/>
                <a:cs typeface="Arial" panose="020B0604020202020204" pitchFamily="34" charset="0"/>
              </a:rPr>
              <a:t>Kernwaarden: autonomie en vrijheid</a:t>
            </a:r>
          </a:p>
          <a:p>
            <a:pPr eaLnBrk="1" hangingPunct="1"/>
            <a:r>
              <a:rPr lang="nl-NL" altLang="nl-NL" sz="1800">
                <a:latin typeface="Frutiger LT Std 45 Light" panose="020B0402020204020204" pitchFamily="34" charset="0"/>
                <a:cs typeface="Arial" panose="020B0604020202020204" pitchFamily="34" charset="0"/>
              </a:rPr>
              <a:t>Type I is iemand die zich laat leiden door persoonlijke doelen en persoonlijke belangen. </a:t>
            </a:r>
          </a:p>
          <a:p>
            <a:pPr eaLnBrk="1" hangingPunct="1"/>
            <a:r>
              <a:rPr lang="nl-NL" altLang="nl-NL" sz="1800">
                <a:latin typeface="Frutiger LT Std 45 Light" panose="020B0402020204020204" pitchFamily="34" charset="0"/>
                <a:cs typeface="Arial" panose="020B0604020202020204" pitchFamily="34" charset="0"/>
              </a:rPr>
              <a:t>Dit type zorgt goed voor zichzelf en neemt zelf het heft in handen en hecht veel waarde aan vrijheid van handelen. </a:t>
            </a:r>
          </a:p>
          <a:p>
            <a:pPr eaLnBrk="1" hangingPunct="1"/>
            <a:r>
              <a:rPr lang="nl-NL" altLang="nl-NL" sz="1800">
                <a:latin typeface="Frutiger LT Std 45 Light" panose="020B0402020204020204" pitchFamily="34" charset="0"/>
                <a:cs typeface="Arial" panose="020B0604020202020204" pitchFamily="34" charset="0"/>
              </a:rPr>
              <a:t>Regels en kaders van buitenaf worden ervaren als belemmerend. </a:t>
            </a:r>
          </a:p>
          <a:p>
            <a:pPr eaLnBrk="1" hangingPunct="1"/>
            <a:r>
              <a:rPr lang="en-US" altLang="nl-NL" sz="1800" err="1">
                <a:latin typeface="Frutiger LT Std 45 Light" panose="020B0402020204020204" pitchFamily="34" charset="0"/>
                <a:cs typeface="Arial" panose="020B0604020202020204" pitchFamily="34" charset="0"/>
              </a:rPr>
              <a:t>Een</a:t>
            </a:r>
            <a:r>
              <a:rPr lang="en-US" altLang="nl-NL" sz="1800">
                <a:latin typeface="Frutiger LT Std 45 Light" panose="020B0402020204020204" pitchFamily="34" charset="0"/>
                <a:cs typeface="Arial" panose="020B0604020202020204" pitchFamily="34" charset="0"/>
              </a:rPr>
              <a:t> </a:t>
            </a:r>
            <a:r>
              <a:rPr lang="nl-NL" altLang="nl-NL" sz="1800">
                <a:latin typeface="Frutiger LT Std 45 Light" panose="020B0402020204020204" pitchFamily="34" charset="0"/>
                <a:cs typeface="Arial" panose="020B0604020202020204" pitchFamily="34" charset="0"/>
              </a:rPr>
              <a:t>Type I wil op eigen wijze invulling geven aan zijn/haar leven en volgt zijn/haar eigen pad en ziet het leven als een uitdaging.</a:t>
            </a:r>
          </a:p>
        </p:txBody>
      </p:sp>
    </p:spTree>
    <p:extLst>
      <p:ext uri="{BB962C8B-B14F-4D97-AF65-F5344CB8AC3E}">
        <p14:creationId xmlns:p14="http://schemas.microsoft.com/office/powerpoint/2010/main" val="1294619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D41A018A-7444-467F-B535-58051D33285E}"/>
              </a:ext>
            </a:extLst>
          </p:cNvPr>
          <p:cNvSpPr txBox="1">
            <a:spLocks/>
          </p:cNvSpPr>
          <p:nvPr/>
        </p:nvSpPr>
        <p:spPr bwMode="auto">
          <a:xfrm>
            <a:off x="609601" y="500063"/>
            <a:ext cx="10972800" cy="857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defRPr/>
            </a:pPr>
            <a:r>
              <a:rPr lang="en-US" sz="3600">
                <a:solidFill>
                  <a:srgbClr val="7030A0"/>
                </a:solidFill>
                <a:effectLst>
                  <a:outerShdw blurRad="38100" dist="38100" dir="2700000" algn="tl">
                    <a:srgbClr val="000000"/>
                  </a:outerShdw>
                </a:effectLst>
                <a:latin typeface="Frutiger LT Std 45 Light" panose="020B0402020204020204" pitchFamily="34" charset="0"/>
                <a:cs typeface="Arial" charset="0"/>
              </a:rPr>
              <a:t>Type II</a:t>
            </a:r>
            <a:endParaRPr lang="nl-NL" sz="3600">
              <a:solidFill>
                <a:srgbClr val="7030A0"/>
              </a:solidFill>
              <a:effectLst>
                <a:outerShdw blurRad="38100" dist="38100" dir="2700000" algn="tl">
                  <a:srgbClr val="000000"/>
                </a:outerShdw>
              </a:effectLst>
              <a:latin typeface="Frutiger LT Std 45 Light" panose="020B0402020204020204" pitchFamily="34" charset="0"/>
              <a:cs typeface="Arial" charset="0"/>
            </a:endParaRPr>
          </a:p>
        </p:txBody>
      </p:sp>
      <p:sp>
        <p:nvSpPr>
          <p:cNvPr id="8" name="Tijdelijke aanduiding voor inhoud 2">
            <a:extLst>
              <a:ext uri="{FF2B5EF4-FFF2-40B4-BE49-F238E27FC236}">
                <a16:creationId xmlns:a16="http://schemas.microsoft.com/office/drawing/2014/main" id="{9C6398B2-A8E7-4223-B885-96A6A20BE38A}"/>
              </a:ext>
            </a:extLst>
          </p:cNvPr>
          <p:cNvSpPr txBox="1">
            <a:spLocks/>
          </p:cNvSpPr>
          <p:nvPr/>
        </p:nvSpPr>
        <p:spPr bwMode="auto">
          <a:xfrm>
            <a:off x="2211591" y="1455053"/>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lnSpc>
                <a:spcPct val="90000"/>
              </a:lnSpc>
            </a:pPr>
            <a:endParaRPr lang="nl-NL" altLang="nl-NL" sz="2200">
              <a:latin typeface="Frutiger LT Std 45 Light" panose="020B0402020204020204" pitchFamily="34" charset="0"/>
              <a:cs typeface="Arial" panose="020B0604020202020204" pitchFamily="34" charset="0"/>
            </a:endParaRPr>
          </a:p>
          <a:p>
            <a:pPr eaLnBrk="1" hangingPunct="1">
              <a:lnSpc>
                <a:spcPct val="90000"/>
              </a:lnSpc>
              <a:buClr>
                <a:srgbClr val="7030A0"/>
              </a:buClr>
            </a:pPr>
            <a:r>
              <a:rPr lang="nl-NL" altLang="nl-NL" sz="1800">
                <a:solidFill>
                  <a:srgbClr val="7030A0"/>
                </a:solidFill>
                <a:latin typeface="Frutiger LT Std 45 Light" panose="020B0402020204020204" pitchFamily="34" charset="0"/>
                <a:cs typeface="Arial" panose="020B0604020202020204" pitchFamily="34" charset="0"/>
              </a:rPr>
              <a:t>Kernwaarden: harmonie en mogelijkheden</a:t>
            </a:r>
          </a:p>
          <a:p>
            <a:pPr eaLnBrk="1" hangingPunct="1">
              <a:lnSpc>
                <a:spcPct val="90000"/>
              </a:lnSpc>
              <a:buClr>
                <a:srgbClr val="7030A0"/>
              </a:buClr>
            </a:pPr>
            <a:r>
              <a:rPr lang="nl-NL" altLang="nl-NL" sz="1800">
                <a:latin typeface="Frutiger LT Std 45 Light" panose="020B0402020204020204" pitchFamily="34" charset="0"/>
                <a:cs typeface="Arial" panose="020B0604020202020204" pitchFamily="34" charset="0"/>
              </a:rPr>
              <a:t>Een Type II streeft naar persoonlijk geluk door persoonlijke groei.</a:t>
            </a:r>
          </a:p>
          <a:p>
            <a:pPr eaLnBrk="1" hangingPunct="1">
              <a:lnSpc>
                <a:spcPct val="90000"/>
              </a:lnSpc>
              <a:buClr>
                <a:srgbClr val="7030A0"/>
              </a:buClr>
            </a:pPr>
            <a:r>
              <a:rPr lang="nl-NL" altLang="nl-NL" sz="1800">
                <a:latin typeface="Frutiger LT Std 45 Light" panose="020B0402020204020204" pitchFamily="34" charset="0"/>
                <a:cs typeface="Arial" panose="020B0604020202020204" pitchFamily="34" charset="0"/>
              </a:rPr>
              <a:t>Maar wel het liefst in overeenstemming en samen met anderen.</a:t>
            </a:r>
          </a:p>
          <a:p>
            <a:pPr eaLnBrk="1" hangingPunct="1">
              <a:lnSpc>
                <a:spcPct val="90000"/>
              </a:lnSpc>
              <a:buClr>
                <a:srgbClr val="7030A0"/>
              </a:buClr>
            </a:pPr>
            <a:r>
              <a:rPr lang="nl-NL" altLang="nl-NL" sz="1800">
                <a:latin typeface="Frutiger LT Std 45 Light" panose="020B0402020204020204" pitchFamily="34" charset="0"/>
                <a:cs typeface="Arial" panose="020B0604020202020204" pitchFamily="34" charset="0"/>
              </a:rPr>
              <a:t>Daarom is harmonie met de omgeving voor dit type belangrijk.</a:t>
            </a:r>
          </a:p>
          <a:p>
            <a:pPr eaLnBrk="1" hangingPunct="1">
              <a:lnSpc>
                <a:spcPct val="90000"/>
              </a:lnSpc>
              <a:buClr>
                <a:srgbClr val="7030A0"/>
              </a:buClr>
            </a:pPr>
            <a:r>
              <a:rPr lang="nl-NL" altLang="nl-NL" sz="1800">
                <a:latin typeface="Frutiger LT Std 45 Light" panose="020B0402020204020204" pitchFamily="34" charset="0"/>
                <a:cs typeface="Arial" panose="020B0604020202020204" pitchFamily="34" charset="0"/>
              </a:rPr>
              <a:t>Om persoonlijk welzijn te bereiken heeft dit type de ander nodig en zal ook moeite doen om het de ander naar de zin te maken.</a:t>
            </a:r>
          </a:p>
          <a:p>
            <a:pPr eaLnBrk="1" hangingPunct="1">
              <a:lnSpc>
                <a:spcPct val="90000"/>
              </a:lnSpc>
              <a:buClr>
                <a:srgbClr val="7030A0"/>
              </a:buClr>
            </a:pPr>
            <a:r>
              <a:rPr lang="nl-NL" altLang="nl-NL" sz="1800">
                <a:latin typeface="Frutiger LT Std 45 Light" panose="020B0402020204020204" pitchFamily="34" charset="0"/>
                <a:cs typeface="Arial" panose="020B0604020202020204" pitchFamily="34" charset="0"/>
              </a:rPr>
              <a:t>Dit type ziet het leven als palet vol kansen en mogelijkheden.</a:t>
            </a:r>
          </a:p>
        </p:txBody>
      </p:sp>
    </p:spTree>
    <p:extLst>
      <p:ext uri="{BB962C8B-B14F-4D97-AF65-F5344CB8AC3E}">
        <p14:creationId xmlns:p14="http://schemas.microsoft.com/office/powerpoint/2010/main" val="4239852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2D3B99BC-1818-458A-BA97-9C217C817796}"/>
              </a:ext>
            </a:extLst>
          </p:cNvPr>
          <p:cNvSpPr txBox="1">
            <a:spLocks/>
          </p:cNvSpPr>
          <p:nvPr/>
        </p:nvSpPr>
        <p:spPr bwMode="auto">
          <a:xfrm>
            <a:off x="609600" y="571500"/>
            <a:ext cx="10972800" cy="7858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defRPr/>
            </a:pPr>
            <a:r>
              <a:rPr lang="en-US" sz="3600">
                <a:solidFill>
                  <a:srgbClr val="0070C0"/>
                </a:solidFill>
                <a:effectLst>
                  <a:outerShdw blurRad="38100" dist="38100" dir="2700000" algn="tl">
                    <a:srgbClr val="000000"/>
                  </a:outerShdw>
                </a:effectLst>
                <a:latin typeface="Frutiger LT Std 45 Light" panose="020B0402020204020204" pitchFamily="34" charset="0"/>
                <a:cs typeface="Arial" charset="0"/>
              </a:rPr>
              <a:t>Type III</a:t>
            </a:r>
            <a:endParaRPr lang="nl-NL" sz="3600">
              <a:solidFill>
                <a:srgbClr val="0070C0"/>
              </a:solidFill>
              <a:effectLst>
                <a:outerShdw blurRad="38100" dist="38100" dir="2700000" algn="tl">
                  <a:srgbClr val="000000"/>
                </a:outerShdw>
              </a:effectLst>
              <a:latin typeface="Frutiger LT Std 45 Light" panose="020B0402020204020204" pitchFamily="34" charset="0"/>
              <a:cs typeface="Arial" charset="0"/>
            </a:endParaRPr>
          </a:p>
        </p:txBody>
      </p:sp>
      <p:sp>
        <p:nvSpPr>
          <p:cNvPr id="5" name="Tijdelijke aanduiding voor inhoud 2">
            <a:extLst>
              <a:ext uri="{FF2B5EF4-FFF2-40B4-BE49-F238E27FC236}">
                <a16:creationId xmlns:a16="http://schemas.microsoft.com/office/drawing/2014/main" id="{D347892E-5B0C-4C49-820B-0087AA73626F}"/>
              </a:ext>
            </a:extLst>
          </p:cNvPr>
          <p:cNvSpPr txBox="1">
            <a:spLocks/>
          </p:cNvSpPr>
          <p:nvPr/>
        </p:nvSpPr>
        <p:spPr bwMode="auto">
          <a:xfrm>
            <a:off x="1981200" y="1484589"/>
            <a:ext cx="8229600" cy="46114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lnSpc>
                <a:spcPct val="90000"/>
              </a:lnSpc>
              <a:buClr>
                <a:srgbClr val="0070C0"/>
              </a:buClr>
            </a:pPr>
            <a:r>
              <a:rPr lang="nl-NL" altLang="nl-NL" sz="1800" b="1">
                <a:solidFill>
                  <a:srgbClr val="0070C0"/>
                </a:solidFill>
                <a:latin typeface="Frutiger LT Std 45 Light" panose="020B0402020204020204" pitchFamily="34" charset="0"/>
                <a:cs typeface="Arial" panose="020B0604020202020204" pitchFamily="34" charset="0"/>
              </a:rPr>
              <a:t>Kernwaarden: verantwoordelijkheid en loyaliteit</a:t>
            </a:r>
          </a:p>
          <a:p>
            <a:pPr eaLnBrk="1" hangingPunct="1">
              <a:lnSpc>
                <a:spcPct val="90000"/>
              </a:lnSpc>
              <a:buClr>
                <a:srgbClr val="0070C0"/>
              </a:buClr>
            </a:pPr>
            <a:r>
              <a:rPr lang="nl-NL" altLang="nl-NL" sz="1800">
                <a:latin typeface="Frutiger LT Std 45 Light" panose="020B0402020204020204" pitchFamily="34" charset="0"/>
                <a:cs typeface="Arial" panose="020B0604020202020204" pitchFamily="34" charset="0"/>
              </a:rPr>
              <a:t>Een Type III is iemand die erin gelooft dat iedereen een bijdrage zou moeten leveren aan de samenleving. </a:t>
            </a:r>
          </a:p>
          <a:p>
            <a:pPr eaLnBrk="1" hangingPunct="1">
              <a:lnSpc>
                <a:spcPct val="90000"/>
              </a:lnSpc>
              <a:buClr>
                <a:srgbClr val="0070C0"/>
              </a:buClr>
            </a:pPr>
            <a:r>
              <a:rPr lang="nl-NL" altLang="nl-NL" sz="1800">
                <a:latin typeface="Frutiger LT Std 45 Light" panose="020B0402020204020204" pitchFamily="34" charset="0"/>
                <a:cs typeface="Arial" panose="020B0604020202020204" pitchFamily="34" charset="0"/>
              </a:rPr>
              <a:t>Gezamenlijke doelen zijn belangrijk. </a:t>
            </a:r>
          </a:p>
          <a:p>
            <a:pPr eaLnBrk="1" hangingPunct="1">
              <a:lnSpc>
                <a:spcPct val="90000"/>
              </a:lnSpc>
              <a:buClr>
                <a:srgbClr val="0070C0"/>
              </a:buClr>
            </a:pPr>
            <a:r>
              <a:rPr lang="nl-NL" altLang="nl-NL" sz="1800">
                <a:latin typeface="Frutiger LT Std 45 Light" panose="020B0402020204020204" pitchFamily="34" charset="0"/>
                <a:cs typeface="Arial" panose="020B0604020202020204" pitchFamily="34" charset="0"/>
              </a:rPr>
              <a:t>Dit type wil het gezamenlijk belang van de groep waartoe hij of zij behoort beschermen door het juiste te doen. </a:t>
            </a:r>
          </a:p>
          <a:p>
            <a:pPr eaLnBrk="1" hangingPunct="1">
              <a:lnSpc>
                <a:spcPct val="90000"/>
              </a:lnSpc>
              <a:buClr>
                <a:srgbClr val="0070C0"/>
              </a:buClr>
            </a:pPr>
            <a:r>
              <a:rPr lang="nl-NL" altLang="nl-NL" sz="1800">
                <a:latin typeface="Frutiger LT Std 45 Light" panose="020B0402020204020204" pitchFamily="34" charset="0"/>
                <a:cs typeface="Arial" panose="020B0604020202020204" pitchFamily="34" charset="0"/>
              </a:rPr>
              <a:t>Dit zal hij/zij doen op een toegewijde consequente wijze. </a:t>
            </a:r>
          </a:p>
          <a:p>
            <a:pPr eaLnBrk="1" hangingPunct="1">
              <a:lnSpc>
                <a:spcPct val="90000"/>
              </a:lnSpc>
              <a:buClr>
                <a:srgbClr val="0070C0"/>
              </a:buClr>
            </a:pPr>
            <a:r>
              <a:rPr lang="nl-NL" altLang="nl-NL" sz="1800">
                <a:latin typeface="Frutiger LT Std 45 Light" panose="020B0402020204020204" pitchFamily="34" charset="0"/>
                <a:cs typeface="Arial" panose="020B0604020202020204" pitchFamily="34" charset="0"/>
              </a:rPr>
              <a:t>Sociaal respect is belangrijk voor dit type. </a:t>
            </a:r>
          </a:p>
          <a:p>
            <a:pPr eaLnBrk="1" hangingPunct="1">
              <a:lnSpc>
                <a:spcPct val="90000"/>
              </a:lnSpc>
              <a:buClr>
                <a:srgbClr val="0070C0"/>
              </a:buClr>
            </a:pPr>
            <a:r>
              <a:rPr lang="nl-NL" altLang="nl-NL" sz="1800">
                <a:latin typeface="Frutiger LT Std 45 Light" panose="020B0402020204020204" pitchFamily="34" charset="0"/>
                <a:cs typeface="Arial" panose="020B0604020202020204" pitchFamily="34" charset="0"/>
              </a:rPr>
              <a:t>Dit type ziet het leven als een test die we moeten afleggen.</a:t>
            </a:r>
          </a:p>
        </p:txBody>
      </p:sp>
    </p:spTree>
    <p:extLst>
      <p:ext uri="{BB962C8B-B14F-4D97-AF65-F5344CB8AC3E}">
        <p14:creationId xmlns:p14="http://schemas.microsoft.com/office/powerpoint/2010/main" val="12100256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19DD79F6-FBA0-45AC-86CC-F1525FA1F3A8}"/>
              </a:ext>
            </a:extLst>
          </p:cNvPr>
          <p:cNvSpPr txBox="1">
            <a:spLocks/>
          </p:cNvSpPr>
          <p:nvPr/>
        </p:nvSpPr>
        <p:spPr bwMode="auto">
          <a:xfrm>
            <a:off x="609600" y="571500"/>
            <a:ext cx="10972799" cy="7858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defRPr/>
            </a:pPr>
            <a:r>
              <a:rPr lang="en-US" sz="3600">
                <a:solidFill>
                  <a:srgbClr val="0070C0"/>
                </a:solidFill>
                <a:effectLst>
                  <a:outerShdw blurRad="38100" dist="38100" dir="2700000" algn="tl">
                    <a:srgbClr val="000000"/>
                  </a:outerShdw>
                </a:effectLst>
                <a:latin typeface="Frutiger LT Std 45 Light" panose="020B0402020204020204" pitchFamily="34" charset="0"/>
                <a:cs typeface="Arial" charset="0"/>
              </a:rPr>
              <a:t>Type III</a:t>
            </a:r>
            <a:endParaRPr lang="nl-NL" sz="3600">
              <a:solidFill>
                <a:srgbClr val="0070C0"/>
              </a:solidFill>
              <a:effectLst>
                <a:outerShdw blurRad="38100" dist="38100" dir="2700000" algn="tl">
                  <a:srgbClr val="000000"/>
                </a:outerShdw>
              </a:effectLst>
              <a:latin typeface="Frutiger LT Std 45 Light" panose="020B0402020204020204" pitchFamily="34" charset="0"/>
              <a:cs typeface="Arial" charset="0"/>
            </a:endParaRPr>
          </a:p>
        </p:txBody>
      </p:sp>
      <p:sp>
        <p:nvSpPr>
          <p:cNvPr id="5" name="Tijdelijke aanduiding voor inhoud 2">
            <a:extLst>
              <a:ext uri="{FF2B5EF4-FFF2-40B4-BE49-F238E27FC236}">
                <a16:creationId xmlns:a16="http://schemas.microsoft.com/office/drawing/2014/main" id="{E2DA17D0-4836-499C-A822-CD300D164A53}"/>
              </a:ext>
            </a:extLst>
          </p:cNvPr>
          <p:cNvSpPr txBox="1">
            <a:spLocks/>
          </p:cNvSpPr>
          <p:nvPr/>
        </p:nvSpPr>
        <p:spPr bwMode="auto">
          <a:xfrm>
            <a:off x="1981199" y="1606824"/>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lnSpc>
                <a:spcPct val="90000"/>
              </a:lnSpc>
              <a:buClr>
                <a:srgbClr val="0070C0"/>
              </a:buClr>
            </a:pPr>
            <a:endParaRPr lang="nl-NL" altLang="nl-NL" sz="1800">
              <a:solidFill>
                <a:srgbClr val="0070C0"/>
              </a:solidFill>
              <a:latin typeface="Frutiger LT Std 45 Light" panose="020B0402020204020204" pitchFamily="34" charset="0"/>
              <a:cs typeface="Arial" panose="020B0604020202020204" pitchFamily="34" charset="0"/>
            </a:endParaRPr>
          </a:p>
          <a:p>
            <a:pPr eaLnBrk="1" hangingPunct="1">
              <a:lnSpc>
                <a:spcPct val="90000"/>
              </a:lnSpc>
              <a:buClr>
                <a:srgbClr val="0070C0"/>
              </a:buClr>
            </a:pPr>
            <a:r>
              <a:rPr lang="nl-NL" altLang="nl-NL" sz="1800" b="1">
                <a:solidFill>
                  <a:srgbClr val="0070C0"/>
                </a:solidFill>
                <a:latin typeface="Frutiger LT Std 45 Light" panose="020B0402020204020204" pitchFamily="34" charset="0"/>
                <a:cs typeface="Arial" panose="020B0604020202020204" pitchFamily="34" charset="0"/>
              </a:rPr>
              <a:t>Kernwaarden: verantwoordelijkheid en loyaliteit</a:t>
            </a:r>
          </a:p>
          <a:p>
            <a:pPr eaLnBrk="1" hangingPunct="1">
              <a:lnSpc>
                <a:spcPct val="90000"/>
              </a:lnSpc>
              <a:buClr>
                <a:srgbClr val="0070C0"/>
              </a:buClr>
            </a:pPr>
            <a:r>
              <a:rPr lang="nl-NL" altLang="nl-NL" sz="1800">
                <a:latin typeface="Frutiger LT Std 45 Light" panose="020B0402020204020204" pitchFamily="34" charset="0"/>
                <a:cs typeface="Arial" panose="020B0604020202020204" pitchFamily="34" charset="0"/>
              </a:rPr>
              <a:t>Een Type III is iemand die erin gelooft dat iedereen een bijdrage zou moeten leveren aan de samenleving. </a:t>
            </a:r>
          </a:p>
          <a:p>
            <a:pPr eaLnBrk="1" hangingPunct="1">
              <a:lnSpc>
                <a:spcPct val="90000"/>
              </a:lnSpc>
              <a:buClr>
                <a:srgbClr val="0070C0"/>
              </a:buClr>
            </a:pPr>
            <a:r>
              <a:rPr lang="nl-NL" altLang="nl-NL" sz="1800">
                <a:latin typeface="Frutiger LT Std 45 Light" panose="020B0402020204020204" pitchFamily="34" charset="0"/>
                <a:cs typeface="Arial" panose="020B0604020202020204" pitchFamily="34" charset="0"/>
              </a:rPr>
              <a:t>Gezamenlijke doelen zijn belangrijk. </a:t>
            </a:r>
          </a:p>
          <a:p>
            <a:pPr eaLnBrk="1" hangingPunct="1">
              <a:lnSpc>
                <a:spcPct val="90000"/>
              </a:lnSpc>
              <a:buClr>
                <a:srgbClr val="0070C0"/>
              </a:buClr>
            </a:pPr>
            <a:r>
              <a:rPr lang="nl-NL" altLang="nl-NL" sz="1800">
                <a:latin typeface="Frutiger LT Std 45 Light" panose="020B0402020204020204" pitchFamily="34" charset="0"/>
                <a:cs typeface="Arial" panose="020B0604020202020204" pitchFamily="34" charset="0"/>
              </a:rPr>
              <a:t>Dit type wil het gezamenlijk belang van de groep waartoe hij of zij behoort beschermen door het juiste te doen. </a:t>
            </a:r>
          </a:p>
          <a:p>
            <a:pPr eaLnBrk="1" hangingPunct="1">
              <a:lnSpc>
                <a:spcPct val="90000"/>
              </a:lnSpc>
              <a:buClr>
                <a:srgbClr val="0070C0"/>
              </a:buClr>
            </a:pPr>
            <a:r>
              <a:rPr lang="nl-NL" altLang="nl-NL" sz="1800">
                <a:latin typeface="Frutiger LT Std 45 Light" panose="020B0402020204020204" pitchFamily="34" charset="0"/>
                <a:cs typeface="Arial" panose="020B0604020202020204" pitchFamily="34" charset="0"/>
              </a:rPr>
              <a:t>Dit zal hij/zij doen op een toegewijde consequente wijze. </a:t>
            </a:r>
          </a:p>
          <a:p>
            <a:pPr eaLnBrk="1" hangingPunct="1">
              <a:lnSpc>
                <a:spcPct val="90000"/>
              </a:lnSpc>
              <a:buClr>
                <a:srgbClr val="0070C0"/>
              </a:buClr>
            </a:pPr>
            <a:r>
              <a:rPr lang="nl-NL" altLang="nl-NL" sz="1800">
                <a:latin typeface="Frutiger LT Std 45 Light" panose="020B0402020204020204" pitchFamily="34" charset="0"/>
                <a:cs typeface="Arial" panose="020B0604020202020204" pitchFamily="34" charset="0"/>
              </a:rPr>
              <a:t>Sociaal respect is belangrijk voor dit type. </a:t>
            </a:r>
          </a:p>
          <a:p>
            <a:pPr eaLnBrk="1" hangingPunct="1">
              <a:lnSpc>
                <a:spcPct val="90000"/>
              </a:lnSpc>
              <a:buClr>
                <a:srgbClr val="0070C0"/>
              </a:buClr>
            </a:pPr>
            <a:r>
              <a:rPr lang="nl-NL" altLang="nl-NL" sz="1800">
                <a:latin typeface="Frutiger LT Std 45 Light" panose="020B0402020204020204" pitchFamily="34" charset="0"/>
                <a:cs typeface="Arial" panose="020B0604020202020204" pitchFamily="34" charset="0"/>
              </a:rPr>
              <a:t>Dit type ziet het leven als een test die we moeten afleggen.</a:t>
            </a:r>
          </a:p>
        </p:txBody>
      </p:sp>
    </p:spTree>
    <p:extLst>
      <p:ext uri="{BB962C8B-B14F-4D97-AF65-F5344CB8AC3E}">
        <p14:creationId xmlns:p14="http://schemas.microsoft.com/office/powerpoint/2010/main" val="10955566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madonna">
            <a:extLst>
              <a:ext uri="{FF2B5EF4-FFF2-40B4-BE49-F238E27FC236}">
                <a16:creationId xmlns:a16="http://schemas.microsoft.com/office/drawing/2014/main" id="{C3040629-A577-49A2-A8BA-7F98BDDB43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350" y="2286000"/>
            <a:ext cx="2341562" cy="292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ghandi-inembassady">
            <a:extLst>
              <a:ext uri="{FF2B5EF4-FFF2-40B4-BE49-F238E27FC236}">
                <a16:creationId xmlns:a16="http://schemas.microsoft.com/office/drawing/2014/main" id="{48FBB7F0-6225-4FBB-BB62-5469A330AB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4975" y="2286000"/>
            <a:ext cx="2338387" cy="292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Bill_Clinton">
            <a:extLst>
              <a:ext uri="{FF2B5EF4-FFF2-40B4-BE49-F238E27FC236}">
                <a16:creationId xmlns:a16="http://schemas.microsoft.com/office/drawing/2014/main" id="{5688A111-FED1-4243-9737-B53AD12A67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1600" y="2286000"/>
            <a:ext cx="2362200" cy="292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fullImage" descr="oprah-winfrey-4.jpg image by dimieken">
            <a:hlinkClick r:id="rId5" tooltip="&quot;Click to zoom out.&quot;"/>
            <a:extLst>
              <a:ext uri="{FF2B5EF4-FFF2-40B4-BE49-F238E27FC236}">
                <a16:creationId xmlns:a16="http://schemas.microsoft.com/office/drawing/2014/main" id="{0033ADE1-D37D-469A-A616-955052755B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17600" y="2286000"/>
            <a:ext cx="2044700" cy="292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kstvak 5">
            <a:extLst>
              <a:ext uri="{FF2B5EF4-FFF2-40B4-BE49-F238E27FC236}">
                <a16:creationId xmlns:a16="http://schemas.microsoft.com/office/drawing/2014/main" id="{49585CDA-1B2B-4B5E-8BAA-220932751F8E}"/>
              </a:ext>
            </a:extLst>
          </p:cNvPr>
          <p:cNvSpPr txBox="1">
            <a:spLocks noChangeArrowheads="1"/>
          </p:cNvSpPr>
          <p:nvPr/>
        </p:nvSpPr>
        <p:spPr bwMode="auto">
          <a:xfrm>
            <a:off x="3703037" y="1857375"/>
            <a:ext cx="2143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algn="ctr" eaLnBrk="1" hangingPunct="1">
              <a:spcBef>
                <a:spcPct val="0"/>
              </a:spcBef>
              <a:buClrTx/>
              <a:buSzTx/>
              <a:buFontTx/>
              <a:buNone/>
            </a:pPr>
            <a:r>
              <a:rPr lang="en-US" altLang="nl-NL" sz="1800" b="1">
                <a:solidFill>
                  <a:srgbClr val="7030A0"/>
                </a:solidFill>
                <a:latin typeface="Frutiger LT Std 45 Light" panose="020B0402020204020204" pitchFamily="34" charset="0"/>
              </a:rPr>
              <a:t>Type II</a:t>
            </a:r>
            <a:endParaRPr lang="nl-NL" altLang="nl-NL" sz="1800" b="1">
              <a:solidFill>
                <a:srgbClr val="7030A0"/>
              </a:solidFill>
              <a:latin typeface="Frutiger LT Std 45 Light" panose="020B0402020204020204" pitchFamily="34" charset="0"/>
            </a:endParaRPr>
          </a:p>
        </p:txBody>
      </p:sp>
      <p:sp>
        <p:nvSpPr>
          <p:cNvPr id="9" name="Tekstvak 6">
            <a:extLst>
              <a:ext uri="{FF2B5EF4-FFF2-40B4-BE49-F238E27FC236}">
                <a16:creationId xmlns:a16="http://schemas.microsoft.com/office/drawing/2014/main" id="{BB918A97-0AA0-4A13-AA97-F561E88CC9D4}"/>
              </a:ext>
            </a:extLst>
          </p:cNvPr>
          <p:cNvSpPr txBox="1">
            <a:spLocks noChangeArrowheads="1"/>
          </p:cNvSpPr>
          <p:nvPr/>
        </p:nvSpPr>
        <p:spPr bwMode="auto">
          <a:xfrm>
            <a:off x="1845662" y="1857375"/>
            <a:ext cx="1857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algn="ctr" eaLnBrk="1" hangingPunct="1">
              <a:spcBef>
                <a:spcPct val="0"/>
              </a:spcBef>
              <a:buClrTx/>
              <a:buSzTx/>
              <a:buFontTx/>
              <a:buNone/>
            </a:pPr>
            <a:r>
              <a:rPr lang="en-US" altLang="nl-NL" sz="1800" b="1">
                <a:solidFill>
                  <a:srgbClr val="FFC000"/>
                </a:solidFill>
                <a:latin typeface="Frutiger LT Std 45 Light" panose="020B0402020204020204" pitchFamily="34" charset="0"/>
              </a:rPr>
              <a:t>Type I</a:t>
            </a:r>
            <a:endParaRPr lang="nl-NL" altLang="nl-NL" sz="1800" b="1">
              <a:solidFill>
                <a:srgbClr val="FFC000"/>
              </a:solidFill>
              <a:latin typeface="Frutiger LT Std 45 Light" panose="020B0402020204020204" pitchFamily="34" charset="0"/>
            </a:endParaRPr>
          </a:p>
        </p:txBody>
      </p:sp>
      <p:sp>
        <p:nvSpPr>
          <p:cNvPr id="10" name="Tekstvak 7">
            <a:extLst>
              <a:ext uri="{FF2B5EF4-FFF2-40B4-BE49-F238E27FC236}">
                <a16:creationId xmlns:a16="http://schemas.microsoft.com/office/drawing/2014/main" id="{326EB874-57C1-49B9-AF8A-17CD133FDC5F}"/>
              </a:ext>
            </a:extLst>
          </p:cNvPr>
          <p:cNvSpPr txBox="1">
            <a:spLocks noChangeArrowheads="1"/>
          </p:cNvSpPr>
          <p:nvPr/>
        </p:nvSpPr>
        <p:spPr bwMode="auto">
          <a:xfrm>
            <a:off x="5989037" y="1857375"/>
            <a:ext cx="1857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algn="ctr" eaLnBrk="1" hangingPunct="1">
              <a:spcBef>
                <a:spcPct val="0"/>
              </a:spcBef>
              <a:buClrTx/>
              <a:buSzTx/>
              <a:buFontTx/>
              <a:buNone/>
            </a:pPr>
            <a:r>
              <a:rPr lang="en-US" altLang="nl-NL" sz="1800" b="1">
                <a:solidFill>
                  <a:srgbClr val="0070C0"/>
                </a:solidFill>
                <a:latin typeface="Frutiger LT Std 45 Light" panose="020B0402020204020204" pitchFamily="34" charset="0"/>
              </a:rPr>
              <a:t>Type III</a:t>
            </a:r>
            <a:endParaRPr lang="nl-NL" altLang="nl-NL" sz="1800" b="1">
              <a:solidFill>
                <a:srgbClr val="0070C0"/>
              </a:solidFill>
              <a:latin typeface="Frutiger LT Std 45 Light" panose="020B0402020204020204" pitchFamily="34" charset="0"/>
            </a:endParaRPr>
          </a:p>
        </p:txBody>
      </p:sp>
      <p:sp>
        <p:nvSpPr>
          <p:cNvPr id="11" name="Tekstvak 8">
            <a:extLst>
              <a:ext uri="{FF2B5EF4-FFF2-40B4-BE49-F238E27FC236}">
                <a16:creationId xmlns:a16="http://schemas.microsoft.com/office/drawing/2014/main" id="{E1A0AC9B-1EBD-49FA-871B-CB83D6ED8732}"/>
              </a:ext>
            </a:extLst>
          </p:cNvPr>
          <p:cNvSpPr txBox="1">
            <a:spLocks noChangeArrowheads="1"/>
          </p:cNvSpPr>
          <p:nvPr/>
        </p:nvSpPr>
        <p:spPr bwMode="auto">
          <a:xfrm>
            <a:off x="7989287" y="1857375"/>
            <a:ext cx="2071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algn="ctr" eaLnBrk="1" hangingPunct="1">
              <a:spcBef>
                <a:spcPct val="0"/>
              </a:spcBef>
              <a:buClrTx/>
              <a:buSzTx/>
              <a:buFontTx/>
              <a:buNone/>
            </a:pPr>
            <a:r>
              <a:rPr lang="en-US" altLang="nl-NL" sz="1800" b="1">
                <a:solidFill>
                  <a:srgbClr val="00B050"/>
                </a:solidFill>
                <a:latin typeface="Frutiger LT Std 45 Light" panose="020B0402020204020204" pitchFamily="34" charset="0"/>
              </a:rPr>
              <a:t>Type IV</a:t>
            </a:r>
            <a:endParaRPr lang="nl-NL" altLang="nl-NL" sz="1800" b="1">
              <a:solidFill>
                <a:srgbClr val="00B050"/>
              </a:solidFill>
              <a:latin typeface="Frutiger LT Std 45 Light" panose="020B0402020204020204" pitchFamily="34" charset="0"/>
            </a:endParaRPr>
          </a:p>
        </p:txBody>
      </p:sp>
      <p:sp>
        <p:nvSpPr>
          <p:cNvPr id="12" name="Tekstvak 9">
            <a:extLst>
              <a:ext uri="{FF2B5EF4-FFF2-40B4-BE49-F238E27FC236}">
                <a16:creationId xmlns:a16="http://schemas.microsoft.com/office/drawing/2014/main" id="{50F3EC2A-FF17-4388-88E2-A8E3C192ACB5}"/>
              </a:ext>
            </a:extLst>
          </p:cNvPr>
          <p:cNvSpPr txBox="1">
            <a:spLocks noChangeArrowheads="1"/>
          </p:cNvSpPr>
          <p:nvPr/>
        </p:nvSpPr>
        <p:spPr bwMode="auto">
          <a:xfrm>
            <a:off x="609600" y="500063"/>
            <a:ext cx="109727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defRPr>
            </a:lvl9pPr>
          </a:lstStyle>
          <a:p>
            <a:pPr algn="ctr" eaLnBrk="1" hangingPunct="1">
              <a:spcBef>
                <a:spcPct val="0"/>
              </a:spcBef>
              <a:buClrTx/>
              <a:buSzTx/>
              <a:buFontTx/>
              <a:buNone/>
            </a:pPr>
            <a:r>
              <a:rPr lang="en-US" altLang="nl-NL" sz="3600" b="1" dirty="0" err="1">
                <a:solidFill>
                  <a:srgbClr val="911D20"/>
                </a:solidFill>
                <a:latin typeface="Frutiger LT Std 45 Light" panose="020B0402020204020204" pitchFamily="34" charset="0"/>
                <a:cs typeface="Arial" panose="020B0604020202020204" pitchFamily="34" charset="0"/>
              </a:rPr>
              <a:t>Beroemde</a:t>
            </a:r>
            <a:r>
              <a:rPr lang="en-US" altLang="nl-NL" sz="3600" b="1" dirty="0">
                <a:solidFill>
                  <a:srgbClr val="911D20"/>
                </a:solidFill>
                <a:latin typeface="Frutiger LT Std 45 Light" panose="020B0402020204020204" pitchFamily="34" charset="0"/>
                <a:cs typeface="Arial" panose="020B0604020202020204" pitchFamily="34" charset="0"/>
              </a:rPr>
              <a:t> types</a:t>
            </a:r>
            <a:endParaRPr lang="nl-NL" altLang="nl-NL" sz="3600" b="1" dirty="0">
              <a:solidFill>
                <a:srgbClr val="911D20"/>
              </a:solidFill>
              <a:latin typeface="Frutiger LT Std 45 Light" panose="020B0402020204020204" pitchFamily="34" charset="0"/>
              <a:cs typeface="Arial" panose="020B0604020202020204" pitchFamily="34" charset="0"/>
            </a:endParaRPr>
          </a:p>
        </p:txBody>
      </p:sp>
    </p:spTree>
    <p:extLst>
      <p:ext uri="{BB962C8B-B14F-4D97-AF65-F5344CB8AC3E}">
        <p14:creationId xmlns:p14="http://schemas.microsoft.com/office/powerpoint/2010/main" val="41037363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C516281C-DD77-4D8A-9F55-C86E207F7687}"/>
              </a:ext>
            </a:extLst>
          </p:cNvPr>
          <p:cNvSpPr>
            <a:spLocks noGrp="1"/>
          </p:cNvSpPr>
          <p:nvPr>
            <p:ph idx="1"/>
          </p:nvPr>
        </p:nvSpPr>
        <p:spPr/>
        <p:txBody>
          <a:bodyPr/>
          <a:lstStyle/>
          <a:p>
            <a:endParaRPr lang="nl-NL" dirty="0"/>
          </a:p>
        </p:txBody>
      </p:sp>
      <p:grpSp>
        <p:nvGrpSpPr>
          <p:cNvPr id="4" name="Group 8">
            <a:extLst>
              <a:ext uri="{FF2B5EF4-FFF2-40B4-BE49-F238E27FC236}">
                <a16:creationId xmlns:a16="http://schemas.microsoft.com/office/drawing/2014/main" id="{E5E5E42B-807F-4A5D-9E31-9CB60BF34F87}"/>
              </a:ext>
            </a:extLst>
          </p:cNvPr>
          <p:cNvGrpSpPr>
            <a:grpSpLocks/>
          </p:cNvGrpSpPr>
          <p:nvPr/>
        </p:nvGrpSpPr>
        <p:grpSpPr bwMode="auto">
          <a:xfrm>
            <a:off x="3970582" y="1847853"/>
            <a:ext cx="4500562" cy="4030662"/>
            <a:chOff x="2267744" y="980728"/>
            <a:chExt cx="4500562" cy="4030662"/>
          </a:xfrm>
        </p:grpSpPr>
        <p:pic>
          <p:nvPicPr>
            <p:cNvPr id="5" name="Afbeelding 4" descr="http://www.cartoonstock.com/newscartoons/cartoonists/rma/lowres/rman10400l.jpg">
              <a:extLst>
                <a:ext uri="{FF2B5EF4-FFF2-40B4-BE49-F238E27FC236}">
                  <a16:creationId xmlns:a16="http://schemas.microsoft.com/office/drawing/2014/main" id="{7E452EBC-F7F5-42FC-987F-D2E7C1521B90}"/>
                </a:ext>
              </a:extLst>
            </p:cNvPr>
            <p:cNvPicPr>
              <a:picLocks noChangeAspect="1" noChangeArrowheads="1"/>
            </p:cNvPicPr>
            <p:nvPr/>
          </p:nvPicPr>
          <p:blipFill>
            <a:blip r:embed="rId2" cstate="print"/>
            <a:srcRect/>
            <a:stretch>
              <a:fillRect/>
            </a:stretch>
          </p:blipFill>
          <p:spPr bwMode="auto">
            <a:xfrm>
              <a:off x="2267744" y="980728"/>
              <a:ext cx="4500562" cy="4030662"/>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Rechthoek 5">
              <a:extLst>
                <a:ext uri="{FF2B5EF4-FFF2-40B4-BE49-F238E27FC236}">
                  <a16:creationId xmlns:a16="http://schemas.microsoft.com/office/drawing/2014/main" id="{4E5B70B7-FD35-4B2C-81F7-6CA6B74EB763}"/>
                </a:ext>
              </a:extLst>
            </p:cNvPr>
            <p:cNvSpPr/>
            <p:nvPr/>
          </p:nvSpPr>
          <p:spPr>
            <a:xfrm>
              <a:off x="3996531" y="980728"/>
              <a:ext cx="2714625" cy="78581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nl-NL">
                <a:solidFill>
                  <a:srgbClr val="000000"/>
                </a:solidFill>
              </a:endParaRPr>
            </a:p>
          </p:txBody>
        </p:sp>
        <p:sp>
          <p:nvSpPr>
            <p:cNvPr id="7" name="Rechthoek 6">
              <a:extLst>
                <a:ext uri="{FF2B5EF4-FFF2-40B4-BE49-F238E27FC236}">
                  <a16:creationId xmlns:a16="http://schemas.microsoft.com/office/drawing/2014/main" id="{A299C0DB-D10D-42E9-AA90-5204223A09E1}"/>
                </a:ext>
              </a:extLst>
            </p:cNvPr>
            <p:cNvSpPr/>
            <p:nvPr/>
          </p:nvSpPr>
          <p:spPr>
            <a:xfrm rot="5400000">
              <a:off x="5373688" y="2843659"/>
              <a:ext cx="2500312" cy="2159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nl-NL">
                <a:solidFill>
                  <a:srgbClr val="000000"/>
                </a:solidFill>
              </a:endParaRPr>
            </a:p>
          </p:txBody>
        </p:sp>
      </p:grpSp>
    </p:spTree>
    <p:extLst>
      <p:ext uri="{BB962C8B-B14F-4D97-AF65-F5344CB8AC3E}">
        <p14:creationId xmlns:p14="http://schemas.microsoft.com/office/powerpoint/2010/main" val="19854512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94A138-3382-47E3-8301-D7F76F0BF524}"/>
              </a:ext>
            </a:extLst>
          </p:cNvPr>
          <p:cNvSpPr>
            <a:spLocks noGrp="1"/>
          </p:cNvSpPr>
          <p:nvPr>
            <p:ph type="title"/>
          </p:nvPr>
        </p:nvSpPr>
        <p:spPr/>
        <p:txBody>
          <a:bodyPr/>
          <a:lstStyle/>
          <a:p>
            <a:endParaRPr lang="nl-NL" dirty="0"/>
          </a:p>
        </p:txBody>
      </p:sp>
      <p:sp>
        <p:nvSpPr>
          <p:cNvPr id="5" name="Tijdelijke aanduiding voor inhoud 4">
            <a:extLst>
              <a:ext uri="{FF2B5EF4-FFF2-40B4-BE49-F238E27FC236}">
                <a16:creationId xmlns:a16="http://schemas.microsoft.com/office/drawing/2014/main" id="{13897194-49AF-414C-91F9-94654D492BD3}"/>
              </a:ext>
            </a:extLst>
          </p:cNvPr>
          <p:cNvSpPr>
            <a:spLocks noGrp="1"/>
          </p:cNvSpPr>
          <p:nvPr>
            <p:ph idx="1"/>
          </p:nvPr>
        </p:nvSpPr>
        <p:spPr/>
        <p:txBody>
          <a:bodyPr/>
          <a:lstStyle/>
          <a:p>
            <a:endParaRPr lang="nl-NL"/>
          </a:p>
        </p:txBody>
      </p:sp>
    </p:spTree>
    <p:extLst>
      <p:ext uri="{BB962C8B-B14F-4D97-AF65-F5344CB8AC3E}">
        <p14:creationId xmlns:p14="http://schemas.microsoft.com/office/powerpoint/2010/main" val="2034070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3EDD1597-85D4-4AD9-B4DC-080BE39738CC}"/>
              </a:ext>
            </a:extLst>
          </p:cNvPr>
          <p:cNvSpPr txBox="1"/>
          <p:nvPr/>
        </p:nvSpPr>
        <p:spPr>
          <a:xfrm>
            <a:off x="3857909" y="2613063"/>
            <a:ext cx="4301713" cy="144655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nl-NL" sz="4400"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rPr>
              <a:t>10 minuten break </a:t>
            </a:r>
          </a:p>
        </p:txBody>
      </p:sp>
    </p:spTree>
    <p:extLst>
      <p:ext uri="{BB962C8B-B14F-4D97-AF65-F5344CB8AC3E}">
        <p14:creationId xmlns:p14="http://schemas.microsoft.com/office/powerpoint/2010/main" val="24262660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91402" y="2967336"/>
            <a:ext cx="9009198" cy="769441"/>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nl-NL" sz="4400"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rPr>
              <a:t>Je eigen Persoonlijke Stijl Profiel</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3EDD1597-85D4-4AD9-B4DC-080BE39738CC}"/>
              </a:ext>
            </a:extLst>
          </p:cNvPr>
          <p:cNvSpPr txBox="1"/>
          <p:nvPr/>
        </p:nvSpPr>
        <p:spPr>
          <a:xfrm>
            <a:off x="3857909" y="2613063"/>
            <a:ext cx="4301713" cy="769441"/>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nl-NL" sz="4400"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rPr>
              <a:t>Lunch</a:t>
            </a:r>
          </a:p>
        </p:txBody>
      </p:sp>
    </p:spTree>
    <p:extLst>
      <p:ext uri="{BB962C8B-B14F-4D97-AF65-F5344CB8AC3E}">
        <p14:creationId xmlns:p14="http://schemas.microsoft.com/office/powerpoint/2010/main" val="19084301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p:cNvSpPr txBox="1">
            <a:spLocks/>
          </p:cNvSpPr>
          <p:nvPr/>
        </p:nvSpPr>
        <p:spPr>
          <a:xfrm>
            <a:off x="2238375" y="1714500"/>
            <a:ext cx="7772400" cy="1828800"/>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defRPr/>
            </a:pPr>
            <a:r>
              <a:rPr lang="en-US" sz="8800" b="1" i="1" spc="50" dirty="0" err="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rPr>
              <a:t>Bedankt</a:t>
            </a:r>
            <a:r>
              <a:rPr lang="en-US" sz="8800"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rPr>
              <a:t>!</a:t>
            </a:r>
            <a:endParaRPr lang="nl-NL" sz="8800"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utiger LT Std 45 Light" panose="020B040202020402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94A138-3382-47E3-8301-D7F76F0BF524}"/>
              </a:ext>
            </a:extLst>
          </p:cNvPr>
          <p:cNvSpPr>
            <a:spLocks noGrp="1"/>
          </p:cNvSpPr>
          <p:nvPr>
            <p:ph type="title"/>
          </p:nvPr>
        </p:nvSpPr>
        <p:spPr/>
        <p:txBody>
          <a:bodyPr/>
          <a:lstStyle/>
          <a:p>
            <a:endParaRPr lang="nl-NL" dirty="0"/>
          </a:p>
        </p:txBody>
      </p:sp>
      <p:pic>
        <p:nvPicPr>
          <p:cNvPr id="4" name="Picture 2" descr="G:\Marketing\9999\Huistijl\Q4 Profiles\IN-concept ontwerpen\Logo Q4 Profiles RGB.jpg">
            <a:extLst>
              <a:ext uri="{FF2B5EF4-FFF2-40B4-BE49-F238E27FC236}">
                <a16:creationId xmlns:a16="http://schemas.microsoft.com/office/drawing/2014/main" id="{314E389C-7D09-4B5E-9273-9081C6AF2B6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24125" y="1672431"/>
            <a:ext cx="714375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50941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94A138-3382-47E3-8301-D7F76F0BF524}"/>
              </a:ext>
            </a:extLst>
          </p:cNvPr>
          <p:cNvSpPr>
            <a:spLocks noGrp="1"/>
          </p:cNvSpPr>
          <p:nvPr>
            <p:ph type="title"/>
          </p:nvPr>
        </p:nvSpPr>
        <p:spPr/>
        <p:txBody>
          <a:bodyPr/>
          <a:lstStyle/>
          <a:p>
            <a:endParaRPr lang="nl-NL" dirty="0"/>
          </a:p>
        </p:txBody>
      </p:sp>
      <p:sp>
        <p:nvSpPr>
          <p:cNvPr id="5" name="Tijdelijke aanduiding voor inhoud 4">
            <a:extLst>
              <a:ext uri="{FF2B5EF4-FFF2-40B4-BE49-F238E27FC236}">
                <a16:creationId xmlns:a16="http://schemas.microsoft.com/office/drawing/2014/main" id="{13897194-49AF-414C-91F9-94654D492BD3}"/>
              </a:ext>
            </a:extLst>
          </p:cNvPr>
          <p:cNvSpPr>
            <a:spLocks noGrp="1"/>
          </p:cNvSpPr>
          <p:nvPr>
            <p:ph idx="1"/>
          </p:nvPr>
        </p:nvSpPr>
        <p:spPr/>
        <p:txBody>
          <a:bodyPr/>
          <a:lstStyle/>
          <a:p>
            <a:endParaRPr lang="nl-NL"/>
          </a:p>
        </p:txBody>
      </p:sp>
    </p:spTree>
    <p:extLst>
      <p:ext uri="{BB962C8B-B14F-4D97-AF65-F5344CB8AC3E}">
        <p14:creationId xmlns:p14="http://schemas.microsoft.com/office/powerpoint/2010/main" val="2954053510"/>
      </p:ext>
    </p:extLst>
  </p:cSld>
  <p:clrMapOvr>
    <a:masterClrMapping/>
  </p:clrMapOvr>
</p:sld>
</file>

<file path=ppt/theme/theme1.xml><?xml version="1.0" encoding="utf-8"?>
<a:theme xmlns:a="http://schemas.openxmlformats.org/drawingml/2006/main" name="Office-th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1A214CF83129499F539B9E0D2446B2" ma:contentTypeVersion="15" ma:contentTypeDescription="Een nieuw document maken." ma:contentTypeScope="" ma:versionID="e7a221e668f31085ab7b97e247a9834c">
  <xsd:schema xmlns:xsd="http://www.w3.org/2001/XMLSchema" xmlns:xs="http://www.w3.org/2001/XMLSchema" xmlns:p="http://schemas.microsoft.com/office/2006/metadata/properties" xmlns:ns2="8f95cdd7-bc29-4130-ba57-ef5e40e3d34e" xmlns:ns3="0a0f74be-33c5-4028-86d9-bdaebd367145" targetNamespace="http://schemas.microsoft.com/office/2006/metadata/properties" ma:root="true" ma:fieldsID="ef01a8d8e7f2e0b978bf1740e0dfcb74" ns2:_="" ns3:_="">
    <xsd:import namespace="8f95cdd7-bc29-4130-ba57-ef5e40e3d34e"/>
    <xsd:import namespace="0a0f74be-33c5-4028-86d9-bdaebd367145"/>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95cdd7-bc29-4130-ba57-ef5e40e3d34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Afbeeldingtags" ma:readOnly="false" ma:fieldId="{5cf76f15-5ced-4ddc-b409-7134ff3c332f}" ma:taxonomyMulti="true" ma:sspId="6afdf36e-21d3-4951-b01c-1206b7286ffb"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a0f74be-33c5-4028-86d9-bdaebd367145"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a58dc274-af21-4ad9-88cd-a80d1c14fe4e}" ma:internalName="TaxCatchAll" ma:showField="CatchAllData" ma:web="0a0f74be-33c5-4028-86d9-bdaebd367145">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f95cdd7-bc29-4130-ba57-ef5e40e3d34e">
      <Terms xmlns="http://schemas.microsoft.com/office/infopath/2007/PartnerControls"/>
    </lcf76f155ced4ddcb4097134ff3c332f>
    <TaxCatchAll xmlns="0a0f74be-33c5-4028-86d9-bdaebd367145" xsi:nil="true"/>
  </documentManagement>
</p:properties>
</file>

<file path=customXml/itemProps1.xml><?xml version="1.0" encoding="utf-8"?>
<ds:datastoreItem xmlns:ds="http://schemas.openxmlformats.org/officeDocument/2006/customXml" ds:itemID="{A7C35BBC-9131-4320-9A74-28A21E494780}"/>
</file>

<file path=customXml/itemProps2.xml><?xml version="1.0" encoding="utf-8"?>
<ds:datastoreItem xmlns:ds="http://schemas.openxmlformats.org/officeDocument/2006/customXml" ds:itemID="{A0B0ACC0-F2BE-4D34-B4D3-EE81E15D7B63}"/>
</file>

<file path=customXml/itemProps3.xml><?xml version="1.0" encoding="utf-8"?>
<ds:datastoreItem xmlns:ds="http://schemas.openxmlformats.org/officeDocument/2006/customXml" ds:itemID="{76DC731C-0C64-4340-BFCC-2BD7E44F70B7}"/>
</file>

<file path=docProps/app.xml><?xml version="1.0" encoding="utf-8"?>
<Properties xmlns="http://schemas.openxmlformats.org/officeDocument/2006/extended-properties" xmlns:vt="http://schemas.openxmlformats.org/officeDocument/2006/docPropsVTypes">
  <TotalTime>17770</TotalTime>
  <Words>2984</Words>
  <Application>Microsoft Office PowerPoint</Application>
  <PresentationFormat>Breedbeeld</PresentationFormat>
  <Paragraphs>608</Paragraphs>
  <Slides>67</Slides>
  <Notes>11</Notes>
  <HiddenSlides>0</HiddenSlides>
  <MMClips>0</MMClips>
  <ScaleCrop>false</ScaleCrop>
  <HeadingPairs>
    <vt:vector size="6" baseType="variant">
      <vt:variant>
        <vt:lpstr>Gebruikte lettertypen</vt:lpstr>
      </vt:variant>
      <vt:variant>
        <vt:i4>9</vt:i4>
      </vt:variant>
      <vt:variant>
        <vt:lpstr>Thema</vt:lpstr>
      </vt:variant>
      <vt:variant>
        <vt:i4>1</vt:i4>
      </vt:variant>
      <vt:variant>
        <vt:lpstr>Diatitels</vt:lpstr>
      </vt:variant>
      <vt:variant>
        <vt:i4>67</vt:i4>
      </vt:variant>
    </vt:vector>
  </HeadingPairs>
  <TitlesOfParts>
    <vt:vector size="77" baseType="lpstr">
      <vt:lpstr>Arial</vt:lpstr>
      <vt:lpstr>Bahnschrift Light</vt:lpstr>
      <vt:lpstr>Calibri</vt:lpstr>
      <vt:lpstr>Frutiger</vt:lpstr>
      <vt:lpstr>Frutiger LT Std 45 Light</vt:lpstr>
      <vt:lpstr>Garamond</vt:lpstr>
      <vt:lpstr>Symbol</vt:lpstr>
      <vt:lpstr>Verdana</vt:lpstr>
      <vt:lpstr>Wingdings 2</vt:lpstr>
      <vt:lpstr>Office-thema</vt:lpstr>
      <vt:lpstr>PowerPoint-presentatie</vt:lpstr>
      <vt:lpstr>PowerPoint-presentatie</vt:lpstr>
      <vt:lpstr>Agenda</vt:lpstr>
      <vt:lpstr>Agenda</vt:lpstr>
      <vt:lpstr>De vijf concepten</vt:lpstr>
      <vt:lpstr>PowerPoint-presentatie</vt:lpstr>
      <vt:lpstr>PowerPoint-presentatie</vt:lpstr>
      <vt:lpstr> </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Q4 Profiles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info@q4profiles.com</dc:creator>
  <cp:lastModifiedBy>Erwin Kruk  - Q4Profiles</cp:lastModifiedBy>
  <cp:revision>395</cp:revision>
  <cp:lastPrinted>2019-03-05T16:14:01Z</cp:lastPrinted>
  <dcterms:created xsi:type="dcterms:W3CDTF">2012-12-19T13:07:49Z</dcterms:created>
  <dcterms:modified xsi:type="dcterms:W3CDTF">2019-05-14T13:53:44Z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0x010100D21A214CF83129499F539B9E0D2446B2</vt:lpwstr>
  </property>
</Properties>
</file>